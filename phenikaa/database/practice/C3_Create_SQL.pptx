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94"/>
  </p:notesMasterIdLst>
  <p:sldIdLst>
    <p:sldId id="258" r:id="rId2"/>
    <p:sldId id="259" r:id="rId3"/>
    <p:sldId id="296" r:id="rId4"/>
    <p:sldId id="297" r:id="rId5"/>
    <p:sldId id="298" r:id="rId6"/>
    <p:sldId id="299" r:id="rId7"/>
    <p:sldId id="300" r:id="rId8"/>
    <p:sldId id="301" r:id="rId9"/>
    <p:sldId id="306" r:id="rId10"/>
    <p:sldId id="305" r:id="rId11"/>
    <p:sldId id="307" r:id="rId12"/>
    <p:sldId id="435" r:id="rId13"/>
    <p:sldId id="312" r:id="rId14"/>
    <p:sldId id="445" r:id="rId15"/>
    <p:sldId id="446" r:id="rId16"/>
    <p:sldId id="316" r:id="rId17"/>
    <p:sldId id="314" r:id="rId18"/>
    <p:sldId id="315" r:id="rId19"/>
    <p:sldId id="319" r:id="rId20"/>
    <p:sldId id="321" r:id="rId21"/>
    <p:sldId id="320" r:id="rId22"/>
    <p:sldId id="447" r:id="rId23"/>
    <p:sldId id="323" r:id="rId24"/>
    <p:sldId id="448" r:id="rId25"/>
    <p:sldId id="449" r:id="rId26"/>
    <p:sldId id="450" r:id="rId27"/>
    <p:sldId id="451" r:id="rId28"/>
    <p:sldId id="452" r:id="rId29"/>
    <p:sldId id="453" r:id="rId30"/>
    <p:sldId id="454" r:id="rId31"/>
    <p:sldId id="455" r:id="rId32"/>
    <p:sldId id="456" r:id="rId33"/>
    <p:sldId id="457" r:id="rId34"/>
    <p:sldId id="458" r:id="rId35"/>
    <p:sldId id="459" r:id="rId36"/>
    <p:sldId id="460" r:id="rId37"/>
    <p:sldId id="461" r:id="rId38"/>
    <p:sldId id="462" r:id="rId39"/>
    <p:sldId id="463" r:id="rId40"/>
    <p:sldId id="464" r:id="rId41"/>
    <p:sldId id="466" r:id="rId42"/>
    <p:sldId id="465" r:id="rId43"/>
    <p:sldId id="467" r:id="rId44"/>
    <p:sldId id="468" r:id="rId45"/>
    <p:sldId id="469" r:id="rId46"/>
    <p:sldId id="470" r:id="rId47"/>
    <p:sldId id="471" r:id="rId48"/>
    <p:sldId id="472" r:id="rId49"/>
    <p:sldId id="473" r:id="rId50"/>
    <p:sldId id="474" r:id="rId51"/>
    <p:sldId id="475" r:id="rId52"/>
    <p:sldId id="476" r:id="rId53"/>
    <p:sldId id="477" r:id="rId54"/>
    <p:sldId id="478" r:id="rId55"/>
    <p:sldId id="479" r:id="rId56"/>
    <p:sldId id="481" r:id="rId57"/>
    <p:sldId id="480" r:id="rId58"/>
    <p:sldId id="482" r:id="rId59"/>
    <p:sldId id="483" r:id="rId60"/>
    <p:sldId id="488" r:id="rId61"/>
    <p:sldId id="489" r:id="rId62"/>
    <p:sldId id="484" r:id="rId63"/>
    <p:sldId id="485" r:id="rId64"/>
    <p:sldId id="486" r:id="rId65"/>
    <p:sldId id="487" r:id="rId66"/>
    <p:sldId id="490" r:id="rId67"/>
    <p:sldId id="492" r:id="rId68"/>
    <p:sldId id="491" r:id="rId69"/>
    <p:sldId id="493" r:id="rId70"/>
    <p:sldId id="495" r:id="rId71"/>
    <p:sldId id="494" r:id="rId72"/>
    <p:sldId id="500" r:id="rId73"/>
    <p:sldId id="497" r:id="rId74"/>
    <p:sldId id="498" r:id="rId75"/>
    <p:sldId id="502" r:id="rId76"/>
    <p:sldId id="501" r:id="rId77"/>
    <p:sldId id="503" r:id="rId78"/>
    <p:sldId id="504" r:id="rId79"/>
    <p:sldId id="508" r:id="rId80"/>
    <p:sldId id="505" r:id="rId81"/>
    <p:sldId id="506" r:id="rId82"/>
    <p:sldId id="507" r:id="rId83"/>
    <p:sldId id="509" r:id="rId84"/>
    <p:sldId id="510" r:id="rId85"/>
    <p:sldId id="511" r:id="rId86"/>
    <p:sldId id="512" r:id="rId87"/>
    <p:sldId id="513" r:id="rId88"/>
    <p:sldId id="518" r:id="rId89"/>
    <p:sldId id="514" r:id="rId90"/>
    <p:sldId id="515" r:id="rId91"/>
    <p:sldId id="516" r:id="rId92"/>
    <p:sldId id="517" r:id="rId9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47" autoAdjust="0"/>
    <p:restoredTop sz="94660"/>
  </p:normalViewPr>
  <p:slideViewPr>
    <p:cSldViewPr snapToGrid="0">
      <p:cViewPr varScale="1">
        <p:scale>
          <a:sx n="82" d="100"/>
          <a:sy n="82" d="100"/>
        </p:scale>
        <p:origin x="715"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A7B750-1244-44F8-A2C5-AD681E337EEC}" type="datetimeFigureOut">
              <a:rPr lang="en-US" smtClean="0"/>
              <a:t>1/16/2024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8B0539-827B-47DD-B6D8-2C260E933E37}" type="slidenum">
              <a:rPr lang="en-US" smtClean="0"/>
              <a:t>‹#›</a:t>
            </a:fld>
            <a:endParaRPr lang="en-US"/>
          </a:p>
        </p:txBody>
      </p:sp>
    </p:spTree>
    <p:extLst>
      <p:ext uri="{BB962C8B-B14F-4D97-AF65-F5344CB8AC3E}">
        <p14:creationId xmlns:p14="http://schemas.microsoft.com/office/powerpoint/2010/main" val="35573842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a:extLst>
              <a:ext uri="{FF2B5EF4-FFF2-40B4-BE49-F238E27FC236}">
                <a16:creationId xmlns:a16="http://schemas.microsoft.com/office/drawing/2014/main" id="{3D72AEA1-61C7-4747-90BA-00DD0DAAD5EE}"/>
              </a:ext>
            </a:extLst>
          </p:cNvPr>
          <p:cNvSpPr>
            <a:spLocks noGrp="1" noRot="1" noChangeAspect="1" noChangeArrowheads="1" noTextEdit="1"/>
          </p:cNvSpPr>
          <p:nvPr>
            <p:ph type="sldImg"/>
          </p:nvPr>
        </p:nvSpPr>
        <p:spPr>
          <a:ln/>
        </p:spPr>
      </p:sp>
      <p:sp>
        <p:nvSpPr>
          <p:cNvPr id="137219" name="Rectangle 3">
            <a:extLst>
              <a:ext uri="{FF2B5EF4-FFF2-40B4-BE49-F238E27FC236}">
                <a16:creationId xmlns:a16="http://schemas.microsoft.com/office/drawing/2014/main" id="{D0F9C96C-95C1-4BFA-950F-1446C837FEDE}"/>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2">
            <a:extLst>
              <a:ext uri="{FF2B5EF4-FFF2-40B4-BE49-F238E27FC236}">
                <a16:creationId xmlns:a16="http://schemas.microsoft.com/office/drawing/2014/main" id="{7933BCC3-544B-4324-8518-9934F93DE31B}"/>
              </a:ext>
            </a:extLst>
          </p:cNvPr>
          <p:cNvSpPr>
            <a:spLocks noGrp="1" noRot="1" noChangeAspect="1" noChangeArrowheads="1" noTextEdit="1"/>
          </p:cNvSpPr>
          <p:nvPr>
            <p:ph type="sldImg"/>
          </p:nvPr>
        </p:nvSpPr>
        <p:spPr>
          <a:ln/>
        </p:spPr>
      </p:sp>
      <p:sp>
        <p:nvSpPr>
          <p:cNvPr id="307203" name="Rectangle 3">
            <a:extLst>
              <a:ext uri="{FF2B5EF4-FFF2-40B4-BE49-F238E27FC236}">
                <a16:creationId xmlns:a16="http://schemas.microsoft.com/office/drawing/2014/main" id="{115A62BD-08EC-4CF8-8765-801631BE734F}"/>
              </a:ext>
            </a:extLst>
          </p:cNvPr>
          <p:cNvSpPr>
            <a:spLocks noGrp="1" noChangeArrowheads="1"/>
          </p:cNvSpPr>
          <p:nvPr>
            <p:ph type="body" idx="1"/>
          </p:nvPr>
        </p:nvSpPr>
        <p:spPr/>
        <p:txBody>
          <a:bodyPr/>
          <a:lstStyle/>
          <a:p>
            <a:r>
              <a:rPr lang="en-US" altLang="en-US"/>
              <a:t>SEQUEL: </a:t>
            </a:r>
            <a:r>
              <a:rPr lang="en-US" altLang="en-US" u="sng"/>
              <a:t>S</a:t>
            </a:r>
            <a:r>
              <a:rPr lang="en-US" altLang="en-US"/>
              <a:t>tructured </a:t>
            </a:r>
            <a:r>
              <a:rPr lang="en-US" altLang="en-US" u="sng"/>
              <a:t>E</a:t>
            </a:r>
            <a:r>
              <a:rPr lang="en-US" altLang="en-US"/>
              <a:t>nglish </a:t>
            </a:r>
            <a:r>
              <a:rPr lang="en-US" altLang="en-US" u="sng"/>
              <a:t>Que</a:t>
            </a:r>
            <a:r>
              <a:rPr lang="en-US" altLang="en-US"/>
              <a:t>ry </a:t>
            </a:r>
            <a:r>
              <a:rPr lang="en-US" altLang="en-US" u="sng"/>
              <a:t>L</a:t>
            </a:r>
            <a:r>
              <a:rPr lang="en-US" altLang="en-US"/>
              <a:t>anguage</a:t>
            </a:r>
          </a:p>
          <a:p>
            <a:r>
              <a:rPr lang="en-US" altLang="en-US"/>
              <a:t>ANSI: </a:t>
            </a:r>
            <a:r>
              <a:rPr lang="en-US" altLang="en-US" u="sng"/>
              <a:t>A</a:t>
            </a:r>
            <a:r>
              <a:rPr lang="en-US" altLang="en-US"/>
              <a:t>merican </a:t>
            </a:r>
            <a:r>
              <a:rPr lang="en-US" altLang="en-US" u="sng"/>
              <a:t>N</a:t>
            </a:r>
            <a:r>
              <a:rPr lang="en-US" altLang="en-US"/>
              <a:t>ational </a:t>
            </a:r>
            <a:r>
              <a:rPr lang="en-US" altLang="en-US" u="sng"/>
              <a:t>S</a:t>
            </a:r>
            <a:r>
              <a:rPr lang="en-US" altLang="en-US"/>
              <a:t>tandards </a:t>
            </a:r>
            <a:r>
              <a:rPr lang="en-US" altLang="en-US" u="sng"/>
              <a:t>I</a:t>
            </a:r>
            <a:r>
              <a:rPr lang="en-US" altLang="en-US"/>
              <a:t>nstitute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62" name="Rectangle 2">
            <a:extLst>
              <a:ext uri="{FF2B5EF4-FFF2-40B4-BE49-F238E27FC236}">
                <a16:creationId xmlns:a16="http://schemas.microsoft.com/office/drawing/2014/main" id="{4EA8929C-EFA5-43A5-870E-D11FF60FC2BF}"/>
              </a:ext>
            </a:extLst>
          </p:cNvPr>
          <p:cNvSpPr>
            <a:spLocks noGrp="1" noRot="1" noChangeAspect="1" noChangeArrowheads="1" noTextEdit="1"/>
          </p:cNvSpPr>
          <p:nvPr>
            <p:ph type="sldImg"/>
          </p:nvPr>
        </p:nvSpPr>
        <p:spPr>
          <a:ln/>
        </p:spPr>
      </p:sp>
      <p:sp>
        <p:nvSpPr>
          <p:cNvPr id="552963" name="Rectangle 3">
            <a:extLst>
              <a:ext uri="{FF2B5EF4-FFF2-40B4-BE49-F238E27FC236}">
                <a16:creationId xmlns:a16="http://schemas.microsoft.com/office/drawing/2014/main" id="{E43846B0-DEF2-4933-A942-7A38F5809554}"/>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5010" name="Rectangle 2">
            <a:extLst>
              <a:ext uri="{FF2B5EF4-FFF2-40B4-BE49-F238E27FC236}">
                <a16:creationId xmlns:a16="http://schemas.microsoft.com/office/drawing/2014/main" id="{891BACC7-6BEE-488C-B92C-96120D53E0C7}"/>
              </a:ext>
            </a:extLst>
          </p:cNvPr>
          <p:cNvSpPr>
            <a:spLocks noGrp="1" noRot="1" noChangeAspect="1" noChangeArrowheads="1" noTextEdit="1"/>
          </p:cNvSpPr>
          <p:nvPr>
            <p:ph type="sldImg"/>
          </p:nvPr>
        </p:nvSpPr>
        <p:spPr>
          <a:ln/>
        </p:spPr>
      </p:sp>
      <p:sp>
        <p:nvSpPr>
          <p:cNvPr id="555011" name="Rectangle 3">
            <a:extLst>
              <a:ext uri="{FF2B5EF4-FFF2-40B4-BE49-F238E27FC236}">
                <a16:creationId xmlns:a16="http://schemas.microsoft.com/office/drawing/2014/main" id="{FF5E75A1-CAA1-489E-9C4A-E9A42F3D128B}"/>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7058" name="Rectangle 2">
            <a:extLst>
              <a:ext uri="{FF2B5EF4-FFF2-40B4-BE49-F238E27FC236}">
                <a16:creationId xmlns:a16="http://schemas.microsoft.com/office/drawing/2014/main" id="{5D755CF9-5D05-421C-A4F2-AB55A4BFCAC1}"/>
              </a:ext>
            </a:extLst>
          </p:cNvPr>
          <p:cNvSpPr>
            <a:spLocks noGrp="1" noRot="1" noChangeAspect="1" noChangeArrowheads="1" noTextEdit="1"/>
          </p:cNvSpPr>
          <p:nvPr>
            <p:ph type="sldImg"/>
          </p:nvPr>
        </p:nvSpPr>
        <p:spPr>
          <a:ln/>
        </p:spPr>
      </p:sp>
      <p:sp>
        <p:nvSpPr>
          <p:cNvPr id="557059" name="Rectangle 3">
            <a:extLst>
              <a:ext uri="{FF2B5EF4-FFF2-40B4-BE49-F238E27FC236}">
                <a16:creationId xmlns:a16="http://schemas.microsoft.com/office/drawing/2014/main" id="{0611AF09-F512-474D-A9FB-68F6721F3F7B}"/>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6" name="Rectangle 2">
            <a:extLst>
              <a:ext uri="{FF2B5EF4-FFF2-40B4-BE49-F238E27FC236}">
                <a16:creationId xmlns:a16="http://schemas.microsoft.com/office/drawing/2014/main" id="{05C0B6DC-384B-4943-82DF-DD3D3F667142}"/>
              </a:ext>
            </a:extLst>
          </p:cNvPr>
          <p:cNvSpPr>
            <a:spLocks noGrp="1" noRot="1" noChangeAspect="1" noChangeArrowheads="1" noTextEdit="1"/>
          </p:cNvSpPr>
          <p:nvPr>
            <p:ph type="sldImg"/>
          </p:nvPr>
        </p:nvSpPr>
        <p:spPr>
          <a:ln/>
        </p:spPr>
      </p:sp>
      <p:sp>
        <p:nvSpPr>
          <p:cNvPr id="559107" name="Rectangle 3">
            <a:extLst>
              <a:ext uri="{FF2B5EF4-FFF2-40B4-BE49-F238E27FC236}">
                <a16:creationId xmlns:a16="http://schemas.microsoft.com/office/drawing/2014/main" id="{FC890B60-5FCC-42F6-964D-8FE0347EC956}"/>
              </a:ext>
            </a:extLst>
          </p:cNvPr>
          <p:cNvSpPr>
            <a:spLocks noGrp="1" noChangeArrowheads="1"/>
          </p:cNvSpPr>
          <p:nvPr>
            <p:ph type="body" idx="1"/>
          </p:nvPr>
        </p:nvSpPr>
        <p:spPr/>
        <p:txBody>
          <a:bodyPr/>
          <a:lstStyle/>
          <a:p>
            <a:r>
              <a:rPr lang="en-US" altLang="en-US"/>
              <a:t>Hệ thống SQL hỗ trợ kiểu dữ liệu là kiểu dữ liệu cơ sở (Atomic)</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1154" name="Rectangle 2">
            <a:extLst>
              <a:ext uri="{FF2B5EF4-FFF2-40B4-BE49-F238E27FC236}">
                <a16:creationId xmlns:a16="http://schemas.microsoft.com/office/drawing/2014/main" id="{C5DD9166-11DE-4097-B9C0-1753582BDE88}"/>
              </a:ext>
            </a:extLst>
          </p:cNvPr>
          <p:cNvSpPr>
            <a:spLocks noGrp="1" noRot="1" noChangeAspect="1" noChangeArrowheads="1" noTextEdit="1"/>
          </p:cNvSpPr>
          <p:nvPr>
            <p:ph type="sldImg"/>
          </p:nvPr>
        </p:nvSpPr>
        <p:spPr>
          <a:ln/>
        </p:spPr>
      </p:sp>
      <p:sp>
        <p:nvSpPr>
          <p:cNvPr id="561155" name="Rectangle 3">
            <a:extLst>
              <a:ext uri="{FF2B5EF4-FFF2-40B4-BE49-F238E27FC236}">
                <a16:creationId xmlns:a16="http://schemas.microsoft.com/office/drawing/2014/main" id="{B7D6CB5C-6BC9-42D7-88F4-6E4EEFDF9670}"/>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1394" name="Rectangle 2">
            <a:extLst>
              <a:ext uri="{FF2B5EF4-FFF2-40B4-BE49-F238E27FC236}">
                <a16:creationId xmlns:a16="http://schemas.microsoft.com/office/drawing/2014/main" id="{7A288710-54E8-4B19-B744-D318BF48302A}"/>
              </a:ext>
            </a:extLst>
          </p:cNvPr>
          <p:cNvSpPr>
            <a:spLocks noGrp="1" noRot="1" noChangeAspect="1" noChangeArrowheads="1" noTextEdit="1"/>
          </p:cNvSpPr>
          <p:nvPr>
            <p:ph type="sldImg"/>
          </p:nvPr>
        </p:nvSpPr>
        <p:spPr>
          <a:ln/>
        </p:spPr>
      </p:sp>
      <p:sp>
        <p:nvSpPr>
          <p:cNvPr id="571395" name="Rectangle 3">
            <a:extLst>
              <a:ext uri="{FF2B5EF4-FFF2-40B4-BE49-F238E27FC236}">
                <a16:creationId xmlns:a16="http://schemas.microsoft.com/office/drawing/2014/main" id="{70D5C0A9-887A-425D-BA5C-CC57BA079EA6}"/>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9346" name="Rectangle 2">
            <a:extLst>
              <a:ext uri="{FF2B5EF4-FFF2-40B4-BE49-F238E27FC236}">
                <a16:creationId xmlns:a16="http://schemas.microsoft.com/office/drawing/2014/main" id="{7E794C2E-0CE0-4E27-84C1-D6946B0AA356}"/>
              </a:ext>
            </a:extLst>
          </p:cNvPr>
          <p:cNvSpPr>
            <a:spLocks noGrp="1" noRot="1" noChangeAspect="1" noChangeArrowheads="1" noTextEdit="1"/>
          </p:cNvSpPr>
          <p:nvPr>
            <p:ph type="sldImg"/>
          </p:nvPr>
        </p:nvSpPr>
        <p:spPr>
          <a:ln/>
        </p:spPr>
      </p:sp>
      <p:sp>
        <p:nvSpPr>
          <p:cNvPr id="569347" name="Rectangle 3">
            <a:extLst>
              <a:ext uri="{FF2B5EF4-FFF2-40B4-BE49-F238E27FC236}">
                <a16:creationId xmlns:a16="http://schemas.microsoft.com/office/drawing/2014/main" id="{20120CC1-D682-407A-85D9-7A9771404F9A}"/>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42" name="Rectangle 2">
            <a:extLst>
              <a:ext uri="{FF2B5EF4-FFF2-40B4-BE49-F238E27FC236}">
                <a16:creationId xmlns:a16="http://schemas.microsoft.com/office/drawing/2014/main" id="{C5343459-F9FC-4F0A-AFAB-B005AE91C5C3}"/>
              </a:ext>
            </a:extLst>
          </p:cNvPr>
          <p:cNvSpPr>
            <a:spLocks noGrp="1" noRot="1" noChangeAspect="1" noChangeArrowheads="1" noTextEdit="1"/>
          </p:cNvSpPr>
          <p:nvPr>
            <p:ph type="sldImg"/>
          </p:nvPr>
        </p:nvSpPr>
        <p:spPr>
          <a:ln/>
        </p:spPr>
      </p:sp>
      <p:sp>
        <p:nvSpPr>
          <p:cNvPr id="573443" name="Rectangle 3">
            <a:extLst>
              <a:ext uri="{FF2B5EF4-FFF2-40B4-BE49-F238E27FC236}">
                <a16:creationId xmlns:a16="http://schemas.microsoft.com/office/drawing/2014/main" id="{D001D8BE-47F8-4C89-B110-B8AB00D52C29}"/>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5042" name="Rectangle 2">
            <a:extLst>
              <a:ext uri="{FF2B5EF4-FFF2-40B4-BE49-F238E27FC236}">
                <a16:creationId xmlns:a16="http://schemas.microsoft.com/office/drawing/2014/main" id="{4E70164E-2B61-46A9-AB4C-70D094FC7C57}"/>
              </a:ext>
            </a:extLst>
          </p:cNvPr>
          <p:cNvSpPr>
            <a:spLocks noGrp="1" noRot="1" noChangeAspect="1" noChangeArrowheads="1" noTextEdit="1"/>
          </p:cNvSpPr>
          <p:nvPr>
            <p:ph type="sldImg"/>
          </p:nvPr>
        </p:nvSpPr>
        <p:spPr>
          <a:ln/>
        </p:spPr>
      </p:sp>
      <p:sp>
        <p:nvSpPr>
          <p:cNvPr id="855043" name="Rectangle 3">
            <a:extLst>
              <a:ext uri="{FF2B5EF4-FFF2-40B4-BE49-F238E27FC236}">
                <a16:creationId xmlns:a16="http://schemas.microsoft.com/office/drawing/2014/main" id="{48A2AB17-2BFF-4DE3-A064-8E90D3E36C4B}"/>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706" name="Rectangle 2">
            <a:extLst>
              <a:ext uri="{FF2B5EF4-FFF2-40B4-BE49-F238E27FC236}">
                <a16:creationId xmlns:a16="http://schemas.microsoft.com/office/drawing/2014/main" id="{CDCE015A-C7D4-4219-A22D-BC3DA69FFA31}"/>
              </a:ext>
            </a:extLst>
          </p:cNvPr>
          <p:cNvSpPr>
            <a:spLocks noGrp="1" noRot="1" noChangeAspect="1" noChangeArrowheads="1" noTextEdit="1"/>
          </p:cNvSpPr>
          <p:nvPr>
            <p:ph type="sldImg"/>
          </p:nvPr>
        </p:nvSpPr>
        <p:spPr>
          <a:ln/>
        </p:spPr>
      </p:sp>
      <p:sp>
        <p:nvSpPr>
          <p:cNvPr id="584707" name="Rectangle 3">
            <a:extLst>
              <a:ext uri="{FF2B5EF4-FFF2-40B4-BE49-F238E27FC236}">
                <a16:creationId xmlns:a16="http://schemas.microsoft.com/office/drawing/2014/main" id="{58F94586-D3A6-4F89-A04C-E0E7079A74A1}"/>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2898" name="Rectangle 2">
            <a:extLst>
              <a:ext uri="{FF2B5EF4-FFF2-40B4-BE49-F238E27FC236}">
                <a16:creationId xmlns:a16="http://schemas.microsoft.com/office/drawing/2014/main" id="{B5D2FE43-2B0F-4585-A173-C0D0F7C16096}"/>
              </a:ext>
            </a:extLst>
          </p:cNvPr>
          <p:cNvSpPr>
            <a:spLocks noGrp="1" noRot="1" noChangeAspect="1" noChangeArrowheads="1" noTextEdit="1"/>
          </p:cNvSpPr>
          <p:nvPr>
            <p:ph type="sldImg"/>
          </p:nvPr>
        </p:nvSpPr>
        <p:spPr>
          <a:ln/>
        </p:spPr>
      </p:sp>
      <p:sp>
        <p:nvSpPr>
          <p:cNvPr id="592899" name="Rectangle 3">
            <a:extLst>
              <a:ext uri="{FF2B5EF4-FFF2-40B4-BE49-F238E27FC236}">
                <a16:creationId xmlns:a16="http://schemas.microsoft.com/office/drawing/2014/main" id="{EC4668CE-A485-421E-A7D7-A44AB782C372}"/>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8802" name="Rectangle 2">
            <a:extLst>
              <a:ext uri="{FF2B5EF4-FFF2-40B4-BE49-F238E27FC236}">
                <a16:creationId xmlns:a16="http://schemas.microsoft.com/office/drawing/2014/main" id="{9405D09B-4BCF-412C-A4B8-3D56C208242D}"/>
              </a:ext>
            </a:extLst>
          </p:cNvPr>
          <p:cNvSpPr>
            <a:spLocks noGrp="1" noRot="1" noChangeAspect="1" noChangeArrowheads="1" noTextEdit="1"/>
          </p:cNvSpPr>
          <p:nvPr>
            <p:ph type="sldImg"/>
          </p:nvPr>
        </p:nvSpPr>
        <p:spPr>
          <a:ln/>
        </p:spPr>
      </p:sp>
      <p:sp>
        <p:nvSpPr>
          <p:cNvPr id="588803" name="Rectangle 3">
            <a:extLst>
              <a:ext uri="{FF2B5EF4-FFF2-40B4-BE49-F238E27FC236}">
                <a16:creationId xmlns:a16="http://schemas.microsoft.com/office/drawing/2014/main" id="{6E8555E6-9EA0-4871-A6F7-F2600C3A1014}"/>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0850" name="Rectangle 2">
            <a:extLst>
              <a:ext uri="{FF2B5EF4-FFF2-40B4-BE49-F238E27FC236}">
                <a16:creationId xmlns:a16="http://schemas.microsoft.com/office/drawing/2014/main" id="{C3E88208-AA1B-4DA8-8519-48EB4138C063}"/>
              </a:ext>
            </a:extLst>
          </p:cNvPr>
          <p:cNvSpPr>
            <a:spLocks noGrp="1" noRot="1" noChangeAspect="1" noChangeArrowheads="1" noTextEdit="1"/>
          </p:cNvSpPr>
          <p:nvPr>
            <p:ph type="sldImg"/>
          </p:nvPr>
        </p:nvSpPr>
        <p:spPr>
          <a:ln/>
        </p:spPr>
      </p:sp>
      <p:sp>
        <p:nvSpPr>
          <p:cNvPr id="590851" name="Rectangle 3">
            <a:extLst>
              <a:ext uri="{FF2B5EF4-FFF2-40B4-BE49-F238E27FC236}">
                <a16:creationId xmlns:a16="http://schemas.microsoft.com/office/drawing/2014/main" id="{96F4A3AE-4277-4692-BBA6-99259C94FA12}"/>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9042" name="Rectangle 2">
            <a:extLst>
              <a:ext uri="{FF2B5EF4-FFF2-40B4-BE49-F238E27FC236}">
                <a16:creationId xmlns:a16="http://schemas.microsoft.com/office/drawing/2014/main" id="{4E41AAFC-3842-448F-99DC-124E07E60F2E}"/>
              </a:ext>
            </a:extLst>
          </p:cNvPr>
          <p:cNvSpPr>
            <a:spLocks noGrp="1" noRot="1" noChangeAspect="1" noChangeArrowheads="1" noTextEdit="1"/>
          </p:cNvSpPr>
          <p:nvPr>
            <p:ph type="sldImg"/>
          </p:nvPr>
        </p:nvSpPr>
        <p:spPr>
          <a:ln/>
        </p:spPr>
      </p:sp>
      <p:sp>
        <p:nvSpPr>
          <p:cNvPr id="599043" name="Rectangle 3">
            <a:extLst>
              <a:ext uri="{FF2B5EF4-FFF2-40B4-BE49-F238E27FC236}">
                <a16:creationId xmlns:a16="http://schemas.microsoft.com/office/drawing/2014/main" id="{14322D6D-B2A0-42EE-8FA5-BE1A33015602}"/>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3138" name="Rectangle 2">
            <a:extLst>
              <a:ext uri="{FF2B5EF4-FFF2-40B4-BE49-F238E27FC236}">
                <a16:creationId xmlns:a16="http://schemas.microsoft.com/office/drawing/2014/main" id="{33B91243-A1AC-4D24-B92A-7FB80BBE1171}"/>
              </a:ext>
            </a:extLst>
          </p:cNvPr>
          <p:cNvSpPr>
            <a:spLocks noGrp="1" noRot="1" noChangeAspect="1" noChangeArrowheads="1" noTextEdit="1"/>
          </p:cNvSpPr>
          <p:nvPr>
            <p:ph type="sldImg"/>
          </p:nvPr>
        </p:nvSpPr>
        <p:spPr>
          <a:ln/>
        </p:spPr>
      </p:sp>
      <p:sp>
        <p:nvSpPr>
          <p:cNvPr id="603139" name="Rectangle 3">
            <a:extLst>
              <a:ext uri="{FF2B5EF4-FFF2-40B4-BE49-F238E27FC236}">
                <a16:creationId xmlns:a16="http://schemas.microsoft.com/office/drawing/2014/main" id="{92C3C7A3-FC40-4EE5-824C-7FAE65AC37BA}"/>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1090" name="Rectangle 2">
            <a:extLst>
              <a:ext uri="{FF2B5EF4-FFF2-40B4-BE49-F238E27FC236}">
                <a16:creationId xmlns:a16="http://schemas.microsoft.com/office/drawing/2014/main" id="{2D3F041E-B8D1-4469-B8A8-361481FD6DF6}"/>
              </a:ext>
            </a:extLst>
          </p:cNvPr>
          <p:cNvSpPr>
            <a:spLocks noGrp="1" noRot="1" noChangeAspect="1" noChangeArrowheads="1" noTextEdit="1"/>
          </p:cNvSpPr>
          <p:nvPr>
            <p:ph type="sldImg"/>
          </p:nvPr>
        </p:nvSpPr>
        <p:spPr>
          <a:ln/>
        </p:spPr>
      </p:sp>
      <p:sp>
        <p:nvSpPr>
          <p:cNvPr id="601091" name="Rectangle 3">
            <a:extLst>
              <a:ext uri="{FF2B5EF4-FFF2-40B4-BE49-F238E27FC236}">
                <a16:creationId xmlns:a16="http://schemas.microsoft.com/office/drawing/2014/main" id="{8C89A22C-0CF5-47F6-9C03-81287D449A23}"/>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7234" name="Rectangle 2">
            <a:extLst>
              <a:ext uri="{FF2B5EF4-FFF2-40B4-BE49-F238E27FC236}">
                <a16:creationId xmlns:a16="http://schemas.microsoft.com/office/drawing/2014/main" id="{BEEECA21-7413-4C7B-BAE2-B66DA20E93B0}"/>
              </a:ext>
            </a:extLst>
          </p:cNvPr>
          <p:cNvSpPr>
            <a:spLocks noGrp="1" noRot="1" noChangeAspect="1" noChangeArrowheads="1" noTextEdit="1"/>
          </p:cNvSpPr>
          <p:nvPr>
            <p:ph type="sldImg"/>
          </p:nvPr>
        </p:nvSpPr>
        <p:spPr>
          <a:ln/>
        </p:spPr>
      </p:sp>
      <p:sp>
        <p:nvSpPr>
          <p:cNvPr id="607235" name="Rectangle 3">
            <a:extLst>
              <a:ext uri="{FF2B5EF4-FFF2-40B4-BE49-F238E27FC236}">
                <a16:creationId xmlns:a16="http://schemas.microsoft.com/office/drawing/2014/main" id="{8427C988-C76B-4D57-AEF8-E8A2309CCB7B}"/>
              </a:ext>
            </a:extLst>
          </p:cNvPr>
          <p:cNvSpPr>
            <a:spLocks noGrp="1" noChangeArrowheads="1"/>
          </p:cNvSpPr>
          <p:nvPr>
            <p:ph type="body" idx="1"/>
          </p:nvPr>
        </p:nvSpPr>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72F0317-6975-48BA-B4A7-81BE7BDA8970}" type="datetimeFigureOut">
              <a:rPr lang="en-US" smtClean="0"/>
              <a:t>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DD6170-9C92-4C7C-A2EB-2E53E814F45D}" type="slidenum">
              <a:rPr lang="en-US" smtClean="0"/>
              <a:t>‹#›</a:t>
            </a:fld>
            <a:endParaRPr lang="en-US"/>
          </a:p>
        </p:txBody>
      </p:sp>
    </p:spTree>
    <p:extLst>
      <p:ext uri="{BB962C8B-B14F-4D97-AF65-F5344CB8AC3E}">
        <p14:creationId xmlns:p14="http://schemas.microsoft.com/office/powerpoint/2010/main" val="933812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2F0317-6975-48BA-B4A7-81BE7BDA8970}" type="datetimeFigureOut">
              <a:rPr lang="en-US" smtClean="0"/>
              <a:t>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DD6170-9C92-4C7C-A2EB-2E53E814F45D}" type="slidenum">
              <a:rPr lang="en-US" smtClean="0"/>
              <a:t>‹#›</a:t>
            </a:fld>
            <a:endParaRPr lang="en-US"/>
          </a:p>
        </p:txBody>
      </p:sp>
    </p:spTree>
    <p:extLst>
      <p:ext uri="{BB962C8B-B14F-4D97-AF65-F5344CB8AC3E}">
        <p14:creationId xmlns:p14="http://schemas.microsoft.com/office/powerpoint/2010/main" val="42680164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72F0317-6975-48BA-B4A7-81BE7BDA8970}" type="datetimeFigureOut">
              <a:rPr lang="en-US" smtClean="0"/>
              <a:t>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DD6170-9C92-4C7C-A2EB-2E53E814F45D}" type="slidenum">
              <a:rPr lang="en-US" smtClean="0"/>
              <a:t>‹#›</a:t>
            </a:fld>
            <a:endParaRPr lang="en-US"/>
          </a:p>
        </p:txBody>
      </p:sp>
    </p:spTree>
    <p:extLst>
      <p:ext uri="{BB962C8B-B14F-4D97-AF65-F5344CB8AC3E}">
        <p14:creationId xmlns:p14="http://schemas.microsoft.com/office/powerpoint/2010/main" val="38224046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72F0317-6975-48BA-B4A7-81BE7BDA8970}" type="datetimeFigureOut">
              <a:rPr lang="en-US" smtClean="0"/>
              <a:t>1/16/2024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DD6170-9C92-4C7C-A2EB-2E53E814F45D}" type="slidenum">
              <a:rPr lang="en-US" smtClean="0"/>
              <a:t>‹#›</a:t>
            </a:fld>
            <a:endParaRPr lang="en-US"/>
          </a:p>
        </p:txBody>
      </p:sp>
    </p:spTree>
    <p:extLst>
      <p:ext uri="{BB962C8B-B14F-4D97-AF65-F5344CB8AC3E}">
        <p14:creationId xmlns:p14="http://schemas.microsoft.com/office/powerpoint/2010/main" val="3022261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72F0317-6975-48BA-B4A7-81BE7BDA8970}" type="datetimeFigureOut">
              <a:rPr lang="en-US" smtClean="0"/>
              <a:t>1/16/2024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6DD6170-9C92-4C7C-A2EB-2E53E814F45D}" type="slidenum">
              <a:rPr lang="en-US" smtClean="0"/>
              <a:t>‹#›</a:t>
            </a:fld>
            <a:endParaRPr lang="en-US"/>
          </a:p>
        </p:txBody>
      </p:sp>
    </p:spTree>
    <p:extLst>
      <p:ext uri="{BB962C8B-B14F-4D97-AF65-F5344CB8AC3E}">
        <p14:creationId xmlns:p14="http://schemas.microsoft.com/office/powerpoint/2010/main" val="23070568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72F0317-6975-48BA-B4A7-81BE7BDA8970}" type="datetimeFigureOut">
              <a:rPr lang="en-US" smtClean="0"/>
              <a:t>1/16/2024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6DD6170-9C92-4C7C-A2EB-2E53E814F45D}" type="slidenum">
              <a:rPr lang="en-US" smtClean="0"/>
              <a:t>‹#›</a:t>
            </a:fld>
            <a:endParaRPr lang="en-US"/>
          </a:p>
        </p:txBody>
      </p:sp>
    </p:spTree>
    <p:extLst>
      <p:ext uri="{BB962C8B-B14F-4D97-AF65-F5344CB8AC3E}">
        <p14:creationId xmlns:p14="http://schemas.microsoft.com/office/powerpoint/2010/main" val="6151824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72F0317-6975-48BA-B4A7-81BE7BDA8970}" type="datetimeFigureOut">
              <a:rPr lang="en-US" smtClean="0"/>
              <a:t>1/16/2024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6DD6170-9C92-4C7C-A2EB-2E53E814F45D}" type="slidenum">
              <a:rPr lang="en-US" smtClean="0"/>
              <a:t>‹#›</a:t>
            </a:fld>
            <a:endParaRPr lang="en-US"/>
          </a:p>
        </p:txBody>
      </p:sp>
    </p:spTree>
    <p:extLst>
      <p:ext uri="{BB962C8B-B14F-4D97-AF65-F5344CB8AC3E}">
        <p14:creationId xmlns:p14="http://schemas.microsoft.com/office/powerpoint/2010/main" val="8238083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72F0317-6975-48BA-B4A7-81BE7BDA8970}" type="datetimeFigureOut">
              <a:rPr lang="en-US" smtClean="0"/>
              <a:t>1/16/2024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DD6170-9C92-4C7C-A2EB-2E53E814F45D}" type="slidenum">
              <a:rPr lang="en-US" smtClean="0"/>
              <a:t>‹#›</a:t>
            </a:fld>
            <a:endParaRPr lang="en-US"/>
          </a:p>
        </p:txBody>
      </p:sp>
    </p:spTree>
    <p:extLst>
      <p:ext uri="{BB962C8B-B14F-4D97-AF65-F5344CB8AC3E}">
        <p14:creationId xmlns:p14="http://schemas.microsoft.com/office/powerpoint/2010/main" val="2193812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DD6170-9C92-4C7C-A2EB-2E53E814F45D}" type="slidenum">
              <a:rPr lang="en-US" smtClean="0"/>
              <a:t>‹#›</a:t>
            </a:fld>
            <a:endParaRPr lang="en-US"/>
          </a:p>
        </p:txBody>
      </p:sp>
      <p:sp>
        <p:nvSpPr>
          <p:cNvPr id="5" name="Date Placeholder 4"/>
          <p:cNvSpPr>
            <a:spLocks noGrp="1"/>
          </p:cNvSpPr>
          <p:nvPr>
            <p:ph type="dt" sz="half" idx="10"/>
          </p:nvPr>
        </p:nvSpPr>
        <p:spPr/>
        <p:txBody>
          <a:bodyPr/>
          <a:lstStyle/>
          <a:p>
            <a:fld id="{A72F0317-6975-48BA-B4A7-81BE7BDA8970}" type="datetimeFigureOut">
              <a:rPr lang="en-US" smtClean="0"/>
              <a:t>1/16/2024</a:t>
            </a:fld>
            <a:endParaRPr lang="en-US"/>
          </a:p>
        </p:txBody>
      </p:sp>
    </p:spTree>
    <p:extLst>
      <p:ext uri="{BB962C8B-B14F-4D97-AF65-F5344CB8AC3E}">
        <p14:creationId xmlns:p14="http://schemas.microsoft.com/office/powerpoint/2010/main" val="36313164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72F0317-6975-48BA-B4A7-81BE7BDA8970}" type="datetimeFigureOut">
              <a:rPr lang="en-US" smtClean="0"/>
              <a:t>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DD6170-9C92-4C7C-A2EB-2E53E814F45D}" type="slidenum">
              <a:rPr lang="en-US" smtClean="0"/>
              <a:t>‹#›</a:t>
            </a:fld>
            <a:endParaRPr lang="en-US"/>
          </a:p>
        </p:txBody>
      </p:sp>
    </p:spTree>
    <p:extLst>
      <p:ext uri="{BB962C8B-B14F-4D97-AF65-F5344CB8AC3E}">
        <p14:creationId xmlns:p14="http://schemas.microsoft.com/office/powerpoint/2010/main" val="27299657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72F0317-6975-48BA-B4A7-81BE7BDA8970}" type="datetimeFigureOut">
              <a:rPr lang="en-US" smtClean="0"/>
              <a:t>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DD6170-9C92-4C7C-A2EB-2E53E814F45D}"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8423489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72F0317-6975-48BA-B4A7-81BE7BDA8970}" type="datetimeFigureOut">
              <a:rPr lang="en-US" smtClean="0"/>
              <a:t>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DD6170-9C92-4C7C-A2EB-2E53E814F45D}" type="slidenum">
              <a:rPr lang="en-US" smtClean="0"/>
              <a:t>‹#›</a:t>
            </a:fld>
            <a:endParaRPr lang="en-US"/>
          </a:p>
        </p:txBody>
      </p:sp>
    </p:spTree>
    <p:extLst>
      <p:ext uri="{BB962C8B-B14F-4D97-AF65-F5344CB8AC3E}">
        <p14:creationId xmlns:p14="http://schemas.microsoft.com/office/powerpoint/2010/main" val="19060462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72F0317-6975-48BA-B4A7-81BE7BDA8970}" type="datetimeFigureOut">
              <a:rPr lang="en-US" smtClean="0"/>
              <a:t>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DD6170-9C92-4C7C-A2EB-2E53E814F45D}"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5409817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72F0317-6975-48BA-B4A7-81BE7BDA8970}" type="datetimeFigureOut">
              <a:rPr lang="en-US" smtClean="0"/>
              <a:t>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DD6170-9C92-4C7C-A2EB-2E53E814F45D}" type="slidenum">
              <a:rPr lang="en-US" smtClean="0"/>
              <a:t>‹#›</a:t>
            </a:fld>
            <a:endParaRPr lang="en-US"/>
          </a:p>
        </p:txBody>
      </p:sp>
    </p:spTree>
    <p:extLst>
      <p:ext uri="{BB962C8B-B14F-4D97-AF65-F5344CB8AC3E}">
        <p14:creationId xmlns:p14="http://schemas.microsoft.com/office/powerpoint/2010/main" val="8956138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2F0317-6975-48BA-B4A7-81BE7BDA8970}" type="datetimeFigureOut">
              <a:rPr lang="en-US" smtClean="0"/>
              <a:t>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DD6170-9C92-4C7C-A2EB-2E53E814F45D}" type="slidenum">
              <a:rPr lang="en-US" smtClean="0"/>
              <a:t>‹#›</a:t>
            </a:fld>
            <a:endParaRPr lang="en-US"/>
          </a:p>
        </p:txBody>
      </p:sp>
    </p:spTree>
    <p:extLst>
      <p:ext uri="{BB962C8B-B14F-4D97-AF65-F5344CB8AC3E}">
        <p14:creationId xmlns:p14="http://schemas.microsoft.com/office/powerpoint/2010/main" val="25702860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2F0317-6975-48BA-B4A7-81BE7BDA8970}" type="datetimeFigureOut">
              <a:rPr lang="en-US" smtClean="0"/>
              <a:t>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DD6170-9C92-4C7C-A2EB-2E53E814F45D}" type="slidenum">
              <a:rPr lang="en-US" smtClean="0"/>
              <a:t>‹#›</a:t>
            </a:fld>
            <a:endParaRPr lang="en-US"/>
          </a:p>
        </p:txBody>
      </p:sp>
    </p:spTree>
    <p:extLst>
      <p:ext uri="{BB962C8B-B14F-4D97-AF65-F5344CB8AC3E}">
        <p14:creationId xmlns:p14="http://schemas.microsoft.com/office/powerpoint/2010/main" val="3064711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72F0317-6975-48BA-B4A7-81BE7BDA8970}" type="datetimeFigureOut">
              <a:rPr lang="en-US" smtClean="0"/>
              <a:t>1/16/2024</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F6DD6170-9C92-4C7C-A2EB-2E53E814F45D}" type="slidenum">
              <a:rPr lang="en-US" smtClean="0"/>
              <a:t>‹#›</a:t>
            </a:fld>
            <a:endParaRPr lang="en-US"/>
          </a:p>
        </p:txBody>
      </p:sp>
    </p:spTree>
    <p:extLst>
      <p:ext uri="{BB962C8B-B14F-4D97-AF65-F5344CB8AC3E}">
        <p14:creationId xmlns:p14="http://schemas.microsoft.com/office/powerpoint/2010/main" val="1815297233"/>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www.mysqltutorial.org/"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12E2A1B1-02B5-4C26-8910-79A420B2945D}"/>
              </a:ext>
            </a:extLst>
          </p:cNvPr>
          <p:cNvSpPr>
            <a:spLocks noGrp="1" noChangeArrowheads="1"/>
          </p:cNvSpPr>
          <p:nvPr>
            <p:ph type="ctrTitle"/>
          </p:nvPr>
        </p:nvSpPr>
        <p:spPr>
          <a:xfrm>
            <a:off x="1666613" y="1892767"/>
            <a:ext cx="7239000" cy="914400"/>
          </a:xfrm>
        </p:spPr>
        <p:txBody>
          <a:bodyPr/>
          <a:lstStyle/>
          <a:p>
            <a:pPr algn="ctr"/>
            <a:r>
              <a:rPr lang="en-US" altLang="en-US" sz="4400">
                <a:effectLst>
                  <a:outerShdw blurRad="38100" dist="38100" dir="2700000" algn="tl">
                    <a:srgbClr val="C0C0C0"/>
                  </a:outerShdw>
                </a:effectLst>
              </a:rPr>
              <a:t>Chương 5</a:t>
            </a:r>
          </a:p>
        </p:txBody>
      </p:sp>
      <p:sp>
        <p:nvSpPr>
          <p:cNvPr id="2054" name="Rectangle 6">
            <a:extLst>
              <a:ext uri="{FF2B5EF4-FFF2-40B4-BE49-F238E27FC236}">
                <a16:creationId xmlns:a16="http://schemas.microsoft.com/office/drawing/2014/main" id="{D168D27E-FFCC-4E13-A1BF-BFF65476F8FC}"/>
              </a:ext>
            </a:extLst>
          </p:cNvPr>
          <p:cNvSpPr>
            <a:spLocks noGrp="1" noChangeArrowheads="1"/>
          </p:cNvSpPr>
          <p:nvPr>
            <p:ph type="subTitle" idx="1"/>
          </p:nvPr>
        </p:nvSpPr>
        <p:spPr>
          <a:xfrm>
            <a:off x="1666613" y="4218612"/>
            <a:ext cx="7766936" cy="1096899"/>
          </a:xfrm>
        </p:spPr>
        <p:txBody>
          <a:bodyPr>
            <a:normAutofit lnSpcReduction="10000"/>
          </a:bodyPr>
          <a:lstStyle/>
          <a:p>
            <a:r>
              <a:rPr lang="en-US" altLang="en-US" dirty="0"/>
              <a:t>Trịnh Thành</a:t>
            </a:r>
          </a:p>
          <a:p>
            <a:r>
              <a:rPr lang="en-US" altLang="en-US" dirty="0"/>
              <a:t>thanh.trinh@phenikaa-uni.edu.vn</a:t>
            </a:r>
          </a:p>
          <a:p>
            <a:r>
              <a:rPr lang="en-US" altLang="en-US" dirty="0" err="1"/>
              <a:t>Phenikaa</a:t>
            </a:r>
            <a:r>
              <a:rPr lang="en-US" altLang="en-US" dirty="0"/>
              <a:t> University</a:t>
            </a:r>
          </a:p>
        </p:txBody>
      </p:sp>
      <p:sp>
        <p:nvSpPr>
          <p:cNvPr id="2053" name="Rectangle 5">
            <a:extLst>
              <a:ext uri="{FF2B5EF4-FFF2-40B4-BE49-F238E27FC236}">
                <a16:creationId xmlns:a16="http://schemas.microsoft.com/office/drawing/2014/main" id="{1377A75B-AE25-425C-BF5D-54D838CB862F}"/>
              </a:ext>
            </a:extLst>
          </p:cNvPr>
          <p:cNvSpPr>
            <a:spLocks noChangeArrowheads="1"/>
          </p:cNvSpPr>
          <p:nvPr/>
        </p:nvSpPr>
        <p:spPr bwMode="auto">
          <a:xfrm>
            <a:off x="738231" y="2933700"/>
            <a:ext cx="10175846"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spcBef>
                <a:spcPct val="0"/>
              </a:spcBef>
              <a:defRPr sz="4800">
                <a:solidFill>
                  <a:schemeClr val="tx1"/>
                </a:solidFill>
                <a:latin typeface="Verdana" panose="020B0604030504040204" pitchFamily="34" charset="0"/>
              </a:defRPr>
            </a:lvl1pPr>
            <a:lvl2pPr algn="l">
              <a:spcBef>
                <a:spcPct val="0"/>
              </a:spcBef>
              <a:defRPr sz="4800">
                <a:solidFill>
                  <a:schemeClr val="tx1"/>
                </a:solidFill>
                <a:latin typeface="Verdana" panose="020B0604030504040204" pitchFamily="34" charset="0"/>
              </a:defRPr>
            </a:lvl2pPr>
            <a:lvl3pPr algn="l">
              <a:spcBef>
                <a:spcPct val="0"/>
              </a:spcBef>
              <a:defRPr sz="4800">
                <a:solidFill>
                  <a:schemeClr val="tx1"/>
                </a:solidFill>
                <a:latin typeface="Verdana" panose="020B0604030504040204" pitchFamily="34" charset="0"/>
              </a:defRPr>
            </a:lvl3pPr>
            <a:lvl4pPr algn="l">
              <a:spcBef>
                <a:spcPct val="0"/>
              </a:spcBef>
              <a:defRPr sz="4800">
                <a:solidFill>
                  <a:schemeClr val="tx1"/>
                </a:solidFill>
                <a:latin typeface="Verdana" panose="020B0604030504040204" pitchFamily="34" charset="0"/>
              </a:defRPr>
            </a:lvl4pPr>
            <a:lvl5pPr algn="l">
              <a:spcBef>
                <a:spcPct val="0"/>
              </a:spcBef>
              <a:defRPr sz="4800">
                <a:solidFill>
                  <a:schemeClr val="tx1"/>
                </a:solidFill>
                <a:latin typeface="Verdana" panose="020B0604030504040204" pitchFamily="34" charset="0"/>
              </a:defRPr>
            </a:lvl5pPr>
            <a:lvl6pPr marL="457200" fontAlgn="base">
              <a:spcBef>
                <a:spcPct val="0"/>
              </a:spcBef>
              <a:spcAft>
                <a:spcPct val="0"/>
              </a:spcAft>
              <a:defRPr sz="4800">
                <a:solidFill>
                  <a:schemeClr val="tx1"/>
                </a:solidFill>
                <a:latin typeface="Verdana" panose="020B0604030504040204" pitchFamily="34" charset="0"/>
              </a:defRPr>
            </a:lvl6pPr>
            <a:lvl7pPr marL="914400" fontAlgn="base">
              <a:spcBef>
                <a:spcPct val="0"/>
              </a:spcBef>
              <a:spcAft>
                <a:spcPct val="0"/>
              </a:spcAft>
              <a:defRPr sz="4800">
                <a:solidFill>
                  <a:schemeClr val="tx1"/>
                </a:solidFill>
                <a:latin typeface="Verdana" panose="020B0604030504040204" pitchFamily="34" charset="0"/>
              </a:defRPr>
            </a:lvl7pPr>
            <a:lvl8pPr marL="1371600" fontAlgn="base">
              <a:spcBef>
                <a:spcPct val="0"/>
              </a:spcBef>
              <a:spcAft>
                <a:spcPct val="0"/>
              </a:spcAft>
              <a:defRPr sz="4800">
                <a:solidFill>
                  <a:schemeClr val="tx1"/>
                </a:solidFill>
                <a:latin typeface="Verdana" panose="020B0604030504040204" pitchFamily="34" charset="0"/>
              </a:defRPr>
            </a:lvl8pPr>
            <a:lvl9pPr marL="1828800" fontAlgn="base">
              <a:spcBef>
                <a:spcPct val="0"/>
              </a:spcBef>
              <a:spcAft>
                <a:spcPct val="0"/>
              </a:spcAft>
              <a:defRPr sz="4800">
                <a:solidFill>
                  <a:schemeClr val="tx1"/>
                </a:solidFill>
                <a:latin typeface="Verdana" panose="020B0604030504040204" pitchFamily="34" charset="0"/>
              </a:defRPr>
            </a:lvl9pPr>
          </a:lstStyle>
          <a:p>
            <a:pPr algn="ctr"/>
            <a:r>
              <a:rPr lang="en-US" altLang="en-US" sz="4400">
                <a:effectLst>
                  <a:outerShdw blurRad="38100" dist="38100" dir="2700000" algn="tl">
                    <a:srgbClr val="C0C0C0"/>
                  </a:outerShdw>
                </a:effectLst>
              </a:rPr>
              <a:t>SQL – Thực hành trong MySQL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a:extLst>
              <a:ext uri="{FF2B5EF4-FFF2-40B4-BE49-F238E27FC236}">
                <a16:creationId xmlns:a16="http://schemas.microsoft.com/office/drawing/2014/main" id="{4976E432-4C3E-4585-8782-A9B65ADF9CEA}"/>
              </a:ext>
            </a:extLst>
          </p:cNvPr>
          <p:cNvSpPr>
            <a:spLocks noGrp="1" noChangeArrowheads="1"/>
          </p:cNvSpPr>
          <p:nvPr>
            <p:ph type="title"/>
          </p:nvPr>
        </p:nvSpPr>
        <p:spPr>
          <a:xfrm>
            <a:off x="1125523" y="399940"/>
            <a:ext cx="8229600" cy="620712"/>
          </a:xfrm>
        </p:spPr>
        <p:txBody>
          <a:bodyPr>
            <a:normAutofit fontScale="90000"/>
          </a:bodyPr>
          <a:lstStyle/>
          <a:p>
            <a:r>
              <a:rPr lang="en-US" altLang="en-US" sz="3500" dirty="0" err="1"/>
              <a:t>Nội</a:t>
            </a:r>
            <a:r>
              <a:rPr lang="en-US" altLang="en-US" sz="3500" dirty="0"/>
              <a:t> dung chi </a:t>
            </a:r>
            <a:r>
              <a:rPr lang="en-US" altLang="en-US" sz="3500" dirty="0" err="1"/>
              <a:t>tiết</a:t>
            </a:r>
            <a:endParaRPr lang="en-US" altLang="en-US" sz="3500" dirty="0"/>
          </a:p>
        </p:txBody>
      </p:sp>
      <p:sp>
        <p:nvSpPr>
          <p:cNvPr id="136195" name="Rectangle 3">
            <a:extLst>
              <a:ext uri="{FF2B5EF4-FFF2-40B4-BE49-F238E27FC236}">
                <a16:creationId xmlns:a16="http://schemas.microsoft.com/office/drawing/2014/main" id="{D8C5946F-B238-41C2-91C6-338781CFFCB4}"/>
              </a:ext>
            </a:extLst>
          </p:cNvPr>
          <p:cNvSpPr>
            <a:spLocks noGrp="1" noChangeArrowheads="1"/>
          </p:cNvSpPr>
          <p:nvPr>
            <p:ph idx="1"/>
          </p:nvPr>
        </p:nvSpPr>
        <p:spPr>
          <a:xfrm>
            <a:off x="1125523" y="1228289"/>
            <a:ext cx="8229600" cy="4835525"/>
          </a:xfrm>
        </p:spPr>
        <p:txBody>
          <a:bodyPr/>
          <a:lstStyle/>
          <a:p>
            <a:r>
              <a:rPr lang="en-US" altLang="en-US" dirty="0" err="1"/>
              <a:t>Giới</a:t>
            </a:r>
            <a:r>
              <a:rPr lang="en-US" altLang="en-US" dirty="0"/>
              <a:t> </a:t>
            </a:r>
            <a:r>
              <a:rPr lang="en-US" altLang="en-US" dirty="0" err="1"/>
              <a:t>thiệu</a:t>
            </a:r>
            <a:endParaRPr lang="en-US" altLang="en-US" dirty="0"/>
          </a:p>
          <a:p>
            <a:r>
              <a:rPr lang="en-US" altLang="en-US" dirty="0" err="1"/>
              <a:t>Định</a:t>
            </a:r>
            <a:r>
              <a:rPr lang="en-US" altLang="en-US" dirty="0"/>
              <a:t> </a:t>
            </a:r>
            <a:r>
              <a:rPr lang="en-US" altLang="en-US" dirty="0" err="1"/>
              <a:t>nghĩa</a:t>
            </a:r>
            <a:r>
              <a:rPr lang="en-US" altLang="en-US" dirty="0"/>
              <a:t> </a:t>
            </a:r>
            <a:r>
              <a:rPr lang="en-US" altLang="en-US" dirty="0" err="1"/>
              <a:t>dữ</a:t>
            </a:r>
            <a:r>
              <a:rPr lang="en-US" altLang="en-US" dirty="0"/>
              <a:t> </a:t>
            </a:r>
            <a:r>
              <a:rPr lang="en-US" altLang="en-US" dirty="0" err="1"/>
              <a:t>liệu</a:t>
            </a:r>
            <a:r>
              <a:rPr lang="en-US" altLang="en-US" dirty="0"/>
              <a:t> </a:t>
            </a:r>
          </a:p>
          <a:p>
            <a:r>
              <a:rPr lang="en-US" altLang="en-US" dirty="0" err="1"/>
              <a:t>Truy</a:t>
            </a:r>
            <a:r>
              <a:rPr lang="en-US" altLang="en-US" dirty="0"/>
              <a:t> </a:t>
            </a:r>
            <a:r>
              <a:rPr lang="en-US" altLang="en-US" dirty="0" err="1"/>
              <a:t>vấn</a:t>
            </a:r>
            <a:r>
              <a:rPr lang="en-US" altLang="en-US" dirty="0"/>
              <a:t> </a:t>
            </a:r>
            <a:r>
              <a:rPr lang="en-US" altLang="en-US" dirty="0" err="1"/>
              <a:t>dữ</a:t>
            </a:r>
            <a:r>
              <a:rPr lang="en-US" altLang="en-US" dirty="0"/>
              <a:t> </a:t>
            </a:r>
            <a:r>
              <a:rPr lang="en-US" altLang="en-US" dirty="0" err="1"/>
              <a:t>liệu</a:t>
            </a:r>
            <a:r>
              <a:rPr lang="en-US" altLang="en-US" dirty="0"/>
              <a:t> </a:t>
            </a:r>
          </a:p>
          <a:p>
            <a:endParaRPr lang="en-US"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Rectangle 2">
            <a:extLst>
              <a:ext uri="{FF2B5EF4-FFF2-40B4-BE49-F238E27FC236}">
                <a16:creationId xmlns:a16="http://schemas.microsoft.com/office/drawing/2014/main" id="{45A9EB06-E867-4DD5-8DEC-485580E49D1A}"/>
              </a:ext>
            </a:extLst>
          </p:cNvPr>
          <p:cNvSpPr>
            <a:spLocks noGrp="1" noChangeArrowheads="1"/>
          </p:cNvSpPr>
          <p:nvPr>
            <p:ph type="title"/>
          </p:nvPr>
        </p:nvSpPr>
        <p:spPr>
          <a:xfrm>
            <a:off x="1159079" y="370791"/>
            <a:ext cx="8229600" cy="620712"/>
          </a:xfrm>
        </p:spPr>
        <p:txBody>
          <a:bodyPr>
            <a:normAutofit fontScale="90000"/>
          </a:bodyPr>
          <a:lstStyle/>
          <a:p>
            <a:r>
              <a:rPr lang="en-US" altLang="en-US" sz="3500" dirty="0" err="1"/>
              <a:t>Giới</a:t>
            </a:r>
            <a:r>
              <a:rPr lang="en-US" altLang="en-US" sz="3500" dirty="0"/>
              <a:t> </a:t>
            </a:r>
            <a:r>
              <a:rPr lang="en-US" altLang="en-US" sz="3500" dirty="0" err="1"/>
              <a:t>thiệu</a:t>
            </a:r>
            <a:endParaRPr lang="en-US" altLang="en-US" sz="3500" dirty="0"/>
          </a:p>
        </p:txBody>
      </p:sp>
      <p:sp>
        <p:nvSpPr>
          <p:cNvPr id="306179" name="Rectangle 3">
            <a:extLst>
              <a:ext uri="{FF2B5EF4-FFF2-40B4-BE49-F238E27FC236}">
                <a16:creationId xmlns:a16="http://schemas.microsoft.com/office/drawing/2014/main" id="{230D18D5-A6EE-45DA-8EE4-4AF04619F17E}"/>
              </a:ext>
            </a:extLst>
          </p:cNvPr>
          <p:cNvSpPr>
            <a:spLocks noGrp="1" noChangeArrowheads="1"/>
          </p:cNvSpPr>
          <p:nvPr>
            <p:ph idx="1"/>
          </p:nvPr>
        </p:nvSpPr>
        <p:spPr>
          <a:xfrm>
            <a:off x="1159079" y="1228288"/>
            <a:ext cx="8229600" cy="5105400"/>
          </a:xfrm>
        </p:spPr>
        <p:txBody>
          <a:bodyPr/>
          <a:lstStyle/>
          <a:p>
            <a:r>
              <a:rPr lang="en-US" altLang="en-US" dirty="0" err="1"/>
              <a:t>Ngôn</a:t>
            </a:r>
            <a:r>
              <a:rPr lang="en-US" altLang="en-US" dirty="0"/>
              <a:t> </a:t>
            </a:r>
            <a:r>
              <a:rPr lang="en-US" altLang="en-US" dirty="0" err="1"/>
              <a:t>ngữ</a:t>
            </a:r>
            <a:r>
              <a:rPr lang="en-US" altLang="en-US" dirty="0"/>
              <a:t> ĐSQH </a:t>
            </a:r>
          </a:p>
          <a:p>
            <a:pPr lvl="1"/>
            <a:r>
              <a:rPr lang="en-US" altLang="en-US" dirty="0" err="1"/>
              <a:t>Cách</a:t>
            </a:r>
            <a:r>
              <a:rPr lang="en-US" altLang="en-US" dirty="0"/>
              <a:t> </a:t>
            </a:r>
            <a:r>
              <a:rPr lang="en-US" altLang="en-US" dirty="0" err="1"/>
              <a:t>thức</a:t>
            </a:r>
            <a:r>
              <a:rPr lang="en-US" altLang="en-US" dirty="0"/>
              <a:t> </a:t>
            </a:r>
            <a:r>
              <a:rPr lang="en-US" altLang="en-US" dirty="0" err="1"/>
              <a:t>truy</a:t>
            </a:r>
            <a:r>
              <a:rPr lang="en-US" altLang="en-US" dirty="0"/>
              <a:t> </a:t>
            </a:r>
            <a:r>
              <a:rPr lang="en-US" altLang="en-US" dirty="0" err="1"/>
              <a:t>vấn</a:t>
            </a:r>
            <a:r>
              <a:rPr lang="en-US" altLang="en-US" dirty="0"/>
              <a:t> </a:t>
            </a:r>
            <a:r>
              <a:rPr lang="en-US" altLang="en-US" dirty="0" err="1"/>
              <a:t>dữ</a:t>
            </a:r>
            <a:r>
              <a:rPr lang="en-US" altLang="en-US" dirty="0"/>
              <a:t> </a:t>
            </a:r>
            <a:r>
              <a:rPr lang="en-US" altLang="en-US" dirty="0" err="1"/>
              <a:t>liệu</a:t>
            </a:r>
            <a:endParaRPr lang="en-US" altLang="en-US" dirty="0"/>
          </a:p>
          <a:p>
            <a:pPr lvl="1"/>
            <a:r>
              <a:rPr lang="en-US" altLang="en-US" dirty="0" err="1"/>
              <a:t>Khó</a:t>
            </a:r>
            <a:r>
              <a:rPr lang="en-US" altLang="en-US" dirty="0"/>
              <a:t> </a:t>
            </a:r>
            <a:r>
              <a:rPr lang="en-US" altLang="en-US" dirty="0" err="1"/>
              <a:t>khăn</a:t>
            </a:r>
            <a:r>
              <a:rPr lang="en-US" altLang="en-US" dirty="0"/>
              <a:t> </a:t>
            </a:r>
            <a:r>
              <a:rPr lang="en-US" altLang="en-US" dirty="0" err="1"/>
              <a:t>cho</a:t>
            </a:r>
            <a:r>
              <a:rPr lang="en-US" altLang="en-US" dirty="0"/>
              <a:t> </a:t>
            </a:r>
            <a:r>
              <a:rPr lang="en-US" altLang="en-US" dirty="0" err="1"/>
              <a:t>người</a:t>
            </a:r>
            <a:r>
              <a:rPr lang="en-US" altLang="en-US" dirty="0"/>
              <a:t> </a:t>
            </a:r>
            <a:r>
              <a:rPr lang="en-US" altLang="en-US" dirty="0" err="1"/>
              <a:t>sử</a:t>
            </a:r>
            <a:r>
              <a:rPr lang="en-US" altLang="en-US" dirty="0"/>
              <a:t> </a:t>
            </a:r>
            <a:r>
              <a:rPr lang="en-US" altLang="en-US" dirty="0" err="1"/>
              <a:t>dụng</a:t>
            </a:r>
            <a:endParaRPr lang="en-US" altLang="en-US" dirty="0"/>
          </a:p>
          <a:p>
            <a:r>
              <a:rPr lang="en-US" altLang="en-US" dirty="0"/>
              <a:t>SQL (Structured Query Language)</a:t>
            </a:r>
          </a:p>
          <a:p>
            <a:pPr lvl="1"/>
            <a:r>
              <a:rPr lang="en-US" altLang="en-US" dirty="0" err="1"/>
              <a:t>Ngôn</a:t>
            </a:r>
            <a:r>
              <a:rPr lang="en-US" altLang="en-US" dirty="0"/>
              <a:t> </a:t>
            </a:r>
            <a:r>
              <a:rPr lang="en-US" altLang="en-US" dirty="0" err="1"/>
              <a:t>ngữ</a:t>
            </a:r>
            <a:r>
              <a:rPr lang="en-US" altLang="en-US" dirty="0"/>
              <a:t> </a:t>
            </a:r>
            <a:r>
              <a:rPr lang="en-US" altLang="en-US" dirty="0" err="1"/>
              <a:t>cấp</a:t>
            </a:r>
            <a:r>
              <a:rPr lang="en-US" altLang="en-US" dirty="0"/>
              <a:t> </a:t>
            </a:r>
            <a:r>
              <a:rPr lang="en-US" altLang="en-US" dirty="0" err="1"/>
              <a:t>cao</a:t>
            </a:r>
            <a:endParaRPr lang="en-US" altLang="en-US" dirty="0"/>
          </a:p>
          <a:p>
            <a:pPr lvl="1"/>
            <a:r>
              <a:rPr lang="en-US" altLang="en-US" dirty="0" err="1"/>
              <a:t>Người</a:t>
            </a:r>
            <a:r>
              <a:rPr lang="en-US" altLang="en-US" dirty="0"/>
              <a:t> </a:t>
            </a:r>
            <a:r>
              <a:rPr lang="en-US" altLang="en-US" dirty="0" err="1"/>
              <a:t>sử</a:t>
            </a:r>
            <a:r>
              <a:rPr lang="en-US" altLang="en-US" dirty="0"/>
              <a:t> </a:t>
            </a:r>
            <a:r>
              <a:rPr lang="en-US" altLang="en-US" dirty="0" err="1"/>
              <a:t>dụng</a:t>
            </a:r>
            <a:r>
              <a:rPr lang="en-US" altLang="en-US" dirty="0"/>
              <a:t> </a:t>
            </a:r>
            <a:r>
              <a:rPr lang="en-US" altLang="en-US" dirty="0" err="1"/>
              <a:t>chỉ</a:t>
            </a:r>
            <a:r>
              <a:rPr lang="en-US" altLang="en-US" dirty="0"/>
              <a:t> </a:t>
            </a:r>
            <a:r>
              <a:rPr lang="en-US" altLang="en-US" dirty="0" err="1"/>
              <a:t>cần</a:t>
            </a:r>
            <a:r>
              <a:rPr lang="en-US" altLang="en-US" dirty="0"/>
              <a:t> </a:t>
            </a:r>
            <a:r>
              <a:rPr lang="en-US" altLang="en-US" dirty="0" err="1"/>
              <a:t>đưa</a:t>
            </a:r>
            <a:r>
              <a:rPr lang="en-US" altLang="en-US" dirty="0"/>
              <a:t> ra </a:t>
            </a:r>
            <a:r>
              <a:rPr lang="en-US" altLang="en-US" dirty="0" err="1"/>
              <a:t>nội</a:t>
            </a:r>
            <a:r>
              <a:rPr lang="en-US" altLang="en-US" dirty="0"/>
              <a:t> dung </a:t>
            </a:r>
            <a:r>
              <a:rPr lang="en-US" altLang="en-US" dirty="0" err="1"/>
              <a:t>cần</a:t>
            </a:r>
            <a:r>
              <a:rPr lang="en-US" altLang="en-US" dirty="0"/>
              <a:t> </a:t>
            </a:r>
            <a:r>
              <a:rPr lang="en-US" altLang="en-US" dirty="0" err="1"/>
              <a:t>truy</a:t>
            </a:r>
            <a:r>
              <a:rPr lang="en-US" altLang="en-US" dirty="0"/>
              <a:t> </a:t>
            </a:r>
            <a:r>
              <a:rPr lang="en-US" altLang="en-US" dirty="0" err="1"/>
              <a:t>vấn</a:t>
            </a:r>
            <a:endParaRPr lang="en-US" altLang="en-US" dirty="0"/>
          </a:p>
          <a:p>
            <a:pPr lvl="1"/>
            <a:r>
              <a:rPr lang="en-US" altLang="en-US" dirty="0" err="1"/>
              <a:t>Được</a:t>
            </a:r>
            <a:r>
              <a:rPr lang="en-US" altLang="en-US" dirty="0"/>
              <a:t> </a:t>
            </a:r>
            <a:r>
              <a:rPr lang="en-US" altLang="en-US" dirty="0" err="1"/>
              <a:t>phát</a:t>
            </a:r>
            <a:r>
              <a:rPr lang="en-US" altLang="en-US" dirty="0"/>
              <a:t> </a:t>
            </a:r>
            <a:r>
              <a:rPr lang="en-US" altLang="en-US" dirty="0" err="1"/>
              <a:t>triển</a:t>
            </a:r>
            <a:r>
              <a:rPr lang="en-US" altLang="en-US" dirty="0"/>
              <a:t> </a:t>
            </a:r>
            <a:r>
              <a:rPr lang="en-US" altLang="en-US" dirty="0" err="1"/>
              <a:t>bởi</a:t>
            </a:r>
            <a:r>
              <a:rPr lang="en-US" altLang="en-US" dirty="0"/>
              <a:t> IBM (1970s)</a:t>
            </a:r>
          </a:p>
          <a:p>
            <a:pPr lvl="1"/>
            <a:r>
              <a:rPr lang="en-US" altLang="en-US" dirty="0" err="1"/>
              <a:t>Được</a:t>
            </a:r>
            <a:r>
              <a:rPr lang="en-US" altLang="en-US" dirty="0"/>
              <a:t> </a:t>
            </a:r>
            <a:r>
              <a:rPr lang="en-US" altLang="en-US" dirty="0" err="1"/>
              <a:t>gọi</a:t>
            </a:r>
            <a:r>
              <a:rPr lang="en-US" altLang="en-US" dirty="0"/>
              <a:t> </a:t>
            </a:r>
            <a:r>
              <a:rPr lang="en-US" altLang="en-US" dirty="0" err="1"/>
              <a:t>là</a:t>
            </a:r>
            <a:r>
              <a:rPr lang="en-US" altLang="en-US" dirty="0"/>
              <a:t> SEQUEL</a:t>
            </a:r>
          </a:p>
          <a:p>
            <a:pPr lvl="1"/>
            <a:r>
              <a:rPr lang="en-US" altLang="en-US" dirty="0" err="1"/>
              <a:t>Được</a:t>
            </a:r>
            <a:r>
              <a:rPr lang="en-US" altLang="en-US" dirty="0"/>
              <a:t> ANSI </a:t>
            </a:r>
            <a:r>
              <a:rPr lang="en-US" altLang="en-US" dirty="0" err="1"/>
              <a:t>công</a:t>
            </a:r>
            <a:r>
              <a:rPr lang="en-US" altLang="en-US" dirty="0"/>
              <a:t> </a:t>
            </a:r>
            <a:r>
              <a:rPr lang="en-US" altLang="en-US" dirty="0" err="1"/>
              <a:t>nhận</a:t>
            </a:r>
            <a:r>
              <a:rPr lang="en-US" altLang="en-US" dirty="0"/>
              <a:t> </a:t>
            </a:r>
            <a:r>
              <a:rPr lang="en-US" altLang="en-US" dirty="0" err="1"/>
              <a:t>và</a:t>
            </a:r>
            <a:r>
              <a:rPr lang="en-US" altLang="en-US" dirty="0"/>
              <a:t> </a:t>
            </a:r>
            <a:r>
              <a:rPr lang="en-US" altLang="en-US" dirty="0" err="1"/>
              <a:t>phát</a:t>
            </a:r>
            <a:r>
              <a:rPr lang="en-US" altLang="en-US" dirty="0"/>
              <a:t> </a:t>
            </a:r>
            <a:r>
              <a:rPr lang="en-US" altLang="en-US" dirty="0" err="1"/>
              <a:t>triển</a:t>
            </a:r>
            <a:r>
              <a:rPr lang="en-US" altLang="en-US" dirty="0"/>
              <a:t> </a:t>
            </a:r>
            <a:r>
              <a:rPr lang="en-US" altLang="en-US" dirty="0" err="1"/>
              <a:t>thành</a:t>
            </a:r>
            <a:r>
              <a:rPr lang="en-US" altLang="en-US" dirty="0"/>
              <a:t> </a:t>
            </a:r>
            <a:r>
              <a:rPr lang="en-US" altLang="en-US" dirty="0" err="1"/>
              <a:t>chuẩn</a:t>
            </a:r>
            <a:endParaRPr lang="en-US" altLang="en-US" dirty="0"/>
          </a:p>
          <a:p>
            <a:pPr lvl="2"/>
            <a:r>
              <a:rPr lang="en-US" altLang="en-US" dirty="0"/>
              <a:t>SQL-86</a:t>
            </a:r>
          </a:p>
          <a:p>
            <a:pPr lvl="2"/>
            <a:r>
              <a:rPr lang="en-US" altLang="en-US" dirty="0"/>
              <a:t>SQL-92</a:t>
            </a:r>
          </a:p>
          <a:p>
            <a:pPr lvl="2"/>
            <a:r>
              <a:rPr lang="en-US" altLang="en-US" dirty="0"/>
              <a:t>SQL-99</a:t>
            </a:r>
          </a:p>
        </p:txBody>
      </p:sp>
      <p:sp>
        <p:nvSpPr>
          <p:cNvPr id="6" name="Slide Number Placeholder 5">
            <a:extLst>
              <a:ext uri="{FF2B5EF4-FFF2-40B4-BE49-F238E27FC236}">
                <a16:creationId xmlns:a16="http://schemas.microsoft.com/office/drawing/2014/main" id="{E3A9DFD7-4AC9-4B68-98D9-CC691131D3B7}"/>
              </a:ext>
            </a:extLst>
          </p:cNvPr>
          <p:cNvSpPr>
            <a:spLocks noGrp="1"/>
          </p:cNvSpPr>
          <p:nvPr>
            <p:ph type="sldNum" sz="quarter" idx="12"/>
          </p:nvPr>
        </p:nvSpPr>
        <p:spPr/>
        <p:txBody>
          <a:bodyPr/>
          <a:lstStyle/>
          <a:p>
            <a:fld id="{20C5B50E-0D4E-47F3-B346-2BCD29516397}" type="slidenum">
              <a:rPr lang="en-US" altLang="en-US"/>
              <a:pPr/>
              <a:t>3</a:t>
            </a:fld>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1938" name="Rectangle 2">
            <a:extLst>
              <a:ext uri="{FF2B5EF4-FFF2-40B4-BE49-F238E27FC236}">
                <a16:creationId xmlns:a16="http://schemas.microsoft.com/office/drawing/2014/main" id="{D3252200-1C37-4F53-A733-EE9301D35C70}"/>
              </a:ext>
            </a:extLst>
          </p:cNvPr>
          <p:cNvSpPr>
            <a:spLocks noGrp="1" noChangeArrowheads="1"/>
          </p:cNvSpPr>
          <p:nvPr>
            <p:ph type="title"/>
          </p:nvPr>
        </p:nvSpPr>
        <p:spPr>
          <a:xfrm>
            <a:off x="1044402" y="401509"/>
            <a:ext cx="8229600" cy="620712"/>
          </a:xfrm>
        </p:spPr>
        <p:txBody>
          <a:bodyPr>
            <a:normAutofit fontScale="90000"/>
          </a:bodyPr>
          <a:lstStyle/>
          <a:p>
            <a:r>
              <a:rPr lang="en-US" altLang="en-US" sz="3500" dirty="0" err="1"/>
              <a:t>Giới</a:t>
            </a:r>
            <a:r>
              <a:rPr lang="en-US" altLang="en-US" sz="3500" dirty="0"/>
              <a:t> </a:t>
            </a:r>
            <a:r>
              <a:rPr lang="en-US" altLang="en-US" sz="3500" dirty="0" err="1"/>
              <a:t>thiệu</a:t>
            </a:r>
            <a:r>
              <a:rPr lang="en-US" altLang="en-US" sz="3500" dirty="0"/>
              <a:t> (</a:t>
            </a:r>
            <a:r>
              <a:rPr lang="en-US" altLang="en-US" sz="3500" dirty="0" err="1"/>
              <a:t>tt</a:t>
            </a:r>
            <a:r>
              <a:rPr lang="en-US" altLang="en-US" sz="3500" dirty="0"/>
              <a:t>)</a:t>
            </a:r>
          </a:p>
        </p:txBody>
      </p:sp>
      <p:sp>
        <p:nvSpPr>
          <p:cNvPr id="551939" name="Rectangle 3">
            <a:extLst>
              <a:ext uri="{FF2B5EF4-FFF2-40B4-BE49-F238E27FC236}">
                <a16:creationId xmlns:a16="http://schemas.microsoft.com/office/drawing/2014/main" id="{B247EABB-7C78-439E-8DAB-B6604A824FB3}"/>
              </a:ext>
            </a:extLst>
          </p:cNvPr>
          <p:cNvSpPr>
            <a:spLocks noGrp="1" noChangeArrowheads="1"/>
          </p:cNvSpPr>
          <p:nvPr>
            <p:ph idx="1"/>
          </p:nvPr>
        </p:nvSpPr>
        <p:spPr>
          <a:xfrm>
            <a:off x="990601" y="1301087"/>
            <a:ext cx="8229600" cy="5105400"/>
          </a:xfrm>
        </p:spPr>
        <p:txBody>
          <a:bodyPr/>
          <a:lstStyle/>
          <a:p>
            <a:r>
              <a:rPr lang="en-US" altLang="en-US" dirty="0"/>
              <a:t>SQL </a:t>
            </a:r>
            <a:r>
              <a:rPr lang="en-US" altLang="en-US" dirty="0" err="1"/>
              <a:t>gồm</a:t>
            </a:r>
            <a:endParaRPr lang="en-US" altLang="en-US" dirty="0"/>
          </a:p>
          <a:p>
            <a:pPr lvl="1"/>
            <a:r>
              <a:rPr lang="en-US" altLang="en-US" dirty="0" err="1"/>
              <a:t>Định</a:t>
            </a:r>
            <a:r>
              <a:rPr lang="en-US" altLang="en-US" dirty="0"/>
              <a:t> </a:t>
            </a:r>
            <a:r>
              <a:rPr lang="en-US" altLang="en-US" dirty="0" err="1"/>
              <a:t>nghĩa</a:t>
            </a:r>
            <a:r>
              <a:rPr lang="en-US" altLang="en-US" dirty="0"/>
              <a:t> </a:t>
            </a:r>
            <a:r>
              <a:rPr lang="en-US" altLang="en-US" dirty="0" err="1"/>
              <a:t>dữ</a:t>
            </a:r>
            <a:r>
              <a:rPr lang="en-US" altLang="en-US" dirty="0"/>
              <a:t> </a:t>
            </a:r>
            <a:r>
              <a:rPr lang="en-US" altLang="en-US" dirty="0" err="1"/>
              <a:t>liệu</a:t>
            </a:r>
            <a:r>
              <a:rPr lang="en-US" altLang="en-US" dirty="0"/>
              <a:t> (DDL)</a:t>
            </a:r>
          </a:p>
          <a:p>
            <a:pPr lvl="1"/>
            <a:r>
              <a:rPr lang="en-US" altLang="en-US" dirty="0"/>
              <a:t>Thao </a:t>
            </a:r>
            <a:r>
              <a:rPr lang="en-US" altLang="en-US" dirty="0" err="1"/>
              <a:t>tác</a:t>
            </a:r>
            <a:r>
              <a:rPr lang="en-US" altLang="en-US" dirty="0"/>
              <a:t> </a:t>
            </a:r>
            <a:r>
              <a:rPr lang="en-US" altLang="en-US" dirty="0" err="1"/>
              <a:t>dữ</a:t>
            </a:r>
            <a:r>
              <a:rPr lang="en-US" altLang="en-US" dirty="0"/>
              <a:t> </a:t>
            </a:r>
            <a:r>
              <a:rPr lang="en-US" altLang="en-US" dirty="0" err="1"/>
              <a:t>liệu</a:t>
            </a:r>
            <a:r>
              <a:rPr lang="en-US" altLang="en-US" dirty="0"/>
              <a:t> (DML)</a:t>
            </a:r>
          </a:p>
          <a:p>
            <a:pPr lvl="1"/>
            <a:r>
              <a:rPr lang="en-US" altLang="en-US" dirty="0" err="1"/>
              <a:t>Định</a:t>
            </a:r>
            <a:r>
              <a:rPr lang="en-US" altLang="en-US" dirty="0"/>
              <a:t> </a:t>
            </a:r>
            <a:r>
              <a:rPr lang="en-US" altLang="en-US" dirty="0" err="1"/>
              <a:t>nghĩa</a:t>
            </a:r>
            <a:r>
              <a:rPr lang="en-US" altLang="en-US" dirty="0"/>
              <a:t> </a:t>
            </a:r>
            <a:r>
              <a:rPr lang="en-US" altLang="en-US" dirty="0" err="1"/>
              <a:t>khung</a:t>
            </a:r>
            <a:r>
              <a:rPr lang="en-US" altLang="en-US" dirty="0"/>
              <a:t> </a:t>
            </a:r>
            <a:r>
              <a:rPr lang="en-US" altLang="en-US" dirty="0" err="1"/>
              <a:t>nhìn</a:t>
            </a:r>
            <a:endParaRPr lang="en-US" altLang="en-US" dirty="0"/>
          </a:p>
          <a:p>
            <a:pPr lvl="1"/>
            <a:r>
              <a:rPr lang="en-US" altLang="en-US" dirty="0" err="1"/>
              <a:t>Ràng</a:t>
            </a:r>
            <a:r>
              <a:rPr lang="en-US" altLang="en-US" dirty="0"/>
              <a:t> </a:t>
            </a:r>
            <a:r>
              <a:rPr lang="en-US" altLang="en-US" dirty="0" err="1"/>
              <a:t>buộc</a:t>
            </a:r>
            <a:r>
              <a:rPr lang="en-US" altLang="en-US" dirty="0"/>
              <a:t> </a:t>
            </a:r>
            <a:r>
              <a:rPr lang="en-US" altLang="en-US" dirty="0" err="1"/>
              <a:t>toàn</a:t>
            </a:r>
            <a:r>
              <a:rPr lang="en-US" altLang="en-US" dirty="0"/>
              <a:t> </a:t>
            </a:r>
            <a:r>
              <a:rPr lang="en-US" altLang="en-US" dirty="0" err="1"/>
              <a:t>vẹn</a:t>
            </a:r>
            <a:r>
              <a:rPr lang="en-US" altLang="en-US" dirty="0"/>
              <a:t> </a:t>
            </a:r>
          </a:p>
          <a:p>
            <a:pPr lvl="1"/>
            <a:r>
              <a:rPr lang="en-US" altLang="en-US" dirty="0" err="1"/>
              <a:t>Phân</a:t>
            </a:r>
            <a:r>
              <a:rPr lang="en-US" altLang="en-US" dirty="0"/>
              <a:t> </a:t>
            </a:r>
            <a:r>
              <a:rPr lang="en-US" altLang="en-US" dirty="0" err="1"/>
              <a:t>quyền</a:t>
            </a:r>
            <a:r>
              <a:rPr lang="en-US" altLang="en-US" dirty="0"/>
              <a:t> </a:t>
            </a:r>
            <a:r>
              <a:rPr lang="en-US" altLang="en-US" dirty="0" err="1"/>
              <a:t>và</a:t>
            </a:r>
            <a:r>
              <a:rPr lang="en-US" altLang="en-US" dirty="0"/>
              <a:t> </a:t>
            </a:r>
            <a:r>
              <a:rPr lang="en-US" altLang="en-US" dirty="0" err="1"/>
              <a:t>bảo</a:t>
            </a:r>
            <a:r>
              <a:rPr lang="en-US" altLang="en-US" dirty="0"/>
              <a:t> </a:t>
            </a:r>
            <a:r>
              <a:rPr lang="en-US" altLang="en-US" dirty="0" err="1"/>
              <a:t>mật</a:t>
            </a:r>
            <a:endParaRPr lang="en-US" altLang="en-US" dirty="0"/>
          </a:p>
          <a:p>
            <a:pPr lvl="1"/>
            <a:r>
              <a:rPr lang="en-US" altLang="en-US" dirty="0" err="1"/>
              <a:t>Điều</a:t>
            </a:r>
            <a:r>
              <a:rPr lang="en-US" altLang="en-US" dirty="0"/>
              <a:t> </a:t>
            </a:r>
            <a:r>
              <a:rPr lang="en-US" altLang="en-US" dirty="0" err="1"/>
              <a:t>khiển</a:t>
            </a:r>
            <a:r>
              <a:rPr lang="en-US" altLang="en-US" dirty="0"/>
              <a:t> </a:t>
            </a:r>
            <a:r>
              <a:rPr lang="en-US" altLang="en-US" dirty="0" err="1"/>
              <a:t>giao</a:t>
            </a:r>
            <a:r>
              <a:rPr lang="en-US" altLang="en-US" dirty="0"/>
              <a:t> </a:t>
            </a:r>
            <a:r>
              <a:rPr lang="en-US" altLang="en-US" dirty="0" err="1"/>
              <a:t>tác</a:t>
            </a:r>
            <a:endParaRPr lang="en-US" altLang="en-US" dirty="0"/>
          </a:p>
          <a:p>
            <a:r>
              <a:rPr lang="en-US" altLang="en-US" dirty="0"/>
              <a:t>SQL </a:t>
            </a:r>
            <a:r>
              <a:rPr lang="en-US" altLang="en-US" dirty="0" err="1"/>
              <a:t>sử</a:t>
            </a:r>
            <a:r>
              <a:rPr lang="en-US" altLang="en-US" dirty="0"/>
              <a:t> </a:t>
            </a:r>
            <a:r>
              <a:rPr lang="en-US" altLang="en-US" dirty="0" err="1"/>
              <a:t>dụng</a:t>
            </a:r>
            <a:r>
              <a:rPr lang="en-US" altLang="en-US" dirty="0"/>
              <a:t> </a:t>
            </a:r>
            <a:r>
              <a:rPr lang="en-US" altLang="en-US" dirty="0" err="1"/>
              <a:t>thuật</a:t>
            </a:r>
            <a:r>
              <a:rPr lang="en-US" altLang="en-US" dirty="0"/>
              <a:t> </a:t>
            </a:r>
            <a:r>
              <a:rPr lang="en-US" altLang="en-US" dirty="0" err="1"/>
              <a:t>ngữ</a:t>
            </a:r>
            <a:endParaRPr lang="en-US" altLang="en-US" dirty="0"/>
          </a:p>
          <a:p>
            <a:pPr lvl="1"/>
            <a:r>
              <a:rPr lang="en-US" altLang="en-US" dirty="0" err="1"/>
              <a:t>Bảng</a:t>
            </a:r>
            <a:r>
              <a:rPr lang="en-US" altLang="en-US" dirty="0"/>
              <a:t> ~ </a:t>
            </a:r>
            <a:r>
              <a:rPr lang="en-US" altLang="en-US" dirty="0" err="1"/>
              <a:t>quan</a:t>
            </a:r>
            <a:r>
              <a:rPr lang="en-US" altLang="en-US" dirty="0"/>
              <a:t> </a:t>
            </a:r>
            <a:r>
              <a:rPr lang="en-US" altLang="en-US" dirty="0" err="1"/>
              <a:t>hệ</a:t>
            </a:r>
            <a:endParaRPr lang="en-US" altLang="en-US" dirty="0"/>
          </a:p>
          <a:p>
            <a:pPr lvl="1"/>
            <a:r>
              <a:rPr lang="en-US" altLang="en-US" dirty="0" err="1"/>
              <a:t>Cột</a:t>
            </a:r>
            <a:r>
              <a:rPr lang="en-US" altLang="en-US" dirty="0"/>
              <a:t> ~ </a:t>
            </a:r>
            <a:r>
              <a:rPr lang="en-US" altLang="en-US" dirty="0" err="1"/>
              <a:t>thuộc</a:t>
            </a:r>
            <a:r>
              <a:rPr lang="en-US" altLang="en-US" dirty="0"/>
              <a:t> </a:t>
            </a:r>
            <a:r>
              <a:rPr lang="en-US" altLang="en-US" dirty="0" err="1"/>
              <a:t>tính</a:t>
            </a:r>
            <a:endParaRPr lang="en-US" altLang="en-US" dirty="0"/>
          </a:p>
          <a:p>
            <a:pPr lvl="1"/>
            <a:r>
              <a:rPr lang="en-US" altLang="en-US" dirty="0" err="1"/>
              <a:t>Dòng</a:t>
            </a:r>
            <a:r>
              <a:rPr lang="en-US" altLang="en-US" dirty="0"/>
              <a:t> ~ </a:t>
            </a:r>
            <a:r>
              <a:rPr lang="en-US" altLang="en-US" dirty="0" err="1"/>
              <a:t>bộ</a:t>
            </a:r>
            <a:endParaRPr lang="en-US" altLang="en-US" dirty="0"/>
          </a:p>
        </p:txBody>
      </p:sp>
      <p:sp>
        <p:nvSpPr>
          <p:cNvPr id="8" name="Slide Number Placeholder 7">
            <a:extLst>
              <a:ext uri="{FF2B5EF4-FFF2-40B4-BE49-F238E27FC236}">
                <a16:creationId xmlns:a16="http://schemas.microsoft.com/office/drawing/2014/main" id="{3F48177C-5B8F-47A8-8F11-34B597BC7954}"/>
              </a:ext>
            </a:extLst>
          </p:cNvPr>
          <p:cNvSpPr>
            <a:spLocks noGrp="1"/>
          </p:cNvSpPr>
          <p:nvPr>
            <p:ph type="sldNum" sz="quarter" idx="12"/>
          </p:nvPr>
        </p:nvSpPr>
        <p:spPr/>
        <p:txBody>
          <a:bodyPr/>
          <a:lstStyle/>
          <a:p>
            <a:fld id="{D5DA8AA2-1366-435B-93C9-499725E15EA5}" type="slidenum">
              <a:rPr lang="en-US" altLang="en-US"/>
              <a:pPr/>
              <a:t>4</a:t>
            </a:fld>
            <a:endParaRPr lang="en-US" altLang="en-US"/>
          </a:p>
        </p:txBody>
      </p:sp>
      <p:sp>
        <p:nvSpPr>
          <p:cNvPr id="551940" name="Text Box 4">
            <a:extLst>
              <a:ext uri="{FF2B5EF4-FFF2-40B4-BE49-F238E27FC236}">
                <a16:creationId xmlns:a16="http://schemas.microsoft.com/office/drawing/2014/main" id="{B59CB70B-5844-413A-90F8-668067B8288A}"/>
              </a:ext>
            </a:extLst>
          </p:cNvPr>
          <p:cNvSpPr txBox="1">
            <a:spLocks noChangeArrowheads="1"/>
          </p:cNvSpPr>
          <p:nvPr/>
        </p:nvSpPr>
        <p:spPr bwMode="auto">
          <a:xfrm>
            <a:off x="6553200" y="2514601"/>
            <a:ext cx="3276600" cy="409575"/>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a:t>Lý thuyết : Chuẩn SQL-92</a:t>
            </a:r>
          </a:p>
        </p:txBody>
      </p:sp>
      <p:sp>
        <p:nvSpPr>
          <p:cNvPr id="551941" name="Text Box 5">
            <a:extLst>
              <a:ext uri="{FF2B5EF4-FFF2-40B4-BE49-F238E27FC236}">
                <a16:creationId xmlns:a16="http://schemas.microsoft.com/office/drawing/2014/main" id="{D0C068A3-5768-495A-A756-1D922640B8D2}"/>
              </a:ext>
            </a:extLst>
          </p:cNvPr>
          <p:cNvSpPr txBox="1">
            <a:spLocks noChangeArrowheads="1"/>
          </p:cNvSpPr>
          <p:nvPr/>
        </p:nvSpPr>
        <p:spPr bwMode="auto">
          <a:xfrm>
            <a:off x="7086600" y="3171826"/>
            <a:ext cx="2362200" cy="409575"/>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dirty="0" err="1"/>
              <a:t>Ví</a:t>
            </a:r>
            <a:r>
              <a:rPr lang="en-US" altLang="en-US" sz="2000" dirty="0"/>
              <a:t> </a:t>
            </a:r>
            <a:r>
              <a:rPr lang="en-US" altLang="en-US" sz="2000" dirty="0" err="1"/>
              <a:t>dụ</a:t>
            </a:r>
            <a:r>
              <a:rPr lang="en-US" altLang="en-US" sz="2000" dirty="0"/>
              <a:t> : SQL Server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986" name="Rectangle 2">
            <a:extLst>
              <a:ext uri="{FF2B5EF4-FFF2-40B4-BE49-F238E27FC236}">
                <a16:creationId xmlns:a16="http://schemas.microsoft.com/office/drawing/2014/main" id="{D17EE03F-64D5-4491-9020-498DF40EF076}"/>
              </a:ext>
            </a:extLst>
          </p:cNvPr>
          <p:cNvSpPr>
            <a:spLocks noGrp="1" noChangeArrowheads="1"/>
          </p:cNvSpPr>
          <p:nvPr>
            <p:ph type="title"/>
          </p:nvPr>
        </p:nvSpPr>
        <p:spPr>
          <a:xfrm>
            <a:off x="1981200" y="354013"/>
            <a:ext cx="8229600" cy="620712"/>
          </a:xfrm>
        </p:spPr>
        <p:txBody>
          <a:bodyPr>
            <a:normAutofit fontScale="90000"/>
          </a:bodyPr>
          <a:lstStyle/>
          <a:p>
            <a:r>
              <a:rPr lang="en-US" altLang="en-US" sz="3500"/>
              <a:t>Nội dung chi tiết</a:t>
            </a:r>
          </a:p>
        </p:txBody>
      </p:sp>
      <p:sp>
        <p:nvSpPr>
          <p:cNvPr id="553987" name="Rectangle 3">
            <a:extLst>
              <a:ext uri="{FF2B5EF4-FFF2-40B4-BE49-F238E27FC236}">
                <a16:creationId xmlns:a16="http://schemas.microsoft.com/office/drawing/2014/main" id="{7A130117-A0F9-4845-B9EB-ABDB40EFFF29}"/>
              </a:ext>
            </a:extLst>
          </p:cNvPr>
          <p:cNvSpPr>
            <a:spLocks noGrp="1" noChangeArrowheads="1"/>
          </p:cNvSpPr>
          <p:nvPr>
            <p:ph idx="1"/>
          </p:nvPr>
        </p:nvSpPr>
        <p:spPr>
          <a:xfrm>
            <a:off x="873853" y="1205837"/>
            <a:ext cx="8229600" cy="4835525"/>
          </a:xfrm>
        </p:spPr>
        <p:txBody>
          <a:bodyPr/>
          <a:lstStyle/>
          <a:p>
            <a:r>
              <a:rPr lang="en-US" altLang="en-US" dirty="0" err="1">
                <a:solidFill>
                  <a:srgbClr val="777777"/>
                </a:solidFill>
              </a:rPr>
              <a:t>Giới</a:t>
            </a:r>
            <a:r>
              <a:rPr lang="en-US" altLang="en-US" dirty="0">
                <a:solidFill>
                  <a:srgbClr val="777777"/>
                </a:solidFill>
              </a:rPr>
              <a:t> </a:t>
            </a:r>
            <a:r>
              <a:rPr lang="en-US" altLang="en-US" dirty="0" err="1">
                <a:solidFill>
                  <a:srgbClr val="777777"/>
                </a:solidFill>
              </a:rPr>
              <a:t>thiệu</a:t>
            </a:r>
            <a:endParaRPr lang="en-US" altLang="en-US" dirty="0">
              <a:solidFill>
                <a:srgbClr val="777777"/>
              </a:solidFill>
            </a:endParaRPr>
          </a:p>
          <a:p>
            <a:r>
              <a:rPr lang="en-US" altLang="en-US" b="1" dirty="0" err="1"/>
              <a:t>Định</a:t>
            </a:r>
            <a:r>
              <a:rPr lang="en-US" altLang="en-US" b="1" dirty="0"/>
              <a:t> </a:t>
            </a:r>
            <a:r>
              <a:rPr lang="en-US" altLang="en-US" b="1" dirty="0" err="1"/>
              <a:t>nghĩa</a:t>
            </a:r>
            <a:r>
              <a:rPr lang="en-US" altLang="en-US" b="1" dirty="0"/>
              <a:t> </a:t>
            </a:r>
            <a:r>
              <a:rPr lang="en-US" altLang="en-US" b="1" dirty="0" err="1"/>
              <a:t>dữ</a:t>
            </a:r>
            <a:r>
              <a:rPr lang="en-US" altLang="en-US" b="1" dirty="0"/>
              <a:t> </a:t>
            </a:r>
            <a:r>
              <a:rPr lang="en-US" altLang="en-US" b="1" dirty="0" err="1"/>
              <a:t>liệu</a:t>
            </a:r>
            <a:endParaRPr lang="en-US" altLang="en-US" dirty="0"/>
          </a:p>
          <a:p>
            <a:pPr lvl="1"/>
            <a:r>
              <a:rPr lang="en-US" altLang="en-US" dirty="0" err="1"/>
              <a:t>Kiểu</a:t>
            </a:r>
            <a:r>
              <a:rPr lang="en-US" altLang="en-US" dirty="0"/>
              <a:t> </a:t>
            </a:r>
            <a:r>
              <a:rPr lang="en-US" altLang="en-US" dirty="0" err="1"/>
              <a:t>dữ</a:t>
            </a:r>
            <a:r>
              <a:rPr lang="en-US" altLang="en-US" dirty="0"/>
              <a:t> </a:t>
            </a:r>
            <a:r>
              <a:rPr lang="en-US" altLang="en-US" dirty="0" err="1"/>
              <a:t>liệu</a:t>
            </a:r>
            <a:endParaRPr lang="en-US" altLang="en-US" dirty="0"/>
          </a:p>
          <a:p>
            <a:pPr lvl="1"/>
            <a:r>
              <a:rPr lang="en-US" altLang="en-US" dirty="0" err="1"/>
              <a:t>Các</a:t>
            </a:r>
            <a:r>
              <a:rPr lang="en-US" altLang="en-US" dirty="0"/>
              <a:t> </a:t>
            </a:r>
            <a:r>
              <a:rPr lang="en-US" altLang="en-US" dirty="0" err="1"/>
              <a:t>lệnh</a:t>
            </a:r>
            <a:r>
              <a:rPr lang="en-US" altLang="en-US" dirty="0"/>
              <a:t> </a:t>
            </a:r>
            <a:r>
              <a:rPr lang="en-US" altLang="en-US" dirty="0" err="1"/>
              <a:t>định</a:t>
            </a:r>
            <a:r>
              <a:rPr lang="en-US" altLang="en-US" dirty="0"/>
              <a:t> </a:t>
            </a:r>
            <a:r>
              <a:rPr lang="en-US" altLang="en-US" dirty="0" err="1"/>
              <a:t>nghĩa</a:t>
            </a:r>
            <a:r>
              <a:rPr lang="en-US" altLang="en-US" dirty="0"/>
              <a:t> </a:t>
            </a:r>
            <a:r>
              <a:rPr lang="en-US" altLang="en-US" dirty="0" err="1"/>
              <a:t>dữ</a:t>
            </a:r>
            <a:r>
              <a:rPr lang="en-US" altLang="en-US" dirty="0"/>
              <a:t> </a:t>
            </a:r>
            <a:r>
              <a:rPr lang="en-US" altLang="en-US" dirty="0" err="1"/>
              <a:t>liệu</a:t>
            </a:r>
            <a:endParaRPr lang="en-US" altLang="en-US" dirty="0"/>
          </a:p>
          <a:p>
            <a:r>
              <a:rPr lang="en-US" altLang="en-US" dirty="0" err="1">
                <a:solidFill>
                  <a:srgbClr val="777777"/>
                </a:solidFill>
              </a:rPr>
              <a:t>Truy</a:t>
            </a:r>
            <a:r>
              <a:rPr lang="en-US" altLang="en-US" dirty="0">
                <a:solidFill>
                  <a:srgbClr val="777777"/>
                </a:solidFill>
              </a:rPr>
              <a:t> </a:t>
            </a:r>
            <a:r>
              <a:rPr lang="en-US" altLang="en-US" dirty="0" err="1">
                <a:solidFill>
                  <a:srgbClr val="777777"/>
                </a:solidFill>
              </a:rPr>
              <a:t>vấn</a:t>
            </a:r>
            <a:r>
              <a:rPr lang="en-US" altLang="en-US" dirty="0">
                <a:solidFill>
                  <a:srgbClr val="777777"/>
                </a:solidFill>
              </a:rPr>
              <a:t> </a:t>
            </a:r>
            <a:r>
              <a:rPr lang="en-US" altLang="en-US" dirty="0" err="1">
                <a:solidFill>
                  <a:srgbClr val="777777"/>
                </a:solidFill>
              </a:rPr>
              <a:t>dữ</a:t>
            </a:r>
            <a:r>
              <a:rPr lang="en-US" altLang="en-US" dirty="0">
                <a:solidFill>
                  <a:srgbClr val="777777"/>
                </a:solidFill>
              </a:rPr>
              <a:t> </a:t>
            </a:r>
            <a:r>
              <a:rPr lang="en-US" altLang="en-US" dirty="0" err="1">
                <a:solidFill>
                  <a:srgbClr val="777777"/>
                </a:solidFill>
              </a:rPr>
              <a:t>liệu</a:t>
            </a:r>
            <a:r>
              <a:rPr lang="en-US" altLang="en-US" dirty="0">
                <a:solidFill>
                  <a:srgbClr val="777777"/>
                </a:solidFill>
              </a:rPr>
              <a:t> </a:t>
            </a:r>
          </a:p>
          <a:p>
            <a:r>
              <a:rPr lang="en-US" altLang="en-US" dirty="0" err="1">
                <a:solidFill>
                  <a:srgbClr val="777777"/>
                </a:solidFill>
              </a:rPr>
              <a:t>Cập</a:t>
            </a:r>
            <a:r>
              <a:rPr lang="en-US" altLang="en-US" dirty="0">
                <a:solidFill>
                  <a:srgbClr val="777777"/>
                </a:solidFill>
              </a:rPr>
              <a:t> </a:t>
            </a:r>
            <a:r>
              <a:rPr lang="en-US" altLang="en-US" dirty="0" err="1">
                <a:solidFill>
                  <a:srgbClr val="777777"/>
                </a:solidFill>
              </a:rPr>
              <a:t>nhật</a:t>
            </a:r>
            <a:r>
              <a:rPr lang="en-US" altLang="en-US" dirty="0">
                <a:solidFill>
                  <a:srgbClr val="777777"/>
                </a:solidFill>
              </a:rPr>
              <a:t> </a:t>
            </a:r>
            <a:r>
              <a:rPr lang="en-US" altLang="en-US" dirty="0" err="1">
                <a:solidFill>
                  <a:srgbClr val="777777"/>
                </a:solidFill>
              </a:rPr>
              <a:t>dữ</a:t>
            </a:r>
            <a:r>
              <a:rPr lang="en-US" altLang="en-US" dirty="0">
                <a:solidFill>
                  <a:srgbClr val="777777"/>
                </a:solidFill>
              </a:rPr>
              <a:t> </a:t>
            </a:r>
            <a:r>
              <a:rPr lang="en-US" altLang="en-US" err="1">
                <a:solidFill>
                  <a:srgbClr val="777777"/>
                </a:solidFill>
              </a:rPr>
              <a:t>liệu</a:t>
            </a:r>
            <a:r>
              <a:rPr lang="en-US" altLang="en-US">
                <a:solidFill>
                  <a:srgbClr val="777777"/>
                </a:solidFill>
              </a:rPr>
              <a:t> </a:t>
            </a:r>
            <a:endParaRPr lang="en-US" altLang="en-US" dirty="0">
              <a:solidFill>
                <a:srgbClr val="777777"/>
              </a:solidFill>
            </a:endParaRPr>
          </a:p>
        </p:txBody>
      </p:sp>
      <p:sp>
        <p:nvSpPr>
          <p:cNvPr id="6" name="Slide Number Placeholder 5">
            <a:extLst>
              <a:ext uri="{FF2B5EF4-FFF2-40B4-BE49-F238E27FC236}">
                <a16:creationId xmlns:a16="http://schemas.microsoft.com/office/drawing/2014/main" id="{39A5489C-AF72-4033-9BCE-778E3A6BDEA4}"/>
              </a:ext>
            </a:extLst>
          </p:cNvPr>
          <p:cNvSpPr>
            <a:spLocks noGrp="1"/>
          </p:cNvSpPr>
          <p:nvPr>
            <p:ph type="sldNum" sz="quarter" idx="12"/>
          </p:nvPr>
        </p:nvSpPr>
        <p:spPr/>
        <p:txBody>
          <a:bodyPr/>
          <a:lstStyle/>
          <a:p>
            <a:fld id="{B2A7DEB3-251B-4320-90CF-F06AC1CC2371}" type="slidenum">
              <a:rPr lang="en-US" altLang="en-US"/>
              <a:pPr/>
              <a:t>5</a:t>
            </a:fld>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034" name="Rectangle 2">
            <a:extLst>
              <a:ext uri="{FF2B5EF4-FFF2-40B4-BE49-F238E27FC236}">
                <a16:creationId xmlns:a16="http://schemas.microsoft.com/office/drawing/2014/main" id="{C8396C4F-C5AB-4325-A02B-6746BC77ABA0}"/>
              </a:ext>
            </a:extLst>
          </p:cNvPr>
          <p:cNvSpPr>
            <a:spLocks noGrp="1" noChangeArrowheads="1"/>
          </p:cNvSpPr>
          <p:nvPr>
            <p:ph type="title"/>
          </p:nvPr>
        </p:nvSpPr>
        <p:spPr>
          <a:xfrm>
            <a:off x="1117134" y="370791"/>
            <a:ext cx="8229600" cy="620712"/>
          </a:xfrm>
        </p:spPr>
        <p:txBody>
          <a:bodyPr>
            <a:normAutofit fontScale="90000"/>
          </a:bodyPr>
          <a:lstStyle/>
          <a:p>
            <a:r>
              <a:rPr lang="en-US" altLang="en-US" sz="3500" dirty="0" err="1"/>
              <a:t>Định</a:t>
            </a:r>
            <a:r>
              <a:rPr lang="en-US" altLang="en-US" sz="3500" dirty="0"/>
              <a:t> </a:t>
            </a:r>
            <a:r>
              <a:rPr lang="en-US" altLang="en-US" sz="3500" dirty="0" err="1"/>
              <a:t>nghĩa</a:t>
            </a:r>
            <a:r>
              <a:rPr lang="en-US" altLang="en-US" sz="3500" dirty="0"/>
              <a:t> </a:t>
            </a:r>
            <a:r>
              <a:rPr lang="en-US" altLang="en-US" sz="3500" dirty="0" err="1"/>
              <a:t>dữ</a:t>
            </a:r>
            <a:r>
              <a:rPr lang="en-US" altLang="en-US" sz="3500" dirty="0"/>
              <a:t> </a:t>
            </a:r>
            <a:r>
              <a:rPr lang="en-US" altLang="en-US" sz="3500" dirty="0" err="1"/>
              <a:t>liệu</a:t>
            </a:r>
            <a:endParaRPr lang="en-US" altLang="en-US" sz="3500" dirty="0"/>
          </a:p>
        </p:txBody>
      </p:sp>
      <p:sp>
        <p:nvSpPr>
          <p:cNvPr id="556035" name="Rectangle 3">
            <a:extLst>
              <a:ext uri="{FF2B5EF4-FFF2-40B4-BE49-F238E27FC236}">
                <a16:creationId xmlns:a16="http://schemas.microsoft.com/office/drawing/2014/main" id="{69AF8521-3189-4EFC-A0F5-2E8DB5D61D42}"/>
              </a:ext>
            </a:extLst>
          </p:cNvPr>
          <p:cNvSpPr>
            <a:spLocks noGrp="1" noChangeArrowheads="1"/>
          </p:cNvSpPr>
          <p:nvPr>
            <p:ph idx="1"/>
          </p:nvPr>
        </p:nvSpPr>
        <p:spPr>
          <a:xfrm>
            <a:off x="1117134" y="1224887"/>
            <a:ext cx="8229600" cy="5181600"/>
          </a:xfrm>
        </p:spPr>
        <p:txBody>
          <a:bodyPr/>
          <a:lstStyle/>
          <a:p>
            <a:r>
              <a:rPr lang="en-US" altLang="en-US" dirty="0" err="1"/>
              <a:t>Là</a:t>
            </a:r>
            <a:r>
              <a:rPr lang="en-US" altLang="en-US" dirty="0"/>
              <a:t> </a:t>
            </a:r>
            <a:r>
              <a:rPr lang="en-US" altLang="en-US" dirty="0" err="1"/>
              <a:t>ngôn</a:t>
            </a:r>
            <a:r>
              <a:rPr lang="en-US" altLang="en-US" dirty="0"/>
              <a:t> </a:t>
            </a:r>
            <a:r>
              <a:rPr lang="en-US" altLang="en-US" dirty="0" err="1"/>
              <a:t>ngữ</a:t>
            </a:r>
            <a:r>
              <a:rPr lang="en-US" altLang="en-US" dirty="0"/>
              <a:t> </a:t>
            </a:r>
            <a:r>
              <a:rPr lang="en-US" altLang="en-US" dirty="0" err="1"/>
              <a:t>mô</a:t>
            </a:r>
            <a:r>
              <a:rPr lang="en-US" altLang="en-US" dirty="0"/>
              <a:t> </a:t>
            </a:r>
            <a:r>
              <a:rPr lang="en-US" altLang="en-US" dirty="0" err="1"/>
              <a:t>tả</a:t>
            </a:r>
            <a:endParaRPr lang="en-US" altLang="en-US" dirty="0"/>
          </a:p>
          <a:p>
            <a:pPr lvl="1"/>
            <a:r>
              <a:rPr lang="en-US" altLang="en-US" dirty="0" err="1"/>
              <a:t>Lược</a:t>
            </a:r>
            <a:r>
              <a:rPr lang="en-US" altLang="en-US" dirty="0"/>
              <a:t> </a:t>
            </a:r>
            <a:r>
              <a:rPr lang="en-US" altLang="en-US" dirty="0" err="1"/>
              <a:t>đồ</a:t>
            </a:r>
            <a:r>
              <a:rPr lang="en-US" altLang="en-US" dirty="0"/>
              <a:t> </a:t>
            </a:r>
            <a:r>
              <a:rPr lang="en-US" altLang="en-US" dirty="0" err="1"/>
              <a:t>cho</a:t>
            </a:r>
            <a:r>
              <a:rPr lang="en-US" altLang="en-US" dirty="0"/>
              <a:t> </a:t>
            </a:r>
            <a:r>
              <a:rPr lang="en-US" altLang="en-US" dirty="0" err="1"/>
              <a:t>mỗi</a:t>
            </a:r>
            <a:r>
              <a:rPr lang="en-US" altLang="en-US" dirty="0"/>
              <a:t> </a:t>
            </a:r>
            <a:r>
              <a:rPr lang="en-US" altLang="en-US" dirty="0" err="1"/>
              <a:t>quan</a:t>
            </a:r>
            <a:r>
              <a:rPr lang="en-US" altLang="en-US" dirty="0"/>
              <a:t> </a:t>
            </a:r>
            <a:r>
              <a:rPr lang="en-US" altLang="en-US" dirty="0" err="1"/>
              <a:t>hệ</a:t>
            </a:r>
            <a:endParaRPr lang="en-US" altLang="en-US" dirty="0"/>
          </a:p>
          <a:p>
            <a:pPr lvl="1"/>
            <a:r>
              <a:rPr lang="en-US" altLang="en-US" dirty="0" err="1"/>
              <a:t>Miền</a:t>
            </a:r>
            <a:r>
              <a:rPr lang="en-US" altLang="en-US" dirty="0"/>
              <a:t> </a:t>
            </a:r>
            <a:r>
              <a:rPr lang="en-US" altLang="en-US" dirty="0" err="1"/>
              <a:t>giá</a:t>
            </a:r>
            <a:r>
              <a:rPr lang="en-US" altLang="en-US" dirty="0"/>
              <a:t> </a:t>
            </a:r>
            <a:r>
              <a:rPr lang="en-US" altLang="en-US" dirty="0" err="1"/>
              <a:t>trị</a:t>
            </a:r>
            <a:r>
              <a:rPr lang="en-US" altLang="en-US" dirty="0"/>
              <a:t> </a:t>
            </a:r>
            <a:r>
              <a:rPr lang="en-US" altLang="en-US" dirty="0" err="1"/>
              <a:t>tương</a:t>
            </a:r>
            <a:r>
              <a:rPr lang="en-US" altLang="en-US" dirty="0"/>
              <a:t> </a:t>
            </a:r>
            <a:r>
              <a:rPr lang="en-US" altLang="en-US" dirty="0" err="1"/>
              <a:t>ứng</a:t>
            </a:r>
            <a:r>
              <a:rPr lang="en-US" altLang="en-US" dirty="0"/>
              <a:t> </a:t>
            </a:r>
            <a:r>
              <a:rPr lang="en-US" altLang="en-US" dirty="0" err="1"/>
              <a:t>của</a:t>
            </a:r>
            <a:r>
              <a:rPr lang="en-US" altLang="en-US" dirty="0"/>
              <a:t> </a:t>
            </a:r>
            <a:r>
              <a:rPr lang="en-US" altLang="en-US" dirty="0" err="1"/>
              <a:t>từng</a:t>
            </a:r>
            <a:r>
              <a:rPr lang="en-US" altLang="en-US" dirty="0"/>
              <a:t> </a:t>
            </a:r>
            <a:r>
              <a:rPr lang="en-US" altLang="en-US" dirty="0" err="1"/>
              <a:t>thuộc</a:t>
            </a:r>
            <a:r>
              <a:rPr lang="en-US" altLang="en-US" dirty="0"/>
              <a:t> </a:t>
            </a:r>
            <a:r>
              <a:rPr lang="en-US" altLang="en-US" dirty="0" err="1"/>
              <a:t>tính</a:t>
            </a:r>
            <a:endParaRPr lang="en-US" altLang="en-US" dirty="0"/>
          </a:p>
          <a:p>
            <a:pPr lvl="1"/>
            <a:r>
              <a:rPr lang="en-US" altLang="en-US" dirty="0" err="1"/>
              <a:t>Ràng</a:t>
            </a:r>
            <a:r>
              <a:rPr lang="en-US" altLang="en-US" dirty="0"/>
              <a:t> </a:t>
            </a:r>
            <a:r>
              <a:rPr lang="en-US" altLang="en-US" dirty="0" err="1"/>
              <a:t>buộc</a:t>
            </a:r>
            <a:r>
              <a:rPr lang="en-US" altLang="en-US" dirty="0"/>
              <a:t> </a:t>
            </a:r>
            <a:r>
              <a:rPr lang="en-US" altLang="en-US" dirty="0" err="1"/>
              <a:t>toàn</a:t>
            </a:r>
            <a:r>
              <a:rPr lang="en-US" altLang="en-US" dirty="0"/>
              <a:t> </a:t>
            </a:r>
            <a:r>
              <a:rPr lang="en-US" altLang="en-US" dirty="0" err="1"/>
              <a:t>vẹn</a:t>
            </a:r>
            <a:endParaRPr lang="en-US" altLang="en-US" dirty="0"/>
          </a:p>
          <a:p>
            <a:pPr lvl="1"/>
            <a:r>
              <a:rPr lang="en-US" altLang="en-US" dirty="0" err="1"/>
              <a:t>Chỉ</a:t>
            </a:r>
            <a:r>
              <a:rPr lang="en-US" altLang="en-US" dirty="0"/>
              <a:t> </a:t>
            </a:r>
            <a:r>
              <a:rPr lang="en-US" altLang="en-US" dirty="0" err="1"/>
              <a:t>mục</a:t>
            </a:r>
            <a:r>
              <a:rPr lang="en-US" altLang="en-US" dirty="0"/>
              <a:t> </a:t>
            </a:r>
            <a:r>
              <a:rPr lang="en-US" altLang="en-US" dirty="0" err="1"/>
              <a:t>trên</a:t>
            </a:r>
            <a:r>
              <a:rPr lang="en-US" altLang="en-US" dirty="0"/>
              <a:t> </a:t>
            </a:r>
            <a:r>
              <a:rPr lang="en-US" altLang="en-US" dirty="0" err="1"/>
              <a:t>mỗi</a:t>
            </a:r>
            <a:r>
              <a:rPr lang="en-US" altLang="en-US" dirty="0"/>
              <a:t> </a:t>
            </a:r>
            <a:r>
              <a:rPr lang="en-US" altLang="en-US" dirty="0" err="1"/>
              <a:t>quan</a:t>
            </a:r>
            <a:r>
              <a:rPr lang="en-US" altLang="en-US" dirty="0"/>
              <a:t> </a:t>
            </a:r>
            <a:r>
              <a:rPr lang="en-US" altLang="en-US" dirty="0" err="1"/>
              <a:t>hệ</a:t>
            </a:r>
            <a:r>
              <a:rPr lang="en-US" altLang="en-US" dirty="0"/>
              <a:t> </a:t>
            </a:r>
          </a:p>
          <a:p>
            <a:r>
              <a:rPr lang="en-US" altLang="en-US" dirty="0" err="1"/>
              <a:t>Gồm</a:t>
            </a:r>
            <a:endParaRPr lang="en-US" altLang="en-US" dirty="0"/>
          </a:p>
          <a:p>
            <a:pPr lvl="1"/>
            <a:r>
              <a:rPr lang="en-US" altLang="en-US" dirty="0"/>
              <a:t>CREATE TABLE (</a:t>
            </a:r>
            <a:r>
              <a:rPr lang="en-US" altLang="en-US" dirty="0" err="1"/>
              <a:t>tạo</a:t>
            </a:r>
            <a:r>
              <a:rPr lang="en-US" altLang="en-US" dirty="0"/>
              <a:t> </a:t>
            </a:r>
            <a:r>
              <a:rPr lang="en-US" altLang="en-US" dirty="0" err="1"/>
              <a:t>bảng</a:t>
            </a:r>
            <a:r>
              <a:rPr lang="en-US" altLang="en-US" dirty="0"/>
              <a:t>)</a:t>
            </a:r>
          </a:p>
          <a:p>
            <a:pPr lvl="1"/>
            <a:r>
              <a:rPr lang="en-US" altLang="en-US" dirty="0"/>
              <a:t>DROP TABLE (</a:t>
            </a:r>
            <a:r>
              <a:rPr lang="en-US" altLang="en-US" dirty="0" err="1"/>
              <a:t>xóa</a:t>
            </a:r>
            <a:r>
              <a:rPr lang="en-US" altLang="en-US" dirty="0"/>
              <a:t> </a:t>
            </a:r>
            <a:r>
              <a:rPr lang="en-US" altLang="en-US" dirty="0" err="1"/>
              <a:t>bảng</a:t>
            </a:r>
            <a:r>
              <a:rPr lang="en-US" altLang="en-US" dirty="0"/>
              <a:t>)</a:t>
            </a:r>
          </a:p>
          <a:p>
            <a:pPr lvl="1"/>
            <a:r>
              <a:rPr lang="en-US" altLang="en-US" dirty="0"/>
              <a:t>ALTER TABLE (</a:t>
            </a:r>
            <a:r>
              <a:rPr lang="en-US" altLang="en-US" dirty="0" err="1"/>
              <a:t>sửa</a:t>
            </a:r>
            <a:r>
              <a:rPr lang="en-US" altLang="en-US" dirty="0"/>
              <a:t> </a:t>
            </a:r>
            <a:r>
              <a:rPr lang="en-US" altLang="en-US" dirty="0" err="1"/>
              <a:t>bảng</a:t>
            </a:r>
            <a:r>
              <a:rPr lang="en-US" altLang="en-US" dirty="0"/>
              <a:t>)</a:t>
            </a:r>
          </a:p>
          <a:p>
            <a:pPr lvl="1"/>
            <a:r>
              <a:rPr lang="en-US" altLang="en-US" dirty="0"/>
              <a:t>CREATE DOMAIN (</a:t>
            </a:r>
            <a:r>
              <a:rPr lang="en-US" altLang="en-US" dirty="0" err="1"/>
              <a:t>tạo</a:t>
            </a:r>
            <a:r>
              <a:rPr lang="en-US" altLang="en-US" dirty="0"/>
              <a:t> </a:t>
            </a:r>
            <a:r>
              <a:rPr lang="en-US" altLang="en-US" dirty="0" err="1"/>
              <a:t>miền</a:t>
            </a:r>
            <a:r>
              <a:rPr lang="en-US" altLang="en-US" dirty="0"/>
              <a:t> </a:t>
            </a:r>
            <a:r>
              <a:rPr lang="en-US" altLang="en-US" dirty="0" err="1"/>
              <a:t>giá</a:t>
            </a:r>
            <a:r>
              <a:rPr lang="en-US" altLang="en-US" dirty="0"/>
              <a:t> </a:t>
            </a:r>
            <a:r>
              <a:rPr lang="en-US" altLang="en-US" dirty="0" err="1"/>
              <a:t>trị</a:t>
            </a:r>
            <a:r>
              <a:rPr lang="en-US" altLang="en-US" dirty="0"/>
              <a:t>)</a:t>
            </a:r>
          </a:p>
          <a:p>
            <a:pPr lvl="1"/>
            <a:r>
              <a:rPr lang="en-US" altLang="en-US" dirty="0"/>
              <a:t>CREATE DATABASE</a:t>
            </a:r>
          </a:p>
          <a:p>
            <a:pPr lvl="1"/>
            <a:r>
              <a:rPr lang="en-US" altLang="en-US" dirty="0"/>
              <a:t>…</a:t>
            </a:r>
          </a:p>
        </p:txBody>
      </p:sp>
      <p:sp>
        <p:nvSpPr>
          <p:cNvPr id="6" name="Slide Number Placeholder 5">
            <a:extLst>
              <a:ext uri="{FF2B5EF4-FFF2-40B4-BE49-F238E27FC236}">
                <a16:creationId xmlns:a16="http://schemas.microsoft.com/office/drawing/2014/main" id="{0B5BAF52-8082-4EF2-A467-8643AF0F20D7}"/>
              </a:ext>
            </a:extLst>
          </p:cNvPr>
          <p:cNvSpPr>
            <a:spLocks noGrp="1"/>
          </p:cNvSpPr>
          <p:nvPr>
            <p:ph type="sldNum" sz="quarter" idx="12"/>
          </p:nvPr>
        </p:nvSpPr>
        <p:spPr/>
        <p:txBody>
          <a:bodyPr/>
          <a:lstStyle/>
          <a:p>
            <a:fld id="{5FEBD20E-6625-4296-96A7-102670BE407D}" type="slidenum">
              <a:rPr lang="en-US" altLang="en-US"/>
              <a:pPr/>
              <a:t>6</a:t>
            </a:fld>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8082" name="Rectangle 2">
            <a:extLst>
              <a:ext uri="{FF2B5EF4-FFF2-40B4-BE49-F238E27FC236}">
                <a16:creationId xmlns:a16="http://schemas.microsoft.com/office/drawing/2014/main" id="{21E2EBDC-0DD8-4A8B-972F-7C4E4394DFEF}"/>
              </a:ext>
            </a:extLst>
          </p:cNvPr>
          <p:cNvSpPr>
            <a:spLocks noGrp="1" noChangeArrowheads="1"/>
          </p:cNvSpPr>
          <p:nvPr>
            <p:ph type="title"/>
          </p:nvPr>
        </p:nvSpPr>
        <p:spPr>
          <a:xfrm>
            <a:off x="1044402" y="382350"/>
            <a:ext cx="8229600" cy="620712"/>
          </a:xfrm>
        </p:spPr>
        <p:txBody>
          <a:bodyPr>
            <a:normAutofit fontScale="90000"/>
          </a:bodyPr>
          <a:lstStyle/>
          <a:p>
            <a:r>
              <a:rPr lang="en-US" altLang="en-US" sz="3500" dirty="0" err="1"/>
              <a:t>Kiểu</a:t>
            </a:r>
            <a:r>
              <a:rPr lang="en-US" altLang="en-US" sz="3500" dirty="0"/>
              <a:t> </a:t>
            </a:r>
            <a:r>
              <a:rPr lang="en-US" altLang="en-US" sz="3500" dirty="0" err="1"/>
              <a:t>dữ</a:t>
            </a:r>
            <a:r>
              <a:rPr lang="en-US" altLang="en-US" sz="3500" dirty="0"/>
              <a:t> </a:t>
            </a:r>
            <a:r>
              <a:rPr lang="en-US" altLang="en-US" sz="3500" dirty="0" err="1"/>
              <a:t>liệu</a:t>
            </a:r>
            <a:endParaRPr lang="en-US" altLang="en-US" sz="3500" dirty="0"/>
          </a:p>
        </p:txBody>
      </p:sp>
      <p:sp>
        <p:nvSpPr>
          <p:cNvPr id="558083" name="Rectangle 3">
            <a:extLst>
              <a:ext uri="{FF2B5EF4-FFF2-40B4-BE49-F238E27FC236}">
                <a16:creationId xmlns:a16="http://schemas.microsoft.com/office/drawing/2014/main" id="{D5C948B0-750C-4C1A-8399-F91680CDEC70}"/>
              </a:ext>
            </a:extLst>
          </p:cNvPr>
          <p:cNvSpPr>
            <a:spLocks noGrp="1" noChangeArrowheads="1"/>
          </p:cNvSpPr>
          <p:nvPr>
            <p:ph idx="1"/>
          </p:nvPr>
        </p:nvSpPr>
        <p:spPr>
          <a:xfrm>
            <a:off x="1044402" y="1287012"/>
            <a:ext cx="8229600" cy="4835525"/>
          </a:xfrm>
        </p:spPr>
        <p:txBody>
          <a:bodyPr/>
          <a:lstStyle/>
          <a:p>
            <a:r>
              <a:rPr lang="en-US" altLang="en-US" dirty="0" err="1"/>
              <a:t>Số</a:t>
            </a:r>
            <a:r>
              <a:rPr lang="en-US" altLang="en-US" dirty="0"/>
              <a:t> (numeric)</a:t>
            </a:r>
          </a:p>
          <a:p>
            <a:pPr lvl="1"/>
            <a:r>
              <a:rPr lang="en-US" altLang="en-US" dirty="0"/>
              <a:t>INTEGER</a:t>
            </a:r>
          </a:p>
          <a:p>
            <a:pPr lvl="1"/>
            <a:r>
              <a:rPr lang="en-US" altLang="en-US" dirty="0"/>
              <a:t>SMALLINT</a:t>
            </a:r>
          </a:p>
          <a:p>
            <a:pPr lvl="1"/>
            <a:r>
              <a:rPr lang="en-US" altLang="en-US" dirty="0"/>
              <a:t>NUMERIC, NUMERIC(p), NUMERIC(</a:t>
            </a:r>
            <a:r>
              <a:rPr lang="en-US" altLang="en-US" dirty="0" err="1"/>
              <a:t>p,s</a:t>
            </a:r>
            <a:r>
              <a:rPr lang="en-US" altLang="en-US" dirty="0"/>
              <a:t>)</a:t>
            </a:r>
          </a:p>
          <a:p>
            <a:pPr lvl="1"/>
            <a:r>
              <a:rPr lang="en-US" altLang="en-US" dirty="0"/>
              <a:t>DECIMAL, DECIMAL(p), DECIMAL(</a:t>
            </a:r>
            <a:r>
              <a:rPr lang="en-US" altLang="en-US" dirty="0" err="1"/>
              <a:t>p,s</a:t>
            </a:r>
            <a:r>
              <a:rPr lang="en-US" altLang="en-US" dirty="0"/>
              <a:t>)</a:t>
            </a:r>
          </a:p>
          <a:p>
            <a:pPr lvl="1"/>
            <a:r>
              <a:rPr lang="en-US" altLang="en-US" dirty="0"/>
              <a:t>REAL</a:t>
            </a:r>
          </a:p>
          <a:p>
            <a:pPr lvl="1"/>
            <a:r>
              <a:rPr lang="en-US" altLang="en-US" dirty="0"/>
              <a:t>DOUBLE PRECISION</a:t>
            </a:r>
          </a:p>
          <a:p>
            <a:pPr lvl="1"/>
            <a:r>
              <a:rPr lang="en-US" altLang="en-US" dirty="0"/>
              <a:t>FLOAT, FLOAT(p)</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130" name="Rectangle 2">
            <a:extLst>
              <a:ext uri="{FF2B5EF4-FFF2-40B4-BE49-F238E27FC236}">
                <a16:creationId xmlns:a16="http://schemas.microsoft.com/office/drawing/2014/main" id="{57F28A25-3EBF-4BA2-BB61-4CF75BC4E9A1}"/>
              </a:ext>
            </a:extLst>
          </p:cNvPr>
          <p:cNvSpPr>
            <a:spLocks noGrp="1" noChangeArrowheads="1"/>
          </p:cNvSpPr>
          <p:nvPr>
            <p:ph type="title"/>
          </p:nvPr>
        </p:nvSpPr>
        <p:spPr>
          <a:xfrm>
            <a:off x="1167468" y="451513"/>
            <a:ext cx="8229600" cy="620712"/>
          </a:xfrm>
        </p:spPr>
        <p:txBody>
          <a:bodyPr>
            <a:normAutofit fontScale="90000"/>
          </a:bodyPr>
          <a:lstStyle/>
          <a:p>
            <a:r>
              <a:rPr lang="en-US" altLang="en-US" sz="3500" dirty="0" err="1"/>
              <a:t>Kiểu</a:t>
            </a:r>
            <a:r>
              <a:rPr lang="en-US" altLang="en-US" sz="3500" dirty="0"/>
              <a:t> </a:t>
            </a:r>
            <a:r>
              <a:rPr lang="en-US" altLang="en-US" sz="3500" dirty="0" err="1"/>
              <a:t>dữ</a:t>
            </a:r>
            <a:r>
              <a:rPr lang="en-US" altLang="en-US" sz="3500" dirty="0"/>
              <a:t> </a:t>
            </a:r>
            <a:r>
              <a:rPr lang="en-US" altLang="en-US" sz="3500" dirty="0" err="1"/>
              <a:t>liệu</a:t>
            </a:r>
            <a:r>
              <a:rPr lang="en-US" altLang="en-US" sz="3500" dirty="0"/>
              <a:t> (</a:t>
            </a:r>
            <a:r>
              <a:rPr lang="en-US" altLang="en-US" sz="3500" dirty="0" err="1"/>
              <a:t>tt</a:t>
            </a:r>
            <a:r>
              <a:rPr lang="en-US" altLang="en-US" sz="3500" dirty="0"/>
              <a:t>)</a:t>
            </a:r>
          </a:p>
        </p:txBody>
      </p:sp>
      <p:sp>
        <p:nvSpPr>
          <p:cNvPr id="560131" name="Rectangle 3">
            <a:extLst>
              <a:ext uri="{FF2B5EF4-FFF2-40B4-BE49-F238E27FC236}">
                <a16:creationId xmlns:a16="http://schemas.microsoft.com/office/drawing/2014/main" id="{D1590D09-0003-418C-BC4C-E29627717FB3}"/>
              </a:ext>
            </a:extLst>
          </p:cNvPr>
          <p:cNvSpPr>
            <a:spLocks noGrp="1" noChangeArrowheads="1"/>
          </p:cNvSpPr>
          <p:nvPr>
            <p:ph idx="1"/>
          </p:nvPr>
        </p:nvSpPr>
        <p:spPr>
          <a:xfrm>
            <a:off x="1044402" y="1301087"/>
            <a:ext cx="8229600" cy="5105400"/>
          </a:xfrm>
        </p:spPr>
        <p:txBody>
          <a:bodyPr/>
          <a:lstStyle/>
          <a:p>
            <a:pPr>
              <a:lnSpc>
                <a:spcPct val="90000"/>
              </a:lnSpc>
            </a:pPr>
            <a:r>
              <a:rPr lang="en-US" altLang="en-US" dirty="0" err="1"/>
              <a:t>Chuỗi</a:t>
            </a:r>
            <a:r>
              <a:rPr lang="en-US" altLang="en-US" dirty="0"/>
              <a:t> </a:t>
            </a:r>
            <a:r>
              <a:rPr lang="en-US" altLang="en-US" dirty="0" err="1"/>
              <a:t>ký</a:t>
            </a:r>
            <a:r>
              <a:rPr lang="en-US" altLang="en-US" dirty="0"/>
              <a:t> </a:t>
            </a:r>
            <a:r>
              <a:rPr lang="en-US" altLang="en-US" dirty="0" err="1"/>
              <a:t>tự</a:t>
            </a:r>
            <a:r>
              <a:rPr lang="en-US" altLang="en-US" dirty="0"/>
              <a:t> (character string)</a:t>
            </a:r>
          </a:p>
          <a:p>
            <a:pPr lvl="1">
              <a:lnSpc>
                <a:spcPct val="90000"/>
              </a:lnSpc>
            </a:pPr>
            <a:r>
              <a:rPr lang="en-US" altLang="en-US" dirty="0"/>
              <a:t>CHARACTER, CHARACTER(n)</a:t>
            </a:r>
          </a:p>
          <a:p>
            <a:pPr lvl="1">
              <a:lnSpc>
                <a:spcPct val="90000"/>
              </a:lnSpc>
            </a:pPr>
            <a:r>
              <a:rPr lang="en-US" altLang="en-US" dirty="0"/>
              <a:t>CHARACTER VARYING(x)</a:t>
            </a:r>
          </a:p>
          <a:p>
            <a:pPr lvl="1">
              <a:lnSpc>
                <a:spcPct val="90000"/>
              </a:lnSpc>
            </a:pPr>
            <a:endParaRPr lang="en-US" altLang="en-US" dirty="0"/>
          </a:p>
          <a:p>
            <a:pPr>
              <a:lnSpc>
                <a:spcPct val="90000"/>
              </a:lnSpc>
            </a:pPr>
            <a:r>
              <a:rPr lang="en-US" altLang="en-US" dirty="0" err="1"/>
              <a:t>Chuỗi</a:t>
            </a:r>
            <a:r>
              <a:rPr lang="en-US" altLang="en-US" dirty="0"/>
              <a:t> bit (bit string)</a:t>
            </a:r>
          </a:p>
          <a:p>
            <a:pPr lvl="1">
              <a:lnSpc>
                <a:spcPct val="90000"/>
              </a:lnSpc>
            </a:pPr>
            <a:r>
              <a:rPr lang="en-US" altLang="en-US" dirty="0"/>
              <a:t>BIT, BIT(x)</a:t>
            </a:r>
          </a:p>
          <a:p>
            <a:pPr lvl="1">
              <a:lnSpc>
                <a:spcPct val="90000"/>
              </a:lnSpc>
            </a:pPr>
            <a:r>
              <a:rPr lang="en-US" altLang="en-US" dirty="0"/>
              <a:t>BIT VARYING(x)</a:t>
            </a:r>
          </a:p>
          <a:p>
            <a:pPr lvl="1">
              <a:lnSpc>
                <a:spcPct val="90000"/>
              </a:lnSpc>
            </a:pPr>
            <a:endParaRPr lang="en-US" altLang="en-US" dirty="0"/>
          </a:p>
          <a:p>
            <a:pPr>
              <a:lnSpc>
                <a:spcPct val="90000"/>
              </a:lnSpc>
            </a:pPr>
            <a:r>
              <a:rPr lang="en-US" altLang="en-US" dirty="0" err="1"/>
              <a:t>Ngày</a:t>
            </a:r>
            <a:r>
              <a:rPr lang="en-US" altLang="en-US" dirty="0"/>
              <a:t> </a:t>
            </a:r>
            <a:r>
              <a:rPr lang="en-US" altLang="en-US" dirty="0" err="1"/>
              <a:t>giờ</a:t>
            </a:r>
            <a:r>
              <a:rPr lang="en-US" altLang="en-US" dirty="0"/>
              <a:t> (datetime)</a:t>
            </a:r>
          </a:p>
          <a:p>
            <a:pPr lvl="1">
              <a:lnSpc>
                <a:spcPct val="90000"/>
              </a:lnSpc>
            </a:pPr>
            <a:r>
              <a:rPr lang="en-US" altLang="en-US" dirty="0"/>
              <a:t>DATE </a:t>
            </a:r>
            <a:r>
              <a:rPr lang="en-US" altLang="en-US" dirty="0" err="1"/>
              <a:t>gồm</a:t>
            </a:r>
            <a:r>
              <a:rPr lang="en-US" altLang="en-US" dirty="0"/>
              <a:t> </a:t>
            </a:r>
            <a:r>
              <a:rPr lang="en-US" altLang="en-US" dirty="0" err="1"/>
              <a:t>ngày</a:t>
            </a:r>
            <a:r>
              <a:rPr lang="en-US" altLang="en-US" dirty="0"/>
              <a:t>, </a:t>
            </a:r>
            <a:r>
              <a:rPr lang="en-US" altLang="en-US" dirty="0" err="1"/>
              <a:t>tháng</a:t>
            </a:r>
            <a:r>
              <a:rPr lang="en-US" altLang="en-US" dirty="0"/>
              <a:t> </a:t>
            </a:r>
            <a:r>
              <a:rPr lang="en-US" altLang="en-US" dirty="0" err="1"/>
              <a:t>và</a:t>
            </a:r>
            <a:r>
              <a:rPr lang="en-US" altLang="en-US" dirty="0"/>
              <a:t> </a:t>
            </a:r>
            <a:r>
              <a:rPr lang="en-US" altLang="en-US" dirty="0" err="1"/>
              <a:t>năm</a:t>
            </a:r>
            <a:endParaRPr lang="en-US" altLang="en-US" dirty="0"/>
          </a:p>
          <a:p>
            <a:pPr lvl="1">
              <a:lnSpc>
                <a:spcPct val="90000"/>
              </a:lnSpc>
            </a:pPr>
            <a:r>
              <a:rPr lang="en-US" altLang="en-US" dirty="0"/>
              <a:t>TIME </a:t>
            </a:r>
            <a:r>
              <a:rPr lang="en-US" altLang="en-US" dirty="0" err="1"/>
              <a:t>gồm</a:t>
            </a:r>
            <a:r>
              <a:rPr lang="en-US" altLang="en-US" dirty="0"/>
              <a:t> </a:t>
            </a:r>
            <a:r>
              <a:rPr lang="en-US" altLang="en-US" dirty="0" err="1"/>
              <a:t>giờ</a:t>
            </a:r>
            <a:r>
              <a:rPr lang="en-US" altLang="en-US" dirty="0"/>
              <a:t>, </a:t>
            </a:r>
            <a:r>
              <a:rPr lang="en-US" altLang="en-US" dirty="0" err="1"/>
              <a:t>phút</a:t>
            </a:r>
            <a:r>
              <a:rPr lang="en-US" altLang="en-US" dirty="0"/>
              <a:t> </a:t>
            </a:r>
            <a:r>
              <a:rPr lang="en-US" altLang="en-US" dirty="0" err="1"/>
              <a:t>và</a:t>
            </a:r>
            <a:r>
              <a:rPr lang="en-US" altLang="en-US" dirty="0"/>
              <a:t> </a:t>
            </a:r>
            <a:r>
              <a:rPr lang="en-US" altLang="en-US" dirty="0" err="1"/>
              <a:t>giây</a:t>
            </a:r>
            <a:endParaRPr lang="en-US" altLang="en-US" dirty="0"/>
          </a:p>
          <a:p>
            <a:pPr lvl="1">
              <a:lnSpc>
                <a:spcPct val="90000"/>
              </a:lnSpc>
            </a:pPr>
            <a:r>
              <a:rPr lang="en-US" altLang="en-US" dirty="0"/>
              <a:t>TIMESTAMP </a:t>
            </a:r>
            <a:r>
              <a:rPr lang="en-US" altLang="en-US" dirty="0" err="1"/>
              <a:t>gồm</a:t>
            </a:r>
            <a:r>
              <a:rPr lang="en-US" altLang="en-US" dirty="0"/>
              <a:t> </a:t>
            </a:r>
            <a:r>
              <a:rPr lang="en-US" altLang="en-US" dirty="0" err="1"/>
              <a:t>ngày</a:t>
            </a:r>
            <a:r>
              <a:rPr lang="en-US" altLang="en-US" dirty="0"/>
              <a:t> </a:t>
            </a:r>
            <a:r>
              <a:rPr lang="en-US" altLang="en-US" dirty="0" err="1"/>
              <a:t>và</a:t>
            </a:r>
            <a:r>
              <a:rPr lang="en-US" altLang="en-US" dirty="0"/>
              <a:t> </a:t>
            </a:r>
            <a:r>
              <a:rPr lang="en-US" altLang="en-US" dirty="0" err="1"/>
              <a:t>giờ</a:t>
            </a:r>
            <a:endParaRPr lang="en-US"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0370" name="Rectangle 2">
            <a:extLst>
              <a:ext uri="{FF2B5EF4-FFF2-40B4-BE49-F238E27FC236}">
                <a16:creationId xmlns:a16="http://schemas.microsoft.com/office/drawing/2014/main" id="{FB9D39AC-3522-448F-909F-C078F7E5FB17}"/>
              </a:ext>
            </a:extLst>
          </p:cNvPr>
          <p:cNvSpPr>
            <a:spLocks noGrp="1" noChangeArrowheads="1"/>
          </p:cNvSpPr>
          <p:nvPr>
            <p:ph type="title"/>
          </p:nvPr>
        </p:nvSpPr>
        <p:spPr>
          <a:xfrm>
            <a:off x="1044402" y="451513"/>
            <a:ext cx="8229600" cy="620712"/>
          </a:xfrm>
        </p:spPr>
        <p:txBody>
          <a:bodyPr>
            <a:normAutofit fontScale="90000"/>
          </a:bodyPr>
          <a:lstStyle/>
          <a:p>
            <a:r>
              <a:rPr lang="en-US" altLang="en-US" sz="3500" dirty="0" err="1"/>
              <a:t>Lệnh</a:t>
            </a:r>
            <a:r>
              <a:rPr lang="en-US" altLang="en-US" sz="3500" dirty="0"/>
              <a:t> </a:t>
            </a:r>
            <a:r>
              <a:rPr lang="en-US" altLang="en-US" sz="3500" dirty="0" err="1"/>
              <a:t>tạo</a:t>
            </a:r>
            <a:r>
              <a:rPr lang="en-US" altLang="en-US" sz="3500" dirty="0"/>
              <a:t> </a:t>
            </a:r>
            <a:r>
              <a:rPr lang="en-US" altLang="en-US" sz="3500" dirty="0" err="1"/>
              <a:t>bảng</a:t>
            </a:r>
            <a:endParaRPr lang="en-US" altLang="en-US" sz="3500" dirty="0"/>
          </a:p>
        </p:txBody>
      </p:sp>
      <p:sp>
        <p:nvSpPr>
          <p:cNvPr id="570371" name="Rectangle 3">
            <a:extLst>
              <a:ext uri="{FF2B5EF4-FFF2-40B4-BE49-F238E27FC236}">
                <a16:creationId xmlns:a16="http://schemas.microsoft.com/office/drawing/2014/main" id="{C31E053B-AD84-40BB-A9E8-0E3E6C48F7C8}"/>
              </a:ext>
            </a:extLst>
          </p:cNvPr>
          <p:cNvSpPr>
            <a:spLocks noGrp="1" noChangeArrowheads="1"/>
          </p:cNvSpPr>
          <p:nvPr>
            <p:ph idx="1"/>
          </p:nvPr>
        </p:nvSpPr>
        <p:spPr>
          <a:xfrm>
            <a:off x="1117134" y="1301087"/>
            <a:ext cx="8229600" cy="5105400"/>
          </a:xfrm>
        </p:spPr>
        <p:txBody>
          <a:bodyPr/>
          <a:lstStyle/>
          <a:p>
            <a:r>
              <a:rPr lang="en-US" altLang="en-US" dirty="0" err="1"/>
              <a:t>Để</a:t>
            </a:r>
            <a:r>
              <a:rPr lang="en-US" altLang="en-US" dirty="0"/>
              <a:t> </a:t>
            </a:r>
            <a:r>
              <a:rPr lang="en-US" altLang="en-US" dirty="0" err="1"/>
              <a:t>định</a:t>
            </a:r>
            <a:r>
              <a:rPr lang="en-US" altLang="en-US" dirty="0"/>
              <a:t> </a:t>
            </a:r>
            <a:r>
              <a:rPr lang="en-US" altLang="en-US" dirty="0" err="1"/>
              <a:t>nghĩa</a:t>
            </a:r>
            <a:r>
              <a:rPr lang="en-US" altLang="en-US" dirty="0"/>
              <a:t> </a:t>
            </a:r>
            <a:r>
              <a:rPr lang="en-US" altLang="en-US" dirty="0" err="1"/>
              <a:t>một</a:t>
            </a:r>
            <a:r>
              <a:rPr lang="en-US" altLang="en-US" dirty="0"/>
              <a:t> </a:t>
            </a:r>
            <a:r>
              <a:rPr lang="en-US" altLang="en-US" dirty="0" err="1"/>
              <a:t>bảng</a:t>
            </a:r>
            <a:endParaRPr lang="en-US" altLang="en-US" dirty="0"/>
          </a:p>
          <a:p>
            <a:pPr lvl="1"/>
            <a:r>
              <a:rPr lang="en-US" altLang="en-US" dirty="0" err="1"/>
              <a:t>Tên</a:t>
            </a:r>
            <a:r>
              <a:rPr lang="en-US" altLang="en-US" dirty="0"/>
              <a:t> </a:t>
            </a:r>
            <a:r>
              <a:rPr lang="en-US" altLang="en-US" dirty="0" err="1"/>
              <a:t>bảng</a:t>
            </a:r>
            <a:endParaRPr lang="en-US" altLang="en-US" dirty="0"/>
          </a:p>
          <a:p>
            <a:pPr lvl="1"/>
            <a:r>
              <a:rPr lang="en-US" altLang="en-US" dirty="0" err="1"/>
              <a:t>Các</a:t>
            </a:r>
            <a:r>
              <a:rPr lang="en-US" altLang="en-US" dirty="0"/>
              <a:t> </a:t>
            </a:r>
            <a:r>
              <a:rPr lang="en-US" altLang="en-US" dirty="0" err="1"/>
              <a:t>thuộc</a:t>
            </a:r>
            <a:r>
              <a:rPr lang="en-US" altLang="en-US" dirty="0"/>
              <a:t> </a:t>
            </a:r>
            <a:r>
              <a:rPr lang="en-US" altLang="en-US" dirty="0" err="1"/>
              <a:t>tính</a:t>
            </a:r>
            <a:endParaRPr lang="en-US" altLang="en-US" dirty="0"/>
          </a:p>
          <a:p>
            <a:pPr lvl="2"/>
            <a:r>
              <a:rPr lang="en-US" altLang="en-US" dirty="0" err="1"/>
              <a:t>Tên</a:t>
            </a:r>
            <a:r>
              <a:rPr lang="en-US" altLang="en-US" dirty="0"/>
              <a:t> </a:t>
            </a:r>
            <a:r>
              <a:rPr lang="en-US" altLang="en-US" dirty="0" err="1"/>
              <a:t>thuộc</a:t>
            </a:r>
            <a:r>
              <a:rPr lang="en-US" altLang="en-US" dirty="0"/>
              <a:t> </a:t>
            </a:r>
            <a:r>
              <a:rPr lang="en-US" altLang="en-US" dirty="0" err="1"/>
              <a:t>tính</a:t>
            </a:r>
            <a:endParaRPr lang="en-US" altLang="en-US" dirty="0"/>
          </a:p>
          <a:p>
            <a:pPr lvl="2"/>
            <a:r>
              <a:rPr lang="en-US" altLang="en-US" dirty="0" err="1"/>
              <a:t>Kiểu</a:t>
            </a:r>
            <a:r>
              <a:rPr lang="en-US" altLang="en-US" dirty="0"/>
              <a:t> </a:t>
            </a:r>
            <a:r>
              <a:rPr lang="en-US" altLang="en-US" dirty="0" err="1"/>
              <a:t>dữ</a:t>
            </a:r>
            <a:r>
              <a:rPr lang="en-US" altLang="en-US" dirty="0"/>
              <a:t> </a:t>
            </a:r>
            <a:r>
              <a:rPr lang="en-US" altLang="en-US" dirty="0" err="1"/>
              <a:t>liệu</a:t>
            </a:r>
            <a:endParaRPr lang="en-US" altLang="en-US" dirty="0"/>
          </a:p>
          <a:p>
            <a:pPr lvl="2"/>
            <a:r>
              <a:rPr lang="en-US" altLang="en-US" dirty="0" err="1"/>
              <a:t>Các</a:t>
            </a:r>
            <a:r>
              <a:rPr lang="en-US" altLang="en-US" dirty="0"/>
              <a:t> RBTV </a:t>
            </a:r>
            <a:r>
              <a:rPr lang="en-US" altLang="en-US" dirty="0" err="1"/>
              <a:t>trên</a:t>
            </a:r>
            <a:r>
              <a:rPr lang="en-US" altLang="en-US" dirty="0"/>
              <a:t> </a:t>
            </a:r>
            <a:r>
              <a:rPr lang="en-US" altLang="en-US" dirty="0" err="1"/>
              <a:t>thuộc</a:t>
            </a:r>
            <a:r>
              <a:rPr lang="en-US" altLang="en-US" dirty="0"/>
              <a:t> </a:t>
            </a:r>
            <a:r>
              <a:rPr lang="en-US" altLang="en-US" dirty="0" err="1"/>
              <a:t>tính</a:t>
            </a:r>
            <a:endParaRPr lang="en-US" altLang="en-US" dirty="0"/>
          </a:p>
          <a:p>
            <a:r>
              <a:rPr lang="en-US" altLang="en-US" dirty="0" err="1"/>
              <a:t>Cú</a:t>
            </a:r>
            <a:r>
              <a:rPr lang="en-US" altLang="en-US" dirty="0"/>
              <a:t> </a:t>
            </a:r>
            <a:r>
              <a:rPr lang="en-US" altLang="en-US" dirty="0" err="1"/>
              <a:t>pháp</a:t>
            </a:r>
            <a:endParaRPr lang="en-US" altLang="en-US" dirty="0"/>
          </a:p>
        </p:txBody>
      </p:sp>
      <p:sp>
        <p:nvSpPr>
          <p:cNvPr id="570372" name="Text Box 4">
            <a:extLst>
              <a:ext uri="{FF2B5EF4-FFF2-40B4-BE49-F238E27FC236}">
                <a16:creationId xmlns:a16="http://schemas.microsoft.com/office/drawing/2014/main" id="{705586E9-197A-4AD6-97B6-3092171B269D}"/>
              </a:ext>
            </a:extLst>
          </p:cNvPr>
          <p:cNvSpPr txBox="1">
            <a:spLocks noChangeArrowheads="1"/>
          </p:cNvSpPr>
          <p:nvPr/>
        </p:nvSpPr>
        <p:spPr bwMode="auto">
          <a:xfrm>
            <a:off x="1565102" y="4288762"/>
            <a:ext cx="6096000" cy="1752600"/>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en-US" b="1" dirty="0"/>
              <a:t>CREATE TABLE</a:t>
            </a:r>
            <a:r>
              <a:rPr lang="en-US" altLang="en-US" dirty="0"/>
              <a:t> &lt;</a:t>
            </a:r>
            <a:r>
              <a:rPr lang="en-US" altLang="en-US" dirty="0" err="1"/>
              <a:t>Tên_bảng</a:t>
            </a:r>
            <a:r>
              <a:rPr lang="en-US" altLang="en-US" dirty="0"/>
              <a:t>&gt; </a:t>
            </a:r>
            <a:r>
              <a:rPr lang="en-US" altLang="en-US" b="1" dirty="0"/>
              <a:t>(</a:t>
            </a:r>
            <a:br>
              <a:rPr lang="en-US" altLang="en-US" b="1" dirty="0"/>
            </a:br>
            <a:r>
              <a:rPr lang="en-US" altLang="en-US" b="1" dirty="0"/>
              <a:t>	</a:t>
            </a:r>
            <a:r>
              <a:rPr lang="en-US" altLang="en-US" dirty="0"/>
              <a:t>&lt;</a:t>
            </a:r>
            <a:r>
              <a:rPr lang="en-US" altLang="en-US" dirty="0" err="1"/>
              <a:t>Tên_cột</a:t>
            </a:r>
            <a:r>
              <a:rPr lang="en-US" altLang="en-US" dirty="0"/>
              <a:t>&gt; &lt;</a:t>
            </a:r>
            <a:r>
              <a:rPr lang="en-US" altLang="en-US" dirty="0" err="1"/>
              <a:t>Kiểu_dữ_liệu</a:t>
            </a:r>
            <a:r>
              <a:rPr lang="en-US" altLang="en-US" dirty="0"/>
              <a:t>&gt; [&lt;RBTV&gt;],</a:t>
            </a:r>
            <a:br>
              <a:rPr lang="en-US" altLang="en-US" b="1" dirty="0"/>
            </a:br>
            <a:r>
              <a:rPr lang="en-US" altLang="en-US" b="1" dirty="0"/>
              <a:t>	</a:t>
            </a:r>
            <a:r>
              <a:rPr lang="en-US" altLang="en-US" dirty="0"/>
              <a:t>&lt;</a:t>
            </a:r>
            <a:r>
              <a:rPr lang="en-US" altLang="en-US" dirty="0" err="1"/>
              <a:t>Tên_cột</a:t>
            </a:r>
            <a:r>
              <a:rPr lang="en-US" altLang="en-US" dirty="0"/>
              <a:t>&gt; &lt;</a:t>
            </a:r>
            <a:r>
              <a:rPr lang="en-US" altLang="en-US" dirty="0" err="1"/>
              <a:t>Kiểu_dữ_liệu</a:t>
            </a:r>
            <a:r>
              <a:rPr lang="en-US" altLang="en-US" dirty="0"/>
              <a:t>&gt; [&lt;RBTV&gt;],</a:t>
            </a:r>
            <a:br>
              <a:rPr lang="en-US" altLang="en-US" b="1" dirty="0"/>
            </a:br>
            <a:r>
              <a:rPr lang="en-US" altLang="en-US" dirty="0"/>
              <a:t>	…</a:t>
            </a:r>
            <a:br>
              <a:rPr lang="en-US" altLang="en-US" b="1" dirty="0"/>
            </a:br>
            <a:r>
              <a:rPr lang="en-US" altLang="en-US" dirty="0"/>
              <a:t>	[&lt;RBTV&gt;]</a:t>
            </a:r>
            <a:br>
              <a:rPr lang="en-US" altLang="en-US" b="1" dirty="0"/>
            </a:br>
            <a:r>
              <a:rPr lang="en-US" altLang="en-US" b="1" dirty="0"/>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8322" name="Rectangle 2">
            <a:extLst>
              <a:ext uri="{FF2B5EF4-FFF2-40B4-BE49-F238E27FC236}">
                <a16:creationId xmlns:a16="http://schemas.microsoft.com/office/drawing/2014/main" id="{65DB2E25-E8FF-4DEE-8AAD-BC2ECE581926}"/>
              </a:ext>
            </a:extLst>
          </p:cNvPr>
          <p:cNvSpPr>
            <a:spLocks noGrp="1" noChangeArrowheads="1"/>
          </p:cNvSpPr>
          <p:nvPr>
            <p:ph type="title"/>
          </p:nvPr>
        </p:nvSpPr>
        <p:spPr>
          <a:xfrm>
            <a:off x="1044402" y="387569"/>
            <a:ext cx="8229600" cy="620712"/>
          </a:xfrm>
        </p:spPr>
        <p:txBody>
          <a:bodyPr>
            <a:normAutofit fontScale="90000"/>
          </a:bodyPr>
          <a:lstStyle/>
          <a:p>
            <a:r>
              <a:rPr lang="en-US" altLang="en-US" sz="3500" dirty="0" err="1"/>
              <a:t>Ví</a:t>
            </a:r>
            <a:r>
              <a:rPr lang="en-US" altLang="en-US" sz="3500" dirty="0"/>
              <a:t> </a:t>
            </a:r>
            <a:r>
              <a:rPr lang="en-US" altLang="en-US" sz="3500" dirty="0" err="1"/>
              <a:t>dụ</a:t>
            </a:r>
            <a:r>
              <a:rPr lang="en-US" altLang="en-US" sz="3500" dirty="0"/>
              <a:t> - </a:t>
            </a:r>
            <a:r>
              <a:rPr lang="en-US" altLang="en-US" sz="3500" dirty="0" err="1"/>
              <a:t>Tạo</a:t>
            </a:r>
            <a:r>
              <a:rPr lang="en-US" altLang="en-US" sz="3500" dirty="0"/>
              <a:t> </a:t>
            </a:r>
            <a:r>
              <a:rPr lang="en-US" altLang="en-US" sz="3500" dirty="0" err="1"/>
              <a:t>bảng</a:t>
            </a:r>
            <a:endParaRPr lang="en-US" altLang="en-US" sz="3500" dirty="0"/>
          </a:p>
        </p:txBody>
      </p:sp>
      <p:sp>
        <p:nvSpPr>
          <p:cNvPr id="2" name="Rectangle 1">
            <a:extLst>
              <a:ext uri="{FF2B5EF4-FFF2-40B4-BE49-F238E27FC236}">
                <a16:creationId xmlns:a16="http://schemas.microsoft.com/office/drawing/2014/main" id="{4F1CB8F2-30C2-4839-AFEC-C2F4A588C2BD}"/>
              </a:ext>
            </a:extLst>
          </p:cNvPr>
          <p:cNvSpPr/>
          <p:nvPr/>
        </p:nvSpPr>
        <p:spPr>
          <a:xfrm>
            <a:off x="3892493" y="637562"/>
            <a:ext cx="5516550" cy="5262979"/>
          </a:xfrm>
          <a:prstGeom prst="rect">
            <a:avLst/>
          </a:prstGeom>
        </p:spPr>
        <p:txBody>
          <a:bodyPr wrap="square">
            <a:spAutoFit/>
          </a:bodyPr>
          <a:lstStyle/>
          <a:p>
            <a:r>
              <a:rPr lang="en-US" sz="1200" dirty="0"/>
              <a:t>create database if not exists  C2;</a:t>
            </a:r>
          </a:p>
          <a:p>
            <a:r>
              <a:rPr lang="en-US" sz="1200" dirty="0"/>
              <a:t>use C2;</a:t>
            </a:r>
          </a:p>
          <a:p>
            <a:endParaRPr lang="en-US" sz="1200" dirty="0"/>
          </a:p>
          <a:p>
            <a:r>
              <a:rPr lang="en-US" sz="1200" dirty="0"/>
              <a:t>create table if not exists </a:t>
            </a:r>
            <a:r>
              <a:rPr lang="en-US" sz="1200" dirty="0" err="1"/>
              <a:t>SinhVien</a:t>
            </a:r>
            <a:r>
              <a:rPr lang="en-US" sz="1200" dirty="0"/>
              <a:t> (</a:t>
            </a:r>
          </a:p>
          <a:p>
            <a:r>
              <a:rPr lang="en-US" sz="1200" dirty="0"/>
              <a:t>	</a:t>
            </a:r>
            <a:r>
              <a:rPr lang="en-US" sz="1200" dirty="0" err="1"/>
              <a:t>MaSV</a:t>
            </a:r>
            <a:r>
              <a:rPr lang="en-US" sz="1200" dirty="0"/>
              <a:t> CHAR(15) not null unique,</a:t>
            </a:r>
          </a:p>
          <a:p>
            <a:r>
              <a:rPr lang="en-US" sz="1200" dirty="0"/>
              <a:t>	</a:t>
            </a:r>
            <a:r>
              <a:rPr lang="en-US" sz="1200" dirty="0" err="1"/>
              <a:t>TenSV</a:t>
            </a:r>
            <a:r>
              <a:rPr lang="en-US" sz="1200" dirty="0"/>
              <a:t> VARCHAR(50),</a:t>
            </a:r>
          </a:p>
          <a:p>
            <a:r>
              <a:rPr lang="en-US" sz="1200" dirty="0"/>
              <a:t>    </a:t>
            </a:r>
            <a:r>
              <a:rPr lang="en-US" sz="1200" dirty="0" err="1"/>
              <a:t>Gioitinh</a:t>
            </a:r>
            <a:r>
              <a:rPr lang="en-US" sz="1200" dirty="0"/>
              <a:t> char(3) check (</a:t>
            </a:r>
            <a:r>
              <a:rPr lang="en-US" sz="1200" dirty="0" err="1"/>
              <a:t>Gioitinh</a:t>
            </a:r>
            <a:r>
              <a:rPr lang="en-US" sz="1200" dirty="0"/>
              <a:t> in ('Nam', 'Nu')),    </a:t>
            </a:r>
          </a:p>
          <a:p>
            <a:r>
              <a:rPr lang="en-US" sz="1200" dirty="0"/>
              <a:t>	NGSINH 	DATETIME,</a:t>
            </a:r>
          </a:p>
          <a:p>
            <a:r>
              <a:rPr lang="en-US" sz="1200" dirty="0"/>
              <a:t>	DCHI VARCHAR(50),</a:t>
            </a:r>
          </a:p>
          <a:p>
            <a:r>
              <a:rPr lang="en-US" sz="1200" dirty="0"/>
              <a:t>	</a:t>
            </a:r>
            <a:r>
              <a:rPr lang="en-US" sz="1200" dirty="0" err="1"/>
              <a:t>MaLop</a:t>
            </a:r>
            <a:r>
              <a:rPr lang="en-US" sz="1200" dirty="0"/>
              <a:t> Varchar(20),    </a:t>
            </a:r>
          </a:p>
          <a:p>
            <a:r>
              <a:rPr lang="en-US" sz="1200" dirty="0"/>
              <a:t>	</a:t>
            </a:r>
            <a:r>
              <a:rPr lang="en-US" sz="1200" dirty="0" err="1"/>
              <a:t>MaKhoa</a:t>
            </a:r>
            <a:r>
              <a:rPr lang="en-US" sz="1200" dirty="0"/>
              <a:t> varchar(20) references Khoa (</a:t>
            </a:r>
            <a:r>
              <a:rPr lang="en-US" sz="1200" dirty="0" err="1"/>
              <a:t>MaKhoa</a:t>
            </a:r>
            <a:r>
              <a:rPr lang="en-US" sz="1200" dirty="0"/>
              <a:t>)</a:t>
            </a:r>
          </a:p>
          <a:p>
            <a:r>
              <a:rPr lang="en-US" sz="1200" dirty="0"/>
              <a:t>);</a:t>
            </a:r>
          </a:p>
          <a:p>
            <a:endParaRPr lang="en-US" sz="1200" dirty="0"/>
          </a:p>
          <a:p>
            <a:r>
              <a:rPr lang="en-US" sz="1200" dirty="0"/>
              <a:t>create table if not exists </a:t>
            </a:r>
            <a:r>
              <a:rPr lang="en-US" sz="1200" dirty="0" err="1"/>
              <a:t>MonHoc</a:t>
            </a:r>
            <a:r>
              <a:rPr lang="en-US" sz="1200" dirty="0"/>
              <a:t> (</a:t>
            </a:r>
          </a:p>
          <a:p>
            <a:r>
              <a:rPr lang="en-US" sz="1200" dirty="0"/>
              <a:t>	</a:t>
            </a:r>
            <a:r>
              <a:rPr lang="en-US" sz="1200" dirty="0" err="1"/>
              <a:t>MaMH</a:t>
            </a:r>
            <a:r>
              <a:rPr lang="en-US" sz="1200" dirty="0"/>
              <a:t>  char(20) not null unique,</a:t>
            </a:r>
          </a:p>
          <a:p>
            <a:r>
              <a:rPr lang="en-US" sz="1200" dirty="0"/>
              <a:t>    </a:t>
            </a:r>
            <a:r>
              <a:rPr lang="en-US" sz="1200" dirty="0" err="1"/>
              <a:t>TenMH</a:t>
            </a:r>
            <a:r>
              <a:rPr lang="en-US" sz="1200" dirty="0"/>
              <a:t> varchar(50),</a:t>
            </a:r>
          </a:p>
          <a:p>
            <a:r>
              <a:rPr lang="en-US" sz="1200" dirty="0"/>
              <a:t>    </a:t>
            </a:r>
            <a:r>
              <a:rPr lang="en-US" sz="1200" dirty="0" err="1"/>
              <a:t>SoTinChi</a:t>
            </a:r>
            <a:r>
              <a:rPr lang="en-US" sz="1200" dirty="0"/>
              <a:t> Int</a:t>
            </a:r>
          </a:p>
          <a:p>
            <a:r>
              <a:rPr lang="en-US" sz="1200" dirty="0"/>
              <a:t>) ;</a:t>
            </a:r>
          </a:p>
          <a:p>
            <a:endParaRPr lang="en-US" sz="1200" dirty="0"/>
          </a:p>
          <a:p>
            <a:r>
              <a:rPr lang="en-US" sz="1200" dirty="0"/>
              <a:t>create table if not exists Lop (</a:t>
            </a:r>
          </a:p>
          <a:p>
            <a:r>
              <a:rPr lang="en-US" sz="1200" dirty="0"/>
              <a:t>	</a:t>
            </a:r>
            <a:r>
              <a:rPr lang="en-US" sz="1200" dirty="0" err="1"/>
              <a:t>MaLop</a:t>
            </a:r>
            <a:r>
              <a:rPr lang="en-US" sz="1200" dirty="0"/>
              <a:t> char(20) not null unique,</a:t>
            </a:r>
          </a:p>
          <a:p>
            <a:r>
              <a:rPr lang="en-US" sz="1200" dirty="0"/>
              <a:t>    </a:t>
            </a:r>
            <a:r>
              <a:rPr lang="en-US" sz="1200" dirty="0" err="1"/>
              <a:t>Tenlop</a:t>
            </a:r>
            <a:r>
              <a:rPr lang="en-US" sz="1200" dirty="0"/>
              <a:t> varchar (20),</a:t>
            </a:r>
          </a:p>
          <a:p>
            <a:r>
              <a:rPr lang="en-US" sz="1200" dirty="0"/>
              <a:t>    </a:t>
            </a:r>
            <a:r>
              <a:rPr lang="en-US" sz="1200" dirty="0" err="1"/>
              <a:t>MaKHoa</a:t>
            </a:r>
            <a:r>
              <a:rPr lang="en-US" sz="1200" dirty="0"/>
              <a:t> varchar (50)    </a:t>
            </a:r>
          </a:p>
          <a:p>
            <a:r>
              <a:rPr lang="en-US" sz="1200" dirty="0"/>
              <a:t>);</a:t>
            </a:r>
          </a:p>
          <a:p>
            <a:r>
              <a:rPr lang="en-US" sz="1200" dirty="0"/>
              <a:t>create table if not exists Khoa (</a:t>
            </a:r>
          </a:p>
          <a:p>
            <a:r>
              <a:rPr lang="en-US" sz="1200" dirty="0"/>
              <a:t>	</a:t>
            </a:r>
            <a:r>
              <a:rPr lang="en-US" sz="1200" dirty="0" err="1"/>
              <a:t>MaKhoa</a:t>
            </a:r>
            <a:r>
              <a:rPr lang="en-US" sz="1200" dirty="0"/>
              <a:t> char(20) not null unique,</a:t>
            </a:r>
          </a:p>
          <a:p>
            <a:r>
              <a:rPr lang="en-US" sz="1200" dirty="0"/>
              <a:t>    </a:t>
            </a:r>
            <a:r>
              <a:rPr lang="en-US" sz="1200" dirty="0" err="1"/>
              <a:t>TenKhoa</a:t>
            </a:r>
            <a:r>
              <a:rPr lang="en-US" sz="1200" dirty="0"/>
              <a:t> varchar(50)</a:t>
            </a:r>
          </a:p>
          <a:p>
            <a:r>
              <a:rPr lang="en-US" sz="1200" dirty="0"/>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2418" name="Rectangle 2">
            <a:extLst>
              <a:ext uri="{FF2B5EF4-FFF2-40B4-BE49-F238E27FC236}">
                <a16:creationId xmlns:a16="http://schemas.microsoft.com/office/drawing/2014/main" id="{EB0938D0-6C40-4827-8556-9E5216BF950C}"/>
              </a:ext>
            </a:extLst>
          </p:cNvPr>
          <p:cNvSpPr>
            <a:spLocks noGrp="1" noChangeArrowheads="1"/>
          </p:cNvSpPr>
          <p:nvPr>
            <p:ph type="title"/>
          </p:nvPr>
        </p:nvSpPr>
        <p:spPr>
          <a:xfrm>
            <a:off x="840297" y="375444"/>
            <a:ext cx="8229600" cy="620712"/>
          </a:xfrm>
        </p:spPr>
        <p:txBody>
          <a:bodyPr>
            <a:normAutofit fontScale="90000"/>
          </a:bodyPr>
          <a:lstStyle/>
          <a:p>
            <a:r>
              <a:rPr lang="en-US" altLang="en-US" sz="3500" dirty="0" err="1"/>
              <a:t>Lệnh</a:t>
            </a:r>
            <a:r>
              <a:rPr lang="en-US" altLang="en-US" sz="3500" dirty="0"/>
              <a:t> </a:t>
            </a:r>
            <a:r>
              <a:rPr lang="en-US" altLang="en-US" sz="3500" dirty="0" err="1"/>
              <a:t>tạo</a:t>
            </a:r>
            <a:r>
              <a:rPr lang="en-US" altLang="en-US" sz="3500" dirty="0"/>
              <a:t> </a:t>
            </a:r>
            <a:r>
              <a:rPr lang="en-US" altLang="en-US" sz="3500" dirty="0" err="1"/>
              <a:t>bảng</a:t>
            </a:r>
            <a:r>
              <a:rPr lang="en-US" altLang="en-US" sz="3500" dirty="0"/>
              <a:t> (</a:t>
            </a:r>
            <a:r>
              <a:rPr lang="en-US" altLang="en-US" sz="3500" dirty="0" err="1"/>
              <a:t>tt</a:t>
            </a:r>
            <a:r>
              <a:rPr lang="en-US" altLang="en-US" sz="3500" dirty="0"/>
              <a:t>)</a:t>
            </a:r>
          </a:p>
        </p:txBody>
      </p:sp>
      <p:sp>
        <p:nvSpPr>
          <p:cNvPr id="572419" name="Rectangle 3">
            <a:extLst>
              <a:ext uri="{FF2B5EF4-FFF2-40B4-BE49-F238E27FC236}">
                <a16:creationId xmlns:a16="http://schemas.microsoft.com/office/drawing/2014/main" id="{AA55448B-173B-46CF-944A-C9CE7586945F}"/>
              </a:ext>
            </a:extLst>
          </p:cNvPr>
          <p:cNvSpPr>
            <a:spLocks noGrp="1" noChangeArrowheads="1"/>
          </p:cNvSpPr>
          <p:nvPr>
            <p:ph idx="1"/>
          </p:nvPr>
        </p:nvSpPr>
        <p:spPr>
          <a:xfrm>
            <a:off x="1167467" y="1301087"/>
            <a:ext cx="8229600" cy="5105400"/>
          </a:xfrm>
        </p:spPr>
        <p:txBody>
          <a:bodyPr/>
          <a:lstStyle/>
          <a:p>
            <a:r>
              <a:rPr lang="en-US" altLang="en-US" dirty="0"/>
              <a:t>&lt;RBTV&gt; </a:t>
            </a:r>
          </a:p>
          <a:p>
            <a:pPr lvl="1"/>
            <a:r>
              <a:rPr lang="en-US" altLang="en-US" dirty="0"/>
              <a:t>NOT NULL</a:t>
            </a:r>
          </a:p>
          <a:p>
            <a:pPr lvl="1"/>
            <a:r>
              <a:rPr lang="en-US" altLang="en-US" dirty="0"/>
              <a:t>NULL</a:t>
            </a:r>
          </a:p>
          <a:p>
            <a:pPr lvl="1"/>
            <a:r>
              <a:rPr lang="en-US" altLang="en-US" dirty="0"/>
              <a:t>UNIQUE</a:t>
            </a:r>
          </a:p>
          <a:p>
            <a:pPr lvl="1"/>
            <a:r>
              <a:rPr lang="en-US" altLang="en-US" dirty="0"/>
              <a:t>DEFAULT</a:t>
            </a:r>
          </a:p>
          <a:p>
            <a:pPr lvl="1"/>
            <a:r>
              <a:rPr lang="en-US" altLang="en-US" dirty="0"/>
              <a:t>PRIMARY KEY</a:t>
            </a:r>
          </a:p>
          <a:p>
            <a:pPr lvl="1"/>
            <a:r>
              <a:rPr lang="en-US" altLang="en-US" dirty="0"/>
              <a:t>FOREIGN KEY / REFERENCES</a:t>
            </a:r>
          </a:p>
          <a:p>
            <a:pPr lvl="1"/>
            <a:r>
              <a:rPr lang="en-US" altLang="en-US" dirty="0"/>
              <a:t>CHECK</a:t>
            </a:r>
          </a:p>
          <a:p>
            <a:pPr lvl="1"/>
            <a:endParaRPr lang="en-US" altLang="en-US" dirty="0"/>
          </a:p>
          <a:p>
            <a:r>
              <a:rPr lang="en-US" altLang="en-US" dirty="0" err="1"/>
              <a:t>Đặt</a:t>
            </a:r>
            <a:r>
              <a:rPr lang="en-US" altLang="en-US" dirty="0"/>
              <a:t> </a:t>
            </a:r>
            <a:r>
              <a:rPr lang="en-US" altLang="en-US" dirty="0" err="1"/>
              <a:t>tên</a:t>
            </a:r>
            <a:r>
              <a:rPr lang="en-US" altLang="en-US" dirty="0"/>
              <a:t> </a:t>
            </a:r>
            <a:r>
              <a:rPr lang="en-US" altLang="en-US" dirty="0" err="1"/>
              <a:t>cho</a:t>
            </a:r>
            <a:r>
              <a:rPr lang="en-US" altLang="en-US" dirty="0"/>
              <a:t> RBTV</a:t>
            </a:r>
          </a:p>
          <a:p>
            <a:endParaRPr lang="en-US" altLang="en-US" dirty="0"/>
          </a:p>
        </p:txBody>
      </p:sp>
      <p:sp>
        <p:nvSpPr>
          <p:cNvPr id="7" name="Slide Number Placeholder 6">
            <a:extLst>
              <a:ext uri="{FF2B5EF4-FFF2-40B4-BE49-F238E27FC236}">
                <a16:creationId xmlns:a16="http://schemas.microsoft.com/office/drawing/2014/main" id="{8AB343CC-2020-4B38-B6BE-6CAF24A504E4}"/>
              </a:ext>
            </a:extLst>
          </p:cNvPr>
          <p:cNvSpPr>
            <a:spLocks noGrp="1"/>
          </p:cNvSpPr>
          <p:nvPr>
            <p:ph type="sldNum" sz="quarter" idx="12"/>
          </p:nvPr>
        </p:nvSpPr>
        <p:spPr/>
        <p:txBody>
          <a:bodyPr/>
          <a:lstStyle/>
          <a:p>
            <a:fld id="{E1C1FC0A-39AE-4616-9A18-B8E9A89D511D}" type="slidenum">
              <a:rPr lang="en-US" altLang="en-US"/>
              <a:pPr/>
              <a:t>11</a:t>
            </a:fld>
            <a:endParaRPr lang="en-US" altLang="en-US"/>
          </a:p>
        </p:txBody>
      </p:sp>
      <p:sp>
        <p:nvSpPr>
          <p:cNvPr id="572421" name="Text Box 5">
            <a:extLst>
              <a:ext uri="{FF2B5EF4-FFF2-40B4-BE49-F238E27FC236}">
                <a16:creationId xmlns:a16="http://schemas.microsoft.com/office/drawing/2014/main" id="{6542DB25-5525-4832-8A5B-1ACCCDB1807B}"/>
              </a:ext>
            </a:extLst>
          </p:cNvPr>
          <p:cNvSpPr txBox="1">
            <a:spLocks noChangeArrowheads="1"/>
          </p:cNvSpPr>
          <p:nvPr/>
        </p:nvSpPr>
        <p:spPr bwMode="auto">
          <a:xfrm>
            <a:off x="2120318" y="5440450"/>
            <a:ext cx="4495800" cy="379412"/>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en-US" b="1" dirty="0"/>
              <a:t>CONSTRAINT </a:t>
            </a:r>
            <a:r>
              <a:rPr lang="en-US" altLang="en-US" dirty="0"/>
              <a:t>&lt;</a:t>
            </a:r>
            <a:r>
              <a:rPr lang="en-US" altLang="en-US" dirty="0" err="1"/>
              <a:t>Ten_RBTV</a:t>
            </a:r>
            <a:r>
              <a:rPr lang="en-US" altLang="en-US" dirty="0"/>
              <a:t>&gt; &lt;RBTV&gt;</a:t>
            </a:r>
            <a:endParaRPr lang="en-US" altLang="en-US" b="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4018" name="Rectangle 2">
            <a:extLst>
              <a:ext uri="{FF2B5EF4-FFF2-40B4-BE49-F238E27FC236}">
                <a16:creationId xmlns:a16="http://schemas.microsoft.com/office/drawing/2014/main" id="{209FD8EF-C415-4CA3-9FFC-09342FFA88CE}"/>
              </a:ext>
            </a:extLst>
          </p:cNvPr>
          <p:cNvSpPr>
            <a:spLocks noGrp="1" noChangeArrowheads="1"/>
          </p:cNvSpPr>
          <p:nvPr>
            <p:ph type="title"/>
          </p:nvPr>
        </p:nvSpPr>
        <p:spPr>
          <a:xfrm>
            <a:off x="848687" y="323720"/>
            <a:ext cx="8229600" cy="620712"/>
          </a:xfrm>
        </p:spPr>
        <p:txBody>
          <a:bodyPr>
            <a:normAutofit fontScale="90000"/>
          </a:bodyPr>
          <a:lstStyle/>
          <a:p>
            <a:r>
              <a:rPr lang="en-US" altLang="en-US" sz="3500" dirty="0" err="1"/>
              <a:t>Lệnh</a:t>
            </a:r>
            <a:r>
              <a:rPr lang="en-US" altLang="en-US" sz="3500" dirty="0"/>
              <a:t> </a:t>
            </a:r>
            <a:r>
              <a:rPr lang="en-US" altLang="en-US" sz="3500" dirty="0" err="1"/>
              <a:t>sửa</a:t>
            </a:r>
            <a:r>
              <a:rPr lang="en-US" altLang="en-US" sz="3500" dirty="0"/>
              <a:t> </a:t>
            </a:r>
            <a:r>
              <a:rPr lang="en-US" altLang="en-US" sz="3500" dirty="0" err="1"/>
              <a:t>bảng</a:t>
            </a:r>
            <a:endParaRPr lang="en-US" altLang="en-US" sz="3500" dirty="0"/>
          </a:p>
        </p:txBody>
      </p:sp>
      <p:sp>
        <p:nvSpPr>
          <p:cNvPr id="854019" name="Rectangle 3">
            <a:extLst>
              <a:ext uri="{FF2B5EF4-FFF2-40B4-BE49-F238E27FC236}">
                <a16:creationId xmlns:a16="http://schemas.microsoft.com/office/drawing/2014/main" id="{F5E43D2F-EFB2-4623-93A0-2BF661752819}"/>
              </a:ext>
            </a:extLst>
          </p:cNvPr>
          <p:cNvSpPr>
            <a:spLocks noGrp="1" noChangeArrowheads="1"/>
          </p:cNvSpPr>
          <p:nvPr>
            <p:ph idx="1"/>
          </p:nvPr>
        </p:nvSpPr>
        <p:spPr>
          <a:xfrm>
            <a:off x="789963" y="1118524"/>
            <a:ext cx="8229600" cy="5105400"/>
          </a:xfrm>
        </p:spPr>
        <p:txBody>
          <a:bodyPr/>
          <a:lstStyle/>
          <a:p>
            <a:r>
              <a:rPr lang="en-US" altLang="en-US" dirty="0" err="1"/>
              <a:t>Được</a:t>
            </a:r>
            <a:r>
              <a:rPr lang="en-US" altLang="en-US" dirty="0"/>
              <a:t> </a:t>
            </a:r>
            <a:r>
              <a:rPr lang="en-US" altLang="en-US" dirty="0" err="1"/>
              <a:t>dùng</a:t>
            </a:r>
            <a:r>
              <a:rPr lang="en-US" altLang="en-US" dirty="0"/>
              <a:t> </a:t>
            </a:r>
            <a:r>
              <a:rPr lang="en-US" altLang="en-US" dirty="0" err="1"/>
              <a:t>để</a:t>
            </a:r>
            <a:r>
              <a:rPr lang="en-US" altLang="en-US" dirty="0"/>
              <a:t> </a:t>
            </a:r>
          </a:p>
          <a:p>
            <a:pPr lvl="1"/>
            <a:r>
              <a:rPr lang="en-US" altLang="en-US" dirty="0" err="1"/>
              <a:t>Thay</a:t>
            </a:r>
            <a:r>
              <a:rPr lang="en-US" altLang="en-US" dirty="0"/>
              <a:t> </a:t>
            </a:r>
            <a:r>
              <a:rPr lang="en-US" altLang="en-US" dirty="0" err="1"/>
              <a:t>đổi</a:t>
            </a:r>
            <a:r>
              <a:rPr lang="en-US" altLang="en-US" dirty="0"/>
              <a:t> </a:t>
            </a:r>
            <a:r>
              <a:rPr lang="en-US" altLang="en-US" dirty="0" err="1"/>
              <a:t>cấu</a:t>
            </a:r>
            <a:r>
              <a:rPr lang="en-US" altLang="en-US" dirty="0"/>
              <a:t> </a:t>
            </a:r>
            <a:r>
              <a:rPr lang="en-US" altLang="en-US" dirty="0" err="1"/>
              <a:t>trúc</a:t>
            </a:r>
            <a:r>
              <a:rPr lang="en-US" altLang="en-US" dirty="0"/>
              <a:t> </a:t>
            </a:r>
            <a:r>
              <a:rPr lang="en-US" altLang="en-US" dirty="0" err="1"/>
              <a:t>bảng</a:t>
            </a:r>
            <a:r>
              <a:rPr lang="en-US" altLang="en-US" dirty="0"/>
              <a:t> </a:t>
            </a:r>
          </a:p>
          <a:p>
            <a:pPr lvl="1"/>
            <a:r>
              <a:rPr lang="en-US" altLang="en-US" dirty="0" err="1"/>
              <a:t>Thay</a:t>
            </a:r>
            <a:r>
              <a:rPr lang="en-US" altLang="en-US" dirty="0"/>
              <a:t> </a:t>
            </a:r>
            <a:r>
              <a:rPr lang="en-US" altLang="en-US" dirty="0" err="1"/>
              <a:t>đổi</a:t>
            </a:r>
            <a:r>
              <a:rPr lang="en-US" altLang="en-US" dirty="0"/>
              <a:t> RBTV</a:t>
            </a:r>
          </a:p>
          <a:p>
            <a:pPr lvl="2"/>
            <a:endParaRPr lang="en-US" altLang="en-US" dirty="0"/>
          </a:p>
          <a:p>
            <a:pPr lvl="2"/>
            <a:endParaRPr lang="en-US" altLang="en-US" dirty="0"/>
          </a:p>
          <a:p>
            <a:r>
              <a:rPr lang="en-US" altLang="en-US" dirty="0" err="1"/>
              <a:t>Thêm</a:t>
            </a:r>
            <a:r>
              <a:rPr lang="en-US" altLang="en-US" dirty="0"/>
              <a:t> </a:t>
            </a:r>
            <a:r>
              <a:rPr lang="en-US" altLang="en-US" dirty="0" err="1"/>
              <a:t>cột</a:t>
            </a:r>
            <a:endParaRPr lang="en-US" altLang="en-US" dirty="0"/>
          </a:p>
          <a:p>
            <a:pPr lvl="2"/>
            <a:endParaRPr lang="en-US" altLang="en-US" dirty="0"/>
          </a:p>
          <a:p>
            <a:pPr lvl="2"/>
            <a:endParaRPr lang="en-US" altLang="en-US" dirty="0"/>
          </a:p>
          <a:p>
            <a:r>
              <a:rPr lang="en-US" altLang="en-US" dirty="0" err="1"/>
              <a:t>Xóa</a:t>
            </a:r>
            <a:r>
              <a:rPr lang="en-US" altLang="en-US" dirty="0"/>
              <a:t> </a:t>
            </a:r>
            <a:r>
              <a:rPr lang="en-US" altLang="en-US" dirty="0" err="1"/>
              <a:t>cột</a:t>
            </a:r>
            <a:endParaRPr lang="en-US" altLang="en-US" dirty="0"/>
          </a:p>
          <a:p>
            <a:pPr lvl="2"/>
            <a:endParaRPr lang="en-US" altLang="en-US" dirty="0"/>
          </a:p>
          <a:p>
            <a:pPr lvl="2"/>
            <a:endParaRPr lang="en-US" altLang="en-US" dirty="0"/>
          </a:p>
          <a:p>
            <a:r>
              <a:rPr lang="en-US" altLang="en-US" dirty="0" err="1"/>
              <a:t>Mở</a:t>
            </a:r>
            <a:r>
              <a:rPr lang="en-US" altLang="en-US" dirty="0"/>
              <a:t> </a:t>
            </a:r>
            <a:r>
              <a:rPr lang="en-US" altLang="en-US" dirty="0" err="1"/>
              <a:t>rộng</a:t>
            </a:r>
            <a:r>
              <a:rPr lang="en-US" altLang="en-US" dirty="0"/>
              <a:t> </a:t>
            </a:r>
            <a:r>
              <a:rPr lang="en-US" altLang="en-US" dirty="0" err="1"/>
              <a:t>cột</a:t>
            </a:r>
            <a:endParaRPr lang="en-US" altLang="en-US" dirty="0"/>
          </a:p>
        </p:txBody>
      </p:sp>
      <p:sp>
        <p:nvSpPr>
          <p:cNvPr id="9" name="Slide Number Placeholder 8">
            <a:extLst>
              <a:ext uri="{FF2B5EF4-FFF2-40B4-BE49-F238E27FC236}">
                <a16:creationId xmlns:a16="http://schemas.microsoft.com/office/drawing/2014/main" id="{706FA049-DC43-4529-8C70-9436898A2D3D}"/>
              </a:ext>
            </a:extLst>
          </p:cNvPr>
          <p:cNvSpPr>
            <a:spLocks noGrp="1"/>
          </p:cNvSpPr>
          <p:nvPr>
            <p:ph type="sldNum" sz="quarter" idx="12"/>
          </p:nvPr>
        </p:nvSpPr>
        <p:spPr/>
        <p:txBody>
          <a:bodyPr/>
          <a:lstStyle/>
          <a:p>
            <a:fld id="{E7C2009A-4870-4422-8ED4-42F901F43DCA}" type="slidenum">
              <a:rPr lang="en-US" altLang="en-US"/>
              <a:pPr/>
              <a:t>12</a:t>
            </a:fld>
            <a:endParaRPr lang="en-US" altLang="en-US"/>
          </a:p>
        </p:txBody>
      </p:sp>
      <p:sp>
        <p:nvSpPr>
          <p:cNvPr id="854020" name="Text Box 4">
            <a:extLst>
              <a:ext uri="{FF2B5EF4-FFF2-40B4-BE49-F238E27FC236}">
                <a16:creationId xmlns:a16="http://schemas.microsoft.com/office/drawing/2014/main" id="{46D0E312-2B85-41E0-BA51-36FF2D79AAF2}"/>
              </a:ext>
            </a:extLst>
          </p:cNvPr>
          <p:cNvSpPr txBox="1">
            <a:spLocks noChangeArrowheads="1"/>
          </p:cNvSpPr>
          <p:nvPr/>
        </p:nvSpPr>
        <p:spPr bwMode="auto">
          <a:xfrm>
            <a:off x="4495800" y="3276600"/>
            <a:ext cx="5410200" cy="654050"/>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en-US" b="1" dirty="0"/>
              <a:t>ALTER TABLE</a:t>
            </a:r>
            <a:r>
              <a:rPr lang="en-US" altLang="en-US" dirty="0"/>
              <a:t> &lt;</a:t>
            </a:r>
            <a:r>
              <a:rPr lang="en-US" altLang="en-US" dirty="0" err="1"/>
              <a:t>Tên_bảng</a:t>
            </a:r>
            <a:r>
              <a:rPr lang="en-US" altLang="en-US" dirty="0"/>
              <a:t>&gt; </a:t>
            </a:r>
            <a:r>
              <a:rPr lang="en-US" altLang="en-US" b="1" dirty="0"/>
              <a:t>ADD COLUMN</a:t>
            </a:r>
            <a:br>
              <a:rPr lang="en-US" altLang="en-US" b="1" dirty="0"/>
            </a:br>
            <a:r>
              <a:rPr lang="en-US" altLang="en-US" b="1" dirty="0"/>
              <a:t>	</a:t>
            </a:r>
            <a:r>
              <a:rPr lang="en-US" altLang="en-US" dirty="0"/>
              <a:t>&lt;</a:t>
            </a:r>
            <a:r>
              <a:rPr lang="en-US" altLang="en-US" dirty="0" err="1"/>
              <a:t>Tên_cột</a:t>
            </a:r>
            <a:r>
              <a:rPr lang="en-US" altLang="en-US" dirty="0"/>
              <a:t>&gt; &lt;</a:t>
            </a:r>
            <a:r>
              <a:rPr lang="en-US" altLang="en-US" dirty="0" err="1"/>
              <a:t>Kiểu_dữ_liệu</a:t>
            </a:r>
            <a:r>
              <a:rPr lang="en-US" altLang="en-US" dirty="0"/>
              <a:t>&gt; [&lt;RBTV&gt;]</a:t>
            </a:r>
          </a:p>
        </p:txBody>
      </p:sp>
      <p:sp>
        <p:nvSpPr>
          <p:cNvPr id="854021" name="Text Box 5">
            <a:extLst>
              <a:ext uri="{FF2B5EF4-FFF2-40B4-BE49-F238E27FC236}">
                <a16:creationId xmlns:a16="http://schemas.microsoft.com/office/drawing/2014/main" id="{1CBDDAC8-4795-4F54-AE7B-8020FD1F6EC9}"/>
              </a:ext>
            </a:extLst>
          </p:cNvPr>
          <p:cNvSpPr txBox="1">
            <a:spLocks noChangeArrowheads="1"/>
          </p:cNvSpPr>
          <p:nvPr/>
        </p:nvSpPr>
        <p:spPr bwMode="auto">
          <a:xfrm>
            <a:off x="4114800" y="4497388"/>
            <a:ext cx="6172200" cy="379412"/>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en-US" b="1"/>
              <a:t>ALTER TABLE</a:t>
            </a:r>
            <a:r>
              <a:rPr lang="en-US" altLang="en-US"/>
              <a:t> &lt;Tên_bảng&gt; </a:t>
            </a:r>
            <a:r>
              <a:rPr lang="en-US" altLang="en-US" b="1"/>
              <a:t>DROP COLUMN </a:t>
            </a:r>
            <a:r>
              <a:rPr lang="en-US" altLang="en-US"/>
              <a:t>&lt;Tên_cột&gt; </a:t>
            </a:r>
          </a:p>
        </p:txBody>
      </p:sp>
      <p:sp>
        <p:nvSpPr>
          <p:cNvPr id="854022" name="Text Box 6">
            <a:extLst>
              <a:ext uri="{FF2B5EF4-FFF2-40B4-BE49-F238E27FC236}">
                <a16:creationId xmlns:a16="http://schemas.microsoft.com/office/drawing/2014/main" id="{A4D6E3B5-D732-4D76-AAF0-1028725A63B0}"/>
              </a:ext>
            </a:extLst>
          </p:cNvPr>
          <p:cNvSpPr txBox="1">
            <a:spLocks noChangeArrowheads="1"/>
          </p:cNvSpPr>
          <p:nvPr/>
        </p:nvSpPr>
        <p:spPr bwMode="auto">
          <a:xfrm>
            <a:off x="4572000" y="5562600"/>
            <a:ext cx="5181600" cy="654050"/>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en-US" b="1" dirty="0"/>
              <a:t>ALTER TABLE</a:t>
            </a:r>
            <a:r>
              <a:rPr lang="en-US" altLang="en-US" dirty="0"/>
              <a:t> &lt;</a:t>
            </a:r>
            <a:r>
              <a:rPr lang="en-US" altLang="en-US" dirty="0" err="1"/>
              <a:t>Tên_bảng</a:t>
            </a:r>
            <a:r>
              <a:rPr lang="en-US" altLang="en-US" dirty="0"/>
              <a:t>&gt; </a:t>
            </a:r>
            <a:r>
              <a:rPr lang="en-US" altLang="en-US" b="1" dirty="0"/>
              <a:t>ALTER COLUMN</a:t>
            </a:r>
            <a:br>
              <a:rPr lang="en-US" altLang="en-US" b="1" dirty="0"/>
            </a:br>
            <a:r>
              <a:rPr lang="en-US" altLang="en-US" b="1" dirty="0"/>
              <a:t>	</a:t>
            </a:r>
            <a:r>
              <a:rPr lang="en-US" altLang="en-US" dirty="0"/>
              <a:t>&lt;</a:t>
            </a:r>
            <a:r>
              <a:rPr lang="en-US" altLang="en-US" dirty="0" err="1"/>
              <a:t>Tên_cột</a:t>
            </a:r>
            <a:r>
              <a:rPr lang="en-US" altLang="en-US" dirty="0"/>
              <a:t>&gt; &lt;</a:t>
            </a:r>
            <a:r>
              <a:rPr lang="en-US" altLang="en-US" dirty="0" err="1"/>
              <a:t>Kiểu_dữ_liệu_mới</a:t>
            </a:r>
            <a:r>
              <a:rPr lang="en-US" altLang="en-US" dirty="0"/>
              <a:t>&gt;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82" name="Rectangle 2">
            <a:extLst>
              <a:ext uri="{FF2B5EF4-FFF2-40B4-BE49-F238E27FC236}">
                <a16:creationId xmlns:a16="http://schemas.microsoft.com/office/drawing/2014/main" id="{37706C9E-9B15-4318-BAEF-FE953B539C49}"/>
              </a:ext>
            </a:extLst>
          </p:cNvPr>
          <p:cNvSpPr>
            <a:spLocks noGrp="1" noChangeArrowheads="1"/>
          </p:cNvSpPr>
          <p:nvPr>
            <p:ph type="title"/>
          </p:nvPr>
        </p:nvSpPr>
        <p:spPr>
          <a:xfrm>
            <a:off x="1981200" y="354013"/>
            <a:ext cx="8229600" cy="620712"/>
          </a:xfrm>
        </p:spPr>
        <p:txBody>
          <a:bodyPr>
            <a:normAutofit fontScale="90000"/>
          </a:bodyPr>
          <a:lstStyle/>
          <a:p>
            <a:r>
              <a:rPr lang="en-US" altLang="en-US" sz="3500"/>
              <a:t>Lệnh sửa bảng (tt)</a:t>
            </a:r>
          </a:p>
        </p:txBody>
      </p:sp>
      <p:sp>
        <p:nvSpPr>
          <p:cNvPr id="583683" name="Rectangle 3">
            <a:extLst>
              <a:ext uri="{FF2B5EF4-FFF2-40B4-BE49-F238E27FC236}">
                <a16:creationId xmlns:a16="http://schemas.microsoft.com/office/drawing/2014/main" id="{E9F05FF5-972E-46E7-A60E-D51B5A156C92}"/>
              </a:ext>
            </a:extLst>
          </p:cNvPr>
          <p:cNvSpPr>
            <a:spLocks noGrp="1" noChangeArrowheads="1"/>
          </p:cNvSpPr>
          <p:nvPr>
            <p:ph idx="1"/>
          </p:nvPr>
        </p:nvSpPr>
        <p:spPr>
          <a:xfrm>
            <a:off x="1981200" y="1295400"/>
            <a:ext cx="8229600" cy="5105400"/>
          </a:xfrm>
        </p:spPr>
        <p:txBody>
          <a:bodyPr/>
          <a:lstStyle/>
          <a:p>
            <a:r>
              <a:rPr lang="en-US" altLang="en-US" dirty="0" err="1"/>
              <a:t>Thêm</a:t>
            </a:r>
            <a:r>
              <a:rPr lang="en-US" altLang="en-US" dirty="0"/>
              <a:t> RBTV</a:t>
            </a:r>
          </a:p>
          <a:p>
            <a:pPr lvl="2"/>
            <a:endParaRPr lang="en-US" altLang="en-US" dirty="0"/>
          </a:p>
          <a:p>
            <a:pPr lvl="2"/>
            <a:endParaRPr lang="en-US" altLang="en-US" dirty="0"/>
          </a:p>
          <a:p>
            <a:pPr lvl="2"/>
            <a:endParaRPr lang="en-US" altLang="en-US" dirty="0"/>
          </a:p>
          <a:p>
            <a:pPr lvl="2"/>
            <a:endParaRPr lang="en-US" altLang="en-US" dirty="0"/>
          </a:p>
          <a:p>
            <a:pPr lvl="2"/>
            <a:endParaRPr lang="en-US" altLang="en-US" dirty="0"/>
          </a:p>
          <a:p>
            <a:r>
              <a:rPr lang="en-US" altLang="en-US" dirty="0" err="1"/>
              <a:t>Xóa</a:t>
            </a:r>
            <a:r>
              <a:rPr lang="en-US" altLang="en-US" dirty="0"/>
              <a:t> RBTV</a:t>
            </a:r>
          </a:p>
          <a:p>
            <a:pPr lvl="2"/>
            <a:endParaRPr lang="en-US" altLang="en-US" dirty="0"/>
          </a:p>
          <a:p>
            <a:pPr lvl="2"/>
            <a:endParaRPr lang="en-US" altLang="en-US" dirty="0"/>
          </a:p>
          <a:p>
            <a:pPr>
              <a:buFont typeface="Wingdings 2" panose="05020102010507070707" pitchFamily="18" charset="2"/>
              <a:buNone/>
            </a:pPr>
            <a:endParaRPr lang="en-US" altLang="en-US" dirty="0"/>
          </a:p>
        </p:txBody>
      </p:sp>
      <p:sp>
        <p:nvSpPr>
          <p:cNvPr id="583684" name="Text Box 4">
            <a:extLst>
              <a:ext uri="{FF2B5EF4-FFF2-40B4-BE49-F238E27FC236}">
                <a16:creationId xmlns:a16="http://schemas.microsoft.com/office/drawing/2014/main" id="{C6563E21-A764-4765-A2C2-0C53BF20D8B5}"/>
              </a:ext>
            </a:extLst>
          </p:cNvPr>
          <p:cNvSpPr txBox="1">
            <a:spLocks noChangeArrowheads="1"/>
          </p:cNvSpPr>
          <p:nvPr/>
        </p:nvSpPr>
        <p:spPr bwMode="auto">
          <a:xfrm>
            <a:off x="2590800" y="1905001"/>
            <a:ext cx="5410200" cy="1200329"/>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en-US" b="1" dirty="0"/>
              <a:t>ALTER TABLE</a:t>
            </a:r>
            <a:r>
              <a:rPr lang="en-US" altLang="en-US" dirty="0"/>
              <a:t> &lt;</a:t>
            </a:r>
            <a:r>
              <a:rPr lang="en-US" altLang="en-US" dirty="0" err="1"/>
              <a:t>Tên_bảng</a:t>
            </a:r>
            <a:r>
              <a:rPr lang="en-US" altLang="en-US" dirty="0"/>
              <a:t>&gt; </a:t>
            </a:r>
            <a:r>
              <a:rPr lang="en-US" altLang="en-US" b="1" dirty="0"/>
              <a:t>ADD</a:t>
            </a:r>
            <a:br>
              <a:rPr lang="en-US" altLang="en-US" b="1" dirty="0"/>
            </a:br>
            <a:r>
              <a:rPr lang="en-US" altLang="en-US" b="1" dirty="0"/>
              <a:t>	CONSTRAINT</a:t>
            </a:r>
            <a:r>
              <a:rPr lang="en-US" altLang="en-US" dirty="0"/>
              <a:t> &lt;</a:t>
            </a:r>
            <a:r>
              <a:rPr lang="en-US" altLang="en-US" dirty="0" err="1"/>
              <a:t>Ten_RBTV</a:t>
            </a:r>
            <a:r>
              <a:rPr lang="en-US" altLang="en-US" dirty="0"/>
              <a:t>&gt; &lt;RBTV&gt;,</a:t>
            </a:r>
          </a:p>
          <a:p>
            <a:pPr algn="l"/>
            <a:r>
              <a:rPr lang="en-US" altLang="en-US" dirty="0"/>
              <a:t>	</a:t>
            </a:r>
            <a:r>
              <a:rPr lang="en-US" altLang="en-US" b="1" dirty="0"/>
              <a:t>CONSTRAINT</a:t>
            </a:r>
            <a:r>
              <a:rPr lang="en-US" altLang="en-US" dirty="0"/>
              <a:t> &lt;</a:t>
            </a:r>
            <a:r>
              <a:rPr lang="en-US" altLang="en-US" dirty="0" err="1"/>
              <a:t>Ten_RBTV</a:t>
            </a:r>
            <a:r>
              <a:rPr lang="en-US" altLang="en-US" dirty="0"/>
              <a:t>&gt; &lt;RBTV&gt;,</a:t>
            </a:r>
          </a:p>
          <a:p>
            <a:pPr algn="l"/>
            <a:r>
              <a:rPr lang="en-US" altLang="en-US" dirty="0"/>
              <a:t>	…</a:t>
            </a:r>
          </a:p>
        </p:txBody>
      </p:sp>
      <p:sp>
        <p:nvSpPr>
          <p:cNvPr id="583685" name="Text Box 5">
            <a:extLst>
              <a:ext uri="{FF2B5EF4-FFF2-40B4-BE49-F238E27FC236}">
                <a16:creationId xmlns:a16="http://schemas.microsoft.com/office/drawing/2014/main" id="{BCC133F5-3AB3-4B73-A433-85F275B271BC}"/>
              </a:ext>
            </a:extLst>
          </p:cNvPr>
          <p:cNvSpPr txBox="1">
            <a:spLocks noChangeArrowheads="1"/>
          </p:cNvSpPr>
          <p:nvPr/>
        </p:nvSpPr>
        <p:spPr bwMode="auto">
          <a:xfrm>
            <a:off x="2590800" y="4267201"/>
            <a:ext cx="5410200" cy="379413"/>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en-US" b="1"/>
              <a:t>ALTER TABLE</a:t>
            </a:r>
            <a:r>
              <a:rPr lang="en-US" altLang="en-US"/>
              <a:t> &lt;Tên_bảng&gt; </a:t>
            </a:r>
            <a:r>
              <a:rPr lang="en-US" altLang="en-US" b="1"/>
              <a:t>DROP </a:t>
            </a:r>
            <a:r>
              <a:rPr lang="en-US" altLang="en-US"/>
              <a:t>&lt;Tên_RBTV&gt;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2DAD0-E555-4348-8718-B31BD9D4E08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9022B0E-8971-4266-802F-E3C4A5C78475}"/>
              </a:ext>
            </a:extLst>
          </p:cNvPr>
          <p:cNvSpPr>
            <a:spLocks noGrp="1"/>
          </p:cNvSpPr>
          <p:nvPr>
            <p:ph idx="1"/>
          </p:nvPr>
        </p:nvSpPr>
        <p:spPr/>
        <p:txBody>
          <a:bodyPr/>
          <a:lstStyle/>
          <a:p>
            <a:r>
              <a:rPr lang="en-US" dirty="0">
                <a:solidFill>
                  <a:srgbClr val="FF0000"/>
                </a:solidFill>
              </a:rPr>
              <a:t>SET </a:t>
            </a:r>
            <a:r>
              <a:rPr lang="en-US" dirty="0" err="1">
                <a:solidFill>
                  <a:srgbClr val="FF0000"/>
                </a:solidFill>
              </a:rPr>
              <a:t>foreign_key_checks</a:t>
            </a:r>
            <a:r>
              <a:rPr lang="en-US" dirty="0">
                <a:solidFill>
                  <a:srgbClr val="FF0000"/>
                </a:solidFill>
              </a:rPr>
              <a:t> = 1</a:t>
            </a:r>
            <a:r>
              <a:rPr lang="en-US" dirty="0"/>
              <a:t>;</a:t>
            </a:r>
          </a:p>
          <a:p>
            <a:r>
              <a:rPr lang="en-US" dirty="0"/>
              <a:t> alter table </a:t>
            </a:r>
            <a:r>
              <a:rPr lang="en-US" dirty="0" err="1"/>
              <a:t>sinhvien</a:t>
            </a:r>
            <a:r>
              <a:rPr lang="en-US" dirty="0"/>
              <a:t> add constraint </a:t>
            </a:r>
            <a:r>
              <a:rPr lang="en-US" dirty="0" err="1"/>
              <a:t>sinhvien_lop</a:t>
            </a:r>
            <a:r>
              <a:rPr lang="en-US" dirty="0"/>
              <a:t> foreign key (</a:t>
            </a:r>
            <a:r>
              <a:rPr lang="en-US" dirty="0" err="1"/>
              <a:t>MaLop</a:t>
            </a:r>
            <a:r>
              <a:rPr lang="en-US" dirty="0"/>
              <a:t>) references Lop(</a:t>
            </a:r>
            <a:r>
              <a:rPr lang="en-US" dirty="0" err="1"/>
              <a:t>MaLop</a:t>
            </a:r>
            <a:r>
              <a:rPr lang="en-US" dirty="0"/>
              <a:t>)</a:t>
            </a:r>
          </a:p>
        </p:txBody>
      </p:sp>
    </p:spTree>
    <p:extLst>
      <p:ext uri="{BB962C8B-B14F-4D97-AF65-F5344CB8AC3E}">
        <p14:creationId xmlns:p14="http://schemas.microsoft.com/office/powerpoint/2010/main" val="19537612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EF980-1B61-4FE4-AF4A-1C31DB1B9E34}"/>
              </a:ext>
            </a:extLst>
          </p:cNvPr>
          <p:cNvSpPr>
            <a:spLocks noGrp="1"/>
          </p:cNvSpPr>
          <p:nvPr>
            <p:ph type="title"/>
          </p:nvPr>
        </p:nvSpPr>
        <p:spPr/>
        <p:txBody>
          <a:bodyPr/>
          <a:lstStyle/>
          <a:p>
            <a:r>
              <a:rPr lang="en-US" dirty="0"/>
              <a:t>Insert data</a:t>
            </a:r>
          </a:p>
        </p:txBody>
      </p:sp>
      <p:sp>
        <p:nvSpPr>
          <p:cNvPr id="3" name="Content Placeholder 2">
            <a:extLst>
              <a:ext uri="{FF2B5EF4-FFF2-40B4-BE49-F238E27FC236}">
                <a16:creationId xmlns:a16="http://schemas.microsoft.com/office/drawing/2014/main" id="{29450E3C-BCE5-4864-A0FA-89F717B2E0E6}"/>
              </a:ext>
            </a:extLst>
          </p:cNvPr>
          <p:cNvSpPr>
            <a:spLocks noGrp="1"/>
          </p:cNvSpPr>
          <p:nvPr>
            <p:ph idx="1"/>
          </p:nvPr>
        </p:nvSpPr>
        <p:spPr/>
        <p:txBody>
          <a:bodyPr/>
          <a:lstStyle/>
          <a:p>
            <a:r>
              <a:rPr lang="en-US" dirty="0"/>
              <a:t>use C2;</a:t>
            </a:r>
          </a:p>
          <a:p>
            <a:r>
              <a:rPr lang="en-US" dirty="0"/>
              <a:t>insert into Khoa(</a:t>
            </a:r>
            <a:r>
              <a:rPr lang="en-US" dirty="0" err="1"/>
              <a:t>MaKhoa</a:t>
            </a:r>
            <a:r>
              <a:rPr lang="en-US" dirty="0"/>
              <a:t>, </a:t>
            </a:r>
            <a:r>
              <a:rPr lang="en-US" dirty="0" err="1"/>
              <a:t>TenKHoa</a:t>
            </a:r>
            <a:r>
              <a:rPr lang="en-US" dirty="0"/>
              <a:t>) values  ('CNTT', </a:t>
            </a:r>
            <a:r>
              <a:rPr lang="en-US" dirty="0" err="1"/>
              <a:t>N'Công</a:t>
            </a:r>
            <a:r>
              <a:rPr lang="en-US" dirty="0"/>
              <a:t> </a:t>
            </a:r>
            <a:r>
              <a:rPr lang="en-US" dirty="0" err="1"/>
              <a:t>nghệ</a:t>
            </a:r>
            <a:r>
              <a:rPr lang="en-US" dirty="0"/>
              <a:t> </a:t>
            </a:r>
            <a:r>
              <a:rPr lang="en-US" dirty="0" err="1"/>
              <a:t>thông</a:t>
            </a:r>
            <a:r>
              <a:rPr lang="en-US" dirty="0"/>
              <a:t> tin'),</a:t>
            </a:r>
          </a:p>
          <a:p>
            <a:r>
              <a:rPr lang="en-US" dirty="0"/>
              <a:t>('DTVT', </a:t>
            </a:r>
            <a:r>
              <a:rPr lang="en-US" dirty="0" err="1"/>
              <a:t>N'Điện</a:t>
            </a:r>
            <a:r>
              <a:rPr lang="en-US" dirty="0"/>
              <a:t> </a:t>
            </a:r>
            <a:r>
              <a:rPr lang="en-US" dirty="0" err="1"/>
              <a:t>tử</a:t>
            </a:r>
            <a:r>
              <a:rPr lang="en-US" dirty="0"/>
              <a:t> </a:t>
            </a:r>
            <a:r>
              <a:rPr lang="en-US" dirty="0" err="1"/>
              <a:t>viễn</a:t>
            </a:r>
            <a:r>
              <a:rPr lang="en-US" dirty="0"/>
              <a:t> </a:t>
            </a:r>
            <a:r>
              <a:rPr lang="en-US" dirty="0" err="1"/>
              <a:t>thông</a:t>
            </a:r>
            <a:r>
              <a:rPr lang="en-US" dirty="0"/>
              <a:t>')</a:t>
            </a:r>
          </a:p>
        </p:txBody>
      </p:sp>
    </p:spTree>
    <p:extLst>
      <p:ext uri="{BB962C8B-B14F-4D97-AF65-F5344CB8AC3E}">
        <p14:creationId xmlns:p14="http://schemas.microsoft.com/office/powerpoint/2010/main" val="39233301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1874" name="Rectangle 2">
            <a:extLst>
              <a:ext uri="{FF2B5EF4-FFF2-40B4-BE49-F238E27FC236}">
                <a16:creationId xmlns:a16="http://schemas.microsoft.com/office/drawing/2014/main" id="{4B9FB6A2-F776-4432-AE1D-05727AD8627D}"/>
              </a:ext>
            </a:extLst>
          </p:cNvPr>
          <p:cNvSpPr>
            <a:spLocks noGrp="1" noChangeArrowheads="1"/>
          </p:cNvSpPr>
          <p:nvPr>
            <p:ph type="title"/>
          </p:nvPr>
        </p:nvSpPr>
        <p:spPr>
          <a:xfrm>
            <a:off x="609600" y="366030"/>
            <a:ext cx="8229600" cy="620712"/>
          </a:xfrm>
        </p:spPr>
        <p:txBody>
          <a:bodyPr>
            <a:normAutofit fontScale="90000"/>
          </a:bodyPr>
          <a:lstStyle/>
          <a:p>
            <a:r>
              <a:rPr lang="en-US" altLang="en-US" sz="3500" dirty="0" err="1"/>
              <a:t>Ví</a:t>
            </a:r>
            <a:r>
              <a:rPr lang="en-US" altLang="en-US" sz="3500" dirty="0"/>
              <a:t> </a:t>
            </a:r>
            <a:r>
              <a:rPr lang="en-US" altLang="en-US" sz="3500" dirty="0" err="1"/>
              <a:t>dụ</a:t>
            </a:r>
            <a:r>
              <a:rPr lang="en-US" altLang="en-US" sz="3500" dirty="0"/>
              <a:t> - </a:t>
            </a:r>
            <a:r>
              <a:rPr lang="en-US" altLang="en-US" sz="3500" dirty="0" err="1"/>
              <a:t>Thay</a:t>
            </a:r>
            <a:r>
              <a:rPr lang="en-US" altLang="en-US" sz="3500" dirty="0"/>
              <a:t> </a:t>
            </a:r>
            <a:r>
              <a:rPr lang="en-US" altLang="en-US" sz="3500" dirty="0" err="1"/>
              <a:t>đổi</a:t>
            </a:r>
            <a:r>
              <a:rPr lang="en-US" altLang="en-US" sz="3500" dirty="0"/>
              <a:t> </a:t>
            </a:r>
            <a:r>
              <a:rPr lang="en-US" altLang="en-US" sz="3500" dirty="0" err="1"/>
              <a:t>cấu</a:t>
            </a:r>
            <a:r>
              <a:rPr lang="en-US" altLang="en-US" sz="3500" dirty="0"/>
              <a:t> </a:t>
            </a:r>
            <a:r>
              <a:rPr lang="en-US" altLang="en-US" sz="3500" dirty="0" err="1"/>
              <a:t>trúc</a:t>
            </a:r>
            <a:r>
              <a:rPr lang="en-US" altLang="en-US" sz="3500" dirty="0"/>
              <a:t> </a:t>
            </a:r>
            <a:r>
              <a:rPr lang="en-US" altLang="en-US" sz="3500" dirty="0" err="1"/>
              <a:t>bảng</a:t>
            </a:r>
            <a:endParaRPr lang="en-US" altLang="en-US" sz="3500" dirty="0"/>
          </a:p>
        </p:txBody>
      </p:sp>
      <p:sp>
        <p:nvSpPr>
          <p:cNvPr id="591875" name="Text Box 3">
            <a:extLst>
              <a:ext uri="{FF2B5EF4-FFF2-40B4-BE49-F238E27FC236}">
                <a16:creationId xmlns:a16="http://schemas.microsoft.com/office/drawing/2014/main" id="{9B1E91CD-2E6F-4614-A1F4-F6B672737450}"/>
              </a:ext>
            </a:extLst>
          </p:cNvPr>
          <p:cNvSpPr txBox="1">
            <a:spLocks noChangeArrowheads="1"/>
          </p:cNvSpPr>
          <p:nvPr/>
        </p:nvSpPr>
        <p:spPr bwMode="auto">
          <a:xfrm>
            <a:off x="1600200" y="1578238"/>
            <a:ext cx="42672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en-US" dirty="0">
                <a:solidFill>
                  <a:srgbClr val="0000CC"/>
                </a:solidFill>
              </a:rPr>
              <a:t>ALTER TABLE</a:t>
            </a:r>
            <a:r>
              <a:rPr lang="en-US" altLang="en-US" dirty="0"/>
              <a:t> NHANVIEN </a:t>
            </a:r>
            <a:r>
              <a:rPr lang="en-US" altLang="en-US" dirty="0">
                <a:solidFill>
                  <a:srgbClr val="0000CC"/>
                </a:solidFill>
              </a:rPr>
              <a:t>ADD</a:t>
            </a:r>
          </a:p>
          <a:p>
            <a:pPr algn="l"/>
            <a:r>
              <a:rPr lang="en-US" altLang="en-US" dirty="0"/>
              <a:t>	NGHENGHIEP </a:t>
            </a:r>
            <a:r>
              <a:rPr lang="en-US" altLang="en-US" dirty="0">
                <a:solidFill>
                  <a:srgbClr val="0000CC"/>
                </a:solidFill>
              </a:rPr>
              <a:t>CHAR</a:t>
            </a:r>
            <a:r>
              <a:rPr lang="en-US" altLang="en-US" dirty="0"/>
              <a:t>(20)</a:t>
            </a:r>
          </a:p>
        </p:txBody>
      </p:sp>
      <p:sp>
        <p:nvSpPr>
          <p:cNvPr id="591877" name="Text Box 5">
            <a:extLst>
              <a:ext uri="{FF2B5EF4-FFF2-40B4-BE49-F238E27FC236}">
                <a16:creationId xmlns:a16="http://schemas.microsoft.com/office/drawing/2014/main" id="{7B56BB40-72D4-44D5-B90E-A3A2B785AA92}"/>
              </a:ext>
            </a:extLst>
          </p:cNvPr>
          <p:cNvSpPr txBox="1">
            <a:spLocks noChangeArrowheads="1"/>
          </p:cNvSpPr>
          <p:nvPr/>
        </p:nvSpPr>
        <p:spPr bwMode="auto">
          <a:xfrm>
            <a:off x="1494639" y="2838343"/>
            <a:ext cx="5943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en-US" dirty="0">
                <a:solidFill>
                  <a:srgbClr val="0000CC"/>
                </a:solidFill>
              </a:rPr>
              <a:t>ALTER TABLE</a:t>
            </a:r>
            <a:r>
              <a:rPr lang="en-US" altLang="en-US" dirty="0"/>
              <a:t> NHANVIEN </a:t>
            </a:r>
            <a:r>
              <a:rPr lang="en-US" altLang="en-US" dirty="0">
                <a:solidFill>
                  <a:srgbClr val="0000CC"/>
                </a:solidFill>
              </a:rPr>
              <a:t>DROP COLUMN </a:t>
            </a:r>
            <a:r>
              <a:rPr lang="en-US" altLang="en-US" dirty="0"/>
              <a:t>NGHENGHIEP</a:t>
            </a:r>
          </a:p>
        </p:txBody>
      </p:sp>
      <p:sp>
        <p:nvSpPr>
          <p:cNvPr id="591878" name="Text Box 6">
            <a:extLst>
              <a:ext uri="{FF2B5EF4-FFF2-40B4-BE49-F238E27FC236}">
                <a16:creationId xmlns:a16="http://schemas.microsoft.com/office/drawing/2014/main" id="{BE2D0B8C-BC6D-41EA-91DC-BCE06E070232}"/>
              </a:ext>
            </a:extLst>
          </p:cNvPr>
          <p:cNvSpPr txBox="1">
            <a:spLocks noChangeArrowheads="1"/>
          </p:cNvSpPr>
          <p:nvPr/>
        </p:nvSpPr>
        <p:spPr bwMode="auto">
          <a:xfrm>
            <a:off x="1600200" y="4259526"/>
            <a:ext cx="50292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en-US" dirty="0">
                <a:solidFill>
                  <a:srgbClr val="0000CC"/>
                </a:solidFill>
              </a:rPr>
              <a:t>ALTER TABLE</a:t>
            </a:r>
            <a:r>
              <a:rPr lang="en-US" altLang="en-US" dirty="0"/>
              <a:t> NHANVIEN </a:t>
            </a:r>
            <a:r>
              <a:rPr lang="en-US" altLang="en-US" dirty="0">
                <a:solidFill>
                  <a:srgbClr val="0000CC"/>
                </a:solidFill>
              </a:rPr>
              <a:t>ALTER COLUMN </a:t>
            </a:r>
          </a:p>
          <a:p>
            <a:pPr algn="l"/>
            <a:r>
              <a:rPr lang="en-US" altLang="en-US" dirty="0">
                <a:solidFill>
                  <a:srgbClr val="0000CC"/>
                </a:solidFill>
              </a:rPr>
              <a:t>	</a:t>
            </a:r>
            <a:r>
              <a:rPr lang="en-US" altLang="en-US" dirty="0"/>
              <a:t>NGHENGHIEP </a:t>
            </a:r>
            <a:r>
              <a:rPr lang="en-US" altLang="en-US" dirty="0">
                <a:solidFill>
                  <a:srgbClr val="0000CC"/>
                </a:solidFill>
              </a:rPr>
              <a:t>CHAR</a:t>
            </a:r>
            <a:r>
              <a:rPr lang="en-US" altLang="en-US" dirty="0"/>
              <a:t>(50)</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7778" name="Rectangle 2">
            <a:extLst>
              <a:ext uri="{FF2B5EF4-FFF2-40B4-BE49-F238E27FC236}">
                <a16:creationId xmlns:a16="http://schemas.microsoft.com/office/drawing/2014/main" id="{C295810E-3A9B-4E92-B313-CBD673B7633C}"/>
              </a:ext>
            </a:extLst>
          </p:cNvPr>
          <p:cNvSpPr>
            <a:spLocks noGrp="1" noChangeArrowheads="1"/>
          </p:cNvSpPr>
          <p:nvPr>
            <p:ph type="title"/>
          </p:nvPr>
        </p:nvSpPr>
        <p:spPr>
          <a:xfrm>
            <a:off x="1138805" y="363775"/>
            <a:ext cx="8229600" cy="620712"/>
          </a:xfrm>
        </p:spPr>
        <p:txBody>
          <a:bodyPr>
            <a:normAutofit fontScale="90000"/>
          </a:bodyPr>
          <a:lstStyle/>
          <a:p>
            <a:r>
              <a:rPr lang="en-US" altLang="en-US" sz="3500" dirty="0" err="1"/>
              <a:t>Lệnh</a:t>
            </a:r>
            <a:r>
              <a:rPr lang="en-US" altLang="en-US" sz="3500" dirty="0"/>
              <a:t> </a:t>
            </a:r>
            <a:r>
              <a:rPr lang="en-US" altLang="en-US" sz="3500" dirty="0" err="1"/>
              <a:t>xóa</a:t>
            </a:r>
            <a:r>
              <a:rPr lang="en-US" altLang="en-US" sz="3500" dirty="0"/>
              <a:t> </a:t>
            </a:r>
            <a:r>
              <a:rPr lang="en-US" altLang="en-US" sz="3500" dirty="0" err="1"/>
              <a:t>bảng</a:t>
            </a:r>
            <a:endParaRPr lang="en-US" altLang="en-US" sz="3500" dirty="0"/>
          </a:p>
        </p:txBody>
      </p:sp>
      <p:sp>
        <p:nvSpPr>
          <p:cNvPr id="587779" name="Rectangle 3">
            <a:extLst>
              <a:ext uri="{FF2B5EF4-FFF2-40B4-BE49-F238E27FC236}">
                <a16:creationId xmlns:a16="http://schemas.microsoft.com/office/drawing/2014/main" id="{73AFFF29-F8F4-4325-93E2-805E633FA3D7}"/>
              </a:ext>
            </a:extLst>
          </p:cNvPr>
          <p:cNvSpPr>
            <a:spLocks noGrp="1" noChangeArrowheads="1"/>
          </p:cNvSpPr>
          <p:nvPr>
            <p:ph idx="1"/>
          </p:nvPr>
        </p:nvSpPr>
        <p:spPr>
          <a:xfrm>
            <a:off x="1044402" y="1301087"/>
            <a:ext cx="8229600" cy="5105400"/>
          </a:xfrm>
        </p:spPr>
        <p:txBody>
          <a:bodyPr/>
          <a:lstStyle/>
          <a:p>
            <a:r>
              <a:rPr lang="en-US" altLang="en-US" dirty="0" err="1"/>
              <a:t>Được</a:t>
            </a:r>
            <a:r>
              <a:rPr lang="en-US" altLang="en-US" dirty="0"/>
              <a:t> </a:t>
            </a:r>
            <a:r>
              <a:rPr lang="en-US" altLang="en-US" dirty="0" err="1"/>
              <a:t>dùng</a:t>
            </a:r>
            <a:r>
              <a:rPr lang="en-US" altLang="en-US" dirty="0"/>
              <a:t> </a:t>
            </a:r>
            <a:r>
              <a:rPr lang="en-US" altLang="en-US" dirty="0" err="1"/>
              <a:t>để</a:t>
            </a:r>
            <a:r>
              <a:rPr lang="en-US" altLang="en-US" dirty="0"/>
              <a:t> </a:t>
            </a:r>
            <a:r>
              <a:rPr lang="en-US" altLang="en-US" dirty="0" err="1"/>
              <a:t>xóa</a:t>
            </a:r>
            <a:r>
              <a:rPr lang="en-US" altLang="en-US" dirty="0"/>
              <a:t> </a:t>
            </a:r>
            <a:r>
              <a:rPr lang="en-US" altLang="en-US" dirty="0" err="1"/>
              <a:t>cấu</a:t>
            </a:r>
            <a:r>
              <a:rPr lang="en-US" altLang="en-US" dirty="0"/>
              <a:t> </a:t>
            </a:r>
            <a:r>
              <a:rPr lang="en-US" altLang="en-US" dirty="0" err="1"/>
              <a:t>trúc</a:t>
            </a:r>
            <a:r>
              <a:rPr lang="en-US" altLang="en-US" dirty="0"/>
              <a:t> </a:t>
            </a:r>
            <a:r>
              <a:rPr lang="en-US" altLang="en-US" dirty="0" err="1"/>
              <a:t>bảng</a:t>
            </a:r>
            <a:endParaRPr lang="en-US" altLang="en-US" dirty="0"/>
          </a:p>
          <a:p>
            <a:pPr lvl="1"/>
            <a:r>
              <a:rPr lang="en-US" altLang="en-US" dirty="0" err="1"/>
              <a:t>Tất</a:t>
            </a:r>
            <a:r>
              <a:rPr lang="en-US" altLang="en-US" dirty="0"/>
              <a:t> </a:t>
            </a:r>
            <a:r>
              <a:rPr lang="en-US" altLang="en-US" dirty="0" err="1"/>
              <a:t>cả</a:t>
            </a:r>
            <a:r>
              <a:rPr lang="en-US" altLang="en-US" dirty="0"/>
              <a:t> </a:t>
            </a:r>
            <a:r>
              <a:rPr lang="en-US" altLang="en-US" dirty="0" err="1"/>
              <a:t>dữ</a:t>
            </a:r>
            <a:r>
              <a:rPr lang="en-US" altLang="en-US" dirty="0"/>
              <a:t> </a:t>
            </a:r>
            <a:r>
              <a:rPr lang="en-US" altLang="en-US" dirty="0" err="1"/>
              <a:t>liệu</a:t>
            </a:r>
            <a:r>
              <a:rPr lang="en-US" altLang="en-US" dirty="0"/>
              <a:t> </a:t>
            </a:r>
            <a:r>
              <a:rPr lang="en-US" altLang="en-US" dirty="0" err="1"/>
              <a:t>của</a:t>
            </a:r>
            <a:r>
              <a:rPr lang="en-US" altLang="en-US" dirty="0"/>
              <a:t> </a:t>
            </a:r>
            <a:r>
              <a:rPr lang="en-US" altLang="en-US" dirty="0" err="1"/>
              <a:t>bảng</a:t>
            </a:r>
            <a:r>
              <a:rPr lang="en-US" altLang="en-US" dirty="0"/>
              <a:t> </a:t>
            </a:r>
            <a:r>
              <a:rPr lang="en-US" altLang="en-US" dirty="0" err="1"/>
              <a:t>cũng</a:t>
            </a:r>
            <a:r>
              <a:rPr lang="en-US" altLang="en-US" dirty="0"/>
              <a:t> </a:t>
            </a:r>
            <a:r>
              <a:rPr lang="en-US" altLang="en-US" dirty="0" err="1"/>
              <a:t>bị</a:t>
            </a:r>
            <a:r>
              <a:rPr lang="en-US" altLang="en-US" dirty="0"/>
              <a:t> </a:t>
            </a:r>
            <a:r>
              <a:rPr lang="en-US" altLang="en-US" dirty="0" err="1"/>
              <a:t>xóa</a:t>
            </a:r>
            <a:endParaRPr lang="en-US" altLang="en-US" dirty="0"/>
          </a:p>
          <a:p>
            <a:pPr lvl="1"/>
            <a:endParaRPr lang="en-US" altLang="en-US" dirty="0"/>
          </a:p>
          <a:p>
            <a:r>
              <a:rPr lang="en-US" altLang="en-US" dirty="0" err="1"/>
              <a:t>Cú</a:t>
            </a:r>
            <a:r>
              <a:rPr lang="en-US" altLang="en-US" dirty="0"/>
              <a:t> </a:t>
            </a:r>
            <a:r>
              <a:rPr lang="en-US" altLang="en-US" dirty="0" err="1"/>
              <a:t>pháp</a:t>
            </a:r>
            <a:endParaRPr lang="en-US" altLang="en-US" dirty="0"/>
          </a:p>
          <a:p>
            <a:endParaRPr lang="en-US" altLang="en-US" dirty="0"/>
          </a:p>
          <a:p>
            <a:endParaRPr lang="en-US" altLang="en-US" dirty="0"/>
          </a:p>
          <a:p>
            <a:r>
              <a:rPr lang="en-US" altLang="en-US" dirty="0" err="1"/>
              <a:t>Ví</a:t>
            </a:r>
            <a:r>
              <a:rPr lang="en-US" altLang="en-US" dirty="0"/>
              <a:t> </a:t>
            </a:r>
            <a:r>
              <a:rPr lang="en-US" altLang="en-US" dirty="0" err="1"/>
              <a:t>dụ</a:t>
            </a:r>
            <a:endParaRPr lang="en-US" altLang="en-US" dirty="0"/>
          </a:p>
          <a:p>
            <a:pPr>
              <a:buFont typeface="Wingdings 2" panose="05020102010507070707" pitchFamily="18" charset="2"/>
              <a:buNone/>
            </a:pPr>
            <a:endParaRPr lang="en-US" altLang="en-US" dirty="0"/>
          </a:p>
        </p:txBody>
      </p:sp>
      <p:sp>
        <p:nvSpPr>
          <p:cNvPr id="587781" name="Text Box 5">
            <a:extLst>
              <a:ext uri="{FF2B5EF4-FFF2-40B4-BE49-F238E27FC236}">
                <a16:creationId xmlns:a16="http://schemas.microsoft.com/office/drawing/2014/main" id="{03F5A662-FEA8-4C5A-A2F9-F2D5FCEB0B82}"/>
              </a:ext>
            </a:extLst>
          </p:cNvPr>
          <p:cNvSpPr txBox="1">
            <a:spLocks noChangeArrowheads="1"/>
          </p:cNvSpPr>
          <p:nvPr/>
        </p:nvSpPr>
        <p:spPr bwMode="auto">
          <a:xfrm>
            <a:off x="2129405" y="2938924"/>
            <a:ext cx="3124200" cy="379413"/>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en-US" b="1"/>
              <a:t>DROP TABLE</a:t>
            </a:r>
            <a:r>
              <a:rPr lang="en-US" altLang="en-US"/>
              <a:t> &lt;Tên_bảng&gt;</a:t>
            </a:r>
          </a:p>
        </p:txBody>
      </p:sp>
      <p:sp>
        <p:nvSpPr>
          <p:cNvPr id="587782" name="Text Box 6">
            <a:extLst>
              <a:ext uri="{FF2B5EF4-FFF2-40B4-BE49-F238E27FC236}">
                <a16:creationId xmlns:a16="http://schemas.microsoft.com/office/drawing/2014/main" id="{2C6110CC-4DA6-43E5-A217-63EF7A894B75}"/>
              </a:ext>
            </a:extLst>
          </p:cNvPr>
          <p:cNvSpPr txBox="1">
            <a:spLocks noChangeArrowheads="1"/>
          </p:cNvSpPr>
          <p:nvPr/>
        </p:nvSpPr>
        <p:spPr bwMode="auto">
          <a:xfrm>
            <a:off x="2590800" y="4600576"/>
            <a:ext cx="3124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en-US">
                <a:solidFill>
                  <a:srgbClr val="0000CC"/>
                </a:solidFill>
              </a:rPr>
              <a:t>DROP TABLE</a:t>
            </a:r>
            <a:r>
              <a:rPr lang="en-US" altLang="en-US"/>
              <a:t> NHANVIEN</a:t>
            </a:r>
          </a:p>
        </p:txBody>
      </p:sp>
      <p:sp>
        <p:nvSpPr>
          <p:cNvPr id="587783" name="Text Box 7">
            <a:extLst>
              <a:ext uri="{FF2B5EF4-FFF2-40B4-BE49-F238E27FC236}">
                <a16:creationId xmlns:a16="http://schemas.microsoft.com/office/drawing/2014/main" id="{75F4FC0B-48E6-400B-87BA-AC4F8E6F35A5}"/>
              </a:ext>
            </a:extLst>
          </p:cNvPr>
          <p:cNvSpPr txBox="1">
            <a:spLocks noChangeArrowheads="1"/>
          </p:cNvSpPr>
          <p:nvPr/>
        </p:nvSpPr>
        <p:spPr bwMode="auto">
          <a:xfrm>
            <a:off x="2590800" y="5119688"/>
            <a:ext cx="3124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en-US">
                <a:solidFill>
                  <a:srgbClr val="0000CC"/>
                </a:solidFill>
              </a:rPr>
              <a:t>DROP TABLE</a:t>
            </a:r>
            <a:r>
              <a:rPr lang="en-US" altLang="en-US"/>
              <a:t> PHONGBAN</a:t>
            </a:r>
          </a:p>
        </p:txBody>
      </p:sp>
      <p:sp>
        <p:nvSpPr>
          <p:cNvPr id="587785" name="Text Box 9">
            <a:extLst>
              <a:ext uri="{FF2B5EF4-FFF2-40B4-BE49-F238E27FC236}">
                <a16:creationId xmlns:a16="http://schemas.microsoft.com/office/drawing/2014/main" id="{FC90F6F0-6466-4E0E-82FA-4F378CA4226E}"/>
              </a:ext>
            </a:extLst>
          </p:cNvPr>
          <p:cNvSpPr txBox="1">
            <a:spLocks noChangeArrowheads="1"/>
          </p:cNvSpPr>
          <p:nvPr/>
        </p:nvSpPr>
        <p:spPr bwMode="auto">
          <a:xfrm>
            <a:off x="2590800" y="5653088"/>
            <a:ext cx="3124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en-US">
                <a:solidFill>
                  <a:srgbClr val="0000CC"/>
                </a:solidFill>
              </a:rPr>
              <a:t>DROP TABLE</a:t>
            </a:r>
            <a:r>
              <a:rPr lang="en-US" altLang="en-US"/>
              <a:t> PHANCONG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9826" name="Rectangle 2">
            <a:extLst>
              <a:ext uri="{FF2B5EF4-FFF2-40B4-BE49-F238E27FC236}">
                <a16:creationId xmlns:a16="http://schemas.microsoft.com/office/drawing/2014/main" id="{5F937F10-CC47-40B3-9230-3CD3059D224C}"/>
              </a:ext>
            </a:extLst>
          </p:cNvPr>
          <p:cNvSpPr>
            <a:spLocks noGrp="1" noChangeArrowheads="1"/>
          </p:cNvSpPr>
          <p:nvPr>
            <p:ph type="title"/>
          </p:nvPr>
        </p:nvSpPr>
        <p:spPr>
          <a:xfrm>
            <a:off x="1981200" y="354013"/>
            <a:ext cx="8229600" cy="620712"/>
          </a:xfrm>
        </p:spPr>
        <p:txBody>
          <a:bodyPr>
            <a:normAutofit fontScale="90000"/>
          </a:bodyPr>
          <a:lstStyle/>
          <a:p>
            <a:r>
              <a:rPr lang="en-US" altLang="en-US" sz="3500"/>
              <a:t>Nội dung chi tiết</a:t>
            </a:r>
          </a:p>
        </p:txBody>
      </p:sp>
      <p:sp>
        <p:nvSpPr>
          <p:cNvPr id="589827" name="Rectangle 3">
            <a:extLst>
              <a:ext uri="{FF2B5EF4-FFF2-40B4-BE49-F238E27FC236}">
                <a16:creationId xmlns:a16="http://schemas.microsoft.com/office/drawing/2014/main" id="{DA1CB144-0A7D-4029-9B2F-1EB812B7FE12}"/>
              </a:ext>
            </a:extLst>
          </p:cNvPr>
          <p:cNvSpPr>
            <a:spLocks noGrp="1" noChangeArrowheads="1"/>
          </p:cNvSpPr>
          <p:nvPr>
            <p:ph idx="1"/>
          </p:nvPr>
        </p:nvSpPr>
        <p:spPr>
          <a:xfrm>
            <a:off x="1981200" y="1295400"/>
            <a:ext cx="8229600" cy="5029200"/>
          </a:xfrm>
        </p:spPr>
        <p:txBody>
          <a:bodyPr/>
          <a:lstStyle/>
          <a:p>
            <a:r>
              <a:rPr lang="en-US" altLang="en-US">
                <a:solidFill>
                  <a:srgbClr val="777777"/>
                </a:solidFill>
              </a:rPr>
              <a:t>Giới thiệu</a:t>
            </a:r>
          </a:p>
          <a:p>
            <a:r>
              <a:rPr lang="en-US" altLang="en-US">
                <a:solidFill>
                  <a:srgbClr val="777777"/>
                </a:solidFill>
              </a:rPr>
              <a:t>Định nghĩa dữ liệu</a:t>
            </a:r>
          </a:p>
          <a:p>
            <a:r>
              <a:rPr lang="en-US" altLang="en-US" b="1"/>
              <a:t>Truy vấn dữ liệu</a:t>
            </a:r>
          </a:p>
          <a:p>
            <a:pPr lvl="1"/>
            <a:r>
              <a:rPr lang="en-US" altLang="en-US"/>
              <a:t>Truy vấn cơ bản</a:t>
            </a:r>
          </a:p>
          <a:p>
            <a:pPr lvl="1"/>
            <a:r>
              <a:rPr lang="en-US" altLang="en-US"/>
              <a:t>Tập hợp, so sánh tập hợp và truy vấn lồng</a:t>
            </a:r>
          </a:p>
          <a:p>
            <a:pPr lvl="1"/>
            <a:r>
              <a:rPr lang="en-US" altLang="en-US"/>
              <a:t>Hàm kết hợp và gom nhóm</a:t>
            </a:r>
          </a:p>
          <a:p>
            <a:pPr lvl="1"/>
            <a:r>
              <a:rPr lang="en-US" altLang="en-US"/>
              <a:t>Một số kiểu truy vấn khác</a:t>
            </a:r>
          </a:p>
          <a:p>
            <a:r>
              <a:rPr lang="en-US" altLang="en-US">
                <a:solidFill>
                  <a:srgbClr val="777777"/>
                </a:solidFill>
              </a:rPr>
              <a:t>Cập nhật dữ liệu </a:t>
            </a:r>
          </a:p>
          <a:p>
            <a:r>
              <a:rPr lang="en-US" altLang="en-US">
                <a:solidFill>
                  <a:srgbClr val="777777"/>
                </a:solidFill>
              </a:rPr>
              <a:t>Khung nhìn (view)</a:t>
            </a:r>
          </a:p>
          <a:p>
            <a:r>
              <a:rPr lang="en-US" altLang="en-US">
                <a:solidFill>
                  <a:srgbClr val="777777"/>
                </a:solidFill>
              </a:rPr>
              <a:t>Chỉ mục (index)</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8018" name="Rectangle 2">
            <a:extLst>
              <a:ext uri="{FF2B5EF4-FFF2-40B4-BE49-F238E27FC236}">
                <a16:creationId xmlns:a16="http://schemas.microsoft.com/office/drawing/2014/main" id="{91C279AD-C182-4B3E-82E2-79B8B5FF009E}"/>
              </a:ext>
            </a:extLst>
          </p:cNvPr>
          <p:cNvSpPr>
            <a:spLocks noGrp="1" noChangeArrowheads="1"/>
          </p:cNvSpPr>
          <p:nvPr>
            <p:ph type="title"/>
          </p:nvPr>
        </p:nvSpPr>
        <p:spPr>
          <a:xfrm>
            <a:off x="1981200" y="354013"/>
            <a:ext cx="8229600" cy="620712"/>
          </a:xfrm>
        </p:spPr>
        <p:txBody>
          <a:bodyPr>
            <a:normAutofit fontScale="90000"/>
          </a:bodyPr>
          <a:lstStyle/>
          <a:p>
            <a:r>
              <a:rPr lang="en-US" altLang="en-US" sz="3500"/>
              <a:t>Truy vấn dữ liệu</a:t>
            </a:r>
          </a:p>
        </p:txBody>
      </p:sp>
      <p:sp>
        <p:nvSpPr>
          <p:cNvPr id="598019" name="Rectangle 3">
            <a:extLst>
              <a:ext uri="{FF2B5EF4-FFF2-40B4-BE49-F238E27FC236}">
                <a16:creationId xmlns:a16="http://schemas.microsoft.com/office/drawing/2014/main" id="{4720F902-462E-434C-AC59-3A4A377D9187}"/>
              </a:ext>
            </a:extLst>
          </p:cNvPr>
          <p:cNvSpPr>
            <a:spLocks noGrp="1" noChangeArrowheads="1"/>
          </p:cNvSpPr>
          <p:nvPr>
            <p:ph idx="1"/>
          </p:nvPr>
        </p:nvSpPr>
        <p:spPr>
          <a:xfrm>
            <a:off x="1981200" y="1295401"/>
            <a:ext cx="8229600" cy="4835525"/>
          </a:xfrm>
        </p:spPr>
        <p:txBody>
          <a:bodyPr/>
          <a:lstStyle/>
          <a:p>
            <a:r>
              <a:rPr lang="en-US" altLang="en-US" dirty="0" err="1"/>
              <a:t>Là</a:t>
            </a:r>
            <a:r>
              <a:rPr lang="en-US" altLang="en-US" dirty="0"/>
              <a:t> </a:t>
            </a:r>
            <a:r>
              <a:rPr lang="en-US" altLang="en-US" dirty="0" err="1"/>
              <a:t>ngôn</a:t>
            </a:r>
            <a:r>
              <a:rPr lang="en-US" altLang="en-US" dirty="0"/>
              <a:t> </a:t>
            </a:r>
            <a:r>
              <a:rPr lang="en-US" altLang="en-US" dirty="0" err="1"/>
              <a:t>ngữ</a:t>
            </a:r>
            <a:r>
              <a:rPr lang="en-US" altLang="en-US" dirty="0"/>
              <a:t> </a:t>
            </a:r>
            <a:r>
              <a:rPr lang="en-US" altLang="en-US" dirty="0" err="1"/>
              <a:t>rút</a:t>
            </a:r>
            <a:r>
              <a:rPr lang="en-US" altLang="en-US" dirty="0"/>
              <a:t> </a:t>
            </a:r>
            <a:r>
              <a:rPr lang="en-US" altLang="en-US" dirty="0" err="1"/>
              <a:t>trích</a:t>
            </a:r>
            <a:r>
              <a:rPr lang="en-US" altLang="en-US" dirty="0"/>
              <a:t> </a:t>
            </a:r>
            <a:r>
              <a:rPr lang="en-US" altLang="en-US" dirty="0" err="1"/>
              <a:t>dữ</a:t>
            </a:r>
            <a:r>
              <a:rPr lang="en-US" altLang="en-US" dirty="0"/>
              <a:t> </a:t>
            </a:r>
            <a:r>
              <a:rPr lang="en-US" altLang="en-US" dirty="0" err="1"/>
              <a:t>liệu</a:t>
            </a:r>
            <a:r>
              <a:rPr lang="en-US" altLang="en-US" dirty="0"/>
              <a:t> </a:t>
            </a:r>
            <a:r>
              <a:rPr lang="en-US" altLang="en-US" dirty="0" err="1"/>
              <a:t>thỏa</a:t>
            </a:r>
            <a:r>
              <a:rPr lang="en-US" altLang="en-US" dirty="0"/>
              <a:t> </a:t>
            </a:r>
            <a:r>
              <a:rPr lang="en-US" altLang="en-US" dirty="0" err="1"/>
              <a:t>một</a:t>
            </a:r>
            <a:r>
              <a:rPr lang="en-US" altLang="en-US" dirty="0"/>
              <a:t> </a:t>
            </a:r>
            <a:r>
              <a:rPr lang="en-US" altLang="en-US" dirty="0" err="1"/>
              <a:t>số</a:t>
            </a:r>
            <a:r>
              <a:rPr lang="en-US" altLang="en-US" dirty="0"/>
              <a:t> </a:t>
            </a:r>
            <a:r>
              <a:rPr lang="en-US" altLang="en-US" dirty="0" err="1"/>
              <a:t>điều</a:t>
            </a:r>
            <a:r>
              <a:rPr lang="en-US" altLang="en-US" dirty="0"/>
              <a:t> </a:t>
            </a:r>
            <a:r>
              <a:rPr lang="en-US" altLang="en-US" dirty="0" err="1"/>
              <a:t>kiện</a:t>
            </a:r>
            <a:r>
              <a:rPr lang="en-US" altLang="en-US" dirty="0"/>
              <a:t> </a:t>
            </a:r>
            <a:r>
              <a:rPr lang="en-US" altLang="en-US" dirty="0" err="1"/>
              <a:t>nào</a:t>
            </a:r>
            <a:r>
              <a:rPr lang="en-US" altLang="en-US" dirty="0"/>
              <a:t> </a:t>
            </a:r>
            <a:r>
              <a:rPr lang="en-US" altLang="en-US" dirty="0" err="1"/>
              <a:t>đó</a:t>
            </a:r>
            <a:endParaRPr lang="en-US" altLang="en-US" dirty="0"/>
          </a:p>
          <a:p>
            <a:r>
              <a:rPr lang="en-US" altLang="en-US" dirty="0" err="1"/>
              <a:t>Dựa</a:t>
            </a:r>
            <a:r>
              <a:rPr lang="en-US" altLang="en-US" dirty="0"/>
              <a:t> </a:t>
            </a:r>
            <a:r>
              <a:rPr lang="en-US" altLang="en-US" dirty="0" err="1"/>
              <a:t>trên</a:t>
            </a:r>
            <a:endParaRPr lang="en-US" altLang="en-US" dirty="0"/>
          </a:p>
          <a:p>
            <a:pPr lvl="1"/>
            <a:endParaRPr lang="en-US" altLang="en-US" dirty="0"/>
          </a:p>
          <a:p>
            <a:pPr lvl="1"/>
            <a:endParaRPr lang="en-US" altLang="en-US" dirty="0"/>
          </a:p>
          <a:p>
            <a:pPr lvl="1"/>
            <a:r>
              <a:rPr lang="en-US" altLang="en-US" dirty="0"/>
              <a:t>Cho </a:t>
            </a:r>
            <a:r>
              <a:rPr lang="en-US" altLang="en-US" dirty="0" err="1"/>
              <a:t>phép</a:t>
            </a:r>
            <a:r>
              <a:rPr lang="en-US" altLang="en-US" dirty="0"/>
              <a:t> 1 </a:t>
            </a:r>
            <a:r>
              <a:rPr lang="en-US" altLang="en-US" dirty="0" err="1"/>
              <a:t>bảng</a:t>
            </a:r>
            <a:r>
              <a:rPr lang="en-US" altLang="en-US" dirty="0"/>
              <a:t> </a:t>
            </a:r>
            <a:r>
              <a:rPr lang="en-US" altLang="en-US" dirty="0" err="1"/>
              <a:t>có</a:t>
            </a:r>
            <a:r>
              <a:rPr lang="en-US" altLang="en-US" dirty="0"/>
              <a:t> </a:t>
            </a:r>
            <a:r>
              <a:rPr lang="en-US" altLang="en-US" u="sng" dirty="0" err="1"/>
              <a:t>nhiều</a:t>
            </a:r>
            <a:r>
              <a:rPr lang="en-US" altLang="en-US" u="sng" dirty="0"/>
              <a:t> </a:t>
            </a:r>
            <a:r>
              <a:rPr lang="en-US" altLang="en-US" u="sng" dirty="0" err="1"/>
              <a:t>dòng</a:t>
            </a:r>
            <a:r>
              <a:rPr lang="en-US" altLang="en-US" u="sng" dirty="0"/>
              <a:t> </a:t>
            </a:r>
            <a:r>
              <a:rPr lang="en-US" altLang="en-US" u="sng" dirty="0" err="1"/>
              <a:t>trùng</a:t>
            </a:r>
            <a:r>
              <a:rPr lang="en-US" altLang="en-US" u="sng" dirty="0"/>
              <a:t> </a:t>
            </a:r>
            <a:r>
              <a:rPr lang="en-US" altLang="en-US" u="sng" dirty="0" err="1"/>
              <a:t>nhau</a:t>
            </a:r>
            <a:endParaRPr lang="en-US" altLang="en-US" u="sng" dirty="0"/>
          </a:p>
        </p:txBody>
      </p:sp>
      <p:grpSp>
        <p:nvGrpSpPr>
          <p:cNvPr id="598023" name="Group 7">
            <a:extLst>
              <a:ext uri="{FF2B5EF4-FFF2-40B4-BE49-F238E27FC236}">
                <a16:creationId xmlns:a16="http://schemas.microsoft.com/office/drawing/2014/main" id="{DE45D941-CF12-4950-967E-9AF582771C20}"/>
              </a:ext>
            </a:extLst>
          </p:cNvPr>
          <p:cNvGrpSpPr>
            <a:grpSpLocks/>
          </p:cNvGrpSpPr>
          <p:nvPr/>
        </p:nvGrpSpPr>
        <p:grpSpPr bwMode="auto">
          <a:xfrm>
            <a:off x="3119635" y="2259337"/>
            <a:ext cx="4648200" cy="379412"/>
            <a:chOff x="1248" y="1824"/>
            <a:chExt cx="2928" cy="239"/>
          </a:xfrm>
        </p:grpSpPr>
        <p:sp>
          <p:nvSpPr>
            <p:cNvPr id="598020" name="Text Box 4">
              <a:extLst>
                <a:ext uri="{FF2B5EF4-FFF2-40B4-BE49-F238E27FC236}">
                  <a16:creationId xmlns:a16="http://schemas.microsoft.com/office/drawing/2014/main" id="{DA42B7A8-E07F-4F4C-A3DA-0089AD17B943}"/>
                </a:ext>
              </a:extLst>
            </p:cNvPr>
            <p:cNvSpPr txBox="1">
              <a:spLocks noChangeArrowheads="1"/>
            </p:cNvSpPr>
            <p:nvPr/>
          </p:nvSpPr>
          <p:spPr bwMode="auto">
            <a:xfrm>
              <a:off x="1248" y="1824"/>
              <a:ext cx="1248" cy="239"/>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dirty="0" err="1"/>
                <a:t>Phép</a:t>
              </a:r>
              <a:r>
                <a:rPr lang="en-US" altLang="en-US" dirty="0"/>
                <a:t> </a:t>
              </a:r>
              <a:r>
                <a:rPr lang="en-US" altLang="en-US" dirty="0" err="1"/>
                <a:t>toán</a:t>
              </a:r>
              <a:r>
                <a:rPr lang="en-US" altLang="en-US" dirty="0"/>
                <a:t> ĐSQH</a:t>
              </a:r>
            </a:p>
          </p:txBody>
        </p:sp>
        <p:sp>
          <p:nvSpPr>
            <p:cNvPr id="598021" name="Text Box 5">
              <a:extLst>
                <a:ext uri="{FF2B5EF4-FFF2-40B4-BE49-F238E27FC236}">
                  <a16:creationId xmlns:a16="http://schemas.microsoft.com/office/drawing/2014/main" id="{AF21E090-3B25-44DF-A811-64E4B21A1EAF}"/>
                </a:ext>
              </a:extLst>
            </p:cNvPr>
            <p:cNvSpPr txBox="1">
              <a:spLocks noChangeArrowheads="1"/>
            </p:cNvSpPr>
            <p:nvPr/>
          </p:nvSpPr>
          <p:spPr bwMode="auto">
            <a:xfrm>
              <a:off x="3024" y="1824"/>
              <a:ext cx="1152" cy="239"/>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t>Một số bổ sung</a:t>
              </a:r>
            </a:p>
          </p:txBody>
        </p:sp>
        <p:sp>
          <p:nvSpPr>
            <p:cNvPr id="598022" name="Text Box 6">
              <a:extLst>
                <a:ext uri="{FF2B5EF4-FFF2-40B4-BE49-F238E27FC236}">
                  <a16:creationId xmlns:a16="http://schemas.microsoft.com/office/drawing/2014/main" id="{99B9BB11-15F1-4BA9-8393-9D140A373A2A}"/>
                </a:ext>
              </a:extLst>
            </p:cNvPr>
            <p:cNvSpPr txBox="1">
              <a:spLocks noChangeArrowheads="1"/>
            </p:cNvSpPr>
            <p:nvPr/>
          </p:nvSpPr>
          <p:spPr bwMode="auto">
            <a:xfrm>
              <a:off x="2544" y="1824"/>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b="1">
                  <a:sym typeface="Symbol" panose="05050102010706020507" pitchFamily="18" charset="2"/>
                </a:rPr>
                <a:t></a:t>
              </a: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2114" name="Rectangle 2">
            <a:extLst>
              <a:ext uri="{FF2B5EF4-FFF2-40B4-BE49-F238E27FC236}">
                <a16:creationId xmlns:a16="http://schemas.microsoft.com/office/drawing/2014/main" id="{6EA268FD-BD44-4867-9210-B66A9C619C08}"/>
              </a:ext>
            </a:extLst>
          </p:cNvPr>
          <p:cNvSpPr>
            <a:spLocks noGrp="1" noChangeArrowheads="1"/>
          </p:cNvSpPr>
          <p:nvPr>
            <p:ph type="title"/>
          </p:nvPr>
        </p:nvSpPr>
        <p:spPr>
          <a:xfrm>
            <a:off x="1981200" y="354013"/>
            <a:ext cx="8229600" cy="620712"/>
          </a:xfrm>
        </p:spPr>
        <p:txBody>
          <a:bodyPr>
            <a:normAutofit fontScale="90000"/>
          </a:bodyPr>
          <a:lstStyle/>
          <a:p>
            <a:r>
              <a:rPr lang="en-US" altLang="en-US" sz="3500"/>
              <a:t>Truy vấn cơ bản</a:t>
            </a:r>
          </a:p>
        </p:txBody>
      </p:sp>
      <p:sp>
        <p:nvSpPr>
          <p:cNvPr id="602115" name="Rectangle 3">
            <a:extLst>
              <a:ext uri="{FF2B5EF4-FFF2-40B4-BE49-F238E27FC236}">
                <a16:creationId xmlns:a16="http://schemas.microsoft.com/office/drawing/2014/main" id="{32DB77B0-3A9E-4003-98B5-564D7F7032D0}"/>
              </a:ext>
            </a:extLst>
          </p:cNvPr>
          <p:cNvSpPr>
            <a:spLocks noGrp="1" noChangeArrowheads="1"/>
          </p:cNvSpPr>
          <p:nvPr>
            <p:ph idx="1"/>
          </p:nvPr>
        </p:nvSpPr>
        <p:spPr>
          <a:xfrm>
            <a:off x="1981200" y="1219200"/>
            <a:ext cx="8229600" cy="5334000"/>
          </a:xfrm>
        </p:spPr>
        <p:txBody>
          <a:bodyPr/>
          <a:lstStyle/>
          <a:p>
            <a:r>
              <a:rPr lang="en-US" altLang="en-US" dirty="0" err="1"/>
              <a:t>Gồm</a:t>
            </a:r>
            <a:r>
              <a:rPr lang="en-US" altLang="en-US" dirty="0"/>
              <a:t> 3 </a:t>
            </a:r>
            <a:r>
              <a:rPr lang="en-US" altLang="en-US" dirty="0" err="1"/>
              <a:t>mệnh</a:t>
            </a:r>
            <a:r>
              <a:rPr lang="en-US" altLang="en-US" dirty="0"/>
              <a:t> </a:t>
            </a:r>
            <a:r>
              <a:rPr lang="en-US" altLang="en-US" dirty="0" err="1"/>
              <a:t>đề</a:t>
            </a:r>
            <a:endParaRPr lang="en-US" altLang="en-US" dirty="0"/>
          </a:p>
          <a:p>
            <a:pPr lvl="1"/>
            <a:endParaRPr lang="en-US" altLang="en-US" dirty="0"/>
          </a:p>
          <a:p>
            <a:pPr lvl="1"/>
            <a:endParaRPr lang="en-US" altLang="en-US" dirty="0"/>
          </a:p>
          <a:p>
            <a:pPr lvl="1"/>
            <a:endParaRPr lang="en-US" altLang="en-US" dirty="0"/>
          </a:p>
          <a:p>
            <a:pPr lvl="1"/>
            <a:endParaRPr lang="en-US" altLang="en-US" dirty="0"/>
          </a:p>
          <a:p>
            <a:pPr lvl="1"/>
            <a:r>
              <a:rPr lang="en-US" altLang="en-US" dirty="0"/>
              <a:t>&lt;</a:t>
            </a:r>
            <a:r>
              <a:rPr lang="en-US" altLang="en-US" dirty="0" err="1"/>
              <a:t>danh</a:t>
            </a:r>
            <a:r>
              <a:rPr lang="en-US" altLang="en-US" dirty="0"/>
              <a:t> </a:t>
            </a:r>
            <a:r>
              <a:rPr lang="en-US" altLang="en-US" dirty="0" err="1"/>
              <a:t>sách</a:t>
            </a:r>
            <a:r>
              <a:rPr lang="en-US" altLang="en-US" dirty="0"/>
              <a:t> </a:t>
            </a:r>
            <a:r>
              <a:rPr lang="en-US" altLang="en-US" dirty="0" err="1"/>
              <a:t>các</a:t>
            </a:r>
            <a:r>
              <a:rPr lang="en-US" altLang="en-US" dirty="0"/>
              <a:t> </a:t>
            </a:r>
            <a:r>
              <a:rPr lang="en-US" altLang="en-US" dirty="0" err="1"/>
              <a:t>cột</a:t>
            </a:r>
            <a:r>
              <a:rPr lang="en-US" altLang="en-US" dirty="0"/>
              <a:t>&gt;</a:t>
            </a:r>
          </a:p>
          <a:p>
            <a:pPr lvl="2"/>
            <a:r>
              <a:rPr lang="en-US" altLang="en-US" dirty="0" err="1"/>
              <a:t>Tên</a:t>
            </a:r>
            <a:r>
              <a:rPr lang="en-US" altLang="en-US" dirty="0"/>
              <a:t> </a:t>
            </a:r>
            <a:r>
              <a:rPr lang="en-US" altLang="en-US" dirty="0" err="1"/>
              <a:t>các</a:t>
            </a:r>
            <a:r>
              <a:rPr lang="en-US" altLang="en-US" dirty="0"/>
              <a:t> </a:t>
            </a:r>
            <a:r>
              <a:rPr lang="en-US" altLang="en-US" dirty="0" err="1"/>
              <a:t>cột</a:t>
            </a:r>
            <a:r>
              <a:rPr lang="en-US" altLang="en-US" dirty="0"/>
              <a:t> </a:t>
            </a:r>
            <a:r>
              <a:rPr lang="en-US" altLang="en-US" dirty="0" err="1"/>
              <a:t>cần</a:t>
            </a:r>
            <a:r>
              <a:rPr lang="en-US" altLang="en-US" dirty="0"/>
              <a:t> </a:t>
            </a:r>
            <a:r>
              <a:rPr lang="en-US" altLang="en-US" dirty="0" err="1"/>
              <a:t>được</a:t>
            </a:r>
            <a:r>
              <a:rPr lang="en-US" altLang="en-US" dirty="0"/>
              <a:t> </a:t>
            </a:r>
            <a:r>
              <a:rPr lang="en-US" altLang="en-US" dirty="0" err="1"/>
              <a:t>hiển</a:t>
            </a:r>
            <a:r>
              <a:rPr lang="en-US" altLang="en-US" dirty="0"/>
              <a:t> </a:t>
            </a:r>
            <a:r>
              <a:rPr lang="en-US" altLang="en-US" dirty="0" err="1"/>
              <a:t>thị</a:t>
            </a:r>
            <a:r>
              <a:rPr lang="en-US" altLang="en-US" dirty="0"/>
              <a:t> </a:t>
            </a:r>
            <a:r>
              <a:rPr lang="en-US" altLang="en-US" dirty="0" err="1"/>
              <a:t>trong</a:t>
            </a:r>
            <a:r>
              <a:rPr lang="en-US" altLang="en-US" dirty="0"/>
              <a:t> </a:t>
            </a:r>
            <a:r>
              <a:rPr lang="en-US" altLang="en-US" dirty="0" err="1"/>
              <a:t>kết</a:t>
            </a:r>
            <a:r>
              <a:rPr lang="en-US" altLang="en-US" dirty="0"/>
              <a:t> </a:t>
            </a:r>
            <a:r>
              <a:rPr lang="en-US" altLang="en-US" dirty="0" err="1"/>
              <a:t>quả</a:t>
            </a:r>
            <a:r>
              <a:rPr lang="en-US" altLang="en-US" dirty="0"/>
              <a:t> </a:t>
            </a:r>
            <a:r>
              <a:rPr lang="en-US" altLang="en-US" dirty="0" err="1"/>
              <a:t>truy</a:t>
            </a:r>
            <a:r>
              <a:rPr lang="en-US" altLang="en-US" dirty="0"/>
              <a:t> </a:t>
            </a:r>
            <a:r>
              <a:rPr lang="en-US" altLang="en-US" dirty="0" err="1"/>
              <a:t>vấn</a:t>
            </a:r>
            <a:endParaRPr lang="en-US" altLang="en-US" dirty="0"/>
          </a:p>
          <a:p>
            <a:pPr lvl="1"/>
            <a:r>
              <a:rPr lang="en-US" altLang="en-US" dirty="0"/>
              <a:t>&lt;</a:t>
            </a:r>
            <a:r>
              <a:rPr lang="en-US" altLang="en-US" dirty="0" err="1"/>
              <a:t>danh</a:t>
            </a:r>
            <a:r>
              <a:rPr lang="en-US" altLang="en-US" dirty="0"/>
              <a:t> </a:t>
            </a:r>
            <a:r>
              <a:rPr lang="en-US" altLang="en-US" dirty="0" err="1"/>
              <a:t>sách</a:t>
            </a:r>
            <a:r>
              <a:rPr lang="en-US" altLang="en-US" dirty="0"/>
              <a:t> </a:t>
            </a:r>
            <a:r>
              <a:rPr lang="en-US" altLang="en-US" dirty="0" err="1"/>
              <a:t>các</a:t>
            </a:r>
            <a:r>
              <a:rPr lang="en-US" altLang="en-US" dirty="0"/>
              <a:t> </a:t>
            </a:r>
            <a:r>
              <a:rPr lang="en-US" altLang="en-US" dirty="0" err="1"/>
              <a:t>bảng</a:t>
            </a:r>
            <a:r>
              <a:rPr lang="en-US" altLang="en-US" dirty="0"/>
              <a:t>&gt;</a:t>
            </a:r>
          </a:p>
          <a:p>
            <a:pPr lvl="2"/>
            <a:r>
              <a:rPr lang="en-US" altLang="en-US" dirty="0" err="1"/>
              <a:t>Tên</a:t>
            </a:r>
            <a:r>
              <a:rPr lang="en-US" altLang="en-US" dirty="0"/>
              <a:t> </a:t>
            </a:r>
            <a:r>
              <a:rPr lang="en-US" altLang="en-US" dirty="0" err="1"/>
              <a:t>các</a:t>
            </a:r>
            <a:r>
              <a:rPr lang="en-US" altLang="en-US" dirty="0"/>
              <a:t> </a:t>
            </a:r>
            <a:r>
              <a:rPr lang="en-US" altLang="en-US" dirty="0" err="1"/>
              <a:t>bảng</a:t>
            </a:r>
            <a:r>
              <a:rPr lang="en-US" altLang="en-US" dirty="0"/>
              <a:t> </a:t>
            </a:r>
            <a:r>
              <a:rPr lang="en-US" altLang="en-US" dirty="0" err="1"/>
              <a:t>liên</a:t>
            </a:r>
            <a:r>
              <a:rPr lang="en-US" altLang="en-US" dirty="0"/>
              <a:t> </a:t>
            </a:r>
            <a:r>
              <a:rPr lang="en-US" altLang="en-US" dirty="0" err="1"/>
              <a:t>quan</a:t>
            </a:r>
            <a:r>
              <a:rPr lang="en-US" altLang="en-US" dirty="0"/>
              <a:t> </a:t>
            </a:r>
            <a:r>
              <a:rPr lang="en-US" altLang="en-US" dirty="0" err="1"/>
              <a:t>đến</a:t>
            </a:r>
            <a:r>
              <a:rPr lang="en-US" altLang="en-US" dirty="0"/>
              <a:t> </a:t>
            </a:r>
            <a:r>
              <a:rPr lang="en-US" altLang="en-US" dirty="0" err="1"/>
              <a:t>câu</a:t>
            </a:r>
            <a:r>
              <a:rPr lang="en-US" altLang="en-US" dirty="0"/>
              <a:t> </a:t>
            </a:r>
            <a:r>
              <a:rPr lang="en-US" altLang="en-US" dirty="0" err="1"/>
              <a:t>truy</a:t>
            </a:r>
            <a:r>
              <a:rPr lang="en-US" altLang="en-US" dirty="0"/>
              <a:t> </a:t>
            </a:r>
            <a:r>
              <a:rPr lang="en-US" altLang="en-US" dirty="0" err="1"/>
              <a:t>vấn</a:t>
            </a:r>
            <a:endParaRPr lang="en-US" altLang="en-US" dirty="0"/>
          </a:p>
          <a:p>
            <a:pPr lvl="1"/>
            <a:r>
              <a:rPr lang="en-US" altLang="en-US" dirty="0"/>
              <a:t>&lt;</a:t>
            </a:r>
            <a:r>
              <a:rPr lang="en-US" altLang="en-US" dirty="0" err="1"/>
              <a:t>điều</a:t>
            </a:r>
            <a:r>
              <a:rPr lang="en-US" altLang="en-US" dirty="0"/>
              <a:t> </a:t>
            </a:r>
            <a:r>
              <a:rPr lang="en-US" altLang="en-US" dirty="0" err="1"/>
              <a:t>kiện</a:t>
            </a:r>
            <a:r>
              <a:rPr lang="en-US" altLang="en-US" dirty="0"/>
              <a:t>&gt;</a:t>
            </a:r>
          </a:p>
          <a:p>
            <a:pPr lvl="2"/>
            <a:r>
              <a:rPr lang="en-US" altLang="en-US" dirty="0" err="1"/>
              <a:t>Biểu</a:t>
            </a:r>
            <a:r>
              <a:rPr lang="en-US" altLang="en-US" dirty="0"/>
              <a:t> </a:t>
            </a:r>
            <a:r>
              <a:rPr lang="en-US" altLang="en-US" dirty="0" err="1"/>
              <a:t>thức</a:t>
            </a:r>
            <a:r>
              <a:rPr lang="en-US" altLang="en-US" dirty="0"/>
              <a:t> </a:t>
            </a:r>
            <a:r>
              <a:rPr lang="en-US" altLang="en-US" dirty="0" err="1"/>
              <a:t>boolean</a:t>
            </a:r>
            <a:r>
              <a:rPr lang="en-US" altLang="en-US" dirty="0"/>
              <a:t> </a:t>
            </a:r>
            <a:r>
              <a:rPr lang="en-US" altLang="en-US" dirty="0" err="1"/>
              <a:t>xác</a:t>
            </a:r>
            <a:r>
              <a:rPr lang="en-US" altLang="en-US" dirty="0"/>
              <a:t> </a:t>
            </a:r>
            <a:r>
              <a:rPr lang="en-US" altLang="en-US" dirty="0" err="1"/>
              <a:t>định</a:t>
            </a:r>
            <a:r>
              <a:rPr lang="en-US" altLang="en-US" dirty="0"/>
              <a:t> </a:t>
            </a:r>
            <a:r>
              <a:rPr lang="en-US" altLang="en-US" dirty="0" err="1"/>
              <a:t>dòng</a:t>
            </a:r>
            <a:r>
              <a:rPr lang="en-US" altLang="en-US" dirty="0"/>
              <a:t> </a:t>
            </a:r>
            <a:r>
              <a:rPr lang="en-US" altLang="en-US" dirty="0" err="1"/>
              <a:t>nào</a:t>
            </a:r>
            <a:r>
              <a:rPr lang="en-US" altLang="en-US" dirty="0"/>
              <a:t> </a:t>
            </a:r>
            <a:r>
              <a:rPr lang="en-US" altLang="en-US" dirty="0" err="1"/>
              <a:t>sẽ</a:t>
            </a:r>
            <a:r>
              <a:rPr lang="en-US" altLang="en-US" dirty="0"/>
              <a:t> </a:t>
            </a:r>
            <a:r>
              <a:rPr lang="en-US" altLang="en-US" dirty="0" err="1"/>
              <a:t>được</a:t>
            </a:r>
            <a:r>
              <a:rPr lang="en-US" altLang="en-US" dirty="0"/>
              <a:t> </a:t>
            </a:r>
            <a:r>
              <a:rPr lang="en-US" altLang="en-US" dirty="0" err="1"/>
              <a:t>rút</a:t>
            </a:r>
            <a:r>
              <a:rPr lang="en-US" altLang="en-US" dirty="0"/>
              <a:t> </a:t>
            </a:r>
            <a:r>
              <a:rPr lang="en-US" altLang="en-US" dirty="0" err="1"/>
              <a:t>trích</a:t>
            </a:r>
            <a:endParaRPr lang="en-US" altLang="en-US" dirty="0"/>
          </a:p>
          <a:p>
            <a:pPr lvl="2"/>
            <a:r>
              <a:rPr lang="en-US" altLang="en-US" dirty="0" err="1"/>
              <a:t>Nối</a:t>
            </a:r>
            <a:r>
              <a:rPr lang="en-US" altLang="en-US" dirty="0"/>
              <a:t> </a:t>
            </a:r>
            <a:r>
              <a:rPr lang="en-US" altLang="en-US" dirty="0" err="1"/>
              <a:t>các</a:t>
            </a:r>
            <a:r>
              <a:rPr lang="en-US" altLang="en-US" dirty="0"/>
              <a:t> </a:t>
            </a:r>
            <a:r>
              <a:rPr lang="en-US" altLang="en-US" dirty="0" err="1"/>
              <a:t>biểu</a:t>
            </a:r>
            <a:r>
              <a:rPr lang="en-US" altLang="en-US" dirty="0"/>
              <a:t> </a:t>
            </a:r>
            <a:r>
              <a:rPr lang="en-US" altLang="en-US" dirty="0" err="1"/>
              <a:t>thức</a:t>
            </a:r>
            <a:r>
              <a:rPr lang="en-US" altLang="en-US" dirty="0"/>
              <a:t>: AND, OR, </a:t>
            </a:r>
            <a:r>
              <a:rPr lang="en-US" altLang="en-US" dirty="0" err="1"/>
              <a:t>và</a:t>
            </a:r>
            <a:r>
              <a:rPr lang="en-US" altLang="en-US" dirty="0"/>
              <a:t> NOT </a:t>
            </a:r>
          </a:p>
          <a:p>
            <a:pPr lvl="2"/>
            <a:r>
              <a:rPr lang="en-US" altLang="en-US" dirty="0" err="1"/>
              <a:t>Phép</a:t>
            </a:r>
            <a:r>
              <a:rPr lang="en-US" altLang="en-US" dirty="0"/>
              <a:t> </a:t>
            </a:r>
            <a:r>
              <a:rPr lang="en-US" altLang="en-US" dirty="0" err="1"/>
              <a:t>toán</a:t>
            </a:r>
            <a:r>
              <a:rPr lang="en-US" altLang="en-US" dirty="0"/>
              <a:t>: </a:t>
            </a:r>
            <a:r>
              <a:rPr lang="en-US" altLang="en-US" b="1" dirty="0">
                <a:sym typeface="Symbol" panose="05050102010706020507" pitchFamily="18" charset="2"/>
              </a:rPr>
              <a:t></a:t>
            </a:r>
            <a:r>
              <a:rPr lang="en-US" altLang="en-US" dirty="0">
                <a:sym typeface="Symbol" panose="05050102010706020507" pitchFamily="18" charset="2"/>
              </a:rPr>
              <a:t> , </a:t>
            </a:r>
            <a:r>
              <a:rPr lang="en-US" altLang="en-US" b="1" dirty="0">
                <a:sym typeface="Symbol" panose="05050102010706020507" pitchFamily="18" charset="2"/>
              </a:rPr>
              <a:t></a:t>
            </a:r>
            <a:r>
              <a:rPr lang="en-US" altLang="en-US" dirty="0">
                <a:sym typeface="Symbol" panose="05050102010706020507" pitchFamily="18" charset="2"/>
              </a:rPr>
              <a:t> , </a:t>
            </a:r>
            <a:r>
              <a:rPr lang="en-US" altLang="en-US" b="1" dirty="0">
                <a:sym typeface="Symbol" panose="05050102010706020507" pitchFamily="18" charset="2"/>
              </a:rPr>
              <a:t></a:t>
            </a:r>
            <a:r>
              <a:rPr lang="en-US" altLang="en-US" dirty="0">
                <a:sym typeface="Symbol" panose="05050102010706020507" pitchFamily="18" charset="2"/>
              </a:rPr>
              <a:t> , </a:t>
            </a:r>
            <a:r>
              <a:rPr lang="en-US" altLang="en-US" b="1" dirty="0">
                <a:sym typeface="Symbol" panose="05050102010706020507" pitchFamily="18" charset="2"/>
              </a:rPr>
              <a:t></a:t>
            </a:r>
            <a:r>
              <a:rPr lang="en-US" altLang="en-US" dirty="0">
                <a:sym typeface="Symbol" panose="05050102010706020507" pitchFamily="18" charset="2"/>
              </a:rPr>
              <a:t> , </a:t>
            </a:r>
            <a:r>
              <a:rPr lang="en-US" altLang="en-US" b="1" dirty="0">
                <a:sym typeface="Symbol" panose="05050102010706020507" pitchFamily="18" charset="2"/>
              </a:rPr>
              <a:t></a:t>
            </a:r>
            <a:r>
              <a:rPr lang="en-US" altLang="en-US" dirty="0">
                <a:sym typeface="Symbol" panose="05050102010706020507" pitchFamily="18" charset="2"/>
              </a:rPr>
              <a:t> , </a:t>
            </a:r>
            <a:r>
              <a:rPr lang="en-US" altLang="en-US" b="1" dirty="0">
                <a:sym typeface="Symbol" panose="05050102010706020507" pitchFamily="18" charset="2"/>
              </a:rPr>
              <a:t></a:t>
            </a:r>
            <a:r>
              <a:rPr lang="en-US" altLang="en-US" dirty="0">
                <a:sym typeface="Symbol" panose="05050102010706020507" pitchFamily="18" charset="2"/>
              </a:rPr>
              <a:t>,</a:t>
            </a:r>
            <a:r>
              <a:rPr lang="en-US" altLang="en-US" b="1" dirty="0">
                <a:sym typeface="Symbol" panose="05050102010706020507" pitchFamily="18" charset="2"/>
              </a:rPr>
              <a:t> </a:t>
            </a:r>
            <a:r>
              <a:rPr lang="en-US" altLang="en-US" dirty="0">
                <a:sym typeface="Symbol" panose="05050102010706020507" pitchFamily="18" charset="2"/>
              </a:rPr>
              <a:t>LIKE </a:t>
            </a:r>
            <a:r>
              <a:rPr lang="en-US" altLang="en-US" dirty="0" err="1">
                <a:sym typeface="Symbol" panose="05050102010706020507" pitchFamily="18" charset="2"/>
              </a:rPr>
              <a:t>và</a:t>
            </a:r>
            <a:r>
              <a:rPr lang="en-US" altLang="en-US" dirty="0">
                <a:sym typeface="Symbol" panose="05050102010706020507" pitchFamily="18" charset="2"/>
              </a:rPr>
              <a:t> BETWEEN</a:t>
            </a:r>
          </a:p>
        </p:txBody>
      </p:sp>
      <p:sp>
        <p:nvSpPr>
          <p:cNvPr id="602116" name="Rectangle 4">
            <a:extLst>
              <a:ext uri="{FF2B5EF4-FFF2-40B4-BE49-F238E27FC236}">
                <a16:creationId xmlns:a16="http://schemas.microsoft.com/office/drawing/2014/main" id="{B7C97B1A-6DC4-4247-AB5C-6490F97C6FCA}"/>
              </a:ext>
            </a:extLst>
          </p:cNvPr>
          <p:cNvSpPr>
            <a:spLocks noChangeArrowheads="1"/>
          </p:cNvSpPr>
          <p:nvPr/>
        </p:nvSpPr>
        <p:spPr bwMode="auto">
          <a:xfrm>
            <a:off x="3852333" y="1953512"/>
            <a:ext cx="3352800" cy="923330"/>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r>
              <a:rPr lang="en-US" altLang="en-US" b="1" dirty="0"/>
              <a:t>SELECT</a:t>
            </a:r>
            <a:r>
              <a:rPr lang="en-US" altLang="en-US" dirty="0"/>
              <a:t> &lt;</a:t>
            </a:r>
            <a:r>
              <a:rPr lang="en-US" altLang="en-US" dirty="0" err="1"/>
              <a:t>danh</a:t>
            </a:r>
            <a:r>
              <a:rPr lang="en-US" altLang="en-US" dirty="0"/>
              <a:t> </a:t>
            </a:r>
            <a:r>
              <a:rPr lang="en-US" altLang="en-US" dirty="0" err="1"/>
              <a:t>sách</a:t>
            </a:r>
            <a:r>
              <a:rPr lang="en-US" altLang="en-US" dirty="0"/>
              <a:t> </a:t>
            </a:r>
            <a:r>
              <a:rPr lang="en-US" altLang="en-US" dirty="0" err="1"/>
              <a:t>các</a:t>
            </a:r>
            <a:r>
              <a:rPr lang="en-US" altLang="en-US" dirty="0"/>
              <a:t> </a:t>
            </a:r>
            <a:r>
              <a:rPr lang="en-US" altLang="en-US" dirty="0" err="1"/>
              <a:t>cột</a:t>
            </a:r>
            <a:r>
              <a:rPr lang="en-US" altLang="en-US" dirty="0"/>
              <a:t>&gt;</a:t>
            </a:r>
          </a:p>
          <a:p>
            <a:pPr algn="l"/>
            <a:r>
              <a:rPr lang="en-US" altLang="en-US" b="1" dirty="0"/>
              <a:t>FROM</a:t>
            </a:r>
            <a:r>
              <a:rPr lang="en-US" altLang="en-US" dirty="0"/>
              <a:t> &lt;</a:t>
            </a:r>
            <a:r>
              <a:rPr lang="en-US" altLang="en-US" dirty="0" err="1"/>
              <a:t>danh</a:t>
            </a:r>
            <a:r>
              <a:rPr lang="en-US" altLang="en-US" dirty="0"/>
              <a:t> </a:t>
            </a:r>
            <a:r>
              <a:rPr lang="en-US" altLang="en-US" dirty="0" err="1"/>
              <a:t>sách</a:t>
            </a:r>
            <a:r>
              <a:rPr lang="en-US" altLang="en-US" dirty="0"/>
              <a:t> </a:t>
            </a:r>
            <a:r>
              <a:rPr lang="en-US" altLang="en-US" dirty="0" err="1"/>
              <a:t>các</a:t>
            </a:r>
            <a:r>
              <a:rPr lang="en-US" altLang="en-US" dirty="0"/>
              <a:t> </a:t>
            </a:r>
            <a:r>
              <a:rPr lang="en-US" altLang="en-US" dirty="0" err="1"/>
              <a:t>bảng</a:t>
            </a:r>
            <a:r>
              <a:rPr lang="en-US" altLang="en-US" dirty="0"/>
              <a:t>&gt;</a:t>
            </a:r>
          </a:p>
          <a:p>
            <a:pPr algn="l"/>
            <a:r>
              <a:rPr lang="en-US" altLang="en-US" b="1" dirty="0"/>
              <a:t>WHERE</a:t>
            </a:r>
            <a:r>
              <a:rPr lang="en-US" altLang="en-US" dirty="0"/>
              <a:t> &lt;</a:t>
            </a:r>
            <a:r>
              <a:rPr lang="en-US" altLang="en-US" dirty="0" err="1"/>
              <a:t>điều</a:t>
            </a:r>
            <a:r>
              <a:rPr lang="en-US" altLang="en-US" dirty="0"/>
              <a:t> </a:t>
            </a:r>
            <a:r>
              <a:rPr lang="en-US" altLang="en-US" dirty="0" err="1"/>
              <a:t>kiện</a:t>
            </a:r>
            <a:r>
              <a:rPr lang="en-US" altLang="en-US" dirty="0"/>
              <a:t>&gt;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0066" name="Rectangle 2">
            <a:extLst>
              <a:ext uri="{FF2B5EF4-FFF2-40B4-BE49-F238E27FC236}">
                <a16:creationId xmlns:a16="http://schemas.microsoft.com/office/drawing/2014/main" id="{4A1E016C-079C-4CE8-9E3C-DB3AB5E3BB57}"/>
              </a:ext>
            </a:extLst>
          </p:cNvPr>
          <p:cNvSpPr>
            <a:spLocks noGrp="1" noChangeArrowheads="1"/>
          </p:cNvSpPr>
          <p:nvPr>
            <p:ph type="title"/>
          </p:nvPr>
        </p:nvSpPr>
        <p:spPr>
          <a:xfrm>
            <a:off x="1981200" y="354013"/>
            <a:ext cx="8229600" cy="620712"/>
          </a:xfrm>
        </p:spPr>
        <p:txBody>
          <a:bodyPr>
            <a:normAutofit fontScale="90000"/>
          </a:bodyPr>
          <a:lstStyle/>
          <a:p>
            <a:r>
              <a:rPr lang="en-US" altLang="en-US" sz="3500"/>
              <a:t>Truy vấn cơ bản (tt)</a:t>
            </a:r>
          </a:p>
        </p:txBody>
      </p:sp>
      <p:sp>
        <p:nvSpPr>
          <p:cNvPr id="600084" name="Rectangle 20">
            <a:extLst>
              <a:ext uri="{FF2B5EF4-FFF2-40B4-BE49-F238E27FC236}">
                <a16:creationId xmlns:a16="http://schemas.microsoft.com/office/drawing/2014/main" id="{49AF8C61-D231-441D-94BD-772A41BE4AA5}"/>
              </a:ext>
            </a:extLst>
          </p:cNvPr>
          <p:cNvSpPr>
            <a:spLocks noGrp="1" noChangeArrowheads="1"/>
          </p:cNvSpPr>
          <p:nvPr>
            <p:ph idx="1"/>
          </p:nvPr>
        </p:nvSpPr>
        <p:spPr>
          <a:xfrm>
            <a:off x="1981200" y="1219200"/>
            <a:ext cx="8229600" cy="5334000"/>
          </a:xfrm>
          <a:noFill/>
          <a:ln/>
        </p:spPr>
        <p:txBody>
          <a:bodyPr/>
          <a:lstStyle/>
          <a:p>
            <a:r>
              <a:rPr lang="en-US" altLang="en-US" dirty="0"/>
              <a:t>SQL </a:t>
            </a:r>
            <a:r>
              <a:rPr lang="en-US" altLang="en-US" dirty="0" err="1"/>
              <a:t>và</a:t>
            </a:r>
            <a:r>
              <a:rPr lang="en-US" altLang="en-US" dirty="0"/>
              <a:t> ĐSQH</a:t>
            </a:r>
          </a:p>
          <a:p>
            <a:pPr lvl="1"/>
            <a:endParaRPr lang="en-US" altLang="en-US" dirty="0"/>
          </a:p>
          <a:p>
            <a:pPr lvl="1"/>
            <a:endParaRPr lang="en-US" altLang="en-US" dirty="0"/>
          </a:p>
          <a:p>
            <a:pPr lvl="1"/>
            <a:endParaRPr lang="en-US" altLang="en-US" dirty="0"/>
          </a:p>
          <a:p>
            <a:pPr lvl="1"/>
            <a:endParaRPr lang="en-US" altLang="en-US" dirty="0"/>
          </a:p>
        </p:txBody>
      </p:sp>
      <p:sp>
        <p:nvSpPr>
          <p:cNvPr id="16" name="Slide Number Placeholder 15">
            <a:extLst>
              <a:ext uri="{FF2B5EF4-FFF2-40B4-BE49-F238E27FC236}">
                <a16:creationId xmlns:a16="http://schemas.microsoft.com/office/drawing/2014/main" id="{2CAC41F5-9B32-47E6-8271-3E9A1B4884F6}"/>
              </a:ext>
            </a:extLst>
          </p:cNvPr>
          <p:cNvSpPr>
            <a:spLocks noGrp="1"/>
          </p:cNvSpPr>
          <p:nvPr>
            <p:ph type="sldNum" sz="quarter" idx="12"/>
          </p:nvPr>
        </p:nvSpPr>
        <p:spPr/>
        <p:txBody>
          <a:bodyPr/>
          <a:lstStyle/>
          <a:p>
            <a:fld id="{CBCF9F4D-3B11-4A03-B770-3F6D72665128}" type="slidenum">
              <a:rPr lang="en-US" altLang="en-US"/>
              <a:pPr/>
              <a:t>21</a:t>
            </a:fld>
            <a:endParaRPr lang="en-US" altLang="en-US"/>
          </a:p>
        </p:txBody>
      </p:sp>
      <p:sp>
        <p:nvSpPr>
          <p:cNvPr id="600073" name="Rectangle 9">
            <a:extLst>
              <a:ext uri="{FF2B5EF4-FFF2-40B4-BE49-F238E27FC236}">
                <a16:creationId xmlns:a16="http://schemas.microsoft.com/office/drawing/2014/main" id="{5CF4F780-6E8C-4843-8EB8-B419C1A4701A}"/>
              </a:ext>
            </a:extLst>
          </p:cNvPr>
          <p:cNvSpPr>
            <a:spLocks noChangeArrowheads="1"/>
          </p:cNvSpPr>
          <p:nvPr/>
        </p:nvSpPr>
        <p:spPr bwMode="auto">
          <a:xfrm>
            <a:off x="5410200" y="2704030"/>
            <a:ext cx="3352800" cy="923330"/>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r>
              <a:rPr lang="en-US" altLang="en-US" b="1" dirty="0"/>
              <a:t>SELECT</a:t>
            </a:r>
            <a:r>
              <a:rPr lang="en-US" altLang="en-US" dirty="0"/>
              <a:t> &lt;</a:t>
            </a:r>
            <a:r>
              <a:rPr lang="en-US" altLang="en-US" dirty="0" err="1"/>
              <a:t>danh</a:t>
            </a:r>
            <a:r>
              <a:rPr lang="en-US" altLang="en-US" dirty="0"/>
              <a:t> </a:t>
            </a:r>
            <a:r>
              <a:rPr lang="en-US" altLang="en-US" dirty="0" err="1"/>
              <a:t>sách</a:t>
            </a:r>
            <a:r>
              <a:rPr lang="en-US" altLang="en-US" dirty="0"/>
              <a:t> </a:t>
            </a:r>
            <a:r>
              <a:rPr lang="en-US" altLang="en-US" dirty="0" err="1"/>
              <a:t>các</a:t>
            </a:r>
            <a:r>
              <a:rPr lang="en-US" altLang="en-US" dirty="0"/>
              <a:t> </a:t>
            </a:r>
            <a:r>
              <a:rPr lang="en-US" altLang="en-US" dirty="0" err="1"/>
              <a:t>cột</a:t>
            </a:r>
            <a:r>
              <a:rPr lang="en-US" altLang="en-US" dirty="0"/>
              <a:t>&gt;</a:t>
            </a:r>
          </a:p>
          <a:p>
            <a:pPr algn="l"/>
            <a:r>
              <a:rPr lang="en-US" altLang="en-US" b="1" dirty="0"/>
              <a:t>FROM</a:t>
            </a:r>
            <a:r>
              <a:rPr lang="en-US" altLang="en-US" dirty="0"/>
              <a:t> &lt;</a:t>
            </a:r>
            <a:r>
              <a:rPr lang="en-US" altLang="en-US" dirty="0" err="1"/>
              <a:t>danh</a:t>
            </a:r>
            <a:r>
              <a:rPr lang="en-US" altLang="en-US" dirty="0"/>
              <a:t> </a:t>
            </a:r>
            <a:r>
              <a:rPr lang="en-US" altLang="en-US" dirty="0" err="1"/>
              <a:t>sách</a:t>
            </a:r>
            <a:r>
              <a:rPr lang="en-US" altLang="en-US" dirty="0"/>
              <a:t> </a:t>
            </a:r>
            <a:r>
              <a:rPr lang="en-US" altLang="en-US" dirty="0" err="1"/>
              <a:t>các</a:t>
            </a:r>
            <a:r>
              <a:rPr lang="en-US" altLang="en-US" dirty="0"/>
              <a:t> </a:t>
            </a:r>
            <a:r>
              <a:rPr lang="en-US" altLang="en-US" dirty="0" err="1"/>
              <a:t>bảng</a:t>
            </a:r>
            <a:r>
              <a:rPr lang="en-US" altLang="en-US" dirty="0"/>
              <a:t>&gt;</a:t>
            </a:r>
          </a:p>
          <a:p>
            <a:pPr algn="l"/>
            <a:r>
              <a:rPr lang="en-US" altLang="en-US" b="1" dirty="0"/>
              <a:t>WHERE</a:t>
            </a:r>
            <a:r>
              <a:rPr lang="en-US" altLang="en-US" dirty="0"/>
              <a:t> &lt;</a:t>
            </a:r>
            <a:r>
              <a:rPr lang="en-US" altLang="en-US" dirty="0" err="1"/>
              <a:t>điều</a:t>
            </a:r>
            <a:r>
              <a:rPr lang="en-US" altLang="en-US" dirty="0"/>
              <a:t> </a:t>
            </a:r>
            <a:r>
              <a:rPr lang="en-US" altLang="en-US" dirty="0" err="1"/>
              <a:t>kiện</a:t>
            </a:r>
            <a:r>
              <a:rPr lang="en-US" altLang="en-US" dirty="0"/>
              <a:t>&gt;</a:t>
            </a:r>
          </a:p>
        </p:txBody>
      </p:sp>
      <p:sp>
        <p:nvSpPr>
          <p:cNvPr id="600075" name="Text Box 11">
            <a:extLst>
              <a:ext uri="{FF2B5EF4-FFF2-40B4-BE49-F238E27FC236}">
                <a16:creationId xmlns:a16="http://schemas.microsoft.com/office/drawing/2014/main" id="{BE3C48B3-5D28-4E6D-BCC4-C0867029135A}"/>
              </a:ext>
            </a:extLst>
          </p:cNvPr>
          <p:cNvSpPr txBox="1">
            <a:spLocks noChangeArrowheads="1"/>
          </p:cNvSpPr>
          <p:nvPr/>
        </p:nvSpPr>
        <p:spPr bwMode="auto">
          <a:xfrm>
            <a:off x="4876800" y="3184526"/>
            <a:ext cx="838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4000">
                <a:sym typeface="Symbol" panose="05050102010706020507" pitchFamily="18" charset="2"/>
              </a:rPr>
              <a:t></a:t>
            </a:r>
          </a:p>
        </p:txBody>
      </p:sp>
      <p:sp>
        <p:nvSpPr>
          <p:cNvPr id="600076" name="Text Box 12">
            <a:extLst>
              <a:ext uri="{FF2B5EF4-FFF2-40B4-BE49-F238E27FC236}">
                <a16:creationId xmlns:a16="http://schemas.microsoft.com/office/drawing/2014/main" id="{D415C965-A918-4BE5-B766-F4D7DFD054BF}"/>
              </a:ext>
            </a:extLst>
          </p:cNvPr>
          <p:cNvSpPr txBox="1">
            <a:spLocks noChangeArrowheads="1"/>
          </p:cNvSpPr>
          <p:nvPr/>
        </p:nvSpPr>
        <p:spPr bwMode="auto">
          <a:xfrm>
            <a:off x="4724400" y="2346326"/>
            <a:ext cx="838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4000">
                <a:sym typeface="Symbol" panose="05050102010706020507" pitchFamily="18" charset="2"/>
              </a:rPr>
              <a:t></a:t>
            </a:r>
          </a:p>
        </p:txBody>
      </p:sp>
      <p:sp>
        <p:nvSpPr>
          <p:cNvPr id="600077" name="Text Box 13">
            <a:extLst>
              <a:ext uri="{FF2B5EF4-FFF2-40B4-BE49-F238E27FC236}">
                <a16:creationId xmlns:a16="http://schemas.microsoft.com/office/drawing/2014/main" id="{29C090B5-3C61-42E7-BF84-60B155737405}"/>
              </a:ext>
            </a:extLst>
          </p:cNvPr>
          <p:cNvSpPr txBox="1">
            <a:spLocks noChangeArrowheads="1"/>
          </p:cNvSpPr>
          <p:nvPr/>
        </p:nvSpPr>
        <p:spPr bwMode="auto">
          <a:xfrm>
            <a:off x="4724400" y="2879726"/>
            <a:ext cx="83820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3000" b="1">
                <a:sym typeface="Symbol" panose="05050102010706020507" pitchFamily="18" charset="2"/>
              </a:rPr>
              <a:t></a:t>
            </a:r>
          </a:p>
        </p:txBody>
      </p:sp>
      <p:sp>
        <p:nvSpPr>
          <p:cNvPr id="600078" name="Line 14">
            <a:extLst>
              <a:ext uri="{FF2B5EF4-FFF2-40B4-BE49-F238E27FC236}">
                <a16:creationId xmlns:a16="http://schemas.microsoft.com/office/drawing/2014/main" id="{AC0D1399-5764-4BC3-BC48-BA8BC985854A}"/>
              </a:ext>
            </a:extLst>
          </p:cNvPr>
          <p:cNvSpPr>
            <a:spLocks noChangeShapeType="1"/>
          </p:cNvSpPr>
          <p:nvPr/>
        </p:nvSpPr>
        <p:spPr bwMode="auto">
          <a:xfrm>
            <a:off x="4038600" y="2286000"/>
            <a:ext cx="990600" cy="457200"/>
          </a:xfrm>
          <a:prstGeom prst="line">
            <a:avLst/>
          </a:prstGeom>
          <a:noFill/>
          <a:ln w="12700">
            <a:solidFill>
              <a:srgbClr val="777777"/>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600079" name="Line 15">
            <a:extLst>
              <a:ext uri="{FF2B5EF4-FFF2-40B4-BE49-F238E27FC236}">
                <a16:creationId xmlns:a16="http://schemas.microsoft.com/office/drawing/2014/main" id="{6E3CB8B6-BFEA-4511-AF5C-C01EE0E154CE}"/>
              </a:ext>
            </a:extLst>
          </p:cNvPr>
          <p:cNvSpPr>
            <a:spLocks noChangeShapeType="1"/>
          </p:cNvSpPr>
          <p:nvPr/>
        </p:nvSpPr>
        <p:spPr bwMode="auto">
          <a:xfrm>
            <a:off x="4038600" y="3200400"/>
            <a:ext cx="914400" cy="0"/>
          </a:xfrm>
          <a:prstGeom prst="line">
            <a:avLst/>
          </a:prstGeom>
          <a:noFill/>
          <a:ln w="12700">
            <a:solidFill>
              <a:srgbClr val="777777"/>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600080" name="Line 16">
            <a:extLst>
              <a:ext uri="{FF2B5EF4-FFF2-40B4-BE49-F238E27FC236}">
                <a16:creationId xmlns:a16="http://schemas.microsoft.com/office/drawing/2014/main" id="{AD99155D-616B-45BB-9580-684377BCDBA4}"/>
              </a:ext>
            </a:extLst>
          </p:cNvPr>
          <p:cNvSpPr>
            <a:spLocks noChangeShapeType="1"/>
          </p:cNvSpPr>
          <p:nvPr/>
        </p:nvSpPr>
        <p:spPr bwMode="auto">
          <a:xfrm flipH="1">
            <a:off x="4038600" y="3733800"/>
            <a:ext cx="990600" cy="533400"/>
          </a:xfrm>
          <a:prstGeom prst="line">
            <a:avLst/>
          </a:prstGeom>
          <a:noFill/>
          <a:ln w="12700">
            <a:solidFill>
              <a:srgbClr val="777777"/>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600081" name="Text Box 17">
            <a:extLst>
              <a:ext uri="{FF2B5EF4-FFF2-40B4-BE49-F238E27FC236}">
                <a16:creationId xmlns:a16="http://schemas.microsoft.com/office/drawing/2014/main" id="{0EE99DD3-71D9-4962-811F-2D7F4264DD74}"/>
              </a:ext>
            </a:extLst>
          </p:cNvPr>
          <p:cNvSpPr txBox="1">
            <a:spLocks noChangeArrowheads="1"/>
          </p:cNvSpPr>
          <p:nvPr/>
        </p:nvSpPr>
        <p:spPr bwMode="auto">
          <a:xfrm>
            <a:off x="3581400" y="4979988"/>
            <a:ext cx="14478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en-US" b="1"/>
              <a:t>SELECT</a:t>
            </a:r>
            <a:r>
              <a:rPr lang="en-US" altLang="en-US"/>
              <a:t> L</a:t>
            </a:r>
          </a:p>
          <a:p>
            <a:pPr algn="l"/>
            <a:r>
              <a:rPr lang="en-US" altLang="en-US" b="1"/>
              <a:t>FROM</a:t>
            </a:r>
            <a:r>
              <a:rPr lang="en-US" altLang="en-US"/>
              <a:t> R</a:t>
            </a:r>
          </a:p>
          <a:p>
            <a:pPr algn="l"/>
            <a:r>
              <a:rPr lang="en-US" altLang="en-US" b="1"/>
              <a:t>WHERE</a:t>
            </a:r>
            <a:r>
              <a:rPr lang="en-US" altLang="en-US"/>
              <a:t> C</a:t>
            </a:r>
          </a:p>
        </p:txBody>
      </p:sp>
      <p:sp>
        <p:nvSpPr>
          <p:cNvPr id="600082" name="Text Box 18">
            <a:extLst>
              <a:ext uri="{FF2B5EF4-FFF2-40B4-BE49-F238E27FC236}">
                <a16:creationId xmlns:a16="http://schemas.microsoft.com/office/drawing/2014/main" id="{49E08E46-9144-4E2E-B061-91D861403B62}"/>
              </a:ext>
            </a:extLst>
          </p:cNvPr>
          <p:cNvSpPr txBox="1">
            <a:spLocks noChangeArrowheads="1"/>
          </p:cNvSpPr>
          <p:nvPr/>
        </p:nvSpPr>
        <p:spPr bwMode="auto">
          <a:xfrm>
            <a:off x="6134100" y="5089525"/>
            <a:ext cx="190500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3000" dirty="0">
                <a:sym typeface="Symbol" panose="05050102010706020507" pitchFamily="18" charset="2"/>
              </a:rPr>
              <a:t></a:t>
            </a:r>
            <a:r>
              <a:rPr lang="en-US" altLang="en-US" sz="2200" baseline="-25000" dirty="0"/>
              <a:t>L </a:t>
            </a:r>
            <a:r>
              <a:rPr lang="en-US" altLang="en-US" sz="2200" dirty="0"/>
              <a:t>(</a:t>
            </a:r>
            <a:r>
              <a:rPr lang="en-US" altLang="en-US" sz="3000" dirty="0">
                <a:sym typeface="Symbol" panose="05050102010706020507" pitchFamily="18" charset="2"/>
              </a:rPr>
              <a:t></a:t>
            </a:r>
            <a:r>
              <a:rPr lang="en-US" altLang="en-US" sz="2200" baseline="-25000" dirty="0">
                <a:sym typeface="Symbol" panose="05050102010706020507" pitchFamily="18" charset="2"/>
              </a:rPr>
              <a:t>C </a:t>
            </a:r>
            <a:r>
              <a:rPr lang="en-US" altLang="en-US" sz="2200" dirty="0"/>
              <a:t>(R))</a:t>
            </a:r>
          </a:p>
        </p:txBody>
      </p:sp>
      <p:sp>
        <p:nvSpPr>
          <p:cNvPr id="600083" name="Line 19">
            <a:extLst>
              <a:ext uri="{FF2B5EF4-FFF2-40B4-BE49-F238E27FC236}">
                <a16:creationId xmlns:a16="http://schemas.microsoft.com/office/drawing/2014/main" id="{9E064BC7-E467-40AD-A23D-1F0BD9825CA1}"/>
              </a:ext>
            </a:extLst>
          </p:cNvPr>
          <p:cNvSpPr>
            <a:spLocks noChangeShapeType="1"/>
          </p:cNvSpPr>
          <p:nvPr/>
        </p:nvSpPr>
        <p:spPr bwMode="auto">
          <a:xfrm>
            <a:off x="5029200" y="5589588"/>
            <a:ext cx="11430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F90A5-47DD-49F8-957B-770852C1310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A66D2A9-0173-49C5-AA85-3A694E689A39}"/>
              </a:ext>
            </a:extLst>
          </p:cNvPr>
          <p:cNvSpPr>
            <a:spLocks noGrp="1"/>
          </p:cNvSpPr>
          <p:nvPr>
            <p:ph idx="1"/>
          </p:nvPr>
        </p:nvSpPr>
        <p:spPr/>
        <p:txBody>
          <a:bodyPr/>
          <a:lstStyle/>
          <a:p>
            <a:endParaRPr lang="en-US" dirty="0"/>
          </a:p>
        </p:txBody>
      </p:sp>
      <p:sp>
        <p:nvSpPr>
          <p:cNvPr id="4" name="Rectangle 3">
            <a:extLst>
              <a:ext uri="{FF2B5EF4-FFF2-40B4-BE49-F238E27FC236}">
                <a16:creationId xmlns:a16="http://schemas.microsoft.com/office/drawing/2014/main" id="{F6A318C7-24CE-4907-92E2-70A183BB60F3}"/>
              </a:ext>
            </a:extLst>
          </p:cNvPr>
          <p:cNvSpPr/>
          <p:nvPr/>
        </p:nvSpPr>
        <p:spPr>
          <a:xfrm>
            <a:off x="419450" y="2391794"/>
            <a:ext cx="8414157" cy="3816429"/>
          </a:xfrm>
          <a:prstGeom prst="rect">
            <a:avLst/>
          </a:prstGeom>
        </p:spPr>
        <p:txBody>
          <a:bodyPr wrap="square">
            <a:spAutoFit/>
          </a:bodyPr>
          <a:lstStyle/>
          <a:p>
            <a:r>
              <a:rPr lang="en-US" sz="5400" dirty="0"/>
              <a:t>   USE &lt;CSDL&gt;;</a:t>
            </a:r>
          </a:p>
          <a:p>
            <a:endParaRPr lang="en-US" sz="5400" dirty="0"/>
          </a:p>
          <a:p>
            <a:r>
              <a:rPr lang="en-US" sz="4000" dirty="0">
                <a:hlinkClick r:id="rId2"/>
              </a:rPr>
              <a:t>https://www.mysqltutorial.org/</a:t>
            </a:r>
            <a:endParaRPr lang="en-US" sz="4000" dirty="0"/>
          </a:p>
          <a:p>
            <a:endParaRPr lang="en-US" sz="4000" dirty="0"/>
          </a:p>
          <a:p>
            <a:r>
              <a:rPr lang="en-US" sz="5400" dirty="0"/>
              <a:t>	‘2005-04%’</a:t>
            </a:r>
          </a:p>
        </p:txBody>
      </p:sp>
    </p:spTree>
    <p:extLst>
      <p:ext uri="{BB962C8B-B14F-4D97-AF65-F5344CB8AC3E}">
        <p14:creationId xmlns:p14="http://schemas.microsoft.com/office/powerpoint/2010/main" val="21492250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6210" name="Rectangle 2">
            <a:extLst>
              <a:ext uri="{FF2B5EF4-FFF2-40B4-BE49-F238E27FC236}">
                <a16:creationId xmlns:a16="http://schemas.microsoft.com/office/drawing/2014/main" id="{CDDBA7DC-92E3-410F-B10A-317BAF5A6BA8}"/>
              </a:ext>
            </a:extLst>
          </p:cNvPr>
          <p:cNvSpPr>
            <a:spLocks noGrp="1" noChangeArrowheads="1"/>
          </p:cNvSpPr>
          <p:nvPr>
            <p:ph type="title"/>
          </p:nvPr>
        </p:nvSpPr>
        <p:spPr>
          <a:xfrm>
            <a:off x="1981200" y="354013"/>
            <a:ext cx="8229600" cy="620712"/>
          </a:xfrm>
        </p:spPr>
        <p:txBody>
          <a:bodyPr>
            <a:normAutofit fontScale="90000"/>
          </a:bodyPr>
          <a:lstStyle/>
          <a:p>
            <a:r>
              <a:rPr lang="en-US" altLang="en-US" sz="3500"/>
              <a:t>Ví dụ</a:t>
            </a:r>
          </a:p>
        </p:txBody>
      </p:sp>
      <p:sp>
        <p:nvSpPr>
          <p:cNvPr id="606211" name="Text Box 3">
            <a:extLst>
              <a:ext uri="{FF2B5EF4-FFF2-40B4-BE49-F238E27FC236}">
                <a16:creationId xmlns:a16="http://schemas.microsoft.com/office/drawing/2014/main" id="{86E2AF84-1E42-4109-809B-6C2D62EDF5D9}"/>
              </a:ext>
            </a:extLst>
          </p:cNvPr>
          <p:cNvSpPr txBox="1">
            <a:spLocks noChangeArrowheads="1"/>
          </p:cNvSpPr>
          <p:nvPr/>
        </p:nvSpPr>
        <p:spPr bwMode="auto">
          <a:xfrm>
            <a:off x="3505200" y="1981200"/>
            <a:ext cx="42672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en-US" dirty="0">
                <a:solidFill>
                  <a:srgbClr val="0000CC"/>
                </a:solidFill>
              </a:rPr>
              <a:t>SELECT </a:t>
            </a:r>
            <a:r>
              <a:rPr lang="en-US" altLang="en-US" dirty="0"/>
              <a:t>*</a:t>
            </a:r>
          </a:p>
          <a:p>
            <a:pPr algn="l"/>
            <a:r>
              <a:rPr lang="en-US" altLang="en-US" dirty="0">
                <a:solidFill>
                  <a:srgbClr val="0000CC"/>
                </a:solidFill>
              </a:rPr>
              <a:t>FROM</a:t>
            </a:r>
            <a:r>
              <a:rPr lang="en-US" altLang="en-US" dirty="0"/>
              <a:t> NHANVIEN</a:t>
            </a:r>
            <a:endParaRPr lang="en-US" altLang="en-US" dirty="0">
              <a:solidFill>
                <a:srgbClr val="0000CC"/>
              </a:solidFill>
            </a:endParaRPr>
          </a:p>
          <a:p>
            <a:pPr algn="l"/>
            <a:r>
              <a:rPr lang="en-US" altLang="en-US" dirty="0">
                <a:solidFill>
                  <a:srgbClr val="0000CC"/>
                </a:solidFill>
              </a:rPr>
              <a:t>WHERE</a:t>
            </a:r>
            <a:r>
              <a:rPr lang="en-US" altLang="en-US" dirty="0"/>
              <a:t> PHG=5</a:t>
            </a:r>
            <a:endParaRPr lang="en-US" altLang="en-US" dirty="0">
              <a:solidFill>
                <a:srgbClr val="CC0000"/>
              </a:solidFill>
            </a:endParaRPr>
          </a:p>
        </p:txBody>
      </p:sp>
      <p:sp>
        <p:nvSpPr>
          <p:cNvPr id="606212" name="Text Box 4">
            <a:extLst>
              <a:ext uri="{FF2B5EF4-FFF2-40B4-BE49-F238E27FC236}">
                <a16:creationId xmlns:a16="http://schemas.microsoft.com/office/drawing/2014/main" id="{9ADE1E59-2969-416A-9F4C-CB99E575903D}"/>
              </a:ext>
            </a:extLst>
          </p:cNvPr>
          <p:cNvSpPr txBox="1">
            <a:spLocks noChangeArrowheads="1"/>
          </p:cNvSpPr>
          <p:nvPr/>
        </p:nvSpPr>
        <p:spPr bwMode="auto">
          <a:xfrm>
            <a:off x="5943600" y="1524000"/>
            <a:ext cx="1905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a:t>Lấy tất cả các cột của quan hệ kết quả</a:t>
            </a:r>
          </a:p>
        </p:txBody>
      </p:sp>
      <p:sp>
        <p:nvSpPr>
          <p:cNvPr id="606213" name="Line 5">
            <a:extLst>
              <a:ext uri="{FF2B5EF4-FFF2-40B4-BE49-F238E27FC236}">
                <a16:creationId xmlns:a16="http://schemas.microsoft.com/office/drawing/2014/main" id="{30B1D716-87F3-4CE1-B988-6338686456E2}"/>
              </a:ext>
            </a:extLst>
          </p:cNvPr>
          <p:cNvSpPr>
            <a:spLocks noChangeShapeType="1"/>
          </p:cNvSpPr>
          <p:nvPr/>
        </p:nvSpPr>
        <p:spPr bwMode="auto">
          <a:xfrm flipV="1">
            <a:off x="4648200" y="1828800"/>
            <a:ext cx="1447800" cy="304800"/>
          </a:xfrm>
          <a:prstGeom prst="line">
            <a:avLst/>
          </a:prstGeom>
          <a:noFill/>
          <a:ln w="12700">
            <a:solidFill>
              <a:srgbClr val="777777"/>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606214" name="Text Box 6">
            <a:extLst>
              <a:ext uri="{FF2B5EF4-FFF2-40B4-BE49-F238E27FC236}">
                <a16:creationId xmlns:a16="http://schemas.microsoft.com/office/drawing/2014/main" id="{E75E0D53-8BEA-43E3-A905-DDFF7C3D39F8}"/>
              </a:ext>
            </a:extLst>
          </p:cNvPr>
          <p:cNvSpPr txBox="1">
            <a:spLocks noChangeArrowheads="1"/>
          </p:cNvSpPr>
          <p:nvPr/>
        </p:nvSpPr>
        <p:spPr bwMode="auto">
          <a:xfrm>
            <a:off x="3276600" y="5486401"/>
            <a:ext cx="5029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4000">
                <a:sym typeface="Symbol" panose="05050102010706020507" pitchFamily="18" charset="2"/>
              </a:rPr>
              <a:t></a:t>
            </a:r>
            <a:r>
              <a:rPr lang="en-US" altLang="en-US" sz="2200" baseline="-25000">
                <a:sym typeface="Symbol" panose="05050102010706020507" pitchFamily="18" charset="2"/>
              </a:rPr>
              <a:t>PHG=5 </a:t>
            </a:r>
            <a:r>
              <a:rPr lang="en-US" altLang="en-US" sz="2200">
                <a:sym typeface="Symbol" panose="05050102010706020507" pitchFamily="18" charset="2"/>
              </a:rPr>
              <a:t>(NHANVIEN)</a:t>
            </a:r>
            <a:endParaRPr lang="en-US" altLang="en-US" sz="2200" baseline="-25000"/>
          </a:p>
        </p:txBody>
      </p:sp>
      <p:grpSp>
        <p:nvGrpSpPr>
          <p:cNvPr id="606286" name="Group 78">
            <a:extLst>
              <a:ext uri="{FF2B5EF4-FFF2-40B4-BE49-F238E27FC236}">
                <a16:creationId xmlns:a16="http://schemas.microsoft.com/office/drawing/2014/main" id="{680E7142-7307-431B-B5AD-8E8004E4AD85}"/>
              </a:ext>
            </a:extLst>
          </p:cNvPr>
          <p:cNvGrpSpPr>
            <a:grpSpLocks/>
          </p:cNvGrpSpPr>
          <p:nvPr/>
        </p:nvGrpSpPr>
        <p:grpSpPr bwMode="auto">
          <a:xfrm>
            <a:off x="1600200" y="3657600"/>
            <a:ext cx="8991600" cy="1066800"/>
            <a:chOff x="48" y="2304"/>
            <a:chExt cx="5664" cy="672"/>
          </a:xfrm>
        </p:grpSpPr>
        <p:sp>
          <p:nvSpPr>
            <p:cNvPr id="606216" name="Line 8">
              <a:extLst>
                <a:ext uri="{FF2B5EF4-FFF2-40B4-BE49-F238E27FC236}">
                  <a16:creationId xmlns:a16="http://schemas.microsoft.com/office/drawing/2014/main" id="{66E35A02-6427-4AA5-A923-3087FBD36D09}"/>
                </a:ext>
              </a:extLst>
            </p:cNvPr>
            <p:cNvSpPr>
              <a:spLocks noChangeShapeType="1"/>
            </p:cNvSpPr>
            <p:nvPr/>
          </p:nvSpPr>
          <p:spPr bwMode="auto">
            <a:xfrm>
              <a:off x="48" y="2496"/>
              <a:ext cx="566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606218" name="Text Box 10">
              <a:extLst>
                <a:ext uri="{FF2B5EF4-FFF2-40B4-BE49-F238E27FC236}">
                  <a16:creationId xmlns:a16="http://schemas.microsoft.com/office/drawing/2014/main" id="{848E70CF-D09C-4834-922E-BD315A8DE7B9}"/>
                </a:ext>
              </a:extLst>
            </p:cNvPr>
            <p:cNvSpPr txBox="1">
              <a:spLocks noChangeArrowheads="1"/>
            </p:cNvSpPr>
            <p:nvPr/>
          </p:nvSpPr>
          <p:spPr bwMode="auto">
            <a:xfrm>
              <a:off x="1728" y="2304"/>
              <a:ext cx="52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dirty="0"/>
                <a:t>TENNV</a:t>
              </a:r>
            </a:p>
          </p:txBody>
        </p:sp>
        <p:sp>
          <p:nvSpPr>
            <p:cNvPr id="606219" name="Text Box 11">
              <a:extLst>
                <a:ext uri="{FF2B5EF4-FFF2-40B4-BE49-F238E27FC236}">
                  <a16:creationId xmlns:a16="http://schemas.microsoft.com/office/drawing/2014/main" id="{A725E271-6B88-4698-8C3E-C4E39BE50805}"/>
                </a:ext>
              </a:extLst>
            </p:cNvPr>
            <p:cNvSpPr txBox="1">
              <a:spLocks noChangeArrowheads="1"/>
            </p:cNvSpPr>
            <p:nvPr/>
          </p:nvSpPr>
          <p:spPr bwMode="auto">
            <a:xfrm>
              <a:off x="672" y="2304"/>
              <a:ext cx="57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a:t>HONV</a:t>
              </a:r>
            </a:p>
          </p:txBody>
        </p:sp>
        <p:sp>
          <p:nvSpPr>
            <p:cNvPr id="606221" name="Text Box 13">
              <a:extLst>
                <a:ext uri="{FF2B5EF4-FFF2-40B4-BE49-F238E27FC236}">
                  <a16:creationId xmlns:a16="http://schemas.microsoft.com/office/drawing/2014/main" id="{7C3D4209-6F2D-4AE9-870B-13F2D04DDD5B}"/>
                </a:ext>
              </a:extLst>
            </p:cNvPr>
            <p:cNvSpPr txBox="1">
              <a:spLocks noChangeArrowheads="1"/>
            </p:cNvSpPr>
            <p:nvPr/>
          </p:nvSpPr>
          <p:spPr bwMode="auto">
            <a:xfrm>
              <a:off x="2256" y="2304"/>
              <a:ext cx="7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a:t>NGSINH</a:t>
              </a:r>
            </a:p>
          </p:txBody>
        </p:sp>
        <p:sp>
          <p:nvSpPr>
            <p:cNvPr id="606223" name="Text Box 15">
              <a:extLst>
                <a:ext uri="{FF2B5EF4-FFF2-40B4-BE49-F238E27FC236}">
                  <a16:creationId xmlns:a16="http://schemas.microsoft.com/office/drawing/2014/main" id="{BB065139-8FA4-4C9A-B9E3-6CC98C387FA3}"/>
                </a:ext>
              </a:extLst>
            </p:cNvPr>
            <p:cNvSpPr txBox="1">
              <a:spLocks noChangeArrowheads="1"/>
            </p:cNvSpPr>
            <p:nvPr/>
          </p:nvSpPr>
          <p:spPr bwMode="auto">
            <a:xfrm>
              <a:off x="2976" y="2304"/>
              <a:ext cx="7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a:t>DCHI</a:t>
              </a:r>
            </a:p>
          </p:txBody>
        </p:sp>
        <p:sp>
          <p:nvSpPr>
            <p:cNvPr id="606225" name="Text Box 17">
              <a:extLst>
                <a:ext uri="{FF2B5EF4-FFF2-40B4-BE49-F238E27FC236}">
                  <a16:creationId xmlns:a16="http://schemas.microsoft.com/office/drawing/2014/main" id="{D93E87A8-165A-4C5A-8AFE-8DD271C60F26}"/>
                </a:ext>
              </a:extLst>
            </p:cNvPr>
            <p:cNvSpPr txBox="1">
              <a:spLocks noChangeArrowheads="1"/>
            </p:cNvSpPr>
            <p:nvPr/>
          </p:nvSpPr>
          <p:spPr bwMode="auto">
            <a:xfrm>
              <a:off x="3696" y="2304"/>
              <a:ext cx="43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a:t>PHAI</a:t>
              </a:r>
            </a:p>
          </p:txBody>
        </p:sp>
        <p:sp>
          <p:nvSpPr>
            <p:cNvPr id="606227" name="Text Box 19">
              <a:extLst>
                <a:ext uri="{FF2B5EF4-FFF2-40B4-BE49-F238E27FC236}">
                  <a16:creationId xmlns:a16="http://schemas.microsoft.com/office/drawing/2014/main" id="{F17AD19B-FDC2-4E6C-A65F-08B7928BA1A3}"/>
                </a:ext>
              </a:extLst>
            </p:cNvPr>
            <p:cNvSpPr txBox="1">
              <a:spLocks noChangeArrowheads="1"/>
            </p:cNvSpPr>
            <p:nvPr/>
          </p:nvSpPr>
          <p:spPr bwMode="auto">
            <a:xfrm>
              <a:off x="4128" y="2304"/>
              <a:ext cx="52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a:t>LUONG</a:t>
              </a:r>
            </a:p>
          </p:txBody>
        </p:sp>
        <p:sp>
          <p:nvSpPr>
            <p:cNvPr id="606229" name="Text Box 21">
              <a:extLst>
                <a:ext uri="{FF2B5EF4-FFF2-40B4-BE49-F238E27FC236}">
                  <a16:creationId xmlns:a16="http://schemas.microsoft.com/office/drawing/2014/main" id="{E600EA41-5069-4914-A108-CE559FC8283F}"/>
                </a:ext>
              </a:extLst>
            </p:cNvPr>
            <p:cNvSpPr txBox="1">
              <a:spLocks noChangeArrowheads="1"/>
            </p:cNvSpPr>
            <p:nvPr/>
          </p:nvSpPr>
          <p:spPr bwMode="auto">
            <a:xfrm>
              <a:off x="5328" y="2304"/>
              <a:ext cx="38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a:t>PHG</a:t>
              </a:r>
            </a:p>
          </p:txBody>
        </p:sp>
        <p:sp>
          <p:nvSpPr>
            <p:cNvPr id="606230" name="Text Box 22">
              <a:extLst>
                <a:ext uri="{FF2B5EF4-FFF2-40B4-BE49-F238E27FC236}">
                  <a16:creationId xmlns:a16="http://schemas.microsoft.com/office/drawing/2014/main" id="{3BFC5420-6FF7-4889-870A-DCFEA362E27A}"/>
                </a:ext>
              </a:extLst>
            </p:cNvPr>
            <p:cNvSpPr txBox="1">
              <a:spLocks noChangeArrowheads="1"/>
            </p:cNvSpPr>
            <p:nvPr/>
          </p:nvSpPr>
          <p:spPr bwMode="auto">
            <a:xfrm>
              <a:off x="1728" y="2544"/>
              <a:ext cx="52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dirty="0"/>
                <a:t>Tung</a:t>
              </a:r>
            </a:p>
          </p:txBody>
        </p:sp>
        <p:sp>
          <p:nvSpPr>
            <p:cNvPr id="606231" name="Text Box 23">
              <a:extLst>
                <a:ext uri="{FF2B5EF4-FFF2-40B4-BE49-F238E27FC236}">
                  <a16:creationId xmlns:a16="http://schemas.microsoft.com/office/drawing/2014/main" id="{32971D37-8643-42F9-9DE1-8C90F5388A74}"/>
                </a:ext>
              </a:extLst>
            </p:cNvPr>
            <p:cNvSpPr txBox="1">
              <a:spLocks noChangeArrowheads="1"/>
            </p:cNvSpPr>
            <p:nvPr/>
          </p:nvSpPr>
          <p:spPr bwMode="auto">
            <a:xfrm>
              <a:off x="672" y="2544"/>
              <a:ext cx="57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a:t>Nguyen</a:t>
              </a:r>
            </a:p>
          </p:txBody>
        </p:sp>
        <p:sp>
          <p:nvSpPr>
            <p:cNvPr id="606232" name="Text Box 24">
              <a:extLst>
                <a:ext uri="{FF2B5EF4-FFF2-40B4-BE49-F238E27FC236}">
                  <a16:creationId xmlns:a16="http://schemas.microsoft.com/office/drawing/2014/main" id="{820629AB-BE74-4AE8-9E47-539D0D731B74}"/>
                </a:ext>
              </a:extLst>
            </p:cNvPr>
            <p:cNvSpPr txBox="1">
              <a:spLocks noChangeArrowheads="1"/>
            </p:cNvSpPr>
            <p:nvPr/>
          </p:nvSpPr>
          <p:spPr bwMode="auto">
            <a:xfrm>
              <a:off x="2256" y="2544"/>
              <a:ext cx="7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dirty="0"/>
                <a:t>12/08/1955</a:t>
              </a:r>
            </a:p>
          </p:txBody>
        </p:sp>
        <p:sp>
          <p:nvSpPr>
            <p:cNvPr id="606233" name="Text Box 25">
              <a:extLst>
                <a:ext uri="{FF2B5EF4-FFF2-40B4-BE49-F238E27FC236}">
                  <a16:creationId xmlns:a16="http://schemas.microsoft.com/office/drawing/2014/main" id="{DA14A158-ACFF-4110-B0C0-A53805C42202}"/>
                </a:ext>
              </a:extLst>
            </p:cNvPr>
            <p:cNvSpPr txBox="1">
              <a:spLocks noChangeArrowheads="1"/>
            </p:cNvSpPr>
            <p:nvPr/>
          </p:nvSpPr>
          <p:spPr bwMode="auto">
            <a:xfrm>
              <a:off x="2976" y="2544"/>
              <a:ext cx="7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a:t>638 NVC Q5</a:t>
              </a:r>
            </a:p>
          </p:txBody>
        </p:sp>
        <p:sp>
          <p:nvSpPr>
            <p:cNvPr id="606234" name="Text Box 26">
              <a:extLst>
                <a:ext uri="{FF2B5EF4-FFF2-40B4-BE49-F238E27FC236}">
                  <a16:creationId xmlns:a16="http://schemas.microsoft.com/office/drawing/2014/main" id="{96D3AB56-AD0F-44D7-8058-E5D8843E5CBE}"/>
                </a:ext>
              </a:extLst>
            </p:cNvPr>
            <p:cNvSpPr txBox="1">
              <a:spLocks noChangeArrowheads="1"/>
            </p:cNvSpPr>
            <p:nvPr/>
          </p:nvSpPr>
          <p:spPr bwMode="auto">
            <a:xfrm>
              <a:off x="3696" y="2544"/>
              <a:ext cx="43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a:t>Nam</a:t>
              </a:r>
            </a:p>
          </p:txBody>
        </p:sp>
        <p:sp>
          <p:nvSpPr>
            <p:cNvPr id="606235" name="Text Box 27">
              <a:extLst>
                <a:ext uri="{FF2B5EF4-FFF2-40B4-BE49-F238E27FC236}">
                  <a16:creationId xmlns:a16="http://schemas.microsoft.com/office/drawing/2014/main" id="{694BD3E1-A873-401A-8137-2910DB0852B9}"/>
                </a:ext>
              </a:extLst>
            </p:cNvPr>
            <p:cNvSpPr txBox="1">
              <a:spLocks noChangeArrowheads="1"/>
            </p:cNvSpPr>
            <p:nvPr/>
          </p:nvSpPr>
          <p:spPr bwMode="auto">
            <a:xfrm>
              <a:off x="4128" y="2544"/>
              <a:ext cx="52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a:t>40000</a:t>
              </a:r>
            </a:p>
          </p:txBody>
        </p:sp>
        <p:sp>
          <p:nvSpPr>
            <p:cNvPr id="606236" name="Text Box 28">
              <a:extLst>
                <a:ext uri="{FF2B5EF4-FFF2-40B4-BE49-F238E27FC236}">
                  <a16:creationId xmlns:a16="http://schemas.microsoft.com/office/drawing/2014/main" id="{6EB0677C-EC13-4D4A-8EE8-B0D40DAD7A46}"/>
                </a:ext>
              </a:extLst>
            </p:cNvPr>
            <p:cNvSpPr txBox="1">
              <a:spLocks noChangeArrowheads="1"/>
            </p:cNvSpPr>
            <p:nvPr/>
          </p:nvSpPr>
          <p:spPr bwMode="auto">
            <a:xfrm>
              <a:off x="5328" y="2544"/>
              <a:ext cx="38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a:t>5</a:t>
              </a:r>
            </a:p>
          </p:txBody>
        </p:sp>
        <p:sp>
          <p:nvSpPr>
            <p:cNvPr id="606251" name="Text Box 43">
              <a:extLst>
                <a:ext uri="{FF2B5EF4-FFF2-40B4-BE49-F238E27FC236}">
                  <a16:creationId xmlns:a16="http://schemas.microsoft.com/office/drawing/2014/main" id="{2420B3F2-889A-4747-932C-8F2533C7D255}"/>
                </a:ext>
              </a:extLst>
            </p:cNvPr>
            <p:cNvSpPr txBox="1">
              <a:spLocks noChangeArrowheads="1"/>
            </p:cNvSpPr>
            <p:nvPr/>
          </p:nvSpPr>
          <p:spPr bwMode="auto">
            <a:xfrm>
              <a:off x="1728" y="2736"/>
              <a:ext cx="52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dirty="0"/>
                <a:t>Hung</a:t>
              </a:r>
            </a:p>
          </p:txBody>
        </p:sp>
        <p:sp>
          <p:nvSpPr>
            <p:cNvPr id="606252" name="Text Box 44">
              <a:extLst>
                <a:ext uri="{FF2B5EF4-FFF2-40B4-BE49-F238E27FC236}">
                  <a16:creationId xmlns:a16="http://schemas.microsoft.com/office/drawing/2014/main" id="{EA05E87B-2ADB-4582-AA8D-E3FC3B6E2365}"/>
                </a:ext>
              </a:extLst>
            </p:cNvPr>
            <p:cNvSpPr txBox="1">
              <a:spLocks noChangeArrowheads="1"/>
            </p:cNvSpPr>
            <p:nvPr/>
          </p:nvSpPr>
          <p:spPr bwMode="auto">
            <a:xfrm>
              <a:off x="672" y="2736"/>
              <a:ext cx="57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a:t>Nguyen</a:t>
              </a:r>
            </a:p>
          </p:txBody>
        </p:sp>
        <p:sp>
          <p:nvSpPr>
            <p:cNvPr id="606253" name="Text Box 45">
              <a:extLst>
                <a:ext uri="{FF2B5EF4-FFF2-40B4-BE49-F238E27FC236}">
                  <a16:creationId xmlns:a16="http://schemas.microsoft.com/office/drawing/2014/main" id="{A60B28F4-AC8C-4BA5-9AE9-D4FD2E5B8FB9}"/>
                </a:ext>
              </a:extLst>
            </p:cNvPr>
            <p:cNvSpPr txBox="1">
              <a:spLocks noChangeArrowheads="1"/>
            </p:cNvSpPr>
            <p:nvPr/>
          </p:nvSpPr>
          <p:spPr bwMode="auto">
            <a:xfrm>
              <a:off x="2256" y="2736"/>
              <a:ext cx="7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a:t>09/15/1962</a:t>
              </a:r>
            </a:p>
          </p:txBody>
        </p:sp>
        <p:sp>
          <p:nvSpPr>
            <p:cNvPr id="606254" name="Text Box 46">
              <a:extLst>
                <a:ext uri="{FF2B5EF4-FFF2-40B4-BE49-F238E27FC236}">
                  <a16:creationId xmlns:a16="http://schemas.microsoft.com/office/drawing/2014/main" id="{5AC18E71-FB86-449C-A2D8-99B66D7291C5}"/>
                </a:ext>
              </a:extLst>
            </p:cNvPr>
            <p:cNvSpPr txBox="1">
              <a:spLocks noChangeArrowheads="1"/>
            </p:cNvSpPr>
            <p:nvPr/>
          </p:nvSpPr>
          <p:spPr bwMode="auto">
            <a:xfrm>
              <a:off x="2976" y="2736"/>
              <a:ext cx="7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a:t>Ba Ria VT</a:t>
              </a:r>
            </a:p>
          </p:txBody>
        </p:sp>
        <p:sp>
          <p:nvSpPr>
            <p:cNvPr id="606255" name="Text Box 47">
              <a:extLst>
                <a:ext uri="{FF2B5EF4-FFF2-40B4-BE49-F238E27FC236}">
                  <a16:creationId xmlns:a16="http://schemas.microsoft.com/office/drawing/2014/main" id="{A177FD2B-DC03-421D-9168-09D13BB7410A}"/>
                </a:ext>
              </a:extLst>
            </p:cNvPr>
            <p:cNvSpPr txBox="1">
              <a:spLocks noChangeArrowheads="1"/>
            </p:cNvSpPr>
            <p:nvPr/>
          </p:nvSpPr>
          <p:spPr bwMode="auto">
            <a:xfrm>
              <a:off x="3696" y="2736"/>
              <a:ext cx="43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a:t>Nam</a:t>
              </a:r>
            </a:p>
          </p:txBody>
        </p:sp>
        <p:sp>
          <p:nvSpPr>
            <p:cNvPr id="606256" name="Text Box 48">
              <a:extLst>
                <a:ext uri="{FF2B5EF4-FFF2-40B4-BE49-F238E27FC236}">
                  <a16:creationId xmlns:a16="http://schemas.microsoft.com/office/drawing/2014/main" id="{5DD92F59-2077-451D-AF78-19E4D6ABB204}"/>
                </a:ext>
              </a:extLst>
            </p:cNvPr>
            <p:cNvSpPr txBox="1">
              <a:spLocks noChangeArrowheads="1"/>
            </p:cNvSpPr>
            <p:nvPr/>
          </p:nvSpPr>
          <p:spPr bwMode="auto">
            <a:xfrm>
              <a:off x="4128" y="2736"/>
              <a:ext cx="52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a:t>38000</a:t>
              </a:r>
            </a:p>
          </p:txBody>
        </p:sp>
        <p:sp>
          <p:nvSpPr>
            <p:cNvPr id="606257" name="Text Box 49">
              <a:extLst>
                <a:ext uri="{FF2B5EF4-FFF2-40B4-BE49-F238E27FC236}">
                  <a16:creationId xmlns:a16="http://schemas.microsoft.com/office/drawing/2014/main" id="{0878D3D5-C0D8-41D2-A9D8-91BDD3CF841A}"/>
                </a:ext>
              </a:extLst>
            </p:cNvPr>
            <p:cNvSpPr txBox="1">
              <a:spLocks noChangeArrowheads="1"/>
            </p:cNvSpPr>
            <p:nvPr/>
          </p:nvSpPr>
          <p:spPr bwMode="auto">
            <a:xfrm>
              <a:off x="5328" y="2736"/>
              <a:ext cx="38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a:t>5</a:t>
              </a:r>
            </a:p>
          </p:txBody>
        </p:sp>
        <p:sp>
          <p:nvSpPr>
            <p:cNvPr id="606259" name="Text Box 51">
              <a:extLst>
                <a:ext uri="{FF2B5EF4-FFF2-40B4-BE49-F238E27FC236}">
                  <a16:creationId xmlns:a16="http://schemas.microsoft.com/office/drawing/2014/main" id="{A05C76B5-EC91-4503-904F-341C882A7A56}"/>
                </a:ext>
              </a:extLst>
            </p:cNvPr>
            <p:cNvSpPr txBox="1">
              <a:spLocks noChangeArrowheads="1"/>
            </p:cNvSpPr>
            <p:nvPr/>
          </p:nvSpPr>
          <p:spPr bwMode="auto">
            <a:xfrm>
              <a:off x="48" y="2544"/>
              <a:ext cx="6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a:t>333445555</a:t>
              </a:r>
            </a:p>
          </p:txBody>
        </p:sp>
        <p:sp>
          <p:nvSpPr>
            <p:cNvPr id="606260" name="Text Box 52">
              <a:extLst>
                <a:ext uri="{FF2B5EF4-FFF2-40B4-BE49-F238E27FC236}">
                  <a16:creationId xmlns:a16="http://schemas.microsoft.com/office/drawing/2014/main" id="{12B4A479-F795-4E95-AB74-43DB3AB03811}"/>
                </a:ext>
              </a:extLst>
            </p:cNvPr>
            <p:cNvSpPr txBox="1">
              <a:spLocks noChangeArrowheads="1"/>
            </p:cNvSpPr>
            <p:nvPr/>
          </p:nvSpPr>
          <p:spPr bwMode="auto">
            <a:xfrm>
              <a:off x="48" y="2736"/>
              <a:ext cx="6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a:t>987987987</a:t>
              </a:r>
            </a:p>
          </p:txBody>
        </p:sp>
        <p:sp>
          <p:nvSpPr>
            <p:cNvPr id="606263" name="Text Box 55">
              <a:extLst>
                <a:ext uri="{FF2B5EF4-FFF2-40B4-BE49-F238E27FC236}">
                  <a16:creationId xmlns:a16="http://schemas.microsoft.com/office/drawing/2014/main" id="{FC4F8881-74E7-4882-B0AA-CC6AE9BA7CDF}"/>
                </a:ext>
              </a:extLst>
            </p:cNvPr>
            <p:cNvSpPr txBox="1">
              <a:spLocks noChangeArrowheads="1"/>
            </p:cNvSpPr>
            <p:nvPr/>
          </p:nvSpPr>
          <p:spPr bwMode="auto">
            <a:xfrm>
              <a:off x="48" y="2304"/>
              <a:ext cx="6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a:t>MANV</a:t>
              </a:r>
            </a:p>
          </p:txBody>
        </p:sp>
        <p:sp>
          <p:nvSpPr>
            <p:cNvPr id="606264" name="Text Box 56">
              <a:extLst>
                <a:ext uri="{FF2B5EF4-FFF2-40B4-BE49-F238E27FC236}">
                  <a16:creationId xmlns:a16="http://schemas.microsoft.com/office/drawing/2014/main" id="{7C96F51B-5870-485E-9218-EAE5B331953A}"/>
                </a:ext>
              </a:extLst>
            </p:cNvPr>
            <p:cNvSpPr txBox="1">
              <a:spLocks noChangeArrowheads="1"/>
            </p:cNvSpPr>
            <p:nvPr/>
          </p:nvSpPr>
          <p:spPr bwMode="auto">
            <a:xfrm>
              <a:off x="4656" y="2304"/>
              <a:ext cx="6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a:t>MA_NQL</a:t>
              </a:r>
            </a:p>
          </p:txBody>
        </p:sp>
        <p:sp>
          <p:nvSpPr>
            <p:cNvPr id="606266" name="Text Box 58">
              <a:extLst>
                <a:ext uri="{FF2B5EF4-FFF2-40B4-BE49-F238E27FC236}">
                  <a16:creationId xmlns:a16="http://schemas.microsoft.com/office/drawing/2014/main" id="{29AD99B8-CBDB-400D-B5B6-343B40FC7619}"/>
                </a:ext>
              </a:extLst>
            </p:cNvPr>
            <p:cNvSpPr txBox="1">
              <a:spLocks noChangeArrowheads="1"/>
            </p:cNvSpPr>
            <p:nvPr/>
          </p:nvSpPr>
          <p:spPr bwMode="auto">
            <a:xfrm>
              <a:off x="4656" y="2544"/>
              <a:ext cx="6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a:t>888665555</a:t>
              </a:r>
            </a:p>
          </p:txBody>
        </p:sp>
        <p:sp>
          <p:nvSpPr>
            <p:cNvPr id="606267" name="Text Box 59">
              <a:extLst>
                <a:ext uri="{FF2B5EF4-FFF2-40B4-BE49-F238E27FC236}">
                  <a16:creationId xmlns:a16="http://schemas.microsoft.com/office/drawing/2014/main" id="{BAE7E822-A872-4D14-8F2F-77C5EE9E8C04}"/>
                </a:ext>
              </a:extLst>
            </p:cNvPr>
            <p:cNvSpPr txBox="1">
              <a:spLocks noChangeArrowheads="1"/>
            </p:cNvSpPr>
            <p:nvPr/>
          </p:nvSpPr>
          <p:spPr bwMode="auto">
            <a:xfrm>
              <a:off x="4656" y="2736"/>
              <a:ext cx="6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a:t>333445555</a:t>
              </a:r>
            </a:p>
          </p:txBody>
        </p:sp>
        <p:grpSp>
          <p:nvGrpSpPr>
            <p:cNvPr id="606272" name="Group 64">
              <a:extLst>
                <a:ext uri="{FF2B5EF4-FFF2-40B4-BE49-F238E27FC236}">
                  <a16:creationId xmlns:a16="http://schemas.microsoft.com/office/drawing/2014/main" id="{A7AE1F51-036A-435A-9AAE-43E62D94906F}"/>
                </a:ext>
              </a:extLst>
            </p:cNvPr>
            <p:cNvGrpSpPr>
              <a:grpSpLocks/>
            </p:cNvGrpSpPr>
            <p:nvPr/>
          </p:nvGrpSpPr>
          <p:grpSpPr bwMode="auto">
            <a:xfrm>
              <a:off x="720" y="2304"/>
              <a:ext cx="4608" cy="672"/>
              <a:chOff x="720" y="2784"/>
              <a:chExt cx="4608" cy="1008"/>
            </a:xfrm>
          </p:grpSpPr>
          <p:sp>
            <p:nvSpPr>
              <p:cNvPr id="606217" name="Line 9">
                <a:extLst>
                  <a:ext uri="{FF2B5EF4-FFF2-40B4-BE49-F238E27FC236}">
                    <a16:creationId xmlns:a16="http://schemas.microsoft.com/office/drawing/2014/main" id="{51B2E631-2A5B-45D0-8858-192298929F75}"/>
                  </a:ext>
                </a:extLst>
              </p:cNvPr>
              <p:cNvSpPr>
                <a:spLocks noChangeShapeType="1"/>
              </p:cNvSpPr>
              <p:nvPr/>
            </p:nvSpPr>
            <p:spPr bwMode="auto">
              <a:xfrm>
                <a:off x="1728" y="2784"/>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606220" name="Line 12">
                <a:extLst>
                  <a:ext uri="{FF2B5EF4-FFF2-40B4-BE49-F238E27FC236}">
                    <a16:creationId xmlns:a16="http://schemas.microsoft.com/office/drawing/2014/main" id="{9AF2C648-E0AC-4111-A4C9-91C555A64062}"/>
                  </a:ext>
                </a:extLst>
              </p:cNvPr>
              <p:cNvSpPr>
                <a:spLocks noChangeShapeType="1"/>
              </p:cNvSpPr>
              <p:nvPr/>
            </p:nvSpPr>
            <p:spPr bwMode="auto">
              <a:xfrm>
                <a:off x="2256" y="2784"/>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606222" name="Line 14">
                <a:extLst>
                  <a:ext uri="{FF2B5EF4-FFF2-40B4-BE49-F238E27FC236}">
                    <a16:creationId xmlns:a16="http://schemas.microsoft.com/office/drawing/2014/main" id="{A0908DD6-7D34-416B-9194-8CFB5CF6A753}"/>
                  </a:ext>
                </a:extLst>
              </p:cNvPr>
              <p:cNvSpPr>
                <a:spLocks noChangeShapeType="1"/>
              </p:cNvSpPr>
              <p:nvPr/>
            </p:nvSpPr>
            <p:spPr bwMode="auto">
              <a:xfrm>
                <a:off x="2976" y="2784"/>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606224" name="Line 16">
                <a:extLst>
                  <a:ext uri="{FF2B5EF4-FFF2-40B4-BE49-F238E27FC236}">
                    <a16:creationId xmlns:a16="http://schemas.microsoft.com/office/drawing/2014/main" id="{EDAF382C-B1A1-40EB-8E6D-BA35A4883E74}"/>
                  </a:ext>
                </a:extLst>
              </p:cNvPr>
              <p:cNvSpPr>
                <a:spLocks noChangeShapeType="1"/>
              </p:cNvSpPr>
              <p:nvPr/>
            </p:nvSpPr>
            <p:spPr bwMode="auto">
              <a:xfrm>
                <a:off x="3696" y="2784"/>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606226" name="Line 18">
                <a:extLst>
                  <a:ext uri="{FF2B5EF4-FFF2-40B4-BE49-F238E27FC236}">
                    <a16:creationId xmlns:a16="http://schemas.microsoft.com/office/drawing/2014/main" id="{43CBA46B-436F-4BED-B2D5-C397F4CCDB2A}"/>
                  </a:ext>
                </a:extLst>
              </p:cNvPr>
              <p:cNvSpPr>
                <a:spLocks noChangeShapeType="1"/>
              </p:cNvSpPr>
              <p:nvPr/>
            </p:nvSpPr>
            <p:spPr bwMode="auto">
              <a:xfrm>
                <a:off x="4128" y="2784"/>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606228" name="Line 20">
                <a:extLst>
                  <a:ext uri="{FF2B5EF4-FFF2-40B4-BE49-F238E27FC236}">
                    <a16:creationId xmlns:a16="http://schemas.microsoft.com/office/drawing/2014/main" id="{F051400D-7A1F-434E-83DD-0B6E6A6AB25C}"/>
                  </a:ext>
                </a:extLst>
              </p:cNvPr>
              <p:cNvSpPr>
                <a:spLocks noChangeShapeType="1"/>
              </p:cNvSpPr>
              <p:nvPr/>
            </p:nvSpPr>
            <p:spPr bwMode="auto">
              <a:xfrm>
                <a:off x="4656" y="2784"/>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606258" name="Line 50">
                <a:extLst>
                  <a:ext uri="{FF2B5EF4-FFF2-40B4-BE49-F238E27FC236}">
                    <a16:creationId xmlns:a16="http://schemas.microsoft.com/office/drawing/2014/main" id="{F20F7AB1-B320-459F-976E-4D0FF8969A43}"/>
                  </a:ext>
                </a:extLst>
              </p:cNvPr>
              <p:cNvSpPr>
                <a:spLocks noChangeShapeType="1"/>
              </p:cNvSpPr>
              <p:nvPr/>
            </p:nvSpPr>
            <p:spPr bwMode="auto">
              <a:xfrm>
                <a:off x="1200" y="2784"/>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606265" name="Line 57">
                <a:extLst>
                  <a:ext uri="{FF2B5EF4-FFF2-40B4-BE49-F238E27FC236}">
                    <a16:creationId xmlns:a16="http://schemas.microsoft.com/office/drawing/2014/main" id="{9BFFBA2F-D822-4786-B36D-E295A27A82C1}"/>
                  </a:ext>
                </a:extLst>
              </p:cNvPr>
              <p:cNvSpPr>
                <a:spLocks noChangeShapeType="1"/>
              </p:cNvSpPr>
              <p:nvPr/>
            </p:nvSpPr>
            <p:spPr bwMode="auto">
              <a:xfrm>
                <a:off x="5328" y="2784"/>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606268" name="Line 60">
                <a:extLst>
                  <a:ext uri="{FF2B5EF4-FFF2-40B4-BE49-F238E27FC236}">
                    <a16:creationId xmlns:a16="http://schemas.microsoft.com/office/drawing/2014/main" id="{49714DB4-3B41-4201-B0FB-781BFDC40855}"/>
                  </a:ext>
                </a:extLst>
              </p:cNvPr>
              <p:cNvSpPr>
                <a:spLocks noChangeShapeType="1"/>
              </p:cNvSpPr>
              <p:nvPr/>
            </p:nvSpPr>
            <p:spPr bwMode="auto">
              <a:xfrm>
                <a:off x="720" y="2784"/>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sp>
          <p:nvSpPr>
            <p:cNvPr id="606269" name="Text Box 61">
              <a:extLst>
                <a:ext uri="{FF2B5EF4-FFF2-40B4-BE49-F238E27FC236}">
                  <a16:creationId xmlns:a16="http://schemas.microsoft.com/office/drawing/2014/main" id="{7DC36FD6-2417-43CD-BE25-B8A1D93BB22A}"/>
                </a:ext>
              </a:extLst>
            </p:cNvPr>
            <p:cNvSpPr txBox="1">
              <a:spLocks noChangeArrowheads="1"/>
            </p:cNvSpPr>
            <p:nvPr/>
          </p:nvSpPr>
          <p:spPr bwMode="auto">
            <a:xfrm>
              <a:off x="1200" y="2304"/>
              <a:ext cx="52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a:t>TENLOT</a:t>
              </a:r>
            </a:p>
          </p:txBody>
        </p:sp>
        <p:sp>
          <p:nvSpPr>
            <p:cNvPr id="606270" name="Text Box 62">
              <a:extLst>
                <a:ext uri="{FF2B5EF4-FFF2-40B4-BE49-F238E27FC236}">
                  <a16:creationId xmlns:a16="http://schemas.microsoft.com/office/drawing/2014/main" id="{1D553678-3C86-4A0C-9DC1-32AF4883CB26}"/>
                </a:ext>
              </a:extLst>
            </p:cNvPr>
            <p:cNvSpPr txBox="1">
              <a:spLocks noChangeArrowheads="1"/>
            </p:cNvSpPr>
            <p:nvPr/>
          </p:nvSpPr>
          <p:spPr bwMode="auto">
            <a:xfrm>
              <a:off x="1200" y="2544"/>
              <a:ext cx="52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a:t>Thanh</a:t>
              </a:r>
            </a:p>
          </p:txBody>
        </p:sp>
        <p:sp>
          <p:nvSpPr>
            <p:cNvPr id="606271" name="Text Box 63">
              <a:extLst>
                <a:ext uri="{FF2B5EF4-FFF2-40B4-BE49-F238E27FC236}">
                  <a16:creationId xmlns:a16="http://schemas.microsoft.com/office/drawing/2014/main" id="{998AC0EC-B379-4CDB-BD2E-B7E590FBD63A}"/>
                </a:ext>
              </a:extLst>
            </p:cNvPr>
            <p:cNvSpPr txBox="1">
              <a:spLocks noChangeArrowheads="1"/>
            </p:cNvSpPr>
            <p:nvPr/>
          </p:nvSpPr>
          <p:spPr bwMode="auto">
            <a:xfrm>
              <a:off x="1200" y="2736"/>
              <a:ext cx="52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a:t>Manh</a:t>
              </a: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4F6BF-0FA6-4CDF-97FF-983B24473243}"/>
              </a:ext>
            </a:extLst>
          </p:cNvPr>
          <p:cNvSpPr>
            <a:spLocks noGrp="1"/>
          </p:cNvSpPr>
          <p:nvPr>
            <p:ph type="title"/>
          </p:nvPr>
        </p:nvSpPr>
        <p:spPr/>
        <p:txBody>
          <a:bodyPr/>
          <a:lstStyle/>
          <a:p>
            <a:r>
              <a:rPr lang="en-US" dirty="0" err="1"/>
              <a:t>Các</a:t>
            </a:r>
            <a:r>
              <a:rPr lang="en-US" dirty="0"/>
              <a:t> </a:t>
            </a:r>
            <a:r>
              <a:rPr lang="en-US" dirty="0" err="1"/>
              <a:t>toán</a:t>
            </a:r>
            <a:r>
              <a:rPr lang="en-US" dirty="0"/>
              <a:t> </a:t>
            </a:r>
            <a:r>
              <a:rPr lang="en-US" dirty="0" err="1"/>
              <a:t>tử</a:t>
            </a:r>
            <a:endParaRPr lang="en-US" dirty="0"/>
          </a:p>
        </p:txBody>
      </p:sp>
      <p:sp>
        <p:nvSpPr>
          <p:cNvPr id="3" name="Content Placeholder 2">
            <a:extLst>
              <a:ext uri="{FF2B5EF4-FFF2-40B4-BE49-F238E27FC236}">
                <a16:creationId xmlns:a16="http://schemas.microsoft.com/office/drawing/2014/main" id="{ED21B24D-A2BA-4018-B509-AB254726D42E}"/>
              </a:ext>
            </a:extLst>
          </p:cNvPr>
          <p:cNvSpPr>
            <a:spLocks noGrp="1"/>
          </p:cNvSpPr>
          <p:nvPr>
            <p:ph idx="1"/>
          </p:nvPr>
        </p:nvSpPr>
        <p:spPr>
          <a:xfrm>
            <a:off x="677334" y="1795244"/>
            <a:ext cx="8596668" cy="4237729"/>
          </a:xfrm>
        </p:spPr>
        <p:txBody>
          <a:bodyPr/>
          <a:lstStyle/>
          <a:p>
            <a:r>
              <a:rPr lang="en-US" i="1" dirty="0"/>
              <a:t>IN, BETWEEN, LIKE, </a:t>
            </a:r>
            <a:r>
              <a:rPr lang="en-US" i="1" dirty="0" err="1"/>
              <a:t>Thuộc</a:t>
            </a:r>
            <a:r>
              <a:rPr lang="en-US" i="1" dirty="0"/>
              <a:t> </a:t>
            </a:r>
            <a:r>
              <a:rPr lang="en-US" i="1" dirty="0" err="1"/>
              <a:t>tính</a:t>
            </a:r>
            <a:r>
              <a:rPr lang="en-US" i="1" dirty="0"/>
              <a:t> </a:t>
            </a:r>
            <a:r>
              <a:rPr lang="en-US" i="1" dirty="0" err="1"/>
              <a:t>suy</a:t>
            </a:r>
            <a:r>
              <a:rPr lang="en-US" i="1" dirty="0"/>
              <a:t> </a:t>
            </a:r>
            <a:r>
              <a:rPr lang="en-US" i="1" dirty="0" err="1"/>
              <a:t>diễn</a:t>
            </a:r>
            <a:r>
              <a:rPr lang="en-US" i="1" dirty="0"/>
              <a:t>. </a:t>
            </a:r>
          </a:p>
          <a:p>
            <a:r>
              <a:rPr lang="en-US" i="1" dirty="0"/>
              <a:t>ORDER BY</a:t>
            </a:r>
          </a:p>
          <a:p>
            <a:r>
              <a:rPr lang="en-US" dirty="0"/>
              <a:t>Union</a:t>
            </a:r>
          </a:p>
          <a:p>
            <a:r>
              <a:rPr lang="en-US" dirty="0"/>
              <a:t>Create Table</a:t>
            </a:r>
          </a:p>
          <a:p>
            <a:r>
              <a:rPr lang="en-US" dirty="0"/>
              <a:t>Join</a:t>
            </a:r>
          </a:p>
          <a:p>
            <a:endParaRPr lang="en-US" dirty="0"/>
          </a:p>
          <a:p>
            <a:endParaRPr lang="en-US" dirty="0"/>
          </a:p>
        </p:txBody>
      </p:sp>
    </p:spTree>
    <p:extLst>
      <p:ext uri="{BB962C8B-B14F-4D97-AF65-F5344CB8AC3E}">
        <p14:creationId xmlns:p14="http://schemas.microsoft.com/office/powerpoint/2010/main" val="18692237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950C0-D257-4F71-BCFB-C2CC557458AF}"/>
              </a:ext>
            </a:extLst>
          </p:cNvPr>
          <p:cNvSpPr>
            <a:spLocks noGrp="1"/>
          </p:cNvSpPr>
          <p:nvPr>
            <p:ph type="title"/>
          </p:nvPr>
        </p:nvSpPr>
        <p:spPr/>
        <p:txBody>
          <a:bodyPr/>
          <a:lstStyle/>
          <a:p>
            <a:r>
              <a:rPr lang="en-US" dirty="0" err="1"/>
              <a:t>Toán</a:t>
            </a:r>
            <a:r>
              <a:rPr lang="en-US" dirty="0"/>
              <a:t> </a:t>
            </a:r>
            <a:r>
              <a:rPr lang="en-US" dirty="0" err="1"/>
              <a:t>tử</a:t>
            </a:r>
            <a:r>
              <a:rPr lang="en-US" dirty="0"/>
              <a:t>:  IN</a:t>
            </a:r>
          </a:p>
        </p:txBody>
      </p:sp>
      <p:sp>
        <p:nvSpPr>
          <p:cNvPr id="3" name="Content Placeholder 2">
            <a:extLst>
              <a:ext uri="{FF2B5EF4-FFF2-40B4-BE49-F238E27FC236}">
                <a16:creationId xmlns:a16="http://schemas.microsoft.com/office/drawing/2014/main" id="{B9EAA8F1-28BA-41FC-A6EA-1961A525AD42}"/>
              </a:ext>
            </a:extLst>
          </p:cNvPr>
          <p:cNvSpPr>
            <a:spLocks noGrp="1"/>
          </p:cNvSpPr>
          <p:nvPr>
            <p:ph idx="1"/>
          </p:nvPr>
        </p:nvSpPr>
        <p:spPr>
          <a:xfrm>
            <a:off x="677334" y="1543574"/>
            <a:ext cx="8596668" cy="4497789"/>
          </a:xfrm>
        </p:spPr>
        <p:txBody>
          <a:bodyPr/>
          <a:lstStyle/>
          <a:p>
            <a:r>
              <a:rPr lang="en-US" b="1" dirty="0" err="1"/>
              <a:t>Toán</a:t>
            </a:r>
            <a:r>
              <a:rPr lang="en-US" b="1" dirty="0"/>
              <a:t> </a:t>
            </a:r>
            <a:r>
              <a:rPr lang="en-US" b="1" dirty="0" err="1"/>
              <a:t>tử</a:t>
            </a:r>
            <a:r>
              <a:rPr lang="en-US" b="1" dirty="0"/>
              <a:t> IN </a:t>
            </a:r>
            <a:endParaRPr lang="en-US" dirty="0"/>
          </a:p>
          <a:p>
            <a:r>
              <a:rPr lang="vi-VN" dirty="0"/>
              <a:t>Toán tử IN cho phép chọn giá trị phù hợp từ một tập các giá trị. Cú pháp sử dụng như sau: </a:t>
            </a:r>
          </a:p>
          <a:p>
            <a:pPr marL="457200" lvl="1" indent="0">
              <a:buNone/>
            </a:pPr>
            <a:r>
              <a:rPr lang="en-US" dirty="0"/>
              <a:t>     </a:t>
            </a:r>
            <a:r>
              <a:rPr lang="en-US" dirty="0">
                <a:solidFill>
                  <a:srgbClr val="FF0000"/>
                </a:solidFill>
              </a:rPr>
              <a:t>SELECT</a:t>
            </a:r>
            <a:r>
              <a:rPr lang="en-US" dirty="0"/>
              <a:t> </a:t>
            </a:r>
            <a:r>
              <a:rPr lang="en-US" dirty="0" err="1"/>
              <a:t>danh</a:t>
            </a:r>
            <a:r>
              <a:rPr lang="en-US" dirty="0"/>
              <a:t> </a:t>
            </a:r>
            <a:r>
              <a:rPr lang="en-US" dirty="0" err="1"/>
              <a:t>sách</a:t>
            </a:r>
            <a:r>
              <a:rPr lang="en-US" dirty="0"/>
              <a:t> </a:t>
            </a:r>
            <a:r>
              <a:rPr lang="en-US" dirty="0" err="1"/>
              <a:t>các</a:t>
            </a:r>
            <a:r>
              <a:rPr lang="en-US" dirty="0"/>
              <a:t> </a:t>
            </a:r>
            <a:r>
              <a:rPr lang="en-US" dirty="0" err="1"/>
              <a:t>cột</a:t>
            </a:r>
            <a:r>
              <a:rPr lang="en-US" dirty="0"/>
              <a:t> </a:t>
            </a:r>
          </a:p>
          <a:p>
            <a:pPr marL="457200" lvl="1" indent="0">
              <a:buNone/>
            </a:pPr>
            <a:r>
              <a:rPr lang="en-US" dirty="0"/>
              <a:t>     </a:t>
            </a:r>
            <a:r>
              <a:rPr lang="en-US" dirty="0">
                <a:solidFill>
                  <a:srgbClr val="FF0000"/>
                </a:solidFill>
              </a:rPr>
              <a:t>FROM</a:t>
            </a:r>
            <a:r>
              <a:rPr lang="en-US" dirty="0"/>
              <a:t> </a:t>
            </a:r>
            <a:r>
              <a:rPr lang="en-US" dirty="0" err="1"/>
              <a:t>tên</a:t>
            </a:r>
            <a:r>
              <a:rPr lang="en-US" dirty="0"/>
              <a:t> </a:t>
            </a:r>
            <a:r>
              <a:rPr lang="en-US" dirty="0" err="1"/>
              <a:t>bảng</a:t>
            </a:r>
            <a:r>
              <a:rPr lang="en-US" dirty="0"/>
              <a:t> </a:t>
            </a:r>
          </a:p>
          <a:p>
            <a:pPr marL="457200" lvl="1" indent="0">
              <a:buNone/>
            </a:pPr>
            <a:r>
              <a:rPr lang="en-US" dirty="0"/>
              <a:t>     </a:t>
            </a:r>
            <a:r>
              <a:rPr lang="en-US" dirty="0">
                <a:solidFill>
                  <a:srgbClr val="FF0000"/>
                </a:solidFill>
              </a:rPr>
              <a:t>WHERE</a:t>
            </a:r>
            <a:r>
              <a:rPr lang="en-US" dirty="0"/>
              <a:t> </a:t>
            </a:r>
            <a:r>
              <a:rPr lang="en-US" dirty="0" err="1"/>
              <a:t>cột</a:t>
            </a:r>
            <a:r>
              <a:rPr lang="en-US" dirty="0"/>
              <a:t> </a:t>
            </a:r>
            <a:r>
              <a:rPr lang="en-US" dirty="0">
                <a:solidFill>
                  <a:srgbClr val="FF0000"/>
                </a:solidFill>
              </a:rPr>
              <a:t>IN</a:t>
            </a:r>
            <a:r>
              <a:rPr lang="en-US" dirty="0"/>
              <a:t> ("</a:t>
            </a:r>
            <a:r>
              <a:rPr lang="en-US" dirty="0" err="1"/>
              <a:t>giá</a:t>
            </a:r>
            <a:r>
              <a:rPr lang="en-US" dirty="0"/>
              <a:t> </a:t>
            </a:r>
            <a:r>
              <a:rPr lang="en-US" dirty="0" err="1"/>
              <a:t>trị</a:t>
            </a:r>
            <a:r>
              <a:rPr lang="en-US" dirty="0"/>
              <a:t> 1","giá </a:t>
            </a:r>
            <a:r>
              <a:rPr lang="en-US" dirty="0" err="1"/>
              <a:t>trị</a:t>
            </a:r>
            <a:r>
              <a:rPr lang="en-US" dirty="0"/>
              <a:t> 2"…) </a:t>
            </a:r>
          </a:p>
          <a:p>
            <a:pPr marL="457200" lvl="1" indent="0">
              <a:buNone/>
            </a:pPr>
            <a:r>
              <a:rPr lang="en-US" dirty="0"/>
              <a:t>	</a:t>
            </a:r>
          </a:p>
          <a:p>
            <a:r>
              <a:rPr lang="en-US" dirty="0" err="1"/>
              <a:t>Ví</a:t>
            </a:r>
            <a:r>
              <a:rPr lang="en-US" dirty="0"/>
              <a:t> </a:t>
            </a:r>
            <a:r>
              <a:rPr lang="en-US" dirty="0" err="1"/>
              <a:t>dụ</a:t>
            </a:r>
            <a:r>
              <a:rPr lang="en-US" dirty="0"/>
              <a:t>:</a:t>
            </a:r>
          </a:p>
          <a:p>
            <a:pPr marL="457200" lvl="1" indent="0">
              <a:buNone/>
            </a:pPr>
            <a:r>
              <a:rPr lang="en-US" dirty="0"/>
              <a:t>    </a:t>
            </a:r>
            <a:r>
              <a:rPr lang="en-US" dirty="0">
                <a:solidFill>
                  <a:srgbClr val="FF0000"/>
                </a:solidFill>
              </a:rPr>
              <a:t>SELECT</a:t>
            </a:r>
            <a:r>
              <a:rPr lang="en-US" dirty="0"/>
              <a:t> </a:t>
            </a:r>
            <a:r>
              <a:rPr lang="en-US" dirty="0" err="1"/>
              <a:t>officeCode</a:t>
            </a:r>
            <a:r>
              <a:rPr lang="en-US" dirty="0"/>
              <a:t>, city, phone  </a:t>
            </a:r>
          </a:p>
          <a:p>
            <a:pPr marL="457200" lvl="1" indent="0">
              <a:buNone/>
            </a:pPr>
            <a:r>
              <a:rPr lang="en-US" dirty="0"/>
              <a:t>    </a:t>
            </a:r>
            <a:r>
              <a:rPr lang="en-US" dirty="0">
                <a:solidFill>
                  <a:srgbClr val="FF0000"/>
                </a:solidFill>
              </a:rPr>
              <a:t>FROM</a:t>
            </a:r>
            <a:r>
              <a:rPr lang="en-US" dirty="0"/>
              <a:t> offices</a:t>
            </a:r>
          </a:p>
          <a:p>
            <a:pPr marL="457200" lvl="1" indent="0">
              <a:buNone/>
            </a:pPr>
            <a:r>
              <a:rPr lang="en-US" dirty="0"/>
              <a:t>    </a:t>
            </a:r>
            <a:r>
              <a:rPr lang="en-US" dirty="0">
                <a:solidFill>
                  <a:srgbClr val="FF0000"/>
                </a:solidFill>
              </a:rPr>
              <a:t>WHERE</a:t>
            </a:r>
            <a:r>
              <a:rPr lang="en-US" dirty="0"/>
              <a:t> country = 'USA' </a:t>
            </a:r>
            <a:r>
              <a:rPr lang="en-US" dirty="0">
                <a:solidFill>
                  <a:srgbClr val="FF0000"/>
                </a:solidFill>
              </a:rPr>
              <a:t>OR</a:t>
            </a:r>
            <a:r>
              <a:rPr lang="en-US" dirty="0"/>
              <a:t> country = 'France’    </a:t>
            </a:r>
          </a:p>
        </p:txBody>
      </p:sp>
    </p:spTree>
    <p:extLst>
      <p:ext uri="{BB962C8B-B14F-4D97-AF65-F5344CB8AC3E}">
        <p14:creationId xmlns:p14="http://schemas.microsoft.com/office/powerpoint/2010/main" val="37793224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EA4991-BC6C-4C1D-BECC-5B5C3F48B943}"/>
              </a:ext>
            </a:extLst>
          </p:cNvPr>
          <p:cNvSpPr>
            <a:spLocks noGrp="1"/>
          </p:cNvSpPr>
          <p:nvPr>
            <p:ph idx="1"/>
          </p:nvPr>
        </p:nvSpPr>
        <p:spPr>
          <a:xfrm>
            <a:off x="601832" y="798426"/>
            <a:ext cx="8944839" cy="5786932"/>
          </a:xfrm>
        </p:spPr>
        <p:txBody>
          <a:bodyPr>
            <a:normAutofit lnSpcReduction="10000"/>
          </a:bodyPr>
          <a:lstStyle/>
          <a:p>
            <a:pPr marL="457200" lvl="1" indent="0">
              <a:buNone/>
            </a:pPr>
            <a:r>
              <a:rPr lang="en-US" dirty="0">
                <a:solidFill>
                  <a:srgbClr val="FF0000"/>
                </a:solidFill>
              </a:rPr>
              <a:t>SELECT</a:t>
            </a:r>
            <a:r>
              <a:rPr lang="en-US" dirty="0"/>
              <a:t> </a:t>
            </a:r>
            <a:r>
              <a:rPr lang="en-US" dirty="0" err="1"/>
              <a:t>officeCode</a:t>
            </a:r>
            <a:r>
              <a:rPr lang="en-US" dirty="0"/>
              <a:t>, city, phone  </a:t>
            </a:r>
          </a:p>
          <a:p>
            <a:pPr marL="457200" lvl="1" indent="0">
              <a:buNone/>
            </a:pPr>
            <a:r>
              <a:rPr lang="en-US" dirty="0"/>
              <a:t>    </a:t>
            </a:r>
            <a:r>
              <a:rPr lang="en-US" dirty="0">
                <a:solidFill>
                  <a:srgbClr val="FF0000"/>
                </a:solidFill>
              </a:rPr>
              <a:t>FROM</a:t>
            </a:r>
            <a:r>
              <a:rPr lang="en-US" dirty="0"/>
              <a:t> offices</a:t>
            </a:r>
          </a:p>
          <a:p>
            <a:pPr marL="457200" lvl="1" indent="0">
              <a:buNone/>
            </a:pPr>
            <a:r>
              <a:rPr lang="en-US" dirty="0"/>
              <a:t>    </a:t>
            </a:r>
            <a:r>
              <a:rPr lang="en-US" dirty="0">
                <a:solidFill>
                  <a:srgbClr val="FF0000"/>
                </a:solidFill>
              </a:rPr>
              <a:t>WHERE</a:t>
            </a:r>
            <a:r>
              <a:rPr lang="en-US" dirty="0"/>
              <a:t> country = 'USA' </a:t>
            </a:r>
            <a:r>
              <a:rPr lang="en-US" dirty="0">
                <a:solidFill>
                  <a:srgbClr val="FF0000"/>
                </a:solidFill>
              </a:rPr>
              <a:t>OR</a:t>
            </a:r>
            <a:r>
              <a:rPr lang="en-US" dirty="0"/>
              <a:t> country = 'France’    </a:t>
            </a:r>
          </a:p>
          <a:p>
            <a:endParaRPr lang="en-US" dirty="0"/>
          </a:p>
          <a:p>
            <a:endParaRPr lang="en-US" dirty="0"/>
          </a:p>
          <a:p>
            <a:pPr marL="457200" lvl="1" indent="0">
              <a:buNone/>
            </a:pPr>
            <a:r>
              <a:rPr lang="en-US" dirty="0">
                <a:solidFill>
                  <a:srgbClr val="FF0000"/>
                </a:solidFill>
              </a:rPr>
              <a:t>SELECT</a:t>
            </a:r>
            <a:r>
              <a:rPr lang="en-US" dirty="0"/>
              <a:t> </a:t>
            </a:r>
            <a:r>
              <a:rPr lang="en-US" dirty="0" err="1"/>
              <a:t>officeCode</a:t>
            </a:r>
            <a:r>
              <a:rPr lang="en-US" dirty="0"/>
              <a:t>, city, phone  </a:t>
            </a:r>
          </a:p>
          <a:p>
            <a:pPr marL="457200" lvl="1" indent="0">
              <a:buNone/>
            </a:pPr>
            <a:r>
              <a:rPr lang="en-US" dirty="0"/>
              <a:t>    </a:t>
            </a:r>
            <a:r>
              <a:rPr lang="en-US" dirty="0">
                <a:solidFill>
                  <a:srgbClr val="FF0000"/>
                </a:solidFill>
              </a:rPr>
              <a:t>FROM</a:t>
            </a:r>
            <a:r>
              <a:rPr lang="en-US" dirty="0"/>
              <a:t> offices</a:t>
            </a:r>
          </a:p>
          <a:p>
            <a:pPr marL="457200" lvl="1" indent="0">
              <a:buNone/>
            </a:pPr>
            <a:r>
              <a:rPr lang="en-US" dirty="0"/>
              <a:t>    </a:t>
            </a:r>
            <a:r>
              <a:rPr lang="en-US" dirty="0">
                <a:solidFill>
                  <a:srgbClr val="FF0000"/>
                </a:solidFill>
              </a:rPr>
              <a:t>WHERE</a:t>
            </a:r>
            <a:r>
              <a:rPr lang="en-US" dirty="0"/>
              <a:t> country  </a:t>
            </a:r>
            <a:r>
              <a:rPr lang="en-US" dirty="0">
                <a:solidFill>
                  <a:srgbClr val="FF0000"/>
                </a:solidFill>
              </a:rPr>
              <a:t>IN</a:t>
            </a:r>
            <a:r>
              <a:rPr lang="en-US" dirty="0"/>
              <a:t> ('USA’,  'France’)   </a:t>
            </a:r>
          </a:p>
          <a:p>
            <a:pPr marL="457200" lvl="1" indent="0">
              <a:buNone/>
            </a:pPr>
            <a:endParaRPr lang="en-US" dirty="0"/>
          </a:p>
          <a:p>
            <a:pPr marL="457200" lvl="1" indent="0">
              <a:buNone/>
            </a:pPr>
            <a:endParaRPr lang="en-US" dirty="0"/>
          </a:p>
          <a:p>
            <a:pPr marL="457200" lvl="1" indent="0">
              <a:buNone/>
            </a:pPr>
            <a:endParaRPr lang="en-US" dirty="0"/>
          </a:p>
          <a:p>
            <a:pPr marL="457200" lvl="1" indent="0">
              <a:buNone/>
            </a:pPr>
            <a:r>
              <a:rPr lang="en-US" dirty="0" err="1"/>
              <a:t>Hoặc</a:t>
            </a:r>
            <a:r>
              <a:rPr lang="en-US" dirty="0"/>
              <a:t> </a:t>
            </a:r>
            <a:r>
              <a:rPr lang="en-US" dirty="0" err="1"/>
              <a:t>nếu</a:t>
            </a:r>
            <a:r>
              <a:rPr lang="en-US" dirty="0"/>
              <a:t> </a:t>
            </a:r>
            <a:r>
              <a:rPr lang="en-US" dirty="0" err="1"/>
              <a:t>muốn</a:t>
            </a:r>
            <a:r>
              <a:rPr lang="en-US" dirty="0"/>
              <a:t> </a:t>
            </a:r>
            <a:r>
              <a:rPr lang="en-US" dirty="0" err="1"/>
              <a:t>chọn</a:t>
            </a:r>
            <a:r>
              <a:rPr lang="en-US" dirty="0"/>
              <a:t> </a:t>
            </a:r>
            <a:r>
              <a:rPr lang="en-US" dirty="0" err="1"/>
              <a:t>các</a:t>
            </a:r>
            <a:r>
              <a:rPr lang="en-US" dirty="0"/>
              <a:t> </a:t>
            </a:r>
            <a:r>
              <a:rPr lang="en-US" dirty="0" err="1"/>
              <a:t>phần</a:t>
            </a:r>
            <a:r>
              <a:rPr lang="en-US" dirty="0"/>
              <a:t> </a:t>
            </a:r>
            <a:r>
              <a:rPr lang="en-US" dirty="0" err="1"/>
              <a:t>tử</a:t>
            </a:r>
            <a:r>
              <a:rPr lang="en-US" dirty="0"/>
              <a:t> </a:t>
            </a:r>
            <a:r>
              <a:rPr lang="en-US" dirty="0" err="1"/>
              <a:t>không</a:t>
            </a:r>
            <a:r>
              <a:rPr lang="en-US" dirty="0"/>
              <a:t> </a:t>
            </a:r>
            <a:r>
              <a:rPr lang="en-US" dirty="0" err="1"/>
              <a:t>nằm</a:t>
            </a:r>
            <a:r>
              <a:rPr lang="en-US" dirty="0"/>
              <a:t> </a:t>
            </a:r>
            <a:r>
              <a:rPr lang="en-US" dirty="0" err="1"/>
              <a:t>trong</a:t>
            </a:r>
            <a:r>
              <a:rPr lang="en-US" dirty="0"/>
              <a:t> </a:t>
            </a:r>
            <a:r>
              <a:rPr lang="en-US" dirty="0" err="1"/>
              <a:t>danh</a:t>
            </a:r>
            <a:r>
              <a:rPr lang="en-US" dirty="0"/>
              <a:t> </a:t>
            </a:r>
            <a:r>
              <a:rPr lang="en-US" dirty="0" err="1"/>
              <a:t>sách</a:t>
            </a:r>
            <a:r>
              <a:rPr lang="en-US" dirty="0"/>
              <a:t> </a:t>
            </a:r>
            <a:r>
              <a:rPr lang="en-US" dirty="0" err="1"/>
              <a:t>có</a:t>
            </a:r>
            <a:r>
              <a:rPr lang="en-US" dirty="0"/>
              <a:t> </a:t>
            </a:r>
            <a:r>
              <a:rPr lang="en-US" dirty="0" err="1"/>
              <a:t>thể</a:t>
            </a:r>
            <a:r>
              <a:rPr lang="en-US" dirty="0"/>
              <a:t> </a:t>
            </a:r>
            <a:r>
              <a:rPr lang="en-US" dirty="0" err="1"/>
              <a:t>thêm</a:t>
            </a:r>
            <a:r>
              <a:rPr lang="en-US" dirty="0"/>
              <a:t> </a:t>
            </a:r>
            <a:r>
              <a:rPr lang="en-US" dirty="0" err="1"/>
              <a:t>toán</a:t>
            </a:r>
            <a:r>
              <a:rPr lang="en-US" dirty="0"/>
              <a:t> </a:t>
            </a:r>
            <a:r>
              <a:rPr lang="en-US" dirty="0" err="1"/>
              <a:t>tử</a:t>
            </a:r>
            <a:r>
              <a:rPr lang="en-US" dirty="0"/>
              <a:t> </a:t>
            </a:r>
            <a:r>
              <a:rPr lang="en-US" dirty="0">
                <a:solidFill>
                  <a:srgbClr val="FF0000"/>
                </a:solidFill>
              </a:rPr>
              <a:t>NOT</a:t>
            </a:r>
            <a:r>
              <a:rPr lang="en-US" dirty="0"/>
              <a:t> </a:t>
            </a:r>
            <a:r>
              <a:rPr lang="en-US" dirty="0" err="1"/>
              <a:t>vào</a:t>
            </a:r>
            <a:r>
              <a:rPr lang="en-US" dirty="0"/>
              <a:t>: </a:t>
            </a:r>
            <a:r>
              <a:rPr lang="en-US" dirty="0">
                <a:solidFill>
                  <a:srgbClr val="FF0000"/>
                </a:solidFill>
              </a:rPr>
              <a:t>NOT IN</a:t>
            </a:r>
            <a:r>
              <a:rPr lang="en-US" dirty="0"/>
              <a:t> (‘’, ‘ ‘,…’’)</a:t>
            </a:r>
          </a:p>
          <a:p>
            <a:pPr marL="457200" lvl="1" indent="0">
              <a:buNone/>
            </a:pPr>
            <a:r>
              <a:rPr lang="en-US" dirty="0"/>
              <a:t> </a:t>
            </a:r>
          </a:p>
          <a:p>
            <a:pPr marL="457200" lvl="1" indent="0">
              <a:buNone/>
            </a:pPr>
            <a:endParaRPr lang="en-US" dirty="0"/>
          </a:p>
          <a:p>
            <a:pPr marL="457200" lvl="1" indent="0">
              <a:buNone/>
            </a:pPr>
            <a:r>
              <a:rPr lang="en-US" dirty="0"/>
              <a:t> </a:t>
            </a:r>
          </a:p>
          <a:p>
            <a:endParaRPr lang="en-US" dirty="0"/>
          </a:p>
        </p:txBody>
      </p:sp>
      <p:sp>
        <p:nvSpPr>
          <p:cNvPr id="4" name="TextBox 3">
            <a:extLst>
              <a:ext uri="{FF2B5EF4-FFF2-40B4-BE49-F238E27FC236}">
                <a16:creationId xmlns:a16="http://schemas.microsoft.com/office/drawing/2014/main" id="{AC0B36D6-D433-4C94-B9E6-89C70FFFCF9D}"/>
              </a:ext>
            </a:extLst>
          </p:cNvPr>
          <p:cNvSpPr txBox="1"/>
          <p:nvPr/>
        </p:nvSpPr>
        <p:spPr>
          <a:xfrm>
            <a:off x="6384022" y="798426"/>
            <a:ext cx="2311139" cy="646331"/>
          </a:xfrm>
          <a:prstGeom prst="rect">
            <a:avLst/>
          </a:prstGeom>
          <a:noFill/>
        </p:spPr>
        <p:txBody>
          <a:bodyPr wrap="square" rtlCol="0">
            <a:spAutoFit/>
          </a:bodyPr>
          <a:lstStyle/>
          <a:p>
            <a:r>
              <a:rPr lang="en-US" dirty="0" err="1"/>
              <a:t>Kết</a:t>
            </a:r>
            <a:r>
              <a:rPr lang="en-US" dirty="0"/>
              <a:t> </a:t>
            </a:r>
            <a:r>
              <a:rPr lang="en-US" dirty="0" err="1"/>
              <a:t>quả</a:t>
            </a:r>
            <a:r>
              <a:rPr lang="en-US" dirty="0"/>
              <a:t> : USA </a:t>
            </a:r>
            <a:r>
              <a:rPr lang="en-US" dirty="0" err="1"/>
              <a:t>hoặc</a:t>
            </a:r>
            <a:r>
              <a:rPr lang="en-US" dirty="0"/>
              <a:t> France</a:t>
            </a:r>
          </a:p>
        </p:txBody>
      </p:sp>
      <p:sp>
        <p:nvSpPr>
          <p:cNvPr id="5" name="TextBox 4">
            <a:extLst>
              <a:ext uri="{FF2B5EF4-FFF2-40B4-BE49-F238E27FC236}">
                <a16:creationId xmlns:a16="http://schemas.microsoft.com/office/drawing/2014/main" id="{ED0ED96D-CD6D-446E-91ED-F4EFBFBB00B7}"/>
              </a:ext>
            </a:extLst>
          </p:cNvPr>
          <p:cNvSpPr txBox="1"/>
          <p:nvPr/>
        </p:nvSpPr>
        <p:spPr>
          <a:xfrm>
            <a:off x="6528033" y="2192130"/>
            <a:ext cx="2311139" cy="646331"/>
          </a:xfrm>
          <a:prstGeom prst="rect">
            <a:avLst/>
          </a:prstGeom>
          <a:noFill/>
        </p:spPr>
        <p:txBody>
          <a:bodyPr wrap="square" rtlCol="0">
            <a:spAutoFit/>
          </a:bodyPr>
          <a:lstStyle/>
          <a:p>
            <a:r>
              <a:rPr lang="en-US" dirty="0" err="1"/>
              <a:t>Kết</a:t>
            </a:r>
            <a:r>
              <a:rPr lang="en-US" dirty="0"/>
              <a:t> </a:t>
            </a:r>
            <a:r>
              <a:rPr lang="en-US" dirty="0" err="1"/>
              <a:t>quả</a:t>
            </a:r>
            <a:r>
              <a:rPr lang="en-US" dirty="0"/>
              <a:t> : USA </a:t>
            </a:r>
            <a:r>
              <a:rPr lang="en-US" dirty="0" err="1"/>
              <a:t>hoặc</a:t>
            </a:r>
            <a:r>
              <a:rPr lang="en-US" dirty="0"/>
              <a:t> France</a:t>
            </a:r>
          </a:p>
        </p:txBody>
      </p:sp>
      <p:sp>
        <p:nvSpPr>
          <p:cNvPr id="7" name="TextBox 6">
            <a:extLst>
              <a:ext uri="{FF2B5EF4-FFF2-40B4-BE49-F238E27FC236}">
                <a16:creationId xmlns:a16="http://schemas.microsoft.com/office/drawing/2014/main" id="{E2620B6F-5A55-4F24-862A-30B865BE0AE3}"/>
              </a:ext>
            </a:extLst>
          </p:cNvPr>
          <p:cNvSpPr txBox="1"/>
          <p:nvPr/>
        </p:nvSpPr>
        <p:spPr>
          <a:xfrm>
            <a:off x="2048340" y="4232165"/>
            <a:ext cx="7347330" cy="369332"/>
          </a:xfrm>
          <a:prstGeom prst="rect">
            <a:avLst/>
          </a:prstGeom>
          <a:noFill/>
        </p:spPr>
        <p:txBody>
          <a:bodyPr wrap="square" rtlCol="0">
            <a:spAutoFit/>
          </a:bodyPr>
          <a:lstStyle/>
          <a:p>
            <a:r>
              <a:rPr lang="en-US" dirty="0" err="1"/>
              <a:t>Tuy</a:t>
            </a:r>
            <a:r>
              <a:rPr lang="en-US" dirty="0"/>
              <a:t> </a:t>
            </a:r>
            <a:r>
              <a:rPr lang="en-US" dirty="0" err="1"/>
              <a:t>nhiên</a:t>
            </a:r>
            <a:r>
              <a:rPr lang="en-US" dirty="0"/>
              <a:t>, </a:t>
            </a:r>
            <a:r>
              <a:rPr lang="en-US" dirty="0" err="1"/>
              <a:t>chúng</a:t>
            </a:r>
            <a:r>
              <a:rPr lang="en-US" dirty="0"/>
              <a:t> ta </a:t>
            </a:r>
            <a:r>
              <a:rPr lang="en-US" dirty="0" err="1"/>
              <a:t>có</a:t>
            </a:r>
            <a:r>
              <a:rPr lang="en-US" dirty="0"/>
              <a:t> </a:t>
            </a:r>
            <a:r>
              <a:rPr lang="en-US" dirty="0" err="1"/>
              <a:t>một</a:t>
            </a:r>
            <a:r>
              <a:rPr lang="en-US" dirty="0"/>
              <a:t> list </a:t>
            </a:r>
            <a:r>
              <a:rPr lang="en-US" dirty="0" err="1"/>
              <a:t>danh</a:t>
            </a:r>
            <a:r>
              <a:rPr lang="en-US" dirty="0"/>
              <a:t> </a:t>
            </a:r>
            <a:r>
              <a:rPr lang="en-US" dirty="0" err="1"/>
              <a:t>sách</a:t>
            </a:r>
            <a:r>
              <a:rPr lang="en-US" dirty="0"/>
              <a:t> </a:t>
            </a:r>
            <a:r>
              <a:rPr lang="en-US" dirty="0" err="1"/>
              <a:t>dài</a:t>
            </a:r>
            <a:r>
              <a:rPr lang="en-US" dirty="0"/>
              <a:t>, </a:t>
            </a:r>
            <a:r>
              <a:rPr lang="en-US" dirty="0" err="1"/>
              <a:t>nên</a:t>
            </a:r>
            <a:r>
              <a:rPr lang="en-US" dirty="0"/>
              <a:t> </a:t>
            </a:r>
            <a:r>
              <a:rPr lang="en-US" dirty="0" err="1"/>
              <a:t>chọn</a:t>
            </a:r>
            <a:r>
              <a:rPr lang="en-US" dirty="0"/>
              <a:t> </a:t>
            </a:r>
            <a:r>
              <a:rPr lang="en-US" dirty="0">
                <a:solidFill>
                  <a:srgbClr val="FF0000"/>
                </a:solidFill>
              </a:rPr>
              <a:t>IN</a:t>
            </a:r>
          </a:p>
        </p:txBody>
      </p:sp>
      <p:cxnSp>
        <p:nvCxnSpPr>
          <p:cNvPr id="9" name="Straight Arrow Connector 8">
            <a:extLst>
              <a:ext uri="{FF2B5EF4-FFF2-40B4-BE49-F238E27FC236}">
                <a16:creationId xmlns:a16="http://schemas.microsoft.com/office/drawing/2014/main" id="{637C5F95-F191-47A5-A664-042164BFDBBC}"/>
              </a:ext>
            </a:extLst>
          </p:cNvPr>
          <p:cNvCxnSpPr/>
          <p:nvPr/>
        </p:nvCxnSpPr>
        <p:spPr>
          <a:xfrm flipV="1">
            <a:off x="5033394" y="1006679"/>
            <a:ext cx="1350628" cy="2097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81A3C3D1-682F-40E1-8A38-78D8E3FB52B5}"/>
              </a:ext>
            </a:extLst>
          </p:cNvPr>
          <p:cNvCxnSpPr/>
          <p:nvPr/>
        </p:nvCxnSpPr>
        <p:spPr>
          <a:xfrm flipV="1">
            <a:off x="4706224" y="2515295"/>
            <a:ext cx="1677798" cy="6557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79681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ECB2A-A6B5-400B-9630-3053A0F27CC8}"/>
              </a:ext>
            </a:extLst>
          </p:cNvPr>
          <p:cNvSpPr>
            <a:spLocks noGrp="1"/>
          </p:cNvSpPr>
          <p:nvPr>
            <p:ph type="title"/>
          </p:nvPr>
        </p:nvSpPr>
        <p:spPr/>
        <p:txBody>
          <a:bodyPr/>
          <a:lstStyle/>
          <a:p>
            <a:r>
              <a:rPr lang="en-US" i="1" dirty="0"/>
              <a:t>BETWEEN</a:t>
            </a:r>
            <a:endParaRPr lang="en-US" dirty="0"/>
          </a:p>
        </p:txBody>
      </p:sp>
      <p:sp>
        <p:nvSpPr>
          <p:cNvPr id="3" name="Content Placeholder 2">
            <a:extLst>
              <a:ext uri="{FF2B5EF4-FFF2-40B4-BE49-F238E27FC236}">
                <a16:creationId xmlns:a16="http://schemas.microsoft.com/office/drawing/2014/main" id="{306B4024-B6E1-4B8A-9F89-E3619FA02597}"/>
              </a:ext>
            </a:extLst>
          </p:cNvPr>
          <p:cNvSpPr>
            <a:spLocks noGrp="1"/>
          </p:cNvSpPr>
          <p:nvPr>
            <p:ph idx="1"/>
          </p:nvPr>
        </p:nvSpPr>
        <p:spPr/>
        <p:txBody>
          <a:bodyPr/>
          <a:lstStyle/>
          <a:p>
            <a:r>
              <a:rPr lang="vi-VN" dirty="0"/>
              <a:t>BETWEEN cho phép lấy các giá trị trong một phạm vi cụ thể. Nó phải được sử dụng trong mệnh đề WHERE. Sau đây minh họa cú pháp:</a:t>
            </a:r>
          </a:p>
          <a:p>
            <a:pPr lvl="1"/>
            <a:r>
              <a:rPr lang="vi-VN" dirty="0">
                <a:solidFill>
                  <a:srgbClr val="FF0000"/>
                </a:solidFill>
              </a:rPr>
              <a:t>SELECT</a:t>
            </a:r>
            <a:r>
              <a:rPr lang="vi-VN" dirty="0"/>
              <a:t> column_list</a:t>
            </a:r>
          </a:p>
          <a:p>
            <a:pPr lvl="1"/>
            <a:r>
              <a:rPr lang="vi-VN" dirty="0">
                <a:solidFill>
                  <a:srgbClr val="FF0000"/>
                </a:solidFill>
              </a:rPr>
              <a:t>FROM</a:t>
            </a:r>
            <a:r>
              <a:rPr lang="vi-VN" dirty="0"/>
              <a:t> table_name</a:t>
            </a:r>
          </a:p>
          <a:p>
            <a:pPr lvl="1"/>
            <a:r>
              <a:rPr lang="vi-VN" dirty="0">
                <a:solidFill>
                  <a:srgbClr val="FF0000"/>
                </a:solidFill>
              </a:rPr>
              <a:t>WHERE</a:t>
            </a:r>
            <a:r>
              <a:rPr lang="vi-VN" dirty="0"/>
              <a:t> column_1 </a:t>
            </a:r>
            <a:r>
              <a:rPr lang="vi-VN" dirty="0">
                <a:solidFill>
                  <a:srgbClr val="FF0000"/>
                </a:solidFill>
              </a:rPr>
              <a:t>BETWEEN</a:t>
            </a:r>
            <a:r>
              <a:rPr lang="vi-VN" dirty="0"/>
              <a:t> lower_range </a:t>
            </a:r>
            <a:r>
              <a:rPr lang="vi-VN" dirty="0">
                <a:solidFill>
                  <a:srgbClr val="FF0000"/>
                </a:solidFill>
              </a:rPr>
              <a:t>AND</a:t>
            </a:r>
            <a:r>
              <a:rPr lang="vi-VN" dirty="0"/>
              <a:t> upper_range</a:t>
            </a:r>
            <a:endParaRPr lang="en-US" dirty="0"/>
          </a:p>
          <a:p>
            <a:endParaRPr lang="en-US" dirty="0"/>
          </a:p>
          <a:p>
            <a:endParaRPr lang="en-US" dirty="0"/>
          </a:p>
        </p:txBody>
      </p:sp>
    </p:spTree>
    <p:extLst>
      <p:ext uri="{BB962C8B-B14F-4D97-AF65-F5344CB8AC3E}">
        <p14:creationId xmlns:p14="http://schemas.microsoft.com/office/powerpoint/2010/main" val="11162702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DD408-DAA8-4431-A425-414821EF5EA2}"/>
              </a:ext>
            </a:extLst>
          </p:cNvPr>
          <p:cNvSpPr>
            <a:spLocks noGrp="1"/>
          </p:cNvSpPr>
          <p:nvPr>
            <p:ph type="title"/>
          </p:nvPr>
        </p:nvSpPr>
        <p:spPr/>
        <p:txBody>
          <a:bodyPr/>
          <a:lstStyle/>
          <a:p>
            <a:r>
              <a:rPr lang="en-US" i="1" dirty="0"/>
              <a:t>LIKE</a:t>
            </a:r>
            <a:endParaRPr lang="en-US" dirty="0"/>
          </a:p>
        </p:txBody>
      </p:sp>
      <p:sp>
        <p:nvSpPr>
          <p:cNvPr id="3" name="Content Placeholder 2">
            <a:extLst>
              <a:ext uri="{FF2B5EF4-FFF2-40B4-BE49-F238E27FC236}">
                <a16:creationId xmlns:a16="http://schemas.microsoft.com/office/drawing/2014/main" id="{B16E9F4E-6525-4594-B014-BF5D04A05397}"/>
              </a:ext>
            </a:extLst>
          </p:cNvPr>
          <p:cNvSpPr>
            <a:spLocks noGrp="1"/>
          </p:cNvSpPr>
          <p:nvPr>
            <p:ph idx="1"/>
          </p:nvPr>
        </p:nvSpPr>
        <p:spPr>
          <a:xfrm>
            <a:off x="677334" y="1820411"/>
            <a:ext cx="10454856" cy="4220951"/>
          </a:xfrm>
        </p:spPr>
        <p:txBody>
          <a:bodyPr/>
          <a:lstStyle/>
          <a:p>
            <a:r>
              <a:rPr lang="vi-VN" dirty="0"/>
              <a:t>LIKE cho phép thực hiện việc tìm kiếm thông tin dựa trên sự so sánh ký tự (‘giống như’). LIKE thường được sử dụng với câu lệnh SELECT trong mệnh đề</a:t>
            </a:r>
          </a:p>
          <a:p>
            <a:r>
              <a:rPr lang="vi-VN" dirty="0"/>
              <a:t>WHERE. MySQL cung cấp cho hai ký tự đại diện sử dụng với LIKE, đó là </a:t>
            </a:r>
            <a:r>
              <a:rPr lang="vi-VN" dirty="0">
                <a:solidFill>
                  <a:srgbClr val="FF0000"/>
                </a:solidFill>
              </a:rPr>
              <a:t>%</a:t>
            </a:r>
            <a:r>
              <a:rPr lang="vi-VN" dirty="0"/>
              <a:t> và </a:t>
            </a:r>
            <a:r>
              <a:rPr lang="vi-VN" dirty="0">
                <a:solidFill>
                  <a:srgbClr val="FF0000"/>
                </a:solidFill>
              </a:rPr>
              <a:t>_.</a:t>
            </a:r>
          </a:p>
          <a:p>
            <a:r>
              <a:rPr lang="vi-VN" dirty="0"/>
              <a:t>• Ký tự đại diện tỷ lệ phần trăm (%) đại diện cho bất kỳ chuỗi có thể không có hoặc có nhiều ký tự</a:t>
            </a:r>
          </a:p>
          <a:p>
            <a:r>
              <a:rPr lang="vi-VN" dirty="0"/>
              <a:t>• Gạch dưới (</a:t>
            </a:r>
            <a:r>
              <a:rPr lang="vi-VN" dirty="0">
                <a:solidFill>
                  <a:srgbClr val="FF0000"/>
                </a:solidFill>
              </a:rPr>
              <a:t>_</a:t>
            </a:r>
            <a:r>
              <a:rPr lang="vi-VN" dirty="0"/>
              <a:t>) chỉ đại diện cho một ký tự duy nhất.</a:t>
            </a:r>
            <a:endParaRPr lang="en-US" dirty="0"/>
          </a:p>
        </p:txBody>
      </p:sp>
    </p:spTree>
    <p:extLst>
      <p:ext uri="{BB962C8B-B14F-4D97-AF65-F5344CB8AC3E}">
        <p14:creationId xmlns:p14="http://schemas.microsoft.com/office/powerpoint/2010/main" val="3603672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49A03-7CC9-4F4E-8CF7-3C2950FA0AF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F1860A2-2D52-4F8D-ACD7-8C68954AED60}"/>
              </a:ext>
            </a:extLst>
          </p:cNvPr>
          <p:cNvSpPr>
            <a:spLocks noGrp="1"/>
          </p:cNvSpPr>
          <p:nvPr>
            <p:ph idx="1"/>
          </p:nvPr>
        </p:nvSpPr>
        <p:spPr>
          <a:xfrm>
            <a:off x="601833" y="2009587"/>
            <a:ext cx="8596668" cy="3880773"/>
          </a:xfrm>
        </p:spPr>
        <p:txBody>
          <a:bodyPr/>
          <a:lstStyle/>
          <a:p>
            <a:r>
              <a:rPr lang="en-US" dirty="0"/>
              <a:t>Select * from employees</a:t>
            </a:r>
          </a:p>
          <a:p>
            <a:r>
              <a:rPr lang="en-US" dirty="0"/>
              <a:t>Where </a:t>
            </a:r>
            <a:r>
              <a:rPr lang="en-US" dirty="0" err="1"/>
              <a:t>employees.employeeNumber</a:t>
            </a:r>
            <a:r>
              <a:rPr lang="en-US" dirty="0"/>
              <a:t> like '1_2’  </a:t>
            </a:r>
          </a:p>
          <a:p>
            <a:endParaRPr lang="en-US" dirty="0"/>
          </a:p>
          <a:p>
            <a:r>
              <a:rPr lang="en-US" dirty="0"/>
              <a:t>select * from employees</a:t>
            </a:r>
          </a:p>
          <a:p>
            <a:r>
              <a:rPr lang="en-US" dirty="0"/>
              <a:t>where </a:t>
            </a:r>
            <a:r>
              <a:rPr lang="en-US" dirty="0" err="1"/>
              <a:t>employees.employeeNumber</a:t>
            </a:r>
            <a:r>
              <a:rPr lang="en-US" dirty="0"/>
              <a:t> like ‘1%2’</a:t>
            </a:r>
          </a:p>
          <a:p>
            <a:endParaRPr lang="en-US" dirty="0"/>
          </a:p>
          <a:p>
            <a:r>
              <a:rPr lang="en-US" dirty="0"/>
              <a:t>select * from employees</a:t>
            </a:r>
          </a:p>
          <a:p>
            <a:r>
              <a:rPr lang="en-US" dirty="0"/>
              <a:t>where </a:t>
            </a:r>
            <a:r>
              <a:rPr lang="en-US" dirty="0" err="1"/>
              <a:t>employees.employeeNumber</a:t>
            </a:r>
            <a:r>
              <a:rPr lang="en-US" dirty="0"/>
              <a:t> like ‘1__2'</a:t>
            </a:r>
          </a:p>
          <a:p>
            <a:endParaRPr lang="en-US" dirty="0"/>
          </a:p>
        </p:txBody>
      </p:sp>
      <p:sp>
        <p:nvSpPr>
          <p:cNvPr id="4" name="TextBox 3">
            <a:extLst>
              <a:ext uri="{FF2B5EF4-FFF2-40B4-BE49-F238E27FC236}">
                <a16:creationId xmlns:a16="http://schemas.microsoft.com/office/drawing/2014/main" id="{AA7528EC-020B-4680-867D-52DF0BE144DD}"/>
              </a:ext>
            </a:extLst>
          </p:cNvPr>
          <p:cNvSpPr txBox="1"/>
          <p:nvPr/>
        </p:nvSpPr>
        <p:spPr>
          <a:xfrm>
            <a:off x="8678384" y="2147583"/>
            <a:ext cx="1191236" cy="369332"/>
          </a:xfrm>
          <a:prstGeom prst="rect">
            <a:avLst/>
          </a:prstGeom>
          <a:noFill/>
        </p:spPr>
        <p:txBody>
          <a:bodyPr wrap="square" rtlCol="0">
            <a:spAutoFit/>
          </a:bodyPr>
          <a:lstStyle/>
          <a:p>
            <a:r>
              <a:rPr lang="en-US" dirty="0"/>
              <a:t>Null</a:t>
            </a:r>
          </a:p>
        </p:txBody>
      </p:sp>
      <p:sp>
        <p:nvSpPr>
          <p:cNvPr id="5" name="TextBox 4">
            <a:extLst>
              <a:ext uri="{FF2B5EF4-FFF2-40B4-BE49-F238E27FC236}">
                <a16:creationId xmlns:a16="http://schemas.microsoft.com/office/drawing/2014/main" id="{39597CCF-19FB-4D98-9FDE-E09F73394806}"/>
              </a:ext>
            </a:extLst>
          </p:cNvPr>
          <p:cNvSpPr txBox="1"/>
          <p:nvPr/>
        </p:nvSpPr>
        <p:spPr>
          <a:xfrm>
            <a:off x="7969541" y="3682767"/>
            <a:ext cx="2214694" cy="369332"/>
          </a:xfrm>
          <a:prstGeom prst="rect">
            <a:avLst/>
          </a:prstGeom>
          <a:noFill/>
        </p:spPr>
        <p:txBody>
          <a:bodyPr wrap="square" rtlCol="0">
            <a:spAutoFit/>
          </a:bodyPr>
          <a:lstStyle/>
          <a:p>
            <a:r>
              <a:rPr lang="en-US" dirty="0" err="1"/>
              <a:t>Kiểm</a:t>
            </a:r>
            <a:r>
              <a:rPr lang="en-US" dirty="0"/>
              <a:t> </a:t>
            </a:r>
            <a:r>
              <a:rPr lang="en-US" dirty="0" err="1"/>
              <a:t>tra</a:t>
            </a:r>
            <a:r>
              <a:rPr lang="en-US" dirty="0"/>
              <a:t> </a:t>
            </a:r>
            <a:r>
              <a:rPr lang="en-US" dirty="0" err="1"/>
              <a:t>kết</a:t>
            </a:r>
            <a:r>
              <a:rPr lang="en-US" dirty="0"/>
              <a:t> </a:t>
            </a:r>
            <a:r>
              <a:rPr lang="en-US" dirty="0" err="1"/>
              <a:t>quả</a:t>
            </a:r>
            <a:endParaRPr lang="en-US" dirty="0"/>
          </a:p>
        </p:txBody>
      </p:sp>
      <p:cxnSp>
        <p:nvCxnSpPr>
          <p:cNvPr id="7" name="Straight Arrow Connector 6">
            <a:extLst>
              <a:ext uri="{FF2B5EF4-FFF2-40B4-BE49-F238E27FC236}">
                <a16:creationId xmlns:a16="http://schemas.microsoft.com/office/drawing/2014/main" id="{EC948AED-E82B-4FA5-A97F-A9E02AB97ABA}"/>
              </a:ext>
            </a:extLst>
          </p:cNvPr>
          <p:cNvCxnSpPr/>
          <p:nvPr/>
        </p:nvCxnSpPr>
        <p:spPr>
          <a:xfrm flipV="1">
            <a:off x="6233020" y="2340528"/>
            <a:ext cx="2122415" cy="755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638E732D-B152-4345-BCE7-AF18B4A69F3C}"/>
              </a:ext>
            </a:extLst>
          </p:cNvPr>
          <p:cNvCxnSpPr>
            <a:stCxn id="5" idx="1"/>
          </p:cNvCxnSpPr>
          <p:nvPr/>
        </p:nvCxnSpPr>
        <p:spPr>
          <a:xfrm flipH="1" flipV="1">
            <a:off x="6233020" y="3783435"/>
            <a:ext cx="1736521" cy="839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A3787A0A-DC79-4ABE-B874-AAF456DEE0C3}"/>
              </a:ext>
            </a:extLst>
          </p:cNvPr>
          <p:cNvCxnSpPr/>
          <p:nvPr/>
        </p:nvCxnSpPr>
        <p:spPr>
          <a:xfrm flipH="1">
            <a:off x="6476301" y="4052099"/>
            <a:ext cx="1568741" cy="7883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50543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D2A84-E979-4CAE-AC9A-3EE8D7D48E0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9151FAD-B506-47A2-9C86-C13A44162932}"/>
              </a:ext>
            </a:extLst>
          </p:cNvPr>
          <p:cNvSpPr>
            <a:spLocks noGrp="1"/>
          </p:cNvSpPr>
          <p:nvPr>
            <p:ph idx="1"/>
          </p:nvPr>
        </p:nvSpPr>
        <p:spPr/>
        <p:txBody>
          <a:bodyPr/>
          <a:lstStyle/>
          <a:p>
            <a:r>
              <a:rPr lang="en-US" dirty="0"/>
              <a:t>Ta </a:t>
            </a:r>
            <a:r>
              <a:rPr lang="en-US" dirty="0" err="1"/>
              <a:t>cũng</a:t>
            </a:r>
            <a:r>
              <a:rPr lang="en-US" dirty="0"/>
              <a:t> </a:t>
            </a:r>
            <a:r>
              <a:rPr lang="en-US" dirty="0" err="1"/>
              <a:t>có</a:t>
            </a:r>
            <a:r>
              <a:rPr lang="en-US" dirty="0"/>
              <a:t> NOT LIKE</a:t>
            </a:r>
          </a:p>
          <a:p>
            <a:endParaRPr lang="en-US" dirty="0"/>
          </a:p>
          <a:p>
            <a:r>
              <a:rPr lang="en-US" dirty="0" err="1"/>
              <a:t>Chọn</a:t>
            </a:r>
            <a:r>
              <a:rPr lang="en-US" dirty="0"/>
              <a:t> employees </a:t>
            </a:r>
            <a:r>
              <a:rPr lang="en-US" dirty="0" err="1"/>
              <a:t>có</a:t>
            </a:r>
            <a:r>
              <a:rPr lang="en-US" dirty="0"/>
              <a:t> </a:t>
            </a:r>
            <a:r>
              <a:rPr lang="en-US" dirty="0" err="1"/>
              <a:t>lastname</a:t>
            </a:r>
            <a:r>
              <a:rPr lang="en-US" dirty="0"/>
              <a:t> </a:t>
            </a:r>
            <a:r>
              <a:rPr lang="en-US" dirty="0" err="1"/>
              <a:t>không</a:t>
            </a:r>
            <a:r>
              <a:rPr lang="en-US" dirty="0"/>
              <a:t> </a:t>
            </a:r>
            <a:r>
              <a:rPr lang="en-US" dirty="0" err="1"/>
              <a:t>giống</a:t>
            </a:r>
            <a:r>
              <a:rPr lang="en-US" dirty="0"/>
              <a:t> </a:t>
            </a:r>
            <a:r>
              <a:rPr lang="en-US" dirty="0" err="1"/>
              <a:t>với</a:t>
            </a:r>
            <a:r>
              <a:rPr lang="en-US" dirty="0"/>
              <a:t> Patterson</a:t>
            </a:r>
          </a:p>
          <a:p>
            <a:endParaRPr lang="en-US" dirty="0"/>
          </a:p>
          <a:p>
            <a:pPr marL="0" indent="0">
              <a:buNone/>
            </a:pPr>
            <a:r>
              <a:rPr lang="en-US" dirty="0"/>
              <a:t>	Select * from employees</a:t>
            </a:r>
          </a:p>
          <a:p>
            <a:pPr marL="0" indent="0">
              <a:buNone/>
            </a:pPr>
            <a:r>
              <a:rPr lang="en-US" dirty="0"/>
              <a:t>	where </a:t>
            </a:r>
            <a:r>
              <a:rPr lang="en-US" dirty="0" err="1"/>
              <a:t>employees.lastName</a:t>
            </a:r>
            <a:r>
              <a:rPr lang="en-US" dirty="0"/>
              <a:t> not like 'Patter%'</a:t>
            </a:r>
          </a:p>
        </p:txBody>
      </p:sp>
    </p:spTree>
    <p:extLst>
      <p:ext uri="{BB962C8B-B14F-4D97-AF65-F5344CB8AC3E}">
        <p14:creationId xmlns:p14="http://schemas.microsoft.com/office/powerpoint/2010/main" val="15041352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E3ED8-D610-403E-A634-95E5F31EF825}"/>
              </a:ext>
            </a:extLst>
          </p:cNvPr>
          <p:cNvSpPr>
            <a:spLocks noGrp="1"/>
          </p:cNvSpPr>
          <p:nvPr>
            <p:ph type="title"/>
          </p:nvPr>
        </p:nvSpPr>
        <p:spPr/>
        <p:txBody>
          <a:bodyPr/>
          <a:lstStyle/>
          <a:p>
            <a:r>
              <a:rPr lang="en-US" dirty="0" err="1"/>
              <a:t>Thuộc</a:t>
            </a:r>
            <a:r>
              <a:rPr lang="en-US" dirty="0"/>
              <a:t> </a:t>
            </a:r>
            <a:r>
              <a:rPr lang="en-US" dirty="0" err="1"/>
              <a:t>tính</a:t>
            </a:r>
            <a:r>
              <a:rPr lang="en-US" dirty="0"/>
              <a:t> </a:t>
            </a:r>
            <a:r>
              <a:rPr lang="en-US" dirty="0" err="1"/>
              <a:t>suy</a:t>
            </a:r>
            <a:r>
              <a:rPr lang="en-US" dirty="0"/>
              <a:t> </a:t>
            </a:r>
            <a:r>
              <a:rPr lang="en-US" dirty="0" err="1"/>
              <a:t>diễn</a:t>
            </a:r>
            <a:r>
              <a:rPr lang="en-US" dirty="0"/>
              <a:t> – derived attribute</a:t>
            </a:r>
          </a:p>
        </p:txBody>
      </p:sp>
      <p:sp>
        <p:nvSpPr>
          <p:cNvPr id="3" name="Content Placeholder 2">
            <a:extLst>
              <a:ext uri="{FF2B5EF4-FFF2-40B4-BE49-F238E27FC236}">
                <a16:creationId xmlns:a16="http://schemas.microsoft.com/office/drawing/2014/main" id="{F5EDD606-FB1C-4983-A7C3-2673644DC6D9}"/>
              </a:ext>
            </a:extLst>
          </p:cNvPr>
          <p:cNvSpPr>
            <a:spLocks noGrp="1"/>
          </p:cNvSpPr>
          <p:nvPr>
            <p:ph idx="1"/>
          </p:nvPr>
        </p:nvSpPr>
        <p:spPr/>
        <p:txBody>
          <a:bodyPr/>
          <a:lstStyle/>
          <a:p>
            <a:r>
              <a:rPr lang="vi-VN" dirty="0"/>
              <a:t>Ví dụ sau sẽ tạo ra một cột suy diễn được đặt tên là lineTotal, thuộc tính này là kết quả phép nhân giữa hai thuộc tính priceEach và quantityOrdered </a:t>
            </a:r>
          </a:p>
          <a:p>
            <a:endParaRPr lang="en-US" dirty="0"/>
          </a:p>
          <a:p>
            <a:pPr marL="0" indent="0">
              <a:buNone/>
            </a:pPr>
            <a:r>
              <a:rPr lang="en-US" dirty="0"/>
              <a:t>	SELECT </a:t>
            </a:r>
            <a:r>
              <a:rPr lang="en-US" dirty="0" err="1"/>
              <a:t>orderNumber</a:t>
            </a:r>
            <a:r>
              <a:rPr lang="en-US" dirty="0"/>
              <a:t>, (</a:t>
            </a:r>
            <a:r>
              <a:rPr lang="en-US" dirty="0" err="1"/>
              <a:t>priceEach</a:t>
            </a:r>
            <a:r>
              <a:rPr lang="en-US" dirty="0"/>
              <a:t>*</a:t>
            </a:r>
            <a:r>
              <a:rPr lang="en-US" dirty="0" err="1"/>
              <a:t>quantityOrdered</a:t>
            </a:r>
            <a:r>
              <a:rPr lang="en-US" dirty="0"/>
              <a:t>) as </a:t>
            </a:r>
            <a:r>
              <a:rPr lang="en-US" dirty="0" err="1"/>
              <a:t>lineTotal</a:t>
            </a:r>
            <a:r>
              <a:rPr lang="en-US" dirty="0"/>
              <a:t> </a:t>
            </a:r>
          </a:p>
          <a:p>
            <a:pPr marL="0" indent="0">
              <a:buNone/>
            </a:pPr>
            <a:r>
              <a:rPr lang="en-US" dirty="0"/>
              <a:t>	FROM </a:t>
            </a:r>
            <a:r>
              <a:rPr lang="en-US" dirty="0" err="1"/>
              <a:t>orderdetails</a:t>
            </a:r>
            <a:endParaRPr lang="en-US" dirty="0"/>
          </a:p>
          <a:p>
            <a:pPr marL="0" indent="0">
              <a:buNone/>
            </a:pPr>
            <a:r>
              <a:rPr lang="en-US" dirty="0"/>
              <a:t>----------------------</a:t>
            </a:r>
          </a:p>
          <a:p>
            <a:pPr marL="0" indent="0">
              <a:buNone/>
            </a:pPr>
            <a:r>
              <a:rPr lang="en-US" dirty="0"/>
              <a:t>	SELECT </a:t>
            </a:r>
            <a:r>
              <a:rPr lang="en-US" dirty="0" err="1"/>
              <a:t>orderNumber</a:t>
            </a:r>
            <a:r>
              <a:rPr lang="en-US" dirty="0"/>
              <a:t>, (</a:t>
            </a:r>
            <a:r>
              <a:rPr lang="en-US" dirty="0" err="1"/>
              <a:t>priceEach</a:t>
            </a:r>
            <a:r>
              <a:rPr lang="en-US" dirty="0"/>
              <a:t>*</a:t>
            </a:r>
            <a:r>
              <a:rPr lang="en-US" dirty="0" err="1"/>
              <a:t>quantityOrdered</a:t>
            </a:r>
            <a:r>
              <a:rPr lang="en-US" dirty="0"/>
              <a:t>) </a:t>
            </a:r>
          </a:p>
          <a:p>
            <a:pPr marL="0" indent="0">
              <a:buNone/>
            </a:pPr>
            <a:r>
              <a:rPr lang="en-US" dirty="0"/>
              <a:t>	FROM </a:t>
            </a:r>
            <a:r>
              <a:rPr lang="en-US" dirty="0" err="1"/>
              <a:t>orderdetails</a:t>
            </a:r>
            <a:endParaRPr lang="en-US" dirty="0"/>
          </a:p>
          <a:p>
            <a:pPr marL="0" indent="0">
              <a:buNone/>
            </a:pPr>
            <a:endParaRPr lang="en-US" dirty="0"/>
          </a:p>
        </p:txBody>
      </p:sp>
    </p:spTree>
    <p:extLst>
      <p:ext uri="{BB962C8B-B14F-4D97-AF65-F5344CB8AC3E}">
        <p14:creationId xmlns:p14="http://schemas.microsoft.com/office/powerpoint/2010/main" val="18099798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475D0-898F-4219-A4FC-6DFA2140CFF5}"/>
              </a:ext>
            </a:extLst>
          </p:cNvPr>
          <p:cNvSpPr>
            <a:spLocks noGrp="1"/>
          </p:cNvSpPr>
          <p:nvPr>
            <p:ph type="title"/>
          </p:nvPr>
        </p:nvSpPr>
        <p:spPr/>
        <p:txBody>
          <a:bodyPr/>
          <a:lstStyle/>
          <a:p>
            <a:r>
              <a:rPr lang="en-US" dirty="0"/>
              <a:t>Order by</a:t>
            </a:r>
          </a:p>
        </p:txBody>
      </p:sp>
      <p:sp>
        <p:nvSpPr>
          <p:cNvPr id="3" name="Content Placeholder 2">
            <a:extLst>
              <a:ext uri="{FF2B5EF4-FFF2-40B4-BE49-F238E27FC236}">
                <a16:creationId xmlns:a16="http://schemas.microsoft.com/office/drawing/2014/main" id="{9E9DBA93-C98C-4BB8-AF65-E1E4ABDB37C0}"/>
              </a:ext>
            </a:extLst>
          </p:cNvPr>
          <p:cNvSpPr>
            <a:spLocks noGrp="1"/>
          </p:cNvSpPr>
          <p:nvPr>
            <p:ph idx="1"/>
          </p:nvPr>
        </p:nvSpPr>
        <p:spPr>
          <a:xfrm>
            <a:off x="604007" y="1736521"/>
            <a:ext cx="8669995" cy="4304841"/>
          </a:xfrm>
        </p:spPr>
        <p:txBody>
          <a:bodyPr>
            <a:normAutofit/>
          </a:bodyPr>
          <a:lstStyle/>
          <a:p>
            <a:r>
              <a:rPr lang="en-US" dirty="0"/>
              <a:t>  SELECT </a:t>
            </a:r>
            <a:r>
              <a:rPr lang="en-US" dirty="0" err="1"/>
              <a:t>tên</a:t>
            </a:r>
            <a:r>
              <a:rPr lang="en-US" dirty="0"/>
              <a:t> </a:t>
            </a:r>
            <a:r>
              <a:rPr lang="en-US" dirty="0" err="1"/>
              <a:t>cột</a:t>
            </a:r>
            <a:r>
              <a:rPr lang="en-US" dirty="0"/>
              <a:t> 1, </a:t>
            </a:r>
            <a:r>
              <a:rPr lang="en-US" dirty="0" err="1"/>
              <a:t>tên</a:t>
            </a:r>
            <a:r>
              <a:rPr lang="en-US" dirty="0"/>
              <a:t> </a:t>
            </a:r>
            <a:r>
              <a:rPr lang="en-US" dirty="0" err="1"/>
              <a:t>cột</a:t>
            </a:r>
            <a:r>
              <a:rPr lang="en-US" dirty="0"/>
              <a:t> 2, ... </a:t>
            </a:r>
          </a:p>
          <a:p>
            <a:pPr marL="0" indent="0">
              <a:buNone/>
            </a:pPr>
            <a:r>
              <a:rPr lang="en-US" dirty="0"/>
              <a:t>	FROM </a:t>
            </a:r>
            <a:r>
              <a:rPr lang="en-US" dirty="0" err="1"/>
              <a:t>các</a:t>
            </a:r>
            <a:r>
              <a:rPr lang="en-US" dirty="0"/>
              <a:t> </a:t>
            </a:r>
            <a:r>
              <a:rPr lang="en-US" dirty="0" err="1"/>
              <a:t>bảng</a:t>
            </a:r>
            <a:r>
              <a:rPr lang="en-US" dirty="0"/>
              <a:t> </a:t>
            </a:r>
          </a:p>
          <a:p>
            <a:pPr marL="0" indent="0">
              <a:buNone/>
            </a:pPr>
            <a:r>
              <a:rPr lang="en-US" dirty="0"/>
              <a:t>      [WHERE </a:t>
            </a:r>
            <a:r>
              <a:rPr lang="en-US" dirty="0" err="1"/>
              <a:t>điều</a:t>
            </a:r>
            <a:r>
              <a:rPr lang="en-US" dirty="0"/>
              <a:t> </a:t>
            </a:r>
            <a:r>
              <a:rPr lang="en-US" dirty="0" err="1"/>
              <a:t>kiện</a:t>
            </a:r>
            <a:r>
              <a:rPr lang="en-US" dirty="0"/>
              <a:t> </a:t>
            </a:r>
            <a:r>
              <a:rPr lang="en-US" dirty="0" err="1"/>
              <a:t>chọn</a:t>
            </a:r>
            <a:r>
              <a:rPr lang="en-US" dirty="0"/>
              <a:t>] </a:t>
            </a:r>
          </a:p>
          <a:p>
            <a:pPr marL="0" indent="0">
              <a:buNone/>
            </a:pPr>
            <a:r>
              <a:rPr lang="en-US" dirty="0"/>
              <a:t>      [GROUP BY </a:t>
            </a:r>
            <a:r>
              <a:rPr lang="en-US" dirty="0" err="1"/>
              <a:t>nhóm</a:t>
            </a:r>
            <a:r>
              <a:rPr lang="en-US" dirty="0"/>
              <a:t>] </a:t>
            </a:r>
          </a:p>
          <a:p>
            <a:pPr marL="0" indent="0">
              <a:buNone/>
            </a:pPr>
            <a:r>
              <a:rPr lang="en-US" dirty="0"/>
              <a:t>      [HAVING </a:t>
            </a:r>
            <a:r>
              <a:rPr lang="en-US" dirty="0" err="1"/>
              <a:t>điều</a:t>
            </a:r>
            <a:r>
              <a:rPr lang="en-US" dirty="0"/>
              <a:t> </a:t>
            </a:r>
            <a:r>
              <a:rPr lang="en-US" dirty="0" err="1"/>
              <a:t>kiện</a:t>
            </a:r>
            <a:r>
              <a:rPr lang="en-US" dirty="0"/>
              <a:t> </a:t>
            </a:r>
            <a:r>
              <a:rPr lang="en-US" dirty="0" err="1"/>
              <a:t>chọn</a:t>
            </a:r>
            <a:r>
              <a:rPr lang="en-US" dirty="0"/>
              <a:t> </a:t>
            </a:r>
            <a:r>
              <a:rPr lang="en-US" dirty="0" err="1"/>
              <a:t>nhóm</a:t>
            </a:r>
            <a:r>
              <a:rPr lang="en-US" dirty="0"/>
              <a:t>] </a:t>
            </a:r>
          </a:p>
          <a:p>
            <a:pPr marL="0" indent="0">
              <a:buNone/>
            </a:pPr>
            <a:r>
              <a:rPr lang="en-US" dirty="0"/>
              <a:t>      [ORDER BY </a:t>
            </a:r>
            <a:r>
              <a:rPr lang="en-US" dirty="0" err="1"/>
              <a:t>các</a:t>
            </a:r>
            <a:r>
              <a:rPr lang="en-US" dirty="0"/>
              <a:t> </a:t>
            </a:r>
            <a:r>
              <a:rPr lang="en-US" dirty="0" err="1"/>
              <a:t>cột</a:t>
            </a:r>
            <a:r>
              <a:rPr lang="en-US" dirty="0"/>
              <a:t> </a:t>
            </a:r>
            <a:r>
              <a:rPr lang="en-US" dirty="0" err="1"/>
              <a:t>sắp</a:t>
            </a:r>
            <a:r>
              <a:rPr lang="en-US" dirty="0"/>
              <a:t> </a:t>
            </a:r>
            <a:r>
              <a:rPr lang="en-US" dirty="0" err="1"/>
              <a:t>xếp</a:t>
            </a:r>
            <a:r>
              <a:rPr lang="en-US" dirty="0"/>
              <a:t>] </a:t>
            </a:r>
          </a:p>
          <a:p>
            <a:pPr marL="0" indent="0">
              <a:buNone/>
            </a:pPr>
            <a:r>
              <a:rPr lang="en-US" dirty="0"/>
              <a:t>      [LIMIT </a:t>
            </a:r>
            <a:r>
              <a:rPr lang="en-US" dirty="0" err="1"/>
              <a:t>giới</a:t>
            </a:r>
            <a:r>
              <a:rPr lang="en-US" dirty="0"/>
              <a:t> </a:t>
            </a:r>
            <a:r>
              <a:rPr lang="en-US" dirty="0" err="1"/>
              <a:t>hạn</a:t>
            </a:r>
            <a:r>
              <a:rPr lang="en-US" dirty="0"/>
              <a:t> </a:t>
            </a:r>
            <a:r>
              <a:rPr lang="en-US" dirty="0" err="1"/>
              <a:t>số</a:t>
            </a:r>
            <a:r>
              <a:rPr lang="en-US" dirty="0"/>
              <a:t> </a:t>
            </a:r>
            <a:r>
              <a:rPr lang="en-US" dirty="0" err="1"/>
              <a:t>lượng</a:t>
            </a:r>
            <a:r>
              <a:rPr lang="en-US" dirty="0"/>
              <a:t>]; </a:t>
            </a:r>
          </a:p>
          <a:p>
            <a:pPr lvl="0" fontAlgn="base"/>
            <a:r>
              <a:rPr lang="en-US" dirty="0" err="1"/>
              <a:t>Trong</a:t>
            </a:r>
            <a:r>
              <a:rPr lang="en-US" dirty="0"/>
              <a:t> </a:t>
            </a:r>
            <a:r>
              <a:rPr lang="en-US" dirty="0" err="1"/>
              <a:t>một</a:t>
            </a:r>
            <a:r>
              <a:rPr lang="en-US" dirty="0"/>
              <a:t> </a:t>
            </a:r>
            <a:r>
              <a:rPr lang="en-US" dirty="0" err="1"/>
              <a:t>truy</a:t>
            </a:r>
            <a:r>
              <a:rPr lang="en-US" dirty="0"/>
              <a:t> </a:t>
            </a:r>
            <a:r>
              <a:rPr lang="en-US" dirty="0" err="1"/>
              <a:t>vấn</a:t>
            </a:r>
            <a:r>
              <a:rPr lang="en-US" dirty="0"/>
              <a:t> SELECT </a:t>
            </a:r>
            <a:r>
              <a:rPr lang="en-US" dirty="0" err="1"/>
              <a:t>có</a:t>
            </a:r>
            <a:r>
              <a:rPr lang="en-US" dirty="0"/>
              <a:t> </a:t>
            </a:r>
            <a:r>
              <a:rPr lang="en-US" dirty="0" err="1"/>
              <a:t>nhiều</a:t>
            </a:r>
            <a:r>
              <a:rPr lang="en-US" dirty="0"/>
              <a:t> </a:t>
            </a:r>
            <a:r>
              <a:rPr lang="en-US" dirty="0" err="1"/>
              <a:t>yếu</a:t>
            </a:r>
            <a:r>
              <a:rPr lang="en-US" dirty="0"/>
              <a:t> </a:t>
            </a:r>
            <a:r>
              <a:rPr lang="en-US" dirty="0" err="1"/>
              <a:t>tố</a:t>
            </a:r>
            <a:r>
              <a:rPr lang="en-US" dirty="0"/>
              <a:t> </a:t>
            </a:r>
            <a:r>
              <a:rPr lang="en-US" dirty="0" err="1"/>
              <a:t>tùy</a:t>
            </a:r>
            <a:r>
              <a:rPr lang="en-US" dirty="0"/>
              <a:t> </a:t>
            </a:r>
            <a:r>
              <a:rPr lang="en-US" dirty="0" err="1"/>
              <a:t>chọn</a:t>
            </a:r>
            <a:r>
              <a:rPr lang="en-US" dirty="0"/>
              <a:t> </a:t>
            </a:r>
            <a:r>
              <a:rPr lang="en-US" dirty="0" err="1"/>
              <a:t>mà</a:t>
            </a:r>
            <a:r>
              <a:rPr lang="en-US" dirty="0"/>
              <a:t>  </a:t>
            </a:r>
            <a:r>
              <a:rPr lang="en-US" dirty="0" err="1"/>
              <a:t>có</a:t>
            </a:r>
            <a:r>
              <a:rPr lang="en-US" dirty="0"/>
              <a:t> </a:t>
            </a:r>
            <a:r>
              <a:rPr lang="en-US" dirty="0" err="1"/>
              <a:t>thể</a:t>
            </a:r>
            <a:r>
              <a:rPr lang="en-US" dirty="0"/>
              <a:t> </a:t>
            </a:r>
            <a:r>
              <a:rPr lang="en-US" dirty="0" err="1"/>
              <a:t>sử</a:t>
            </a:r>
            <a:r>
              <a:rPr lang="en-US" dirty="0"/>
              <a:t> </a:t>
            </a:r>
            <a:r>
              <a:rPr lang="en-US" dirty="0" err="1"/>
              <a:t>dụng</a:t>
            </a:r>
            <a:r>
              <a:rPr lang="en-US" dirty="0"/>
              <a:t>. </a:t>
            </a:r>
            <a:r>
              <a:rPr lang="en-US" dirty="0" err="1"/>
              <a:t>Các</a:t>
            </a:r>
            <a:r>
              <a:rPr lang="en-US" dirty="0"/>
              <a:t> </a:t>
            </a:r>
            <a:r>
              <a:rPr lang="en-US" dirty="0" err="1"/>
              <a:t>tùy</a:t>
            </a:r>
            <a:r>
              <a:rPr lang="en-US" dirty="0"/>
              <a:t> </a:t>
            </a:r>
            <a:r>
              <a:rPr lang="en-US" dirty="0" err="1"/>
              <a:t>chọn</a:t>
            </a:r>
            <a:r>
              <a:rPr lang="en-US" dirty="0"/>
              <a:t> </a:t>
            </a:r>
            <a:r>
              <a:rPr lang="en-US" dirty="0" err="1"/>
              <a:t>được</a:t>
            </a:r>
            <a:r>
              <a:rPr lang="en-US" dirty="0"/>
              <a:t> </a:t>
            </a:r>
            <a:r>
              <a:rPr lang="en-US" dirty="0" err="1"/>
              <a:t>đặt</a:t>
            </a:r>
            <a:r>
              <a:rPr lang="en-US" dirty="0"/>
              <a:t> </a:t>
            </a:r>
            <a:r>
              <a:rPr lang="en-US" dirty="0" err="1"/>
              <a:t>trong</a:t>
            </a:r>
            <a:r>
              <a:rPr lang="en-US" dirty="0"/>
              <a:t> </a:t>
            </a:r>
            <a:r>
              <a:rPr lang="en-US" dirty="0" err="1"/>
              <a:t>dấu</a:t>
            </a:r>
            <a:r>
              <a:rPr lang="en-US" dirty="0"/>
              <a:t> </a:t>
            </a:r>
            <a:r>
              <a:rPr lang="en-US" dirty="0" err="1"/>
              <a:t>ngoặc</a:t>
            </a:r>
            <a:r>
              <a:rPr lang="en-US" dirty="0"/>
              <a:t> </a:t>
            </a:r>
            <a:r>
              <a:rPr lang="en-US" dirty="0" err="1"/>
              <a:t>vuông</a:t>
            </a:r>
            <a:r>
              <a:rPr lang="en-US" dirty="0"/>
              <a:t> [].  </a:t>
            </a:r>
          </a:p>
          <a:p>
            <a:r>
              <a:rPr lang="en-US" dirty="0" err="1"/>
              <a:t>Thứ</a:t>
            </a:r>
            <a:r>
              <a:rPr lang="en-US" dirty="0"/>
              <a:t> </a:t>
            </a:r>
            <a:r>
              <a:rPr lang="en-US" dirty="0" err="1"/>
              <a:t>tự</a:t>
            </a:r>
            <a:r>
              <a:rPr lang="en-US" dirty="0"/>
              <a:t> </a:t>
            </a:r>
            <a:r>
              <a:rPr lang="en-US" dirty="0" err="1"/>
              <a:t>xuất</a:t>
            </a:r>
            <a:r>
              <a:rPr lang="en-US" dirty="0"/>
              <a:t> </a:t>
            </a:r>
            <a:r>
              <a:rPr lang="en-US" dirty="0" err="1"/>
              <a:t>hiện</a:t>
            </a:r>
            <a:r>
              <a:rPr lang="en-US" dirty="0"/>
              <a:t> </a:t>
            </a:r>
            <a:r>
              <a:rPr lang="en-US" dirty="0" err="1"/>
              <a:t>của</a:t>
            </a:r>
            <a:r>
              <a:rPr lang="en-US" dirty="0"/>
              <a:t> </a:t>
            </a:r>
            <a:r>
              <a:rPr lang="en-US" dirty="0" err="1"/>
              <a:t>các</a:t>
            </a:r>
            <a:r>
              <a:rPr lang="en-US" dirty="0"/>
              <a:t> </a:t>
            </a:r>
            <a:r>
              <a:rPr lang="en-US" dirty="0" err="1"/>
              <a:t>từ</a:t>
            </a:r>
            <a:r>
              <a:rPr lang="en-US" dirty="0"/>
              <a:t> </a:t>
            </a:r>
            <a:r>
              <a:rPr lang="en-US" dirty="0" err="1"/>
              <a:t>khoá</a:t>
            </a:r>
            <a:r>
              <a:rPr lang="en-US" dirty="0"/>
              <a:t> WHERE, GROUP BY, HAVING, ORDER BY </a:t>
            </a:r>
            <a:r>
              <a:rPr lang="en-US" dirty="0" err="1"/>
              <a:t>và</a:t>
            </a:r>
            <a:r>
              <a:rPr lang="en-US" dirty="0"/>
              <a:t> LIMIT </a:t>
            </a:r>
            <a:r>
              <a:rPr lang="en-US" dirty="0" err="1"/>
              <a:t>phải</a:t>
            </a:r>
            <a:r>
              <a:rPr lang="en-US" dirty="0"/>
              <a:t> </a:t>
            </a:r>
            <a:r>
              <a:rPr lang="en-US" dirty="0" err="1"/>
              <a:t>theo</a:t>
            </a:r>
            <a:r>
              <a:rPr lang="en-US" dirty="0"/>
              <a:t> </a:t>
            </a:r>
            <a:r>
              <a:rPr lang="en-US" dirty="0" err="1"/>
              <a:t>đúng</a:t>
            </a:r>
            <a:r>
              <a:rPr lang="en-US" dirty="0"/>
              <a:t> </a:t>
            </a:r>
            <a:r>
              <a:rPr lang="en-US" dirty="0" err="1"/>
              <a:t>thứ</a:t>
            </a:r>
            <a:r>
              <a:rPr lang="en-US" dirty="0"/>
              <a:t> </a:t>
            </a:r>
            <a:r>
              <a:rPr lang="en-US" dirty="0" err="1"/>
              <a:t>tự</a:t>
            </a:r>
            <a:r>
              <a:rPr lang="en-US" dirty="0"/>
              <a:t> </a:t>
            </a:r>
            <a:r>
              <a:rPr lang="en-US" dirty="0" err="1"/>
              <a:t>trên</a:t>
            </a:r>
            <a:r>
              <a:rPr lang="en-US" dirty="0"/>
              <a:t>.</a:t>
            </a:r>
          </a:p>
        </p:txBody>
      </p:sp>
    </p:spTree>
    <p:extLst>
      <p:ext uri="{BB962C8B-B14F-4D97-AF65-F5344CB8AC3E}">
        <p14:creationId xmlns:p14="http://schemas.microsoft.com/office/powerpoint/2010/main" val="19212975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D65DE-DECB-4BC6-9459-186AEB999B9D}"/>
              </a:ext>
            </a:extLst>
          </p:cNvPr>
          <p:cNvSpPr>
            <a:spLocks noGrp="1"/>
          </p:cNvSpPr>
          <p:nvPr>
            <p:ph type="title"/>
          </p:nvPr>
        </p:nvSpPr>
        <p:spPr/>
        <p:txBody>
          <a:bodyPr/>
          <a:lstStyle/>
          <a:p>
            <a:r>
              <a:rPr lang="en-US" dirty="0"/>
              <a:t>ORDER BY</a:t>
            </a:r>
          </a:p>
        </p:txBody>
      </p:sp>
      <p:sp>
        <p:nvSpPr>
          <p:cNvPr id="3" name="Content Placeholder 2">
            <a:extLst>
              <a:ext uri="{FF2B5EF4-FFF2-40B4-BE49-F238E27FC236}">
                <a16:creationId xmlns:a16="http://schemas.microsoft.com/office/drawing/2014/main" id="{1EEB5F14-08A9-4AE6-A856-E03B7A354E51}"/>
              </a:ext>
            </a:extLst>
          </p:cNvPr>
          <p:cNvSpPr>
            <a:spLocks noGrp="1"/>
          </p:cNvSpPr>
          <p:nvPr>
            <p:ph idx="1"/>
          </p:nvPr>
        </p:nvSpPr>
        <p:spPr/>
        <p:txBody>
          <a:bodyPr/>
          <a:lstStyle/>
          <a:p>
            <a:r>
              <a:rPr lang="en-US" dirty="0" err="1"/>
              <a:t>Mệnh</a:t>
            </a:r>
            <a:r>
              <a:rPr lang="en-US" dirty="0"/>
              <a:t> </a:t>
            </a:r>
            <a:r>
              <a:rPr lang="en-US" dirty="0" err="1"/>
              <a:t>đề</a:t>
            </a:r>
            <a:r>
              <a:rPr lang="en-US" dirty="0"/>
              <a:t> ORDER BY </a:t>
            </a:r>
            <a:r>
              <a:rPr lang="en-US" dirty="0" err="1"/>
              <a:t>cho</a:t>
            </a:r>
            <a:r>
              <a:rPr lang="en-US" dirty="0"/>
              <a:t> </a:t>
            </a:r>
            <a:r>
              <a:rPr lang="en-US" dirty="0" err="1"/>
              <a:t>phép</a:t>
            </a:r>
            <a:r>
              <a:rPr lang="en-US" dirty="0"/>
              <a:t> </a:t>
            </a:r>
            <a:r>
              <a:rPr lang="en-US" dirty="0" err="1"/>
              <a:t>sắp</a:t>
            </a:r>
            <a:r>
              <a:rPr lang="en-US" dirty="0"/>
              <a:t> </a:t>
            </a:r>
            <a:r>
              <a:rPr lang="en-US" dirty="0" err="1"/>
              <a:t>xếp</a:t>
            </a:r>
            <a:r>
              <a:rPr lang="en-US" dirty="0"/>
              <a:t> </a:t>
            </a:r>
            <a:r>
              <a:rPr lang="en-US" dirty="0" err="1"/>
              <a:t>các</a:t>
            </a:r>
            <a:r>
              <a:rPr lang="en-US" dirty="0"/>
              <a:t> </a:t>
            </a:r>
            <a:r>
              <a:rPr lang="en-US" dirty="0" err="1"/>
              <a:t>kết</a:t>
            </a:r>
            <a:r>
              <a:rPr lang="en-US" dirty="0"/>
              <a:t> </a:t>
            </a:r>
            <a:r>
              <a:rPr lang="en-US" dirty="0" err="1"/>
              <a:t>quả</a:t>
            </a:r>
            <a:r>
              <a:rPr lang="en-US" dirty="0"/>
              <a:t> </a:t>
            </a:r>
            <a:r>
              <a:rPr lang="en-US" dirty="0" err="1"/>
              <a:t>trên</a:t>
            </a:r>
            <a:r>
              <a:rPr lang="en-US" dirty="0"/>
              <a:t> </a:t>
            </a:r>
            <a:r>
              <a:rPr lang="en-US" dirty="0" err="1"/>
              <a:t>một</a:t>
            </a:r>
            <a:r>
              <a:rPr lang="en-US" dirty="0"/>
              <a:t> </a:t>
            </a:r>
            <a:r>
              <a:rPr lang="en-US" dirty="0" err="1"/>
              <a:t>hoặc</a:t>
            </a:r>
            <a:r>
              <a:rPr lang="en-US" dirty="0"/>
              <a:t> </a:t>
            </a:r>
            <a:r>
              <a:rPr lang="en-US" dirty="0" err="1"/>
              <a:t>nhiều</a:t>
            </a:r>
            <a:r>
              <a:rPr lang="en-US" dirty="0"/>
              <a:t> </a:t>
            </a:r>
            <a:r>
              <a:rPr lang="en-US" dirty="0" err="1"/>
              <a:t>cột</a:t>
            </a:r>
            <a:r>
              <a:rPr lang="en-US" dirty="0"/>
              <a:t> </a:t>
            </a:r>
            <a:r>
              <a:rPr lang="en-US" dirty="0" err="1"/>
              <a:t>trong</a:t>
            </a:r>
            <a:r>
              <a:rPr lang="en-US" dirty="0"/>
              <a:t> </a:t>
            </a:r>
            <a:r>
              <a:rPr lang="en-US" dirty="0" err="1"/>
              <a:t>kết</a:t>
            </a:r>
            <a:r>
              <a:rPr lang="en-US" dirty="0"/>
              <a:t> </a:t>
            </a:r>
            <a:r>
              <a:rPr lang="en-US" dirty="0" err="1"/>
              <a:t>quả</a:t>
            </a:r>
            <a:r>
              <a:rPr lang="en-US" dirty="0"/>
              <a:t> </a:t>
            </a:r>
            <a:r>
              <a:rPr lang="en-US" dirty="0" err="1"/>
              <a:t>truy</a:t>
            </a:r>
            <a:r>
              <a:rPr lang="en-US" dirty="0"/>
              <a:t> </a:t>
            </a:r>
            <a:r>
              <a:rPr lang="en-US" dirty="0" err="1"/>
              <a:t>vấn</a:t>
            </a:r>
            <a:r>
              <a:rPr lang="en-US" dirty="0"/>
              <a:t> </a:t>
            </a:r>
            <a:r>
              <a:rPr lang="en-US" dirty="0" err="1"/>
              <a:t>theo</a:t>
            </a:r>
            <a:r>
              <a:rPr lang="en-US" dirty="0"/>
              <a:t> </a:t>
            </a:r>
            <a:r>
              <a:rPr lang="en-US" dirty="0" err="1"/>
              <a:t>thứ</a:t>
            </a:r>
            <a:r>
              <a:rPr lang="en-US" dirty="0"/>
              <a:t> </a:t>
            </a:r>
            <a:r>
              <a:rPr lang="en-US" dirty="0" err="1"/>
              <a:t>tự</a:t>
            </a:r>
            <a:r>
              <a:rPr lang="en-US" dirty="0"/>
              <a:t> </a:t>
            </a:r>
            <a:r>
              <a:rPr lang="en-US" dirty="0" err="1"/>
              <a:t>tăng</a:t>
            </a:r>
            <a:r>
              <a:rPr lang="en-US" dirty="0"/>
              <a:t> </a:t>
            </a:r>
            <a:r>
              <a:rPr lang="en-US" dirty="0" err="1"/>
              <a:t>dần</a:t>
            </a:r>
            <a:r>
              <a:rPr lang="en-US" dirty="0"/>
              <a:t> hay </a:t>
            </a:r>
            <a:r>
              <a:rPr lang="en-US" dirty="0" err="1"/>
              <a:t>giảm</a:t>
            </a:r>
            <a:r>
              <a:rPr lang="en-US" dirty="0"/>
              <a:t> </a:t>
            </a:r>
            <a:r>
              <a:rPr lang="en-US" dirty="0" err="1"/>
              <a:t>dần</a:t>
            </a:r>
            <a:r>
              <a:rPr lang="en-US" dirty="0"/>
              <a:t>.</a:t>
            </a:r>
          </a:p>
          <a:p>
            <a:r>
              <a:rPr lang="en-US" dirty="0"/>
              <a:t> </a:t>
            </a:r>
            <a:r>
              <a:rPr lang="en-US" dirty="0" err="1"/>
              <a:t>Để</a:t>
            </a:r>
            <a:r>
              <a:rPr lang="en-US" dirty="0"/>
              <a:t> </a:t>
            </a:r>
            <a:r>
              <a:rPr lang="en-US" dirty="0" err="1"/>
              <a:t>sắp</a:t>
            </a:r>
            <a:r>
              <a:rPr lang="en-US" dirty="0"/>
              <a:t> </a:t>
            </a:r>
            <a:r>
              <a:rPr lang="en-US" dirty="0" err="1"/>
              <a:t>xếp</a:t>
            </a:r>
            <a:r>
              <a:rPr lang="en-US" dirty="0"/>
              <a:t> </a:t>
            </a:r>
            <a:r>
              <a:rPr lang="en-US" dirty="0" err="1"/>
              <a:t>kết</a:t>
            </a:r>
            <a:r>
              <a:rPr lang="en-US" dirty="0"/>
              <a:t> </a:t>
            </a:r>
            <a:r>
              <a:rPr lang="en-US" dirty="0" err="1"/>
              <a:t>quả</a:t>
            </a:r>
            <a:r>
              <a:rPr lang="en-US" dirty="0"/>
              <a:t> </a:t>
            </a:r>
            <a:r>
              <a:rPr lang="en-US" dirty="0" err="1"/>
              <a:t>theo</a:t>
            </a:r>
            <a:r>
              <a:rPr lang="en-US" dirty="0"/>
              <a:t> </a:t>
            </a:r>
            <a:r>
              <a:rPr lang="en-US" dirty="0" err="1"/>
              <a:t>thứ</a:t>
            </a:r>
            <a:r>
              <a:rPr lang="en-US" dirty="0"/>
              <a:t> </a:t>
            </a:r>
            <a:r>
              <a:rPr lang="en-US" dirty="0" err="1"/>
              <a:t>tự</a:t>
            </a:r>
            <a:r>
              <a:rPr lang="en-US" dirty="0"/>
              <a:t> </a:t>
            </a:r>
            <a:r>
              <a:rPr lang="en-US" dirty="0" err="1"/>
              <a:t>tăng</a:t>
            </a:r>
            <a:r>
              <a:rPr lang="en-US" dirty="0"/>
              <a:t> </a:t>
            </a:r>
            <a:r>
              <a:rPr lang="en-US" dirty="0" err="1"/>
              <a:t>dần</a:t>
            </a:r>
            <a:r>
              <a:rPr lang="en-US" dirty="0"/>
              <a:t>, </a:t>
            </a:r>
            <a:r>
              <a:rPr lang="en-US" dirty="0" err="1"/>
              <a:t>sử</a:t>
            </a:r>
            <a:r>
              <a:rPr lang="en-US" dirty="0"/>
              <a:t> </a:t>
            </a:r>
            <a:r>
              <a:rPr lang="en-US" dirty="0" err="1"/>
              <a:t>dụng</a:t>
            </a:r>
            <a:r>
              <a:rPr lang="en-US" dirty="0"/>
              <a:t> ASC; </a:t>
            </a:r>
            <a:r>
              <a:rPr lang="en-US" dirty="0" err="1"/>
              <a:t>giảm</a:t>
            </a:r>
            <a:r>
              <a:rPr lang="en-US" dirty="0"/>
              <a:t> </a:t>
            </a:r>
            <a:r>
              <a:rPr lang="en-US" dirty="0" err="1"/>
              <a:t>dần</a:t>
            </a:r>
            <a:r>
              <a:rPr lang="en-US" dirty="0"/>
              <a:t> </a:t>
            </a:r>
            <a:r>
              <a:rPr lang="en-US" dirty="0" err="1"/>
              <a:t>là</a:t>
            </a:r>
            <a:r>
              <a:rPr lang="en-US" dirty="0"/>
              <a:t> DESC. Theo </a:t>
            </a:r>
            <a:r>
              <a:rPr lang="en-US" dirty="0" err="1"/>
              <a:t>mặc</a:t>
            </a:r>
            <a:r>
              <a:rPr lang="en-US" dirty="0"/>
              <a:t> </a:t>
            </a:r>
            <a:r>
              <a:rPr lang="en-US" dirty="0" err="1"/>
              <a:t>định</a:t>
            </a:r>
            <a:r>
              <a:rPr lang="en-US" dirty="0"/>
              <a:t>, ORDER BY </a:t>
            </a:r>
            <a:r>
              <a:rPr lang="en-US" dirty="0" err="1"/>
              <a:t>sẽ</a:t>
            </a:r>
            <a:r>
              <a:rPr lang="en-US" dirty="0"/>
              <a:t> </a:t>
            </a:r>
            <a:r>
              <a:rPr lang="en-US" dirty="0" err="1"/>
              <a:t>sắp</a:t>
            </a:r>
            <a:r>
              <a:rPr lang="en-US" dirty="0"/>
              <a:t> </a:t>
            </a:r>
            <a:r>
              <a:rPr lang="en-US" dirty="0" err="1"/>
              <a:t>xếp</a:t>
            </a:r>
            <a:r>
              <a:rPr lang="en-US" dirty="0"/>
              <a:t> </a:t>
            </a:r>
            <a:r>
              <a:rPr lang="en-US" dirty="0" err="1"/>
              <a:t>các</a:t>
            </a:r>
            <a:r>
              <a:rPr lang="en-US" dirty="0"/>
              <a:t> </a:t>
            </a:r>
            <a:r>
              <a:rPr lang="en-US" dirty="0" err="1"/>
              <a:t>kết</a:t>
            </a:r>
            <a:r>
              <a:rPr lang="en-US" dirty="0"/>
              <a:t> </a:t>
            </a:r>
            <a:r>
              <a:rPr lang="en-US" dirty="0" err="1"/>
              <a:t>quả</a:t>
            </a:r>
            <a:r>
              <a:rPr lang="en-US" dirty="0"/>
              <a:t> </a:t>
            </a:r>
            <a:r>
              <a:rPr lang="en-US" dirty="0" err="1"/>
              <a:t>theo</a:t>
            </a:r>
            <a:r>
              <a:rPr lang="en-US" dirty="0"/>
              <a:t> </a:t>
            </a:r>
            <a:r>
              <a:rPr lang="en-US" dirty="0" err="1"/>
              <a:t>thứ</a:t>
            </a:r>
            <a:r>
              <a:rPr lang="en-US" dirty="0"/>
              <a:t> </a:t>
            </a:r>
            <a:r>
              <a:rPr lang="en-US" dirty="0" err="1"/>
              <a:t>tự</a:t>
            </a:r>
            <a:r>
              <a:rPr lang="en-US" dirty="0"/>
              <a:t> </a:t>
            </a:r>
            <a:r>
              <a:rPr lang="en-US" dirty="0" err="1"/>
              <a:t>tăng</a:t>
            </a:r>
            <a:r>
              <a:rPr lang="en-US" dirty="0"/>
              <a:t> </a:t>
            </a:r>
            <a:r>
              <a:rPr lang="en-US" dirty="0" err="1"/>
              <a:t>dần</a:t>
            </a:r>
            <a:r>
              <a:rPr lang="en-US" dirty="0"/>
              <a:t>. </a:t>
            </a:r>
          </a:p>
          <a:p>
            <a:endParaRPr lang="en-US" dirty="0"/>
          </a:p>
          <a:p>
            <a:r>
              <a:rPr lang="en-US" dirty="0"/>
              <a:t>SELECT FirstName, </a:t>
            </a:r>
            <a:r>
              <a:rPr lang="en-US" dirty="0" err="1"/>
              <a:t>LastName</a:t>
            </a:r>
            <a:r>
              <a:rPr lang="en-US" dirty="0"/>
              <a:t>, </a:t>
            </a:r>
            <a:r>
              <a:rPr lang="en-US" dirty="0" err="1"/>
              <a:t>jobtitle</a:t>
            </a:r>
            <a:endParaRPr lang="en-US" dirty="0"/>
          </a:p>
          <a:p>
            <a:r>
              <a:rPr lang="en-US" dirty="0"/>
              <a:t>FROM Employees </a:t>
            </a:r>
          </a:p>
          <a:p>
            <a:r>
              <a:rPr lang="en-US" dirty="0"/>
              <a:t>ORDER BY </a:t>
            </a:r>
            <a:r>
              <a:rPr lang="en-US" dirty="0" err="1"/>
              <a:t>firstname</a:t>
            </a:r>
            <a:r>
              <a:rPr lang="en-US" dirty="0"/>
              <a:t> ASC; </a:t>
            </a:r>
          </a:p>
        </p:txBody>
      </p:sp>
    </p:spTree>
    <p:extLst>
      <p:ext uri="{BB962C8B-B14F-4D97-AF65-F5344CB8AC3E}">
        <p14:creationId xmlns:p14="http://schemas.microsoft.com/office/powerpoint/2010/main" val="14774558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24EBA-E684-4422-B51A-6CD5263E0DD0}"/>
              </a:ext>
            </a:extLst>
          </p:cNvPr>
          <p:cNvSpPr>
            <a:spLocks noGrp="1"/>
          </p:cNvSpPr>
          <p:nvPr>
            <p:ph type="title"/>
          </p:nvPr>
        </p:nvSpPr>
        <p:spPr/>
        <p:txBody>
          <a:bodyPr/>
          <a:lstStyle/>
          <a:p>
            <a:r>
              <a:rPr lang="en-US" dirty="0"/>
              <a:t>ORDER BY</a:t>
            </a:r>
          </a:p>
        </p:txBody>
      </p:sp>
      <p:sp>
        <p:nvSpPr>
          <p:cNvPr id="3" name="Content Placeholder 2">
            <a:extLst>
              <a:ext uri="{FF2B5EF4-FFF2-40B4-BE49-F238E27FC236}">
                <a16:creationId xmlns:a16="http://schemas.microsoft.com/office/drawing/2014/main" id="{DD85B01D-135D-4EA8-A50A-2E0114A49CF7}"/>
              </a:ext>
            </a:extLst>
          </p:cNvPr>
          <p:cNvSpPr>
            <a:spLocks noGrp="1"/>
          </p:cNvSpPr>
          <p:nvPr>
            <p:ph idx="1"/>
          </p:nvPr>
        </p:nvSpPr>
        <p:spPr/>
        <p:txBody>
          <a:bodyPr/>
          <a:lstStyle/>
          <a:p>
            <a:r>
              <a:rPr lang="en-US" dirty="0"/>
              <a:t>SELECT FirstName, </a:t>
            </a:r>
            <a:r>
              <a:rPr lang="en-US" dirty="0" err="1"/>
              <a:t>LastName</a:t>
            </a:r>
            <a:r>
              <a:rPr lang="en-US" dirty="0"/>
              <a:t>, </a:t>
            </a:r>
            <a:r>
              <a:rPr lang="en-US" dirty="0" err="1"/>
              <a:t>jobtitle</a:t>
            </a:r>
            <a:endParaRPr lang="en-US" dirty="0"/>
          </a:p>
          <a:p>
            <a:r>
              <a:rPr lang="en-US" dirty="0"/>
              <a:t>FROM Employees </a:t>
            </a:r>
          </a:p>
          <a:p>
            <a:r>
              <a:rPr lang="en-US" dirty="0"/>
              <a:t>ORDER BY  </a:t>
            </a:r>
            <a:r>
              <a:rPr lang="en-US" dirty="0" err="1"/>
              <a:t>jobtitle</a:t>
            </a:r>
            <a:r>
              <a:rPr lang="en-US" dirty="0"/>
              <a:t> DESC;</a:t>
            </a:r>
          </a:p>
          <a:p>
            <a:endParaRPr lang="en-US" dirty="0"/>
          </a:p>
          <a:p>
            <a:r>
              <a:rPr lang="en-US" dirty="0"/>
              <a:t>SELECT FirstName, </a:t>
            </a:r>
            <a:r>
              <a:rPr lang="en-US" dirty="0" err="1"/>
              <a:t>LastName</a:t>
            </a:r>
            <a:r>
              <a:rPr lang="en-US" dirty="0"/>
              <a:t>, </a:t>
            </a:r>
            <a:r>
              <a:rPr lang="en-US" dirty="0" err="1"/>
              <a:t>jobtitle</a:t>
            </a:r>
            <a:endParaRPr lang="en-US" dirty="0"/>
          </a:p>
          <a:p>
            <a:r>
              <a:rPr lang="en-US" dirty="0"/>
              <a:t>FROM Employees </a:t>
            </a:r>
          </a:p>
          <a:p>
            <a:r>
              <a:rPr lang="en-US" dirty="0"/>
              <a:t>ORDER BY </a:t>
            </a:r>
            <a:r>
              <a:rPr lang="en-US" dirty="0" err="1"/>
              <a:t>firstname</a:t>
            </a:r>
            <a:r>
              <a:rPr lang="en-US" dirty="0"/>
              <a:t> ASC, </a:t>
            </a:r>
            <a:r>
              <a:rPr lang="en-US" dirty="0" err="1"/>
              <a:t>jobtitle</a:t>
            </a:r>
            <a:r>
              <a:rPr lang="en-US" dirty="0"/>
              <a:t> DESC;</a:t>
            </a:r>
          </a:p>
          <a:p>
            <a:endParaRPr lang="en-US" dirty="0"/>
          </a:p>
          <a:p>
            <a:endParaRPr lang="en-US" dirty="0"/>
          </a:p>
          <a:p>
            <a:endParaRPr lang="en-US" dirty="0"/>
          </a:p>
          <a:p>
            <a:endParaRPr lang="en-US" dirty="0"/>
          </a:p>
        </p:txBody>
      </p:sp>
      <p:sp>
        <p:nvSpPr>
          <p:cNvPr id="4" name="TextBox 3">
            <a:extLst>
              <a:ext uri="{FF2B5EF4-FFF2-40B4-BE49-F238E27FC236}">
                <a16:creationId xmlns:a16="http://schemas.microsoft.com/office/drawing/2014/main" id="{DBFA7705-8510-44AB-9F25-4F11E117CE21}"/>
              </a:ext>
            </a:extLst>
          </p:cNvPr>
          <p:cNvSpPr txBox="1"/>
          <p:nvPr/>
        </p:nvSpPr>
        <p:spPr>
          <a:xfrm>
            <a:off x="1367407" y="5264872"/>
            <a:ext cx="1350626" cy="646331"/>
          </a:xfrm>
          <a:prstGeom prst="rect">
            <a:avLst/>
          </a:prstGeom>
          <a:noFill/>
        </p:spPr>
        <p:txBody>
          <a:bodyPr wrap="square" rtlCol="0">
            <a:spAutoFit/>
          </a:bodyPr>
          <a:lstStyle/>
          <a:p>
            <a:r>
              <a:rPr lang="en-US" dirty="0"/>
              <a:t>1. </a:t>
            </a:r>
            <a:r>
              <a:rPr lang="en-US" dirty="0" err="1"/>
              <a:t>Sắp</a:t>
            </a:r>
            <a:r>
              <a:rPr lang="en-US" dirty="0"/>
              <a:t> </a:t>
            </a:r>
            <a:r>
              <a:rPr lang="en-US" dirty="0" err="1"/>
              <a:t>xếp</a:t>
            </a:r>
            <a:r>
              <a:rPr lang="en-US" dirty="0"/>
              <a:t> </a:t>
            </a:r>
            <a:r>
              <a:rPr lang="en-US" dirty="0" err="1"/>
              <a:t>firstname</a:t>
            </a:r>
            <a:endParaRPr lang="en-US" dirty="0"/>
          </a:p>
        </p:txBody>
      </p:sp>
      <p:sp>
        <p:nvSpPr>
          <p:cNvPr id="5" name="TextBox 4">
            <a:extLst>
              <a:ext uri="{FF2B5EF4-FFF2-40B4-BE49-F238E27FC236}">
                <a16:creationId xmlns:a16="http://schemas.microsoft.com/office/drawing/2014/main" id="{6AC5CF0C-A41E-425E-BD26-A4E833D243CF}"/>
              </a:ext>
            </a:extLst>
          </p:cNvPr>
          <p:cNvSpPr txBox="1"/>
          <p:nvPr/>
        </p:nvSpPr>
        <p:spPr>
          <a:xfrm>
            <a:off x="4120394" y="5348221"/>
            <a:ext cx="1350626" cy="646331"/>
          </a:xfrm>
          <a:prstGeom prst="rect">
            <a:avLst/>
          </a:prstGeom>
          <a:noFill/>
        </p:spPr>
        <p:txBody>
          <a:bodyPr wrap="square" rtlCol="0">
            <a:spAutoFit/>
          </a:bodyPr>
          <a:lstStyle/>
          <a:p>
            <a:r>
              <a:rPr lang="en-US" dirty="0"/>
              <a:t>2. </a:t>
            </a:r>
            <a:r>
              <a:rPr lang="en-US" dirty="0" err="1"/>
              <a:t>Sắp</a:t>
            </a:r>
            <a:r>
              <a:rPr lang="en-US" dirty="0"/>
              <a:t> </a:t>
            </a:r>
            <a:r>
              <a:rPr lang="en-US" dirty="0" err="1"/>
              <a:t>xếp</a:t>
            </a:r>
            <a:r>
              <a:rPr lang="en-US" dirty="0"/>
              <a:t> </a:t>
            </a:r>
            <a:r>
              <a:rPr lang="en-US" dirty="0" err="1"/>
              <a:t>jobtitle</a:t>
            </a:r>
            <a:r>
              <a:rPr lang="en-US" dirty="0"/>
              <a:t>.</a:t>
            </a:r>
          </a:p>
        </p:txBody>
      </p:sp>
      <p:cxnSp>
        <p:nvCxnSpPr>
          <p:cNvPr id="7" name="Straight Arrow Connector 6">
            <a:extLst>
              <a:ext uri="{FF2B5EF4-FFF2-40B4-BE49-F238E27FC236}">
                <a16:creationId xmlns:a16="http://schemas.microsoft.com/office/drawing/2014/main" id="{6B727102-275B-45EF-9274-AF65A2E806A3}"/>
              </a:ext>
            </a:extLst>
          </p:cNvPr>
          <p:cNvCxnSpPr/>
          <p:nvPr/>
        </p:nvCxnSpPr>
        <p:spPr>
          <a:xfrm flipH="1">
            <a:off x="2042720" y="4848837"/>
            <a:ext cx="801148" cy="4160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36D766C4-4045-446B-B303-CE4918EE2722}"/>
              </a:ext>
            </a:extLst>
          </p:cNvPr>
          <p:cNvCxnSpPr/>
          <p:nvPr/>
        </p:nvCxnSpPr>
        <p:spPr>
          <a:xfrm>
            <a:off x="4689446" y="4927601"/>
            <a:ext cx="377504" cy="5587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6" name="Table 5">
            <a:extLst>
              <a:ext uri="{FF2B5EF4-FFF2-40B4-BE49-F238E27FC236}">
                <a16:creationId xmlns:a16="http://schemas.microsoft.com/office/drawing/2014/main" id="{C3DA235E-B706-4491-90A8-2D5EC5B19821}"/>
              </a:ext>
            </a:extLst>
          </p:cNvPr>
          <p:cNvGraphicFramePr>
            <a:graphicFrameLocks noGrp="1"/>
          </p:cNvGraphicFramePr>
          <p:nvPr>
            <p:extLst>
              <p:ext uri="{D42A27DB-BD31-4B8C-83A1-F6EECF244321}">
                <p14:modId xmlns:p14="http://schemas.microsoft.com/office/powerpoint/2010/main" val="2734150237"/>
              </p:ext>
            </p:extLst>
          </p:nvPr>
        </p:nvGraphicFramePr>
        <p:xfrm>
          <a:off x="6174297" y="3281850"/>
          <a:ext cx="4796639" cy="1463040"/>
        </p:xfrm>
        <a:graphic>
          <a:graphicData uri="http://schemas.openxmlformats.org/drawingml/2006/table">
            <a:tbl>
              <a:tblPr firstRow="1" bandRow="1">
                <a:tableStyleId>{5C22544A-7EE6-4342-B048-85BDC9FD1C3A}</a:tableStyleId>
              </a:tblPr>
              <a:tblGrid>
                <a:gridCol w="2359171">
                  <a:extLst>
                    <a:ext uri="{9D8B030D-6E8A-4147-A177-3AD203B41FA5}">
                      <a16:colId xmlns:a16="http://schemas.microsoft.com/office/drawing/2014/main" val="4209918601"/>
                    </a:ext>
                  </a:extLst>
                </a:gridCol>
                <a:gridCol w="2437468">
                  <a:extLst>
                    <a:ext uri="{9D8B030D-6E8A-4147-A177-3AD203B41FA5}">
                      <a16:colId xmlns:a16="http://schemas.microsoft.com/office/drawing/2014/main" val="1606738403"/>
                    </a:ext>
                  </a:extLst>
                </a:gridCol>
              </a:tblGrid>
              <a:tr h="346597">
                <a:tc>
                  <a:txBody>
                    <a:bodyPr/>
                    <a:lstStyle/>
                    <a:p>
                      <a:r>
                        <a:rPr lang="en-US" dirty="0" err="1"/>
                        <a:t>Firstname</a:t>
                      </a:r>
                      <a:endParaRPr lang="en-US" dirty="0"/>
                    </a:p>
                  </a:txBody>
                  <a:tcPr/>
                </a:tc>
                <a:tc>
                  <a:txBody>
                    <a:bodyPr/>
                    <a:lstStyle/>
                    <a:p>
                      <a:r>
                        <a:rPr lang="en-US" dirty="0" err="1"/>
                        <a:t>Jobtitle</a:t>
                      </a:r>
                      <a:endParaRPr lang="en-US" dirty="0"/>
                    </a:p>
                  </a:txBody>
                  <a:tcPr/>
                </a:tc>
                <a:extLst>
                  <a:ext uri="{0D108BD9-81ED-4DB2-BD59-A6C34878D82A}">
                    <a16:rowId xmlns:a16="http://schemas.microsoft.com/office/drawing/2014/main" val="3046490207"/>
                  </a:ext>
                </a:extLst>
              </a:tr>
              <a:tr h="346597">
                <a:tc>
                  <a:txBody>
                    <a:bodyPr/>
                    <a:lstStyle/>
                    <a:p>
                      <a:r>
                        <a:rPr lang="en-US" dirty="0" err="1"/>
                        <a:t>aaaa</a:t>
                      </a:r>
                      <a:endParaRPr lang="en-US" dirty="0"/>
                    </a:p>
                  </a:txBody>
                  <a:tcPr/>
                </a:tc>
                <a:tc>
                  <a:txBody>
                    <a:bodyPr/>
                    <a:lstStyle/>
                    <a:p>
                      <a:endParaRPr lang="en-US" dirty="0"/>
                    </a:p>
                  </a:txBody>
                  <a:tcPr/>
                </a:tc>
                <a:extLst>
                  <a:ext uri="{0D108BD9-81ED-4DB2-BD59-A6C34878D82A}">
                    <a16:rowId xmlns:a16="http://schemas.microsoft.com/office/drawing/2014/main" val="414404255"/>
                  </a:ext>
                </a:extLst>
              </a:tr>
              <a:tr h="346597">
                <a:tc>
                  <a:txBody>
                    <a:bodyPr/>
                    <a:lstStyle/>
                    <a:p>
                      <a:r>
                        <a:rPr lang="en-US" dirty="0" err="1"/>
                        <a:t>aaaa</a:t>
                      </a:r>
                      <a:endParaRPr lang="en-US" dirty="0"/>
                    </a:p>
                  </a:txBody>
                  <a:tcPr/>
                </a:tc>
                <a:tc>
                  <a:txBody>
                    <a:bodyPr/>
                    <a:lstStyle/>
                    <a:p>
                      <a:endParaRPr lang="en-US" dirty="0"/>
                    </a:p>
                  </a:txBody>
                  <a:tcPr/>
                </a:tc>
                <a:extLst>
                  <a:ext uri="{0D108BD9-81ED-4DB2-BD59-A6C34878D82A}">
                    <a16:rowId xmlns:a16="http://schemas.microsoft.com/office/drawing/2014/main" val="3032658664"/>
                  </a:ext>
                </a:extLst>
              </a:tr>
              <a:tr h="346597">
                <a:tc>
                  <a:txBody>
                    <a:bodyPr/>
                    <a:lstStyle/>
                    <a:p>
                      <a:r>
                        <a:rPr lang="en-US" dirty="0" err="1"/>
                        <a:t>bbbbb</a:t>
                      </a:r>
                      <a:endParaRPr lang="en-US" dirty="0"/>
                    </a:p>
                  </a:txBody>
                  <a:tcPr/>
                </a:tc>
                <a:tc>
                  <a:txBody>
                    <a:bodyPr/>
                    <a:lstStyle/>
                    <a:p>
                      <a:endParaRPr lang="en-US" dirty="0"/>
                    </a:p>
                  </a:txBody>
                  <a:tcPr/>
                </a:tc>
                <a:extLst>
                  <a:ext uri="{0D108BD9-81ED-4DB2-BD59-A6C34878D82A}">
                    <a16:rowId xmlns:a16="http://schemas.microsoft.com/office/drawing/2014/main" val="3633748706"/>
                  </a:ext>
                </a:extLst>
              </a:tr>
            </a:tbl>
          </a:graphicData>
        </a:graphic>
      </p:graphicFrame>
      <p:sp>
        <p:nvSpPr>
          <p:cNvPr id="8" name="TextBox 7">
            <a:extLst>
              <a:ext uri="{FF2B5EF4-FFF2-40B4-BE49-F238E27FC236}">
                <a16:creationId xmlns:a16="http://schemas.microsoft.com/office/drawing/2014/main" id="{7393ED31-E499-47FA-8CFF-C2B27B9CFF99}"/>
              </a:ext>
            </a:extLst>
          </p:cNvPr>
          <p:cNvSpPr txBox="1"/>
          <p:nvPr/>
        </p:nvSpPr>
        <p:spPr>
          <a:xfrm>
            <a:off x="6425967" y="947956"/>
            <a:ext cx="2172749" cy="646331"/>
          </a:xfrm>
          <a:prstGeom prst="rect">
            <a:avLst/>
          </a:prstGeom>
          <a:noFill/>
        </p:spPr>
        <p:txBody>
          <a:bodyPr wrap="square" rtlCol="0">
            <a:spAutoFit/>
          </a:bodyPr>
          <a:lstStyle/>
          <a:p>
            <a:r>
              <a:rPr lang="en-US" dirty="0" err="1"/>
              <a:t>aaaa</a:t>
            </a:r>
            <a:r>
              <a:rPr lang="en-US" dirty="0"/>
              <a:t>, engineer</a:t>
            </a:r>
          </a:p>
          <a:p>
            <a:r>
              <a:rPr lang="en-US" dirty="0" err="1"/>
              <a:t>aaaa</a:t>
            </a:r>
            <a:r>
              <a:rPr lang="en-US" dirty="0"/>
              <a:t>, cooker</a:t>
            </a:r>
          </a:p>
        </p:txBody>
      </p:sp>
      <p:cxnSp>
        <p:nvCxnSpPr>
          <p:cNvPr id="11" name="Straight Arrow Connector 10">
            <a:extLst>
              <a:ext uri="{FF2B5EF4-FFF2-40B4-BE49-F238E27FC236}">
                <a16:creationId xmlns:a16="http://schemas.microsoft.com/office/drawing/2014/main" id="{081DB555-7B7B-450F-B472-92EB14772122}"/>
              </a:ext>
            </a:extLst>
          </p:cNvPr>
          <p:cNvCxnSpPr/>
          <p:nvPr/>
        </p:nvCxnSpPr>
        <p:spPr>
          <a:xfrm>
            <a:off x="8019875" y="1157681"/>
            <a:ext cx="2097248" cy="27515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D608037-3EE0-44AA-A007-65514627831A}"/>
              </a:ext>
            </a:extLst>
          </p:cNvPr>
          <p:cNvCxnSpPr/>
          <p:nvPr/>
        </p:nvCxnSpPr>
        <p:spPr>
          <a:xfrm>
            <a:off x="7675927" y="1493240"/>
            <a:ext cx="1518407" cy="27767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97520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2A8FA-A461-4E29-A76B-2EEF7C5F7E1B}"/>
              </a:ext>
            </a:extLst>
          </p:cNvPr>
          <p:cNvSpPr>
            <a:spLocks noGrp="1"/>
          </p:cNvSpPr>
          <p:nvPr>
            <p:ph type="title"/>
          </p:nvPr>
        </p:nvSpPr>
        <p:spPr/>
        <p:txBody>
          <a:bodyPr/>
          <a:lstStyle/>
          <a:p>
            <a:r>
              <a:rPr lang="en-US" dirty="0"/>
              <a:t>Union</a:t>
            </a:r>
          </a:p>
        </p:txBody>
      </p:sp>
      <p:sp>
        <p:nvSpPr>
          <p:cNvPr id="3" name="Content Placeholder 2">
            <a:extLst>
              <a:ext uri="{FF2B5EF4-FFF2-40B4-BE49-F238E27FC236}">
                <a16:creationId xmlns:a16="http://schemas.microsoft.com/office/drawing/2014/main" id="{38A371F7-1586-4BD4-8089-49193060F8E2}"/>
              </a:ext>
            </a:extLst>
          </p:cNvPr>
          <p:cNvSpPr>
            <a:spLocks noGrp="1"/>
          </p:cNvSpPr>
          <p:nvPr>
            <p:ph idx="1"/>
          </p:nvPr>
        </p:nvSpPr>
        <p:spPr>
          <a:xfrm>
            <a:off x="677334" y="1862357"/>
            <a:ext cx="8596668" cy="4179006"/>
          </a:xfrm>
        </p:spPr>
        <p:txBody>
          <a:bodyPr/>
          <a:lstStyle/>
          <a:p>
            <a:r>
              <a:rPr lang="vi-VN" dirty="0"/>
              <a:t>UNION cho phép kết hợp hai hoặc nhiều bộ kết quả từ nhiều bảng với nhau. Cú pháp của việc sử dụng MySQL UNION là như sau:</a:t>
            </a:r>
          </a:p>
          <a:p>
            <a:r>
              <a:rPr lang="vi-VN" dirty="0"/>
              <a:t>SELECT statement</a:t>
            </a:r>
          </a:p>
          <a:p>
            <a:r>
              <a:rPr lang="vi-VN" dirty="0"/>
              <a:t>UNION [DISTINCT | ALL] SELECT statement</a:t>
            </a:r>
          </a:p>
          <a:p>
            <a:r>
              <a:rPr lang="vi-VN" dirty="0"/>
              <a:t>UNION [DISTINCT | ALL]</a:t>
            </a:r>
            <a:endParaRPr lang="en-US" dirty="0"/>
          </a:p>
          <a:p>
            <a:endParaRPr lang="en-US" dirty="0"/>
          </a:p>
          <a:p>
            <a:r>
              <a:rPr lang="en-US" dirty="0" err="1"/>
              <a:t>Số</a:t>
            </a:r>
            <a:r>
              <a:rPr lang="en-US" dirty="0"/>
              <a:t> l</a:t>
            </a:r>
            <a:r>
              <a:rPr lang="vi-VN" dirty="0"/>
              <a:t>ư</a:t>
            </a:r>
            <a:r>
              <a:rPr lang="en-US" dirty="0" err="1"/>
              <a:t>ợng</a:t>
            </a:r>
            <a:r>
              <a:rPr lang="en-US" dirty="0"/>
              <a:t> </a:t>
            </a:r>
            <a:r>
              <a:rPr lang="en-US" dirty="0" err="1"/>
              <a:t>cột</a:t>
            </a:r>
            <a:r>
              <a:rPr lang="en-US" dirty="0"/>
              <a:t> </a:t>
            </a:r>
            <a:r>
              <a:rPr lang="en-US" dirty="0" err="1"/>
              <a:t>lựa</a:t>
            </a:r>
            <a:r>
              <a:rPr lang="en-US" dirty="0"/>
              <a:t> </a:t>
            </a:r>
            <a:r>
              <a:rPr lang="en-US" dirty="0" err="1"/>
              <a:t>chọn</a:t>
            </a:r>
            <a:r>
              <a:rPr lang="en-US" dirty="0"/>
              <a:t> </a:t>
            </a:r>
            <a:r>
              <a:rPr lang="en-US" dirty="0" err="1"/>
              <a:t>của</a:t>
            </a:r>
            <a:r>
              <a:rPr lang="en-US" dirty="0"/>
              <a:t> 2 </a:t>
            </a:r>
            <a:r>
              <a:rPr lang="en-US" dirty="0" err="1"/>
              <a:t>bảng</a:t>
            </a:r>
            <a:r>
              <a:rPr lang="en-US" dirty="0"/>
              <a:t> </a:t>
            </a:r>
            <a:r>
              <a:rPr lang="en-US" dirty="0" err="1"/>
              <a:t>là</a:t>
            </a:r>
            <a:r>
              <a:rPr lang="en-US" dirty="0"/>
              <a:t> </a:t>
            </a:r>
            <a:r>
              <a:rPr lang="en-US" dirty="0" err="1"/>
              <a:t>phải</a:t>
            </a:r>
            <a:r>
              <a:rPr lang="en-US" dirty="0"/>
              <a:t> </a:t>
            </a:r>
            <a:r>
              <a:rPr lang="en-US" dirty="0" err="1"/>
              <a:t>bằng</a:t>
            </a:r>
            <a:r>
              <a:rPr lang="en-US" dirty="0"/>
              <a:t> </a:t>
            </a:r>
            <a:r>
              <a:rPr lang="en-US" dirty="0" err="1"/>
              <a:t>nhau</a:t>
            </a:r>
            <a:r>
              <a:rPr lang="en-US" dirty="0"/>
              <a:t>, </a:t>
            </a:r>
            <a:r>
              <a:rPr lang="en-US" dirty="0" err="1"/>
              <a:t>khi</a:t>
            </a:r>
            <a:r>
              <a:rPr lang="en-US" dirty="0"/>
              <a:t> </a:t>
            </a:r>
            <a:r>
              <a:rPr lang="en-US" dirty="0" err="1"/>
              <a:t>dùng</a:t>
            </a:r>
            <a:r>
              <a:rPr lang="en-US" dirty="0"/>
              <a:t> </a:t>
            </a:r>
            <a:r>
              <a:rPr lang="en-US" dirty="0" err="1"/>
              <a:t>phép</a:t>
            </a:r>
            <a:r>
              <a:rPr lang="en-US" dirty="0"/>
              <a:t> Union</a:t>
            </a:r>
          </a:p>
          <a:p>
            <a:endParaRPr lang="en-US" dirty="0"/>
          </a:p>
          <a:p>
            <a:endParaRPr lang="en-US" dirty="0"/>
          </a:p>
        </p:txBody>
      </p:sp>
    </p:spTree>
    <p:extLst>
      <p:ext uri="{BB962C8B-B14F-4D97-AF65-F5344CB8AC3E}">
        <p14:creationId xmlns:p14="http://schemas.microsoft.com/office/powerpoint/2010/main" val="17321753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75ADC4-DD7A-4B35-8952-A5C5E33E4467}"/>
              </a:ext>
            </a:extLst>
          </p:cNvPr>
          <p:cNvSpPr>
            <a:spLocks noGrp="1"/>
          </p:cNvSpPr>
          <p:nvPr>
            <p:ph idx="1"/>
          </p:nvPr>
        </p:nvSpPr>
        <p:spPr>
          <a:xfrm>
            <a:off x="475468" y="416168"/>
            <a:ext cx="8596668" cy="3880773"/>
          </a:xfrm>
        </p:spPr>
        <p:txBody>
          <a:bodyPr/>
          <a:lstStyle/>
          <a:p>
            <a:r>
              <a:rPr lang="en-US" dirty="0"/>
              <a:t> SELECT </a:t>
            </a:r>
            <a:r>
              <a:rPr lang="en-US" dirty="0" err="1"/>
              <a:t>customerNumber</a:t>
            </a:r>
            <a:r>
              <a:rPr lang="en-US" dirty="0"/>
              <a:t> id, </a:t>
            </a:r>
            <a:r>
              <a:rPr lang="en-US" dirty="0" err="1"/>
              <a:t>contactLastname</a:t>
            </a:r>
            <a:r>
              <a:rPr lang="en-US" dirty="0"/>
              <a:t> name </a:t>
            </a:r>
          </a:p>
          <a:p>
            <a:pPr marL="0" indent="0">
              <a:buNone/>
            </a:pPr>
            <a:r>
              <a:rPr lang="en-US" dirty="0"/>
              <a:t>	FROM customers </a:t>
            </a:r>
          </a:p>
          <a:p>
            <a:pPr marL="0" indent="0">
              <a:buNone/>
            </a:pPr>
            <a:r>
              <a:rPr lang="en-US" dirty="0"/>
              <a:t>     UNION </a:t>
            </a:r>
          </a:p>
          <a:p>
            <a:pPr marL="0" indent="0">
              <a:buNone/>
            </a:pPr>
            <a:r>
              <a:rPr lang="en-US" dirty="0"/>
              <a:t>	 SELECT </a:t>
            </a:r>
            <a:r>
              <a:rPr lang="en-US" dirty="0" err="1"/>
              <a:t>employeeNumber</a:t>
            </a:r>
            <a:r>
              <a:rPr lang="en-US" dirty="0"/>
              <a:t> </a:t>
            </a:r>
            <a:r>
              <a:rPr lang="en-US" dirty="0" err="1"/>
              <a:t>id,firstname</a:t>
            </a:r>
            <a:r>
              <a:rPr lang="en-US" dirty="0"/>
              <a:t> name </a:t>
            </a:r>
          </a:p>
          <a:p>
            <a:pPr marL="0" indent="0">
              <a:buNone/>
            </a:pPr>
            <a:r>
              <a:rPr lang="en-US" dirty="0"/>
              <a:t>	 FROM employees</a:t>
            </a:r>
          </a:p>
        </p:txBody>
      </p:sp>
      <p:graphicFrame>
        <p:nvGraphicFramePr>
          <p:cNvPr id="4" name="Table 3">
            <a:extLst>
              <a:ext uri="{FF2B5EF4-FFF2-40B4-BE49-F238E27FC236}">
                <a16:creationId xmlns:a16="http://schemas.microsoft.com/office/drawing/2014/main" id="{45A72764-A17D-43DB-941E-767BFFACDA41}"/>
              </a:ext>
            </a:extLst>
          </p:cNvPr>
          <p:cNvGraphicFramePr>
            <a:graphicFrameLocks noGrp="1"/>
          </p:cNvGraphicFramePr>
          <p:nvPr>
            <p:extLst>
              <p:ext uri="{D42A27DB-BD31-4B8C-83A1-F6EECF244321}">
                <p14:modId xmlns:p14="http://schemas.microsoft.com/office/powerpoint/2010/main" val="101704079"/>
              </p:ext>
            </p:extLst>
          </p:nvPr>
        </p:nvGraphicFramePr>
        <p:xfrm>
          <a:off x="645953" y="3011353"/>
          <a:ext cx="3675309" cy="731520"/>
        </p:xfrm>
        <a:graphic>
          <a:graphicData uri="http://schemas.openxmlformats.org/drawingml/2006/table">
            <a:tbl>
              <a:tblPr firstRow="1" bandRow="1">
                <a:tableStyleId>{5C22544A-7EE6-4342-B048-85BDC9FD1C3A}</a:tableStyleId>
              </a:tblPr>
              <a:tblGrid>
                <a:gridCol w="1225103">
                  <a:extLst>
                    <a:ext uri="{9D8B030D-6E8A-4147-A177-3AD203B41FA5}">
                      <a16:colId xmlns:a16="http://schemas.microsoft.com/office/drawing/2014/main" val="1138117989"/>
                    </a:ext>
                  </a:extLst>
                </a:gridCol>
                <a:gridCol w="1225103">
                  <a:extLst>
                    <a:ext uri="{9D8B030D-6E8A-4147-A177-3AD203B41FA5}">
                      <a16:colId xmlns:a16="http://schemas.microsoft.com/office/drawing/2014/main" val="1779809200"/>
                    </a:ext>
                  </a:extLst>
                </a:gridCol>
                <a:gridCol w="1225103">
                  <a:extLst>
                    <a:ext uri="{9D8B030D-6E8A-4147-A177-3AD203B41FA5}">
                      <a16:colId xmlns:a16="http://schemas.microsoft.com/office/drawing/2014/main" val="2062667354"/>
                    </a:ext>
                  </a:extLst>
                </a:gridCol>
              </a:tblGrid>
              <a:tr h="214750">
                <a:tc>
                  <a:txBody>
                    <a:bodyPr/>
                    <a:lstStyle/>
                    <a:p>
                      <a:r>
                        <a:rPr lang="en-US" dirty="0"/>
                        <a:t>1</a:t>
                      </a:r>
                    </a:p>
                  </a:txBody>
                  <a:tcPr/>
                </a:tc>
                <a:tc>
                  <a:txBody>
                    <a:bodyPr/>
                    <a:lstStyle/>
                    <a:p>
                      <a:r>
                        <a:rPr lang="en-US" dirty="0"/>
                        <a:t>2</a:t>
                      </a:r>
                    </a:p>
                  </a:txBody>
                  <a:tcPr/>
                </a:tc>
                <a:tc>
                  <a:txBody>
                    <a:bodyPr/>
                    <a:lstStyle/>
                    <a:p>
                      <a:r>
                        <a:rPr lang="en-US" dirty="0"/>
                        <a:t>3</a:t>
                      </a:r>
                    </a:p>
                  </a:txBody>
                  <a:tcPr/>
                </a:tc>
                <a:extLst>
                  <a:ext uri="{0D108BD9-81ED-4DB2-BD59-A6C34878D82A}">
                    <a16:rowId xmlns:a16="http://schemas.microsoft.com/office/drawing/2014/main" val="429888839"/>
                  </a:ext>
                </a:extLst>
              </a:tr>
              <a:tr h="214750">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713604784"/>
                  </a:ext>
                </a:extLst>
              </a:tr>
            </a:tbl>
          </a:graphicData>
        </a:graphic>
      </p:graphicFrame>
      <p:graphicFrame>
        <p:nvGraphicFramePr>
          <p:cNvPr id="5" name="Table 4">
            <a:extLst>
              <a:ext uri="{FF2B5EF4-FFF2-40B4-BE49-F238E27FC236}">
                <a16:creationId xmlns:a16="http://schemas.microsoft.com/office/drawing/2014/main" id="{DD306A62-B8CD-4EB1-8F79-4DCE662800D6}"/>
              </a:ext>
            </a:extLst>
          </p:cNvPr>
          <p:cNvGraphicFramePr>
            <a:graphicFrameLocks noGrp="1"/>
          </p:cNvGraphicFramePr>
          <p:nvPr>
            <p:extLst>
              <p:ext uri="{D42A27DB-BD31-4B8C-83A1-F6EECF244321}">
                <p14:modId xmlns:p14="http://schemas.microsoft.com/office/powerpoint/2010/main" val="3234823447"/>
              </p:ext>
            </p:extLst>
          </p:nvPr>
        </p:nvGraphicFramePr>
        <p:xfrm>
          <a:off x="645952" y="4548863"/>
          <a:ext cx="3675309" cy="1463040"/>
        </p:xfrm>
        <a:graphic>
          <a:graphicData uri="http://schemas.openxmlformats.org/drawingml/2006/table">
            <a:tbl>
              <a:tblPr firstRow="1" bandRow="1">
                <a:tableStyleId>{5C22544A-7EE6-4342-B048-85BDC9FD1C3A}</a:tableStyleId>
              </a:tblPr>
              <a:tblGrid>
                <a:gridCol w="1225103">
                  <a:extLst>
                    <a:ext uri="{9D8B030D-6E8A-4147-A177-3AD203B41FA5}">
                      <a16:colId xmlns:a16="http://schemas.microsoft.com/office/drawing/2014/main" val="1138117989"/>
                    </a:ext>
                  </a:extLst>
                </a:gridCol>
                <a:gridCol w="1225103">
                  <a:extLst>
                    <a:ext uri="{9D8B030D-6E8A-4147-A177-3AD203B41FA5}">
                      <a16:colId xmlns:a16="http://schemas.microsoft.com/office/drawing/2014/main" val="1779809200"/>
                    </a:ext>
                  </a:extLst>
                </a:gridCol>
                <a:gridCol w="1225103">
                  <a:extLst>
                    <a:ext uri="{9D8B030D-6E8A-4147-A177-3AD203B41FA5}">
                      <a16:colId xmlns:a16="http://schemas.microsoft.com/office/drawing/2014/main" val="2062667354"/>
                    </a:ext>
                  </a:extLst>
                </a:gridCol>
              </a:tblGrid>
              <a:tr h="214750">
                <a:tc>
                  <a:txBody>
                    <a:bodyPr/>
                    <a:lstStyle/>
                    <a:p>
                      <a:r>
                        <a:rPr lang="en-US" dirty="0"/>
                        <a:t>1</a:t>
                      </a:r>
                    </a:p>
                  </a:txBody>
                  <a:tcPr/>
                </a:tc>
                <a:tc>
                  <a:txBody>
                    <a:bodyPr/>
                    <a:lstStyle/>
                    <a:p>
                      <a:r>
                        <a:rPr lang="en-US" dirty="0"/>
                        <a:t>2</a:t>
                      </a:r>
                    </a:p>
                  </a:txBody>
                  <a:tcPr/>
                </a:tc>
                <a:tc>
                  <a:txBody>
                    <a:bodyPr/>
                    <a:lstStyle/>
                    <a:p>
                      <a:r>
                        <a:rPr lang="en-US" dirty="0"/>
                        <a:t>3</a:t>
                      </a:r>
                    </a:p>
                  </a:txBody>
                  <a:tcPr/>
                </a:tc>
                <a:extLst>
                  <a:ext uri="{0D108BD9-81ED-4DB2-BD59-A6C34878D82A}">
                    <a16:rowId xmlns:a16="http://schemas.microsoft.com/office/drawing/2014/main" val="429888839"/>
                  </a:ext>
                </a:extLst>
              </a:tr>
              <a:tr h="214750">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079546772"/>
                  </a:ext>
                </a:extLst>
              </a:tr>
              <a:tr h="214750">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72599651"/>
                  </a:ext>
                </a:extLst>
              </a:tr>
              <a:tr h="214750">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713604784"/>
                  </a:ext>
                </a:extLst>
              </a:tr>
            </a:tbl>
          </a:graphicData>
        </a:graphic>
      </p:graphicFrame>
      <p:graphicFrame>
        <p:nvGraphicFramePr>
          <p:cNvPr id="6" name="Table 5">
            <a:extLst>
              <a:ext uri="{FF2B5EF4-FFF2-40B4-BE49-F238E27FC236}">
                <a16:creationId xmlns:a16="http://schemas.microsoft.com/office/drawing/2014/main" id="{8A9D6E27-8E31-4B54-B44A-D0F3C4BDD14B}"/>
              </a:ext>
            </a:extLst>
          </p:cNvPr>
          <p:cNvGraphicFramePr>
            <a:graphicFrameLocks noGrp="1"/>
          </p:cNvGraphicFramePr>
          <p:nvPr>
            <p:extLst>
              <p:ext uri="{D42A27DB-BD31-4B8C-83A1-F6EECF244321}">
                <p14:modId xmlns:p14="http://schemas.microsoft.com/office/powerpoint/2010/main" val="88659265"/>
              </p:ext>
            </p:extLst>
          </p:nvPr>
        </p:nvGraphicFramePr>
        <p:xfrm>
          <a:off x="4754065" y="4017933"/>
          <a:ext cx="3675309" cy="1828800"/>
        </p:xfrm>
        <a:graphic>
          <a:graphicData uri="http://schemas.openxmlformats.org/drawingml/2006/table">
            <a:tbl>
              <a:tblPr firstRow="1" bandRow="1">
                <a:tableStyleId>{5C22544A-7EE6-4342-B048-85BDC9FD1C3A}</a:tableStyleId>
              </a:tblPr>
              <a:tblGrid>
                <a:gridCol w="1225103">
                  <a:extLst>
                    <a:ext uri="{9D8B030D-6E8A-4147-A177-3AD203B41FA5}">
                      <a16:colId xmlns:a16="http://schemas.microsoft.com/office/drawing/2014/main" val="1138117989"/>
                    </a:ext>
                  </a:extLst>
                </a:gridCol>
                <a:gridCol w="1225103">
                  <a:extLst>
                    <a:ext uri="{9D8B030D-6E8A-4147-A177-3AD203B41FA5}">
                      <a16:colId xmlns:a16="http://schemas.microsoft.com/office/drawing/2014/main" val="1779809200"/>
                    </a:ext>
                  </a:extLst>
                </a:gridCol>
                <a:gridCol w="1225103">
                  <a:extLst>
                    <a:ext uri="{9D8B030D-6E8A-4147-A177-3AD203B41FA5}">
                      <a16:colId xmlns:a16="http://schemas.microsoft.com/office/drawing/2014/main" val="2062667354"/>
                    </a:ext>
                  </a:extLst>
                </a:gridCol>
              </a:tblGrid>
              <a:tr h="214750">
                <a:tc>
                  <a:txBody>
                    <a:bodyPr/>
                    <a:lstStyle/>
                    <a:p>
                      <a:r>
                        <a:rPr lang="en-US" dirty="0"/>
                        <a:t>1</a:t>
                      </a:r>
                    </a:p>
                  </a:txBody>
                  <a:tcPr/>
                </a:tc>
                <a:tc>
                  <a:txBody>
                    <a:bodyPr/>
                    <a:lstStyle/>
                    <a:p>
                      <a:r>
                        <a:rPr lang="en-US" dirty="0"/>
                        <a:t>2</a:t>
                      </a:r>
                    </a:p>
                  </a:txBody>
                  <a:tcPr/>
                </a:tc>
                <a:tc>
                  <a:txBody>
                    <a:bodyPr/>
                    <a:lstStyle/>
                    <a:p>
                      <a:r>
                        <a:rPr lang="en-US" dirty="0"/>
                        <a:t>3</a:t>
                      </a:r>
                    </a:p>
                  </a:txBody>
                  <a:tcPr/>
                </a:tc>
                <a:extLst>
                  <a:ext uri="{0D108BD9-81ED-4DB2-BD59-A6C34878D82A}">
                    <a16:rowId xmlns:a16="http://schemas.microsoft.com/office/drawing/2014/main" val="429888839"/>
                  </a:ext>
                </a:extLst>
              </a:tr>
              <a:tr h="214750">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079546772"/>
                  </a:ext>
                </a:extLst>
              </a:tr>
              <a:tr h="214750">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72599651"/>
                  </a:ext>
                </a:extLst>
              </a:tr>
              <a:tr h="214750">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160279362"/>
                  </a:ext>
                </a:extLst>
              </a:tr>
              <a:tr h="214750">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713604784"/>
                  </a:ext>
                </a:extLst>
              </a:tr>
            </a:tbl>
          </a:graphicData>
        </a:graphic>
      </p:graphicFrame>
      <p:cxnSp>
        <p:nvCxnSpPr>
          <p:cNvPr id="8" name="Straight Arrow Connector 7">
            <a:extLst>
              <a:ext uri="{FF2B5EF4-FFF2-40B4-BE49-F238E27FC236}">
                <a16:creationId xmlns:a16="http://schemas.microsoft.com/office/drawing/2014/main" id="{EF22B921-69CA-4233-93D5-667E11C2BA62}"/>
              </a:ext>
            </a:extLst>
          </p:cNvPr>
          <p:cNvCxnSpPr/>
          <p:nvPr/>
        </p:nvCxnSpPr>
        <p:spPr>
          <a:xfrm>
            <a:off x="2567031" y="3742873"/>
            <a:ext cx="1887523" cy="3955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08D5235B-E6FF-46D7-9E97-0EB3CDCAFFDC}"/>
              </a:ext>
            </a:extLst>
          </p:cNvPr>
          <p:cNvCxnSpPr>
            <a:cxnSpLocks/>
          </p:cNvCxnSpPr>
          <p:nvPr/>
        </p:nvCxnSpPr>
        <p:spPr>
          <a:xfrm flipV="1">
            <a:off x="2358470" y="4233524"/>
            <a:ext cx="2172749" cy="3153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13" name="Table 12">
            <a:extLst>
              <a:ext uri="{FF2B5EF4-FFF2-40B4-BE49-F238E27FC236}">
                <a16:creationId xmlns:a16="http://schemas.microsoft.com/office/drawing/2014/main" id="{A0E593FB-BF64-4E0D-AE25-28FB0A178339}"/>
              </a:ext>
            </a:extLst>
          </p:cNvPr>
          <p:cNvGraphicFramePr>
            <a:graphicFrameLocks noGrp="1"/>
          </p:cNvGraphicFramePr>
          <p:nvPr>
            <p:extLst>
              <p:ext uri="{D42A27DB-BD31-4B8C-83A1-F6EECF244321}">
                <p14:modId xmlns:p14="http://schemas.microsoft.com/office/powerpoint/2010/main" val="2979061644"/>
              </p:ext>
            </p:extLst>
          </p:nvPr>
        </p:nvGraphicFramePr>
        <p:xfrm>
          <a:off x="6435755" y="732259"/>
          <a:ext cx="3675309" cy="731520"/>
        </p:xfrm>
        <a:graphic>
          <a:graphicData uri="http://schemas.openxmlformats.org/drawingml/2006/table">
            <a:tbl>
              <a:tblPr firstRow="1" bandRow="1">
                <a:tableStyleId>{5C22544A-7EE6-4342-B048-85BDC9FD1C3A}</a:tableStyleId>
              </a:tblPr>
              <a:tblGrid>
                <a:gridCol w="1225103">
                  <a:extLst>
                    <a:ext uri="{9D8B030D-6E8A-4147-A177-3AD203B41FA5}">
                      <a16:colId xmlns:a16="http://schemas.microsoft.com/office/drawing/2014/main" val="1138117989"/>
                    </a:ext>
                  </a:extLst>
                </a:gridCol>
                <a:gridCol w="1225103">
                  <a:extLst>
                    <a:ext uri="{9D8B030D-6E8A-4147-A177-3AD203B41FA5}">
                      <a16:colId xmlns:a16="http://schemas.microsoft.com/office/drawing/2014/main" val="1779809200"/>
                    </a:ext>
                  </a:extLst>
                </a:gridCol>
                <a:gridCol w="1225103">
                  <a:extLst>
                    <a:ext uri="{9D8B030D-6E8A-4147-A177-3AD203B41FA5}">
                      <a16:colId xmlns:a16="http://schemas.microsoft.com/office/drawing/2014/main" val="2062667354"/>
                    </a:ext>
                  </a:extLst>
                </a:gridCol>
              </a:tblGrid>
              <a:tr h="214750">
                <a:tc>
                  <a:txBody>
                    <a:bodyPr/>
                    <a:lstStyle/>
                    <a:p>
                      <a:r>
                        <a:rPr lang="en-US" dirty="0"/>
                        <a:t>1</a:t>
                      </a:r>
                    </a:p>
                  </a:txBody>
                  <a:tcPr/>
                </a:tc>
                <a:tc>
                  <a:txBody>
                    <a:bodyPr/>
                    <a:lstStyle/>
                    <a:p>
                      <a:r>
                        <a:rPr lang="en-US" dirty="0"/>
                        <a:t>2</a:t>
                      </a:r>
                    </a:p>
                  </a:txBody>
                  <a:tcPr/>
                </a:tc>
                <a:tc>
                  <a:txBody>
                    <a:bodyPr/>
                    <a:lstStyle/>
                    <a:p>
                      <a:r>
                        <a:rPr lang="en-US" dirty="0"/>
                        <a:t>3</a:t>
                      </a:r>
                    </a:p>
                  </a:txBody>
                  <a:tcPr/>
                </a:tc>
                <a:extLst>
                  <a:ext uri="{0D108BD9-81ED-4DB2-BD59-A6C34878D82A}">
                    <a16:rowId xmlns:a16="http://schemas.microsoft.com/office/drawing/2014/main" val="429888839"/>
                  </a:ext>
                </a:extLst>
              </a:tr>
              <a:tr h="214750">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713604784"/>
                  </a:ext>
                </a:extLst>
              </a:tr>
            </a:tbl>
          </a:graphicData>
        </a:graphic>
      </p:graphicFrame>
      <p:graphicFrame>
        <p:nvGraphicFramePr>
          <p:cNvPr id="14" name="Table 13">
            <a:extLst>
              <a:ext uri="{FF2B5EF4-FFF2-40B4-BE49-F238E27FC236}">
                <a16:creationId xmlns:a16="http://schemas.microsoft.com/office/drawing/2014/main" id="{3AF361F0-4EE8-403A-911B-6DA9850BB783}"/>
              </a:ext>
            </a:extLst>
          </p:cNvPr>
          <p:cNvGraphicFramePr>
            <a:graphicFrameLocks noGrp="1"/>
          </p:cNvGraphicFramePr>
          <p:nvPr>
            <p:extLst>
              <p:ext uri="{D42A27DB-BD31-4B8C-83A1-F6EECF244321}">
                <p14:modId xmlns:p14="http://schemas.microsoft.com/office/powerpoint/2010/main" val="3656209061"/>
              </p:ext>
            </p:extLst>
          </p:nvPr>
        </p:nvGraphicFramePr>
        <p:xfrm>
          <a:off x="6435755" y="1965960"/>
          <a:ext cx="2450206" cy="1463040"/>
        </p:xfrm>
        <a:graphic>
          <a:graphicData uri="http://schemas.openxmlformats.org/drawingml/2006/table">
            <a:tbl>
              <a:tblPr firstRow="1" bandRow="1">
                <a:tableStyleId>{5C22544A-7EE6-4342-B048-85BDC9FD1C3A}</a:tableStyleId>
              </a:tblPr>
              <a:tblGrid>
                <a:gridCol w="1225103">
                  <a:extLst>
                    <a:ext uri="{9D8B030D-6E8A-4147-A177-3AD203B41FA5}">
                      <a16:colId xmlns:a16="http://schemas.microsoft.com/office/drawing/2014/main" val="1138117989"/>
                    </a:ext>
                  </a:extLst>
                </a:gridCol>
                <a:gridCol w="1225103">
                  <a:extLst>
                    <a:ext uri="{9D8B030D-6E8A-4147-A177-3AD203B41FA5}">
                      <a16:colId xmlns:a16="http://schemas.microsoft.com/office/drawing/2014/main" val="1779809200"/>
                    </a:ext>
                  </a:extLst>
                </a:gridCol>
              </a:tblGrid>
              <a:tr h="214750">
                <a:tc>
                  <a:txBody>
                    <a:bodyPr/>
                    <a:lstStyle/>
                    <a:p>
                      <a:r>
                        <a:rPr lang="en-US" dirty="0"/>
                        <a:t>1</a:t>
                      </a:r>
                    </a:p>
                  </a:txBody>
                  <a:tcPr/>
                </a:tc>
                <a:tc>
                  <a:txBody>
                    <a:bodyPr/>
                    <a:lstStyle/>
                    <a:p>
                      <a:r>
                        <a:rPr lang="en-US" dirty="0"/>
                        <a:t>2</a:t>
                      </a:r>
                    </a:p>
                  </a:txBody>
                  <a:tcPr/>
                </a:tc>
                <a:extLst>
                  <a:ext uri="{0D108BD9-81ED-4DB2-BD59-A6C34878D82A}">
                    <a16:rowId xmlns:a16="http://schemas.microsoft.com/office/drawing/2014/main" val="429888839"/>
                  </a:ext>
                </a:extLst>
              </a:tr>
              <a:tr h="21475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079546772"/>
                  </a:ext>
                </a:extLst>
              </a:tr>
              <a:tr h="21475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72599651"/>
                  </a:ext>
                </a:extLst>
              </a:tr>
              <a:tr h="21475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713604784"/>
                  </a:ext>
                </a:extLst>
              </a:tr>
            </a:tbl>
          </a:graphicData>
        </a:graphic>
      </p:graphicFrame>
      <p:cxnSp>
        <p:nvCxnSpPr>
          <p:cNvPr id="16" name="Straight Arrow Connector 15">
            <a:extLst>
              <a:ext uri="{FF2B5EF4-FFF2-40B4-BE49-F238E27FC236}">
                <a16:creationId xmlns:a16="http://schemas.microsoft.com/office/drawing/2014/main" id="{97DD7B97-4D9D-4B2D-A686-3D0BFE1B1296}"/>
              </a:ext>
            </a:extLst>
          </p:cNvPr>
          <p:cNvCxnSpPr/>
          <p:nvPr/>
        </p:nvCxnSpPr>
        <p:spPr>
          <a:xfrm>
            <a:off x="9072136" y="1484851"/>
            <a:ext cx="776539" cy="5452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712F627-B5F9-4390-B348-15361B10057F}"/>
              </a:ext>
            </a:extLst>
          </p:cNvPr>
          <p:cNvCxnSpPr/>
          <p:nvPr/>
        </p:nvCxnSpPr>
        <p:spPr>
          <a:xfrm flipV="1">
            <a:off x="9072136" y="2281806"/>
            <a:ext cx="600370" cy="4865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896D094D-486E-4BE8-86AD-8C23F4C42F34}"/>
              </a:ext>
            </a:extLst>
          </p:cNvPr>
          <p:cNvSpPr txBox="1"/>
          <p:nvPr/>
        </p:nvSpPr>
        <p:spPr>
          <a:xfrm>
            <a:off x="9848675" y="2353901"/>
            <a:ext cx="1501630" cy="1754326"/>
          </a:xfrm>
          <a:prstGeom prst="rect">
            <a:avLst/>
          </a:prstGeom>
          <a:noFill/>
        </p:spPr>
        <p:txBody>
          <a:bodyPr wrap="square" rtlCol="0">
            <a:spAutoFit/>
          </a:bodyPr>
          <a:lstStyle/>
          <a:p>
            <a:r>
              <a:rPr lang="en-US" dirty="0" err="1"/>
              <a:t>Không</a:t>
            </a:r>
            <a:r>
              <a:rPr lang="en-US" dirty="0"/>
              <a:t> </a:t>
            </a:r>
            <a:r>
              <a:rPr lang="en-US" dirty="0" err="1"/>
              <a:t>thể</a:t>
            </a:r>
            <a:r>
              <a:rPr lang="en-US" dirty="0"/>
              <a:t> </a:t>
            </a:r>
            <a:r>
              <a:rPr lang="en-US" dirty="0" err="1"/>
              <a:t>dùng</a:t>
            </a:r>
            <a:r>
              <a:rPr lang="en-US" dirty="0"/>
              <a:t> UNION do </a:t>
            </a:r>
            <a:r>
              <a:rPr lang="en-US" dirty="0" err="1"/>
              <a:t>số</a:t>
            </a:r>
            <a:r>
              <a:rPr lang="en-US" dirty="0"/>
              <a:t> l</a:t>
            </a:r>
            <a:r>
              <a:rPr lang="vi-VN" dirty="0"/>
              <a:t>ư</a:t>
            </a:r>
            <a:r>
              <a:rPr lang="en-US" dirty="0" err="1"/>
              <a:t>ợng</a:t>
            </a:r>
            <a:r>
              <a:rPr lang="en-US" dirty="0"/>
              <a:t> </a:t>
            </a:r>
            <a:r>
              <a:rPr lang="en-US" dirty="0" err="1"/>
              <a:t>cột</a:t>
            </a:r>
            <a:r>
              <a:rPr lang="en-US" dirty="0"/>
              <a:t> </a:t>
            </a:r>
            <a:r>
              <a:rPr lang="en-US" dirty="0" err="1"/>
              <a:t>của</a:t>
            </a:r>
            <a:r>
              <a:rPr lang="en-US" dirty="0"/>
              <a:t> 2 </a:t>
            </a:r>
            <a:r>
              <a:rPr lang="en-US" dirty="0" err="1"/>
              <a:t>bảng</a:t>
            </a:r>
            <a:r>
              <a:rPr lang="en-US" dirty="0"/>
              <a:t> </a:t>
            </a:r>
            <a:r>
              <a:rPr lang="en-US" dirty="0" err="1"/>
              <a:t>khác</a:t>
            </a:r>
            <a:r>
              <a:rPr lang="en-US" dirty="0"/>
              <a:t> </a:t>
            </a:r>
            <a:r>
              <a:rPr lang="en-US" dirty="0" err="1"/>
              <a:t>nhau</a:t>
            </a:r>
            <a:endParaRPr lang="en-US" dirty="0"/>
          </a:p>
        </p:txBody>
      </p:sp>
    </p:spTree>
    <p:extLst>
      <p:ext uri="{BB962C8B-B14F-4D97-AF65-F5344CB8AC3E}">
        <p14:creationId xmlns:p14="http://schemas.microsoft.com/office/powerpoint/2010/main" val="6308729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37D78-7F2A-4419-8BB8-38A6EC6FF46D}"/>
              </a:ext>
            </a:extLst>
          </p:cNvPr>
          <p:cNvSpPr>
            <a:spLocks noGrp="1"/>
          </p:cNvSpPr>
          <p:nvPr>
            <p:ph type="title"/>
          </p:nvPr>
        </p:nvSpPr>
        <p:spPr/>
        <p:txBody>
          <a:bodyPr/>
          <a:lstStyle/>
          <a:p>
            <a:r>
              <a:rPr lang="en-US" dirty="0"/>
              <a:t>Create Table;</a:t>
            </a:r>
          </a:p>
        </p:txBody>
      </p:sp>
      <p:sp>
        <p:nvSpPr>
          <p:cNvPr id="3" name="Content Placeholder 2">
            <a:extLst>
              <a:ext uri="{FF2B5EF4-FFF2-40B4-BE49-F238E27FC236}">
                <a16:creationId xmlns:a16="http://schemas.microsoft.com/office/drawing/2014/main" id="{F3925791-F18B-498E-B259-320FD6614BD7}"/>
              </a:ext>
            </a:extLst>
          </p:cNvPr>
          <p:cNvSpPr>
            <a:spLocks noGrp="1"/>
          </p:cNvSpPr>
          <p:nvPr>
            <p:ph idx="1"/>
          </p:nvPr>
        </p:nvSpPr>
        <p:spPr>
          <a:xfrm>
            <a:off x="677334" y="1736521"/>
            <a:ext cx="8596668" cy="4304841"/>
          </a:xfrm>
        </p:spPr>
        <p:txBody>
          <a:bodyPr/>
          <a:lstStyle/>
          <a:p>
            <a:r>
              <a:rPr lang="en-US" dirty="0"/>
              <a:t>SELECT </a:t>
            </a:r>
            <a:r>
              <a:rPr lang="en-US" dirty="0" err="1"/>
              <a:t>tên</a:t>
            </a:r>
            <a:r>
              <a:rPr lang="en-US" dirty="0"/>
              <a:t> </a:t>
            </a:r>
            <a:r>
              <a:rPr lang="en-US" dirty="0" err="1"/>
              <a:t>cột</a:t>
            </a:r>
            <a:r>
              <a:rPr lang="en-US" dirty="0"/>
              <a:t> 1, </a:t>
            </a:r>
            <a:r>
              <a:rPr lang="en-US" dirty="0" err="1"/>
              <a:t>tên</a:t>
            </a:r>
            <a:r>
              <a:rPr lang="en-US" dirty="0"/>
              <a:t> </a:t>
            </a:r>
            <a:r>
              <a:rPr lang="en-US" dirty="0" err="1"/>
              <a:t>cột</a:t>
            </a:r>
            <a:r>
              <a:rPr lang="en-US" dirty="0"/>
              <a:t> 2, ... </a:t>
            </a:r>
          </a:p>
          <a:p>
            <a:pPr marL="0" indent="0">
              <a:buNone/>
            </a:pPr>
            <a:r>
              <a:rPr lang="en-US" dirty="0"/>
              <a:t>	FROM </a:t>
            </a:r>
            <a:r>
              <a:rPr lang="en-US" dirty="0" err="1"/>
              <a:t>các</a:t>
            </a:r>
            <a:r>
              <a:rPr lang="en-US" dirty="0"/>
              <a:t> </a:t>
            </a:r>
            <a:r>
              <a:rPr lang="en-US" dirty="0" err="1"/>
              <a:t>bảng</a:t>
            </a:r>
            <a:r>
              <a:rPr lang="en-US" dirty="0"/>
              <a:t> </a:t>
            </a:r>
          </a:p>
          <a:p>
            <a:pPr marL="0" indent="0">
              <a:buNone/>
            </a:pPr>
            <a:r>
              <a:rPr lang="en-US" dirty="0"/>
              <a:t>      [WHERE </a:t>
            </a:r>
            <a:r>
              <a:rPr lang="en-US" dirty="0" err="1"/>
              <a:t>điều</a:t>
            </a:r>
            <a:r>
              <a:rPr lang="en-US" dirty="0"/>
              <a:t> </a:t>
            </a:r>
            <a:r>
              <a:rPr lang="en-US" dirty="0" err="1"/>
              <a:t>kiện</a:t>
            </a:r>
            <a:r>
              <a:rPr lang="en-US" dirty="0"/>
              <a:t> </a:t>
            </a:r>
            <a:r>
              <a:rPr lang="en-US" dirty="0" err="1"/>
              <a:t>chọn</a:t>
            </a:r>
            <a:r>
              <a:rPr lang="en-US" dirty="0"/>
              <a:t>] </a:t>
            </a:r>
          </a:p>
          <a:p>
            <a:pPr marL="0" indent="0">
              <a:buNone/>
            </a:pPr>
            <a:r>
              <a:rPr lang="en-US" dirty="0"/>
              <a:t>      [GROUP BY </a:t>
            </a:r>
            <a:r>
              <a:rPr lang="en-US" dirty="0" err="1"/>
              <a:t>nhóm</a:t>
            </a:r>
            <a:r>
              <a:rPr lang="en-US" dirty="0"/>
              <a:t>] </a:t>
            </a:r>
          </a:p>
          <a:p>
            <a:pPr marL="0" indent="0">
              <a:buNone/>
            </a:pPr>
            <a:r>
              <a:rPr lang="en-US" dirty="0"/>
              <a:t>      [HAVING </a:t>
            </a:r>
            <a:r>
              <a:rPr lang="en-US" dirty="0" err="1"/>
              <a:t>điều</a:t>
            </a:r>
            <a:r>
              <a:rPr lang="en-US" dirty="0"/>
              <a:t> </a:t>
            </a:r>
            <a:r>
              <a:rPr lang="en-US" dirty="0" err="1"/>
              <a:t>kiện</a:t>
            </a:r>
            <a:r>
              <a:rPr lang="en-US" dirty="0"/>
              <a:t> </a:t>
            </a:r>
            <a:r>
              <a:rPr lang="en-US" dirty="0" err="1"/>
              <a:t>chọn</a:t>
            </a:r>
            <a:r>
              <a:rPr lang="en-US" dirty="0"/>
              <a:t> </a:t>
            </a:r>
            <a:r>
              <a:rPr lang="en-US" dirty="0" err="1"/>
              <a:t>nhóm</a:t>
            </a:r>
            <a:r>
              <a:rPr lang="en-US" dirty="0"/>
              <a:t>] </a:t>
            </a:r>
          </a:p>
          <a:p>
            <a:pPr marL="0" indent="0">
              <a:buNone/>
            </a:pPr>
            <a:r>
              <a:rPr lang="en-US" dirty="0"/>
              <a:t>      [ORDER BY </a:t>
            </a:r>
            <a:r>
              <a:rPr lang="en-US" dirty="0" err="1"/>
              <a:t>các</a:t>
            </a:r>
            <a:r>
              <a:rPr lang="en-US" dirty="0"/>
              <a:t> </a:t>
            </a:r>
            <a:r>
              <a:rPr lang="en-US" dirty="0" err="1"/>
              <a:t>cột</a:t>
            </a:r>
            <a:r>
              <a:rPr lang="en-US" dirty="0"/>
              <a:t> </a:t>
            </a:r>
            <a:r>
              <a:rPr lang="en-US" dirty="0" err="1"/>
              <a:t>sắp</a:t>
            </a:r>
            <a:r>
              <a:rPr lang="en-US" dirty="0"/>
              <a:t> </a:t>
            </a:r>
            <a:r>
              <a:rPr lang="en-US" dirty="0" err="1"/>
              <a:t>xếp</a:t>
            </a:r>
            <a:r>
              <a:rPr lang="en-US" dirty="0"/>
              <a:t>] </a:t>
            </a:r>
          </a:p>
          <a:p>
            <a:pPr marL="0" indent="0">
              <a:buNone/>
            </a:pPr>
            <a:r>
              <a:rPr lang="en-US" dirty="0"/>
              <a:t>      [LIMIT </a:t>
            </a:r>
            <a:r>
              <a:rPr lang="en-US" dirty="0" err="1"/>
              <a:t>giới</a:t>
            </a:r>
            <a:r>
              <a:rPr lang="en-US" dirty="0"/>
              <a:t> </a:t>
            </a:r>
            <a:r>
              <a:rPr lang="en-US" dirty="0" err="1"/>
              <a:t>hạn</a:t>
            </a:r>
            <a:r>
              <a:rPr lang="en-US" dirty="0"/>
              <a:t> </a:t>
            </a:r>
            <a:r>
              <a:rPr lang="en-US" dirty="0" err="1"/>
              <a:t>số</a:t>
            </a:r>
            <a:r>
              <a:rPr lang="en-US" dirty="0"/>
              <a:t> </a:t>
            </a:r>
            <a:r>
              <a:rPr lang="en-US" dirty="0" err="1"/>
              <a:t>lượng</a:t>
            </a:r>
            <a:r>
              <a:rPr lang="en-US" dirty="0"/>
              <a:t>]; </a:t>
            </a:r>
          </a:p>
          <a:p>
            <a:endParaRPr lang="en-US" dirty="0"/>
          </a:p>
        </p:txBody>
      </p:sp>
    </p:spTree>
    <p:extLst>
      <p:ext uri="{BB962C8B-B14F-4D97-AF65-F5344CB8AC3E}">
        <p14:creationId xmlns:p14="http://schemas.microsoft.com/office/powerpoint/2010/main" val="23028208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27A9E-E1CB-4C67-BD7F-1A87DF7CA81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074213C-B713-4DB6-A3C6-33C18F27454C}"/>
              </a:ext>
            </a:extLst>
          </p:cNvPr>
          <p:cNvSpPr>
            <a:spLocks noGrp="1"/>
          </p:cNvSpPr>
          <p:nvPr>
            <p:ph idx="1"/>
          </p:nvPr>
        </p:nvSpPr>
        <p:spPr/>
        <p:txBody>
          <a:bodyPr/>
          <a:lstStyle/>
          <a:p>
            <a:r>
              <a:rPr lang="en-US" dirty="0"/>
              <a:t>Create Table “</a:t>
            </a:r>
            <a:r>
              <a:rPr lang="en-US" dirty="0" err="1"/>
              <a:t>Table_name</a:t>
            </a:r>
            <a:r>
              <a:rPr lang="en-US" dirty="0"/>
              <a:t>” as  (SELECT </a:t>
            </a:r>
            <a:r>
              <a:rPr lang="en-US" dirty="0" err="1"/>
              <a:t>tên</a:t>
            </a:r>
            <a:r>
              <a:rPr lang="en-US" dirty="0"/>
              <a:t> </a:t>
            </a:r>
            <a:r>
              <a:rPr lang="en-US" dirty="0" err="1"/>
              <a:t>cột</a:t>
            </a:r>
            <a:r>
              <a:rPr lang="en-US" dirty="0"/>
              <a:t> 1, </a:t>
            </a:r>
            <a:r>
              <a:rPr lang="en-US" dirty="0" err="1"/>
              <a:t>tên</a:t>
            </a:r>
            <a:r>
              <a:rPr lang="en-US" dirty="0"/>
              <a:t> </a:t>
            </a:r>
            <a:r>
              <a:rPr lang="en-US" dirty="0" err="1"/>
              <a:t>cột</a:t>
            </a:r>
            <a:r>
              <a:rPr lang="en-US" dirty="0"/>
              <a:t> 2, ... </a:t>
            </a:r>
          </a:p>
          <a:p>
            <a:pPr marL="0" indent="0">
              <a:buNone/>
            </a:pPr>
            <a:r>
              <a:rPr lang="en-US" dirty="0"/>
              <a:t>	FROM </a:t>
            </a:r>
            <a:r>
              <a:rPr lang="en-US" dirty="0" err="1"/>
              <a:t>các</a:t>
            </a:r>
            <a:r>
              <a:rPr lang="en-US" dirty="0"/>
              <a:t> </a:t>
            </a:r>
            <a:r>
              <a:rPr lang="en-US" dirty="0" err="1"/>
              <a:t>bảng</a:t>
            </a:r>
            <a:r>
              <a:rPr lang="en-US" dirty="0"/>
              <a:t> </a:t>
            </a:r>
          </a:p>
          <a:p>
            <a:pPr marL="0" indent="0">
              <a:buNone/>
            </a:pPr>
            <a:r>
              <a:rPr lang="en-US" dirty="0"/>
              <a:t>      [WHERE </a:t>
            </a:r>
            <a:r>
              <a:rPr lang="en-US" dirty="0" err="1"/>
              <a:t>điều</a:t>
            </a:r>
            <a:r>
              <a:rPr lang="en-US" dirty="0"/>
              <a:t> </a:t>
            </a:r>
            <a:r>
              <a:rPr lang="en-US" dirty="0" err="1"/>
              <a:t>kiện</a:t>
            </a:r>
            <a:r>
              <a:rPr lang="en-US" dirty="0"/>
              <a:t> </a:t>
            </a:r>
            <a:r>
              <a:rPr lang="en-US" dirty="0" err="1"/>
              <a:t>chọn</a:t>
            </a:r>
            <a:r>
              <a:rPr lang="en-US" dirty="0"/>
              <a:t>] </a:t>
            </a:r>
          </a:p>
          <a:p>
            <a:pPr marL="0" indent="0">
              <a:buNone/>
            </a:pPr>
            <a:r>
              <a:rPr lang="en-US" dirty="0"/>
              <a:t>      [GROUP BY </a:t>
            </a:r>
            <a:r>
              <a:rPr lang="en-US" dirty="0" err="1"/>
              <a:t>nhóm</a:t>
            </a:r>
            <a:r>
              <a:rPr lang="en-US" dirty="0"/>
              <a:t>] </a:t>
            </a:r>
          </a:p>
          <a:p>
            <a:pPr marL="0" indent="0">
              <a:buNone/>
            </a:pPr>
            <a:r>
              <a:rPr lang="en-US" dirty="0"/>
              <a:t>      [HAVING </a:t>
            </a:r>
            <a:r>
              <a:rPr lang="en-US" dirty="0" err="1"/>
              <a:t>điều</a:t>
            </a:r>
            <a:r>
              <a:rPr lang="en-US" dirty="0"/>
              <a:t> </a:t>
            </a:r>
            <a:r>
              <a:rPr lang="en-US" dirty="0" err="1"/>
              <a:t>kiện</a:t>
            </a:r>
            <a:r>
              <a:rPr lang="en-US" dirty="0"/>
              <a:t> </a:t>
            </a:r>
            <a:r>
              <a:rPr lang="en-US" dirty="0" err="1"/>
              <a:t>chọn</a:t>
            </a:r>
            <a:r>
              <a:rPr lang="en-US" dirty="0"/>
              <a:t> </a:t>
            </a:r>
            <a:r>
              <a:rPr lang="en-US" dirty="0" err="1"/>
              <a:t>nhóm</a:t>
            </a:r>
            <a:r>
              <a:rPr lang="en-US" dirty="0"/>
              <a:t>] </a:t>
            </a:r>
          </a:p>
          <a:p>
            <a:pPr marL="0" indent="0">
              <a:buNone/>
            </a:pPr>
            <a:r>
              <a:rPr lang="en-US" dirty="0"/>
              <a:t>      [ORDER BY </a:t>
            </a:r>
            <a:r>
              <a:rPr lang="en-US" dirty="0" err="1"/>
              <a:t>các</a:t>
            </a:r>
            <a:r>
              <a:rPr lang="en-US" dirty="0"/>
              <a:t> </a:t>
            </a:r>
            <a:r>
              <a:rPr lang="en-US" dirty="0" err="1"/>
              <a:t>cột</a:t>
            </a:r>
            <a:r>
              <a:rPr lang="en-US" dirty="0"/>
              <a:t> </a:t>
            </a:r>
            <a:r>
              <a:rPr lang="en-US" dirty="0" err="1"/>
              <a:t>sắp</a:t>
            </a:r>
            <a:r>
              <a:rPr lang="en-US" dirty="0"/>
              <a:t> </a:t>
            </a:r>
            <a:r>
              <a:rPr lang="en-US" dirty="0" err="1"/>
              <a:t>xếp</a:t>
            </a:r>
            <a:r>
              <a:rPr lang="en-US" dirty="0"/>
              <a:t>] </a:t>
            </a:r>
          </a:p>
          <a:p>
            <a:pPr marL="0" indent="0">
              <a:buNone/>
            </a:pPr>
            <a:r>
              <a:rPr lang="en-US" dirty="0"/>
              <a:t>      [LIMIT </a:t>
            </a:r>
            <a:r>
              <a:rPr lang="en-US" dirty="0" err="1"/>
              <a:t>giới</a:t>
            </a:r>
            <a:r>
              <a:rPr lang="en-US" dirty="0"/>
              <a:t> </a:t>
            </a:r>
            <a:r>
              <a:rPr lang="en-US" dirty="0" err="1"/>
              <a:t>hạn</a:t>
            </a:r>
            <a:r>
              <a:rPr lang="en-US" dirty="0"/>
              <a:t> </a:t>
            </a:r>
            <a:r>
              <a:rPr lang="en-US" dirty="0" err="1"/>
              <a:t>số</a:t>
            </a:r>
            <a:r>
              <a:rPr lang="en-US" dirty="0"/>
              <a:t> </a:t>
            </a:r>
            <a:r>
              <a:rPr lang="en-US" dirty="0" err="1"/>
              <a:t>lượng</a:t>
            </a:r>
            <a:r>
              <a:rPr lang="en-US" dirty="0"/>
              <a:t>])  ; </a:t>
            </a:r>
          </a:p>
          <a:p>
            <a:r>
              <a:rPr lang="en-US" dirty="0"/>
              <a:t> </a:t>
            </a:r>
          </a:p>
        </p:txBody>
      </p:sp>
      <p:sp>
        <p:nvSpPr>
          <p:cNvPr id="4" name="Freeform: Shape 3">
            <a:extLst>
              <a:ext uri="{FF2B5EF4-FFF2-40B4-BE49-F238E27FC236}">
                <a16:creationId xmlns:a16="http://schemas.microsoft.com/office/drawing/2014/main" id="{1BF52822-0263-472C-B35B-71B0D18E4DB8}"/>
              </a:ext>
            </a:extLst>
          </p:cNvPr>
          <p:cNvSpPr/>
          <p:nvPr/>
        </p:nvSpPr>
        <p:spPr>
          <a:xfrm>
            <a:off x="449447" y="1879134"/>
            <a:ext cx="8577404" cy="3833769"/>
          </a:xfrm>
          <a:custGeom>
            <a:avLst/>
            <a:gdLst>
              <a:gd name="connsiteX0" fmla="*/ 3929606 w 8577404"/>
              <a:gd name="connsiteY0" fmla="*/ 645952 h 3833769"/>
              <a:gd name="connsiteX1" fmla="*/ 3954773 w 8577404"/>
              <a:gd name="connsiteY1" fmla="*/ 385894 h 3833769"/>
              <a:gd name="connsiteX2" fmla="*/ 3979940 w 8577404"/>
              <a:gd name="connsiteY2" fmla="*/ 352338 h 3833769"/>
              <a:gd name="connsiteX3" fmla="*/ 4005107 w 8577404"/>
              <a:gd name="connsiteY3" fmla="*/ 302004 h 3833769"/>
              <a:gd name="connsiteX4" fmla="*/ 4013496 w 8577404"/>
              <a:gd name="connsiteY4" fmla="*/ 276837 h 3833769"/>
              <a:gd name="connsiteX5" fmla="*/ 4038663 w 8577404"/>
              <a:gd name="connsiteY5" fmla="*/ 260059 h 3833769"/>
              <a:gd name="connsiteX6" fmla="*/ 4063830 w 8577404"/>
              <a:gd name="connsiteY6" fmla="*/ 234892 h 3833769"/>
              <a:gd name="connsiteX7" fmla="*/ 4130942 w 8577404"/>
              <a:gd name="connsiteY7" fmla="*/ 209725 h 3833769"/>
              <a:gd name="connsiteX8" fmla="*/ 4156109 w 8577404"/>
              <a:gd name="connsiteY8" fmla="*/ 192947 h 3833769"/>
              <a:gd name="connsiteX9" fmla="*/ 4567170 w 8577404"/>
              <a:gd name="connsiteY9" fmla="*/ 83890 h 3833769"/>
              <a:gd name="connsiteX10" fmla="*/ 4961452 w 8577404"/>
              <a:gd name="connsiteY10" fmla="*/ 33556 h 3833769"/>
              <a:gd name="connsiteX11" fmla="*/ 5053731 w 8577404"/>
              <a:gd name="connsiteY11" fmla="*/ 25167 h 3833769"/>
              <a:gd name="connsiteX12" fmla="*/ 5213122 w 8577404"/>
              <a:gd name="connsiteY12" fmla="*/ 8389 h 3833769"/>
              <a:gd name="connsiteX13" fmla="*/ 5615793 w 8577404"/>
              <a:gd name="connsiteY13" fmla="*/ 0 h 3833769"/>
              <a:gd name="connsiteX14" fmla="*/ 6421136 w 8577404"/>
              <a:gd name="connsiteY14" fmla="*/ 8389 h 3833769"/>
              <a:gd name="connsiteX15" fmla="*/ 7629151 w 8577404"/>
              <a:gd name="connsiteY15" fmla="*/ 25167 h 3833769"/>
              <a:gd name="connsiteX16" fmla="*/ 7855654 w 8577404"/>
              <a:gd name="connsiteY16" fmla="*/ 117446 h 3833769"/>
              <a:gd name="connsiteX17" fmla="*/ 7889210 w 8577404"/>
              <a:gd name="connsiteY17" fmla="*/ 142613 h 3833769"/>
              <a:gd name="connsiteX18" fmla="*/ 8048601 w 8577404"/>
              <a:gd name="connsiteY18" fmla="*/ 285226 h 3833769"/>
              <a:gd name="connsiteX19" fmla="*/ 8098935 w 8577404"/>
              <a:gd name="connsiteY19" fmla="*/ 335560 h 3833769"/>
              <a:gd name="connsiteX20" fmla="*/ 8124102 w 8577404"/>
              <a:gd name="connsiteY20" fmla="*/ 369116 h 3833769"/>
              <a:gd name="connsiteX21" fmla="*/ 8249936 w 8577404"/>
              <a:gd name="connsiteY21" fmla="*/ 553673 h 3833769"/>
              <a:gd name="connsiteX22" fmla="*/ 8275103 w 8577404"/>
              <a:gd name="connsiteY22" fmla="*/ 612396 h 3833769"/>
              <a:gd name="connsiteX23" fmla="*/ 8317048 w 8577404"/>
              <a:gd name="connsiteY23" fmla="*/ 696286 h 3833769"/>
              <a:gd name="connsiteX24" fmla="*/ 8476439 w 8577404"/>
              <a:gd name="connsiteY24" fmla="*/ 1174459 h 3833769"/>
              <a:gd name="connsiteX25" fmla="*/ 8501606 w 8577404"/>
              <a:gd name="connsiteY25" fmla="*/ 1308683 h 3833769"/>
              <a:gd name="connsiteX26" fmla="*/ 8560329 w 8577404"/>
              <a:gd name="connsiteY26" fmla="*/ 1577130 h 3833769"/>
              <a:gd name="connsiteX27" fmla="*/ 8568718 w 8577404"/>
              <a:gd name="connsiteY27" fmla="*/ 1669409 h 3833769"/>
              <a:gd name="connsiteX28" fmla="*/ 8577107 w 8577404"/>
              <a:gd name="connsiteY28" fmla="*/ 1744910 h 3833769"/>
              <a:gd name="connsiteX29" fmla="*/ 8535162 w 8577404"/>
              <a:gd name="connsiteY29" fmla="*/ 2114026 h 3833769"/>
              <a:gd name="connsiteX30" fmla="*/ 8451272 w 8577404"/>
              <a:gd name="connsiteY30" fmla="*/ 2357306 h 3833769"/>
              <a:gd name="connsiteX31" fmla="*/ 8098935 w 8577404"/>
              <a:gd name="connsiteY31" fmla="*/ 2919369 h 3833769"/>
              <a:gd name="connsiteX32" fmla="*/ 7671096 w 8577404"/>
              <a:gd name="connsiteY32" fmla="*/ 3363985 h 3833769"/>
              <a:gd name="connsiteX33" fmla="*/ 7494927 w 8577404"/>
              <a:gd name="connsiteY33" fmla="*/ 3481431 h 3833769"/>
              <a:gd name="connsiteX34" fmla="*/ 7201313 w 8577404"/>
              <a:gd name="connsiteY34" fmla="*/ 3615655 h 3833769"/>
              <a:gd name="connsiteX35" fmla="*/ 6832197 w 8577404"/>
              <a:gd name="connsiteY35" fmla="*/ 3749879 h 3833769"/>
              <a:gd name="connsiteX36" fmla="*/ 6588916 w 8577404"/>
              <a:gd name="connsiteY36" fmla="*/ 3808602 h 3833769"/>
              <a:gd name="connsiteX37" fmla="*/ 6437914 w 8577404"/>
              <a:gd name="connsiteY37" fmla="*/ 3825380 h 3833769"/>
              <a:gd name="connsiteX38" fmla="*/ 6161078 w 8577404"/>
              <a:gd name="connsiteY38" fmla="*/ 3833769 h 3833769"/>
              <a:gd name="connsiteX39" fmla="*/ 5708072 w 8577404"/>
              <a:gd name="connsiteY39" fmla="*/ 3816991 h 3833769"/>
              <a:gd name="connsiteX40" fmla="*/ 5489959 w 8577404"/>
              <a:gd name="connsiteY40" fmla="*/ 3758268 h 3833769"/>
              <a:gd name="connsiteX41" fmla="*/ 4969841 w 8577404"/>
              <a:gd name="connsiteY41" fmla="*/ 3624044 h 3833769"/>
              <a:gd name="connsiteX42" fmla="*/ 4542003 w 8577404"/>
              <a:gd name="connsiteY42" fmla="*/ 3506598 h 3833769"/>
              <a:gd name="connsiteX43" fmla="*/ 4013496 w 8577404"/>
              <a:gd name="connsiteY43" fmla="*/ 3422708 h 3833769"/>
              <a:gd name="connsiteX44" fmla="*/ 3552102 w 8577404"/>
              <a:gd name="connsiteY44" fmla="*/ 3363985 h 3833769"/>
              <a:gd name="connsiteX45" fmla="*/ 3350766 w 8577404"/>
              <a:gd name="connsiteY45" fmla="*/ 3322040 h 3833769"/>
              <a:gd name="connsiteX46" fmla="*/ 2998428 w 8577404"/>
              <a:gd name="connsiteY46" fmla="*/ 3271706 h 3833769"/>
              <a:gd name="connsiteX47" fmla="*/ 2931316 w 8577404"/>
              <a:gd name="connsiteY47" fmla="*/ 3263317 h 3833769"/>
              <a:gd name="connsiteX48" fmla="*/ 2847426 w 8577404"/>
              <a:gd name="connsiteY48" fmla="*/ 3254928 h 3833769"/>
              <a:gd name="connsiteX49" fmla="*/ 2578979 w 8577404"/>
              <a:gd name="connsiteY49" fmla="*/ 3212983 h 3833769"/>
              <a:gd name="connsiteX50" fmla="*/ 2419588 w 8577404"/>
              <a:gd name="connsiteY50" fmla="*/ 3204594 h 3833769"/>
              <a:gd name="connsiteX51" fmla="*/ 2075639 w 8577404"/>
              <a:gd name="connsiteY51" fmla="*/ 3196205 h 3833769"/>
              <a:gd name="connsiteX52" fmla="*/ 1085738 w 8577404"/>
              <a:gd name="connsiteY52" fmla="*/ 3162649 h 3833769"/>
              <a:gd name="connsiteX53" fmla="*/ 783735 w 8577404"/>
              <a:gd name="connsiteY53" fmla="*/ 3087149 h 3833769"/>
              <a:gd name="connsiteX54" fmla="*/ 758568 w 8577404"/>
              <a:gd name="connsiteY54" fmla="*/ 3078760 h 3833769"/>
              <a:gd name="connsiteX55" fmla="*/ 666289 w 8577404"/>
              <a:gd name="connsiteY55" fmla="*/ 3061982 h 3833769"/>
              <a:gd name="connsiteX56" fmla="*/ 548843 w 8577404"/>
              <a:gd name="connsiteY56" fmla="*/ 3003259 h 3833769"/>
              <a:gd name="connsiteX57" fmla="*/ 339118 w 8577404"/>
              <a:gd name="connsiteY57" fmla="*/ 2835479 h 3833769"/>
              <a:gd name="connsiteX58" fmla="*/ 70670 w 8577404"/>
              <a:gd name="connsiteY58" fmla="*/ 2432807 h 3833769"/>
              <a:gd name="connsiteX59" fmla="*/ 11947 w 8577404"/>
              <a:gd name="connsiteY59" fmla="*/ 1929468 h 3833769"/>
              <a:gd name="connsiteX60" fmla="*/ 238450 w 8577404"/>
              <a:gd name="connsiteY60" fmla="*/ 1543574 h 3833769"/>
              <a:gd name="connsiteX61" fmla="*/ 322340 w 8577404"/>
              <a:gd name="connsiteY61" fmla="*/ 1468073 h 3833769"/>
              <a:gd name="connsiteX62" fmla="*/ 607566 w 8577404"/>
              <a:gd name="connsiteY62" fmla="*/ 1132514 h 3833769"/>
              <a:gd name="connsiteX63" fmla="*/ 725012 w 8577404"/>
              <a:gd name="connsiteY63" fmla="*/ 973123 h 3833769"/>
              <a:gd name="connsiteX64" fmla="*/ 775346 w 8577404"/>
              <a:gd name="connsiteY64" fmla="*/ 872455 h 3833769"/>
              <a:gd name="connsiteX65" fmla="*/ 834069 w 8577404"/>
              <a:gd name="connsiteY65" fmla="*/ 788565 h 3833769"/>
              <a:gd name="connsiteX66" fmla="*/ 850847 w 8577404"/>
              <a:gd name="connsiteY66" fmla="*/ 746620 h 3833769"/>
              <a:gd name="connsiteX67" fmla="*/ 892792 w 8577404"/>
              <a:gd name="connsiteY67" fmla="*/ 679508 h 3833769"/>
              <a:gd name="connsiteX68" fmla="*/ 1043793 w 8577404"/>
              <a:gd name="connsiteY68" fmla="*/ 687897 h 3833769"/>
              <a:gd name="connsiteX69" fmla="*/ 1438076 w 8577404"/>
              <a:gd name="connsiteY69" fmla="*/ 729842 h 3833769"/>
              <a:gd name="connsiteX70" fmla="*/ 1614245 w 8577404"/>
              <a:gd name="connsiteY70" fmla="*/ 746620 h 3833769"/>
              <a:gd name="connsiteX71" fmla="*/ 2100806 w 8577404"/>
              <a:gd name="connsiteY71" fmla="*/ 763398 h 3833769"/>
              <a:gd name="connsiteX72" fmla="*/ 2218252 w 8577404"/>
              <a:gd name="connsiteY72" fmla="*/ 780176 h 3833769"/>
              <a:gd name="connsiteX73" fmla="*/ 2318920 w 8577404"/>
              <a:gd name="connsiteY73" fmla="*/ 796954 h 3833769"/>
              <a:gd name="connsiteX74" fmla="*/ 2427977 w 8577404"/>
              <a:gd name="connsiteY74" fmla="*/ 805343 h 3833769"/>
              <a:gd name="connsiteX75" fmla="*/ 3283654 w 8577404"/>
              <a:gd name="connsiteY75" fmla="*/ 813732 h 3833769"/>
              <a:gd name="connsiteX76" fmla="*/ 3711492 w 8577404"/>
              <a:gd name="connsiteY76" fmla="*/ 788565 h 3833769"/>
              <a:gd name="connsiteX77" fmla="*/ 3786993 w 8577404"/>
              <a:gd name="connsiteY77" fmla="*/ 746620 h 3833769"/>
              <a:gd name="connsiteX78" fmla="*/ 3820549 w 8577404"/>
              <a:gd name="connsiteY78" fmla="*/ 729842 h 3833769"/>
              <a:gd name="connsiteX79" fmla="*/ 3845716 w 8577404"/>
              <a:gd name="connsiteY79" fmla="*/ 704675 h 3833769"/>
              <a:gd name="connsiteX80" fmla="*/ 3870883 w 8577404"/>
              <a:gd name="connsiteY80" fmla="*/ 687897 h 3833769"/>
              <a:gd name="connsiteX81" fmla="*/ 3904439 w 8577404"/>
              <a:gd name="connsiteY81" fmla="*/ 662730 h 3833769"/>
              <a:gd name="connsiteX82" fmla="*/ 3929606 w 8577404"/>
              <a:gd name="connsiteY82" fmla="*/ 645952 h 3833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8577404" h="3833769">
                <a:moveTo>
                  <a:pt x="3929606" y="645952"/>
                </a:moveTo>
                <a:cubicBezTo>
                  <a:pt x="3937995" y="599813"/>
                  <a:pt x="3917561" y="460316"/>
                  <a:pt x="3954773" y="385894"/>
                </a:cubicBezTo>
                <a:cubicBezTo>
                  <a:pt x="3961026" y="373388"/>
                  <a:pt x="3971551" y="363523"/>
                  <a:pt x="3979940" y="352338"/>
                </a:cubicBezTo>
                <a:cubicBezTo>
                  <a:pt x="4001026" y="289080"/>
                  <a:pt x="3972582" y="367053"/>
                  <a:pt x="4005107" y="302004"/>
                </a:cubicBezTo>
                <a:cubicBezTo>
                  <a:pt x="4009062" y="294095"/>
                  <a:pt x="4007972" y="283742"/>
                  <a:pt x="4013496" y="276837"/>
                </a:cubicBezTo>
                <a:cubicBezTo>
                  <a:pt x="4019794" y="268964"/>
                  <a:pt x="4030918" y="266514"/>
                  <a:pt x="4038663" y="260059"/>
                </a:cubicBezTo>
                <a:cubicBezTo>
                  <a:pt x="4047777" y="252464"/>
                  <a:pt x="4053415" y="240573"/>
                  <a:pt x="4063830" y="234892"/>
                </a:cubicBezTo>
                <a:cubicBezTo>
                  <a:pt x="4084805" y="223451"/>
                  <a:pt x="4109192" y="219612"/>
                  <a:pt x="4130942" y="209725"/>
                </a:cubicBezTo>
                <a:cubicBezTo>
                  <a:pt x="4140121" y="205553"/>
                  <a:pt x="4147213" y="197692"/>
                  <a:pt x="4156109" y="192947"/>
                </a:cubicBezTo>
                <a:cubicBezTo>
                  <a:pt x="4319647" y="105727"/>
                  <a:pt x="4307802" y="120943"/>
                  <a:pt x="4567170" y="83890"/>
                </a:cubicBezTo>
                <a:cubicBezTo>
                  <a:pt x="4719313" y="62155"/>
                  <a:pt x="4709856" y="63156"/>
                  <a:pt x="4961452" y="33556"/>
                </a:cubicBezTo>
                <a:cubicBezTo>
                  <a:pt x="4992127" y="29947"/>
                  <a:pt x="5022998" y="28240"/>
                  <a:pt x="5053731" y="25167"/>
                </a:cubicBezTo>
                <a:cubicBezTo>
                  <a:pt x="5106890" y="19851"/>
                  <a:pt x="5159752" y="10779"/>
                  <a:pt x="5213122" y="8389"/>
                </a:cubicBezTo>
                <a:cubicBezTo>
                  <a:pt x="5347240" y="2384"/>
                  <a:pt x="5481569" y="2796"/>
                  <a:pt x="5615793" y="0"/>
                </a:cubicBezTo>
                <a:lnTo>
                  <a:pt x="6421136" y="8389"/>
                </a:lnTo>
                <a:cubicBezTo>
                  <a:pt x="7593104" y="18536"/>
                  <a:pt x="7177496" y="-25017"/>
                  <a:pt x="7629151" y="25167"/>
                </a:cubicBezTo>
                <a:cubicBezTo>
                  <a:pt x="7651928" y="34025"/>
                  <a:pt x="7809280" y="92476"/>
                  <a:pt x="7855654" y="117446"/>
                </a:cubicBezTo>
                <a:cubicBezTo>
                  <a:pt x="7867964" y="124075"/>
                  <a:pt x="7878659" y="133439"/>
                  <a:pt x="7889210" y="142613"/>
                </a:cubicBezTo>
                <a:cubicBezTo>
                  <a:pt x="7943008" y="189394"/>
                  <a:pt x="7996134" y="236957"/>
                  <a:pt x="8048601" y="285226"/>
                </a:cubicBezTo>
                <a:cubicBezTo>
                  <a:pt x="8066063" y="301291"/>
                  <a:pt x="8083062" y="317923"/>
                  <a:pt x="8098935" y="335560"/>
                </a:cubicBezTo>
                <a:cubicBezTo>
                  <a:pt x="8108288" y="345952"/>
                  <a:pt x="8116144" y="357620"/>
                  <a:pt x="8124102" y="369116"/>
                </a:cubicBezTo>
                <a:cubicBezTo>
                  <a:pt x="8166484" y="430335"/>
                  <a:pt x="8210670" y="490411"/>
                  <a:pt x="8249936" y="553673"/>
                </a:cubicBezTo>
                <a:cubicBezTo>
                  <a:pt x="8261167" y="571767"/>
                  <a:pt x="8266035" y="593127"/>
                  <a:pt x="8275103" y="612396"/>
                </a:cubicBezTo>
                <a:cubicBezTo>
                  <a:pt x="8288415" y="640684"/>
                  <a:pt x="8306070" y="667013"/>
                  <a:pt x="8317048" y="696286"/>
                </a:cubicBezTo>
                <a:cubicBezTo>
                  <a:pt x="8326863" y="722459"/>
                  <a:pt x="8447015" y="1042052"/>
                  <a:pt x="8476439" y="1174459"/>
                </a:cubicBezTo>
                <a:cubicBezTo>
                  <a:pt x="8486314" y="1218896"/>
                  <a:pt x="8492322" y="1264119"/>
                  <a:pt x="8501606" y="1308683"/>
                </a:cubicBezTo>
                <a:cubicBezTo>
                  <a:pt x="8520288" y="1398356"/>
                  <a:pt x="8540755" y="1487648"/>
                  <a:pt x="8560329" y="1577130"/>
                </a:cubicBezTo>
                <a:cubicBezTo>
                  <a:pt x="8563125" y="1607890"/>
                  <a:pt x="8565645" y="1638676"/>
                  <a:pt x="8568718" y="1669409"/>
                </a:cubicBezTo>
                <a:cubicBezTo>
                  <a:pt x="8571238" y="1694605"/>
                  <a:pt x="8579013" y="1719660"/>
                  <a:pt x="8577107" y="1744910"/>
                </a:cubicBezTo>
                <a:cubicBezTo>
                  <a:pt x="8567788" y="1868389"/>
                  <a:pt x="8555195" y="1991827"/>
                  <a:pt x="8535162" y="2114026"/>
                </a:cubicBezTo>
                <a:cubicBezTo>
                  <a:pt x="8527290" y="2162043"/>
                  <a:pt x="8479752" y="2305883"/>
                  <a:pt x="8451272" y="2357306"/>
                </a:cubicBezTo>
                <a:cubicBezTo>
                  <a:pt x="8113585" y="2967020"/>
                  <a:pt x="8312513" y="2631504"/>
                  <a:pt x="8098935" y="2919369"/>
                </a:cubicBezTo>
                <a:cubicBezTo>
                  <a:pt x="7913054" y="3169904"/>
                  <a:pt x="8040064" y="3056512"/>
                  <a:pt x="7671096" y="3363985"/>
                </a:cubicBezTo>
                <a:cubicBezTo>
                  <a:pt x="7616878" y="3409167"/>
                  <a:pt x="7559114" y="3452088"/>
                  <a:pt x="7494927" y="3481431"/>
                </a:cubicBezTo>
                <a:cubicBezTo>
                  <a:pt x="7397056" y="3526172"/>
                  <a:pt x="7301962" y="3577572"/>
                  <a:pt x="7201313" y="3615655"/>
                </a:cubicBezTo>
                <a:cubicBezTo>
                  <a:pt x="7121448" y="3645874"/>
                  <a:pt x="6951360" y="3720088"/>
                  <a:pt x="6832197" y="3749879"/>
                </a:cubicBezTo>
                <a:cubicBezTo>
                  <a:pt x="6751265" y="3770112"/>
                  <a:pt x="6671694" y="3798255"/>
                  <a:pt x="6588916" y="3808602"/>
                </a:cubicBezTo>
                <a:cubicBezTo>
                  <a:pt x="6552045" y="3813211"/>
                  <a:pt x="6471780" y="3823805"/>
                  <a:pt x="6437914" y="3825380"/>
                </a:cubicBezTo>
                <a:cubicBezTo>
                  <a:pt x="6345693" y="3829669"/>
                  <a:pt x="6253357" y="3830973"/>
                  <a:pt x="6161078" y="3833769"/>
                </a:cubicBezTo>
                <a:cubicBezTo>
                  <a:pt x="6010076" y="3828176"/>
                  <a:pt x="5858759" y="3828236"/>
                  <a:pt x="5708072" y="3816991"/>
                </a:cubicBezTo>
                <a:cubicBezTo>
                  <a:pt x="5650432" y="3812689"/>
                  <a:pt x="5544474" y="3772805"/>
                  <a:pt x="5489959" y="3758268"/>
                </a:cubicBezTo>
                <a:lnTo>
                  <a:pt x="4969841" y="3624044"/>
                </a:lnTo>
                <a:cubicBezTo>
                  <a:pt x="4808763" y="3580273"/>
                  <a:pt x="4701086" y="3535006"/>
                  <a:pt x="4542003" y="3506598"/>
                </a:cubicBezTo>
                <a:cubicBezTo>
                  <a:pt x="4366406" y="3475241"/>
                  <a:pt x="4191254" y="3437521"/>
                  <a:pt x="4013496" y="3422708"/>
                </a:cubicBezTo>
                <a:cubicBezTo>
                  <a:pt x="3821755" y="3406730"/>
                  <a:pt x="3838318" y="3409984"/>
                  <a:pt x="3552102" y="3363985"/>
                </a:cubicBezTo>
                <a:cubicBezTo>
                  <a:pt x="2898644" y="3258965"/>
                  <a:pt x="3910432" y="3406518"/>
                  <a:pt x="3350766" y="3322040"/>
                </a:cubicBezTo>
                <a:lnTo>
                  <a:pt x="2998428" y="3271706"/>
                </a:lnTo>
                <a:cubicBezTo>
                  <a:pt x="2976101" y="3268580"/>
                  <a:pt x="2953723" y="3265807"/>
                  <a:pt x="2931316" y="3263317"/>
                </a:cubicBezTo>
                <a:cubicBezTo>
                  <a:pt x="2903385" y="3260214"/>
                  <a:pt x="2875246" y="3258902"/>
                  <a:pt x="2847426" y="3254928"/>
                </a:cubicBezTo>
                <a:cubicBezTo>
                  <a:pt x="2757768" y="3242120"/>
                  <a:pt x="2668927" y="3223565"/>
                  <a:pt x="2578979" y="3212983"/>
                </a:cubicBezTo>
                <a:cubicBezTo>
                  <a:pt x="2526140" y="3206767"/>
                  <a:pt x="2472762" y="3206366"/>
                  <a:pt x="2419588" y="3204594"/>
                </a:cubicBezTo>
                <a:lnTo>
                  <a:pt x="2075639" y="3196205"/>
                </a:lnTo>
                <a:lnTo>
                  <a:pt x="1085738" y="3162649"/>
                </a:lnTo>
                <a:cubicBezTo>
                  <a:pt x="970775" y="3143489"/>
                  <a:pt x="944593" y="3140768"/>
                  <a:pt x="783735" y="3087149"/>
                </a:cubicBezTo>
                <a:cubicBezTo>
                  <a:pt x="775346" y="3084353"/>
                  <a:pt x="767214" y="3080613"/>
                  <a:pt x="758568" y="3078760"/>
                </a:cubicBezTo>
                <a:cubicBezTo>
                  <a:pt x="727998" y="3072209"/>
                  <a:pt x="697049" y="3067575"/>
                  <a:pt x="666289" y="3061982"/>
                </a:cubicBezTo>
                <a:cubicBezTo>
                  <a:pt x="627140" y="3042408"/>
                  <a:pt x="586498" y="3025573"/>
                  <a:pt x="548843" y="3003259"/>
                </a:cubicBezTo>
                <a:cubicBezTo>
                  <a:pt x="485137" y="2965507"/>
                  <a:pt x="387153" y="2892092"/>
                  <a:pt x="339118" y="2835479"/>
                </a:cubicBezTo>
                <a:cubicBezTo>
                  <a:pt x="235834" y="2713752"/>
                  <a:pt x="153688" y="2567712"/>
                  <a:pt x="70670" y="2432807"/>
                </a:cubicBezTo>
                <a:cubicBezTo>
                  <a:pt x="22609" y="2248573"/>
                  <a:pt x="-22090" y="2136786"/>
                  <a:pt x="11947" y="1929468"/>
                </a:cubicBezTo>
                <a:cubicBezTo>
                  <a:pt x="44699" y="1729977"/>
                  <a:pt x="112379" y="1669645"/>
                  <a:pt x="238450" y="1543574"/>
                </a:cubicBezTo>
                <a:cubicBezTo>
                  <a:pt x="265052" y="1516972"/>
                  <a:pt x="296532" y="1495445"/>
                  <a:pt x="322340" y="1468073"/>
                </a:cubicBezTo>
                <a:cubicBezTo>
                  <a:pt x="468728" y="1312813"/>
                  <a:pt x="496115" y="1274923"/>
                  <a:pt x="607566" y="1132514"/>
                </a:cubicBezTo>
                <a:cubicBezTo>
                  <a:pt x="639956" y="1091127"/>
                  <a:pt x="698632" y="1017765"/>
                  <a:pt x="725012" y="973123"/>
                </a:cubicBezTo>
                <a:cubicBezTo>
                  <a:pt x="744098" y="940824"/>
                  <a:pt x="753832" y="903190"/>
                  <a:pt x="775346" y="872455"/>
                </a:cubicBezTo>
                <a:cubicBezTo>
                  <a:pt x="794920" y="844492"/>
                  <a:pt x="816507" y="817834"/>
                  <a:pt x="834069" y="788565"/>
                </a:cubicBezTo>
                <a:cubicBezTo>
                  <a:pt x="841817" y="775652"/>
                  <a:pt x="844113" y="760089"/>
                  <a:pt x="850847" y="746620"/>
                </a:cubicBezTo>
                <a:cubicBezTo>
                  <a:pt x="860965" y="726384"/>
                  <a:pt x="879482" y="699472"/>
                  <a:pt x="892792" y="679508"/>
                </a:cubicBezTo>
                <a:cubicBezTo>
                  <a:pt x="943126" y="682304"/>
                  <a:pt x="993595" y="683263"/>
                  <a:pt x="1043793" y="687897"/>
                </a:cubicBezTo>
                <a:cubicBezTo>
                  <a:pt x="1175403" y="700046"/>
                  <a:pt x="1306601" y="716308"/>
                  <a:pt x="1438076" y="729842"/>
                </a:cubicBezTo>
                <a:cubicBezTo>
                  <a:pt x="1496755" y="735882"/>
                  <a:pt x="1555387" y="742696"/>
                  <a:pt x="1614245" y="746620"/>
                </a:cubicBezTo>
                <a:cubicBezTo>
                  <a:pt x="1860088" y="763010"/>
                  <a:pt x="1698053" y="754032"/>
                  <a:pt x="2100806" y="763398"/>
                </a:cubicBezTo>
                <a:lnTo>
                  <a:pt x="2218252" y="780176"/>
                </a:lnTo>
                <a:cubicBezTo>
                  <a:pt x="2251875" y="785349"/>
                  <a:pt x="2285143" y="792901"/>
                  <a:pt x="2318920" y="796954"/>
                </a:cubicBezTo>
                <a:cubicBezTo>
                  <a:pt x="2355120" y="801298"/>
                  <a:pt x="2391523" y="804709"/>
                  <a:pt x="2427977" y="805343"/>
                </a:cubicBezTo>
                <a:lnTo>
                  <a:pt x="3283654" y="813732"/>
                </a:lnTo>
                <a:cubicBezTo>
                  <a:pt x="3396197" y="810918"/>
                  <a:pt x="3580179" y="823582"/>
                  <a:pt x="3711492" y="788565"/>
                </a:cubicBezTo>
                <a:cubicBezTo>
                  <a:pt x="3726964" y="784439"/>
                  <a:pt x="3776918" y="752217"/>
                  <a:pt x="3786993" y="746620"/>
                </a:cubicBezTo>
                <a:cubicBezTo>
                  <a:pt x="3797925" y="740547"/>
                  <a:pt x="3810373" y="737111"/>
                  <a:pt x="3820549" y="729842"/>
                </a:cubicBezTo>
                <a:cubicBezTo>
                  <a:pt x="3830203" y="722946"/>
                  <a:pt x="3836602" y="712270"/>
                  <a:pt x="3845716" y="704675"/>
                </a:cubicBezTo>
                <a:cubicBezTo>
                  <a:pt x="3853461" y="698220"/>
                  <a:pt x="3862679" y="693757"/>
                  <a:pt x="3870883" y="687897"/>
                </a:cubicBezTo>
                <a:cubicBezTo>
                  <a:pt x="3882260" y="679770"/>
                  <a:pt x="3892300" y="669667"/>
                  <a:pt x="3904439" y="662730"/>
                </a:cubicBezTo>
                <a:cubicBezTo>
                  <a:pt x="3940721" y="641997"/>
                  <a:pt x="3921217" y="692091"/>
                  <a:pt x="3929606" y="645952"/>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731961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493AE-20AE-413A-98E8-67134957C6A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5DE8292-A495-4DCB-AAB2-3F3427350AB5}"/>
              </a:ext>
            </a:extLst>
          </p:cNvPr>
          <p:cNvSpPr>
            <a:spLocks noGrp="1"/>
          </p:cNvSpPr>
          <p:nvPr>
            <p:ph idx="1"/>
          </p:nvPr>
        </p:nvSpPr>
        <p:spPr/>
        <p:txBody>
          <a:bodyPr/>
          <a:lstStyle/>
          <a:p>
            <a:r>
              <a:rPr lang="en-US" dirty="0" err="1"/>
              <a:t>Ví</a:t>
            </a:r>
            <a:r>
              <a:rPr lang="en-US" dirty="0"/>
              <a:t> </a:t>
            </a:r>
            <a:r>
              <a:rPr lang="en-US" dirty="0" err="1"/>
              <a:t>dụ</a:t>
            </a:r>
            <a:r>
              <a:rPr lang="en-US" dirty="0"/>
              <a:t>: </a:t>
            </a:r>
          </a:p>
          <a:p>
            <a:r>
              <a:rPr lang="en-US" dirty="0"/>
              <a:t> Create Table  “</a:t>
            </a:r>
            <a:r>
              <a:rPr lang="en-US" dirty="0" err="1"/>
              <a:t>Employee_short</a:t>
            </a:r>
            <a:r>
              <a:rPr lang="en-US" dirty="0"/>
              <a:t>” as (SELECT FirstName, </a:t>
            </a:r>
            <a:r>
              <a:rPr lang="en-US" dirty="0" err="1"/>
              <a:t>LastName</a:t>
            </a:r>
            <a:r>
              <a:rPr lang="en-US" dirty="0"/>
              <a:t>, </a:t>
            </a:r>
            <a:r>
              <a:rPr lang="en-US" dirty="0" err="1"/>
              <a:t>jobtitle</a:t>
            </a:r>
            <a:endParaRPr lang="en-US" dirty="0"/>
          </a:p>
          <a:p>
            <a:pPr marL="0" indent="0">
              <a:buNone/>
            </a:pPr>
            <a:r>
              <a:rPr lang="en-US" dirty="0"/>
              <a:t>	FROM Employees </a:t>
            </a:r>
          </a:p>
          <a:p>
            <a:pPr marL="0" indent="0">
              <a:buNone/>
            </a:pPr>
            <a:r>
              <a:rPr lang="en-US" dirty="0"/>
              <a:t>	ORDER BY  </a:t>
            </a:r>
            <a:r>
              <a:rPr lang="en-US" dirty="0" err="1"/>
              <a:t>jobtitle</a:t>
            </a:r>
            <a:r>
              <a:rPr lang="en-US" dirty="0"/>
              <a:t> DESC);</a:t>
            </a:r>
          </a:p>
          <a:p>
            <a:pPr marL="0" indent="0">
              <a:buNone/>
            </a:pPr>
            <a:endParaRPr lang="en-US" dirty="0"/>
          </a:p>
          <a:p>
            <a:pPr marL="0" indent="0">
              <a:buNone/>
            </a:pPr>
            <a:endParaRPr lang="en-US" dirty="0"/>
          </a:p>
          <a:p>
            <a:endParaRPr lang="en-US" dirty="0"/>
          </a:p>
        </p:txBody>
      </p:sp>
    </p:spTree>
    <p:extLst>
      <p:ext uri="{BB962C8B-B14F-4D97-AF65-F5344CB8AC3E}">
        <p14:creationId xmlns:p14="http://schemas.microsoft.com/office/powerpoint/2010/main" val="15811532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C006F-6EB8-4969-919D-5BE04F1048C0}"/>
              </a:ext>
            </a:extLst>
          </p:cNvPr>
          <p:cNvSpPr>
            <a:spLocks noGrp="1"/>
          </p:cNvSpPr>
          <p:nvPr>
            <p:ph type="title"/>
          </p:nvPr>
        </p:nvSpPr>
        <p:spPr/>
        <p:txBody>
          <a:bodyPr/>
          <a:lstStyle/>
          <a:p>
            <a:r>
              <a:rPr lang="en-US" dirty="0" err="1"/>
              <a:t>Toán</a:t>
            </a:r>
            <a:r>
              <a:rPr lang="en-US" dirty="0"/>
              <a:t> </a:t>
            </a:r>
            <a:r>
              <a:rPr lang="en-US" dirty="0" err="1"/>
              <a:t>tử</a:t>
            </a:r>
            <a:r>
              <a:rPr lang="en-US" dirty="0"/>
              <a:t> JOIN</a:t>
            </a:r>
          </a:p>
        </p:txBody>
      </p:sp>
      <p:sp>
        <p:nvSpPr>
          <p:cNvPr id="3" name="Content Placeholder 2">
            <a:extLst>
              <a:ext uri="{FF2B5EF4-FFF2-40B4-BE49-F238E27FC236}">
                <a16:creationId xmlns:a16="http://schemas.microsoft.com/office/drawing/2014/main" id="{507D9CC7-FDEC-41DE-8FCD-59B8FAD20EC6}"/>
              </a:ext>
            </a:extLst>
          </p:cNvPr>
          <p:cNvSpPr>
            <a:spLocks noGrp="1"/>
          </p:cNvSpPr>
          <p:nvPr>
            <p:ph idx="1"/>
          </p:nvPr>
        </p:nvSpPr>
        <p:spPr>
          <a:xfrm>
            <a:off x="634393" y="1619075"/>
            <a:ext cx="8596668" cy="4422287"/>
          </a:xfrm>
        </p:spPr>
        <p:txBody>
          <a:bodyPr/>
          <a:lstStyle/>
          <a:p>
            <a:r>
              <a:rPr lang="en-US" dirty="0" err="1"/>
              <a:t>Kết</a:t>
            </a:r>
            <a:r>
              <a:rPr lang="en-US" dirty="0"/>
              <a:t> </a:t>
            </a:r>
            <a:r>
              <a:rPr lang="en-US" dirty="0" err="1"/>
              <a:t>hợp</a:t>
            </a:r>
            <a:r>
              <a:rPr lang="en-US" dirty="0"/>
              <a:t> 2 </a:t>
            </a:r>
            <a:r>
              <a:rPr lang="en-US" dirty="0" err="1"/>
              <a:t>hai</a:t>
            </a:r>
            <a:r>
              <a:rPr lang="en-US" dirty="0"/>
              <a:t> </a:t>
            </a:r>
            <a:r>
              <a:rPr lang="en-US" dirty="0" err="1"/>
              <a:t>nhiều</a:t>
            </a:r>
            <a:r>
              <a:rPr lang="en-US" dirty="0"/>
              <a:t> </a:t>
            </a:r>
            <a:r>
              <a:rPr lang="en-US" dirty="0" err="1"/>
              <a:t>bảng</a:t>
            </a:r>
            <a:r>
              <a:rPr lang="en-US" dirty="0"/>
              <a:t> </a:t>
            </a:r>
            <a:r>
              <a:rPr lang="en-US" dirty="0" err="1"/>
              <a:t>dựa</a:t>
            </a:r>
            <a:r>
              <a:rPr lang="en-US" dirty="0"/>
              <a:t> </a:t>
            </a:r>
            <a:r>
              <a:rPr lang="en-US" dirty="0" err="1"/>
              <a:t>vào</a:t>
            </a:r>
            <a:r>
              <a:rPr lang="en-US" dirty="0"/>
              <a:t> </a:t>
            </a:r>
            <a:r>
              <a:rPr lang="en-US" dirty="0" err="1"/>
              <a:t>các</a:t>
            </a:r>
            <a:r>
              <a:rPr lang="en-US" dirty="0"/>
              <a:t> </a:t>
            </a:r>
            <a:r>
              <a:rPr lang="en-US" dirty="0" err="1"/>
              <a:t>thuộc</a:t>
            </a:r>
            <a:r>
              <a:rPr lang="en-US" dirty="0"/>
              <a:t> </a:t>
            </a:r>
            <a:r>
              <a:rPr lang="en-US" dirty="0" err="1"/>
              <a:t>tính</a:t>
            </a:r>
            <a:endParaRPr lang="en-US" dirty="0"/>
          </a:p>
          <a:p>
            <a:r>
              <a:rPr lang="en-US" dirty="0"/>
              <a:t>Left Join: </a:t>
            </a:r>
          </a:p>
          <a:p>
            <a:pPr lvl="1"/>
            <a:r>
              <a:rPr lang="en-US" dirty="0" err="1"/>
              <a:t>Kết</a:t>
            </a:r>
            <a:r>
              <a:rPr lang="en-US" dirty="0"/>
              <a:t> </a:t>
            </a:r>
            <a:r>
              <a:rPr lang="en-US" dirty="0" err="1"/>
              <a:t>quả</a:t>
            </a:r>
            <a:r>
              <a:rPr lang="en-US" dirty="0"/>
              <a:t> </a:t>
            </a:r>
            <a:r>
              <a:rPr lang="en-US" dirty="0" err="1"/>
              <a:t>trả</a:t>
            </a:r>
            <a:r>
              <a:rPr lang="en-US" dirty="0"/>
              <a:t> </a:t>
            </a:r>
            <a:r>
              <a:rPr lang="en-US" dirty="0" err="1"/>
              <a:t>về</a:t>
            </a:r>
            <a:r>
              <a:rPr lang="en-US" dirty="0"/>
              <a:t>: 1,2,3,4,5,6,7,8</a:t>
            </a:r>
          </a:p>
          <a:p>
            <a:r>
              <a:rPr lang="en-US" dirty="0"/>
              <a:t>Right join:</a:t>
            </a:r>
          </a:p>
          <a:p>
            <a:pPr lvl="1"/>
            <a:r>
              <a:rPr lang="en-US" dirty="0" err="1"/>
              <a:t>Kết</a:t>
            </a:r>
            <a:r>
              <a:rPr lang="en-US" dirty="0"/>
              <a:t> </a:t>
            </a:r>
            <a:r>
              <a:rPr lang="en-US" dirty="0" err="1"/>
              <a:t>quả</a:t>
            </a:r>
            <a:r>
              <a:rPr lang="en-US" dirty="0"/>
              <a:t>:   1,23,4,9,10,11</a:t>
            </a:r>
          </a:p>
          <a:p>
            <a:r>
              <a:rPr lang="en-US" dirty="0"/>
              <a:t>Full Join:</a:t>
            </a:r>
          </a:p>
          <a:p>
            <a:pPr lvl="1"/>
            <a:r>
              <a:rPr lang="en-US" dirty="0" err="1"/>
              <a:t>Kết</a:t>
            </a:r>
            <a:r>
              <a:rPr lang="en-US" dirty="0"/>
              <a:t> </a:t>
            </a:r>
            <a:r>
              <a:rPr lang="en-US" dirty="0" err="1"/>
              <a:t>quả</a:t>
            </a:r>
            <a:r>
              <a:rPr lang="en-US" dirty="0"/>
              <a:t>: 1,2,3,4,5,6,7,8,9,10,11</a:t>
            </a:r>
          </a:p>
          <a:p>
            <a:endParaRPr lang="en-US" dirty="0"/>
          </a:p>
          <a:p>
            <a:r>
              <a:rPr lang="en-US" dirty="0"/>
              <a:t>Inner Join:</a:t>
            </a:r>
          </a:p>
          <a:p>
            <a:pPr lvl="1"/>
            <a:r>
              <a:rPr lang="en-US" dirty="0" err="1"/>
              <a:t>Kết</a:t>
            </a:r>
            <a:r>
              <a:rPr lang="en-US" dirty="0"/>
              <a:t> </a:t>
            </a:r>
            <a:r>
              <a:rPr lang="en-US" dirty="0" err="1"/>
              <a:t>quả</a:t>
            </a:r>
            <a:r>
              <a:rPr lang="en-US" dirty="0"/>
              <a:t>: 1,2,3,4</a:t>
            </a:r>
          </a:p>
          <a:p>
            <a:endParaRPr lang="en-US" dirty="0"/>
          </a:p>
          <a:p>
            <a:endParaRPr lang="en-US" dirty="0"/>
          </a:p>
          <a:p>
            <a:pPr marL="0" indent="0">
              <a:buNone/>
            </a:pPr>
            <a:endParaRPr lang="en-US" dirty="0"/>
          </a:p>
        </p:txBody>
      </p:sp>
      <p:pic>
        <p:nvPicPr>
          <p:cNvPr id="8" name="Picture 7">
            <a:extLst>
              <a:ext uri="{FF2B5EF4-FFF2-40B4-BE49-F238E27FC236}">
                <a16:creationId xmlns:a16="http://schemas.microsoft.com/office/drawing/2014/main" id="{DBD1E5E5-C9FC-4732-9314-60051AEB2127}"/>
              </a:ext>
            </a:extLst>
          </p:cNvPr>
          <p:cNvPicPr>
            <a:picLocks noChangeAspect="1"/>
          </p:cNvPicPr>
          <p:nvPr/>
        </p:nvPicPr>
        <p:blipFill>
          <a:blip r:embed="rId2"/>
          <a:stretch>
            <a:fillRect/>
          </a:stretch>
        </p:blipFill>
        <p:spPr>
          <a:xfrm>
            <a:off x="6387779" y="714043"/>
            <a:ext cx="3829050" cy="2181225"/>
          </a:xfrm>
          <a:prstGeom prst="rect">
            <a:avLst/>
          </a:prstGeom>
        </p:spPr>
      </p:pic>
      <p:cxnSp>
        <p:nvCxnSpPr>
          <p:cNvPr id="7" name="Straight Connector 6">
            <a:extLst>
              <a:ext uri="{FF2B5EF4-FFF2-40B4-BE49-F238E27FC236}">
                <a16:creationId xmlns:a16="http://schemas.microsoft.com/office/drawing/2014/main" id="{9CD0D049-87AC-43D5-AA6E-82F65AEB9327}"/>
              </a:ext>
            </a:extLst>
          </p:cNvPr>
          <p:cNvCxnSpPr/>
          <p:nvPr/>
        </p:nvCxnSpPr>
        <p:spPr>
          <a:xfrm>
            <a:off x="10377182" y="2114026"/>
            <a:ext cx="914400" cy="9144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38451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A5ABF-115D-4053-9E57-6D166A3CDBF2}"/>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93DCBB44-8D68-4A8B-8DFE-A1CF255E5382}"/>
              </a:ext>
            </a:extLst>
          </p:cNvPr>
          <p:cNvSpPr>
            <a:spLocks noGrp="1"/>
          </p:cNvSpPr>
          <p:nvPr>
            <p:ph idx="1"/>
          </p:nvPr>
        </p:nvSpPr>
        <p:spPr/>
        <p:txBody>
          <a:bodyPr/>
          <a:lstStyle/>
          <a:p>
            <a:endParaRPr lang="en-US" dirty="0"/>
          </a:p>
        </p:txBody>
      </p:sp>
      <p:graphicFrame>
        <p:nvGraphicFramePr>
          <p:cNvPr id="4" name="Table 3">
            <a:extLst>
              <a:ext uri="{FF2B5EF4-FFF2-40B4-BE49-F238E27FC236}">
                <a16:creationId xmlns:a16="http://schemas.microsoft.com/office/drawing/2014/main" id="{7C581CCB-5BED-44D3-A9B5-539B94D75476}"/>
              </a:ext>
            </a:extLst>
          </p:cNvPr>
          <p:cNvGraphicFramePr>
            <a:graphicFrameLocks noGrp="1"/>
          </p:cNvGraphicFramePr>
          <p:nvPr>
            <p:extLst>
              <p:ext uri="{D42A27DB-BD31-4B8C-83A1-F6EECF244321}">
                <p14:modId xmlns:p14="http://schemas.microsoft.com/office/powerpoint/2010/main" val="2415485966"/>
              </p:ext>
            </p:extLst>
          </p:nvPr>
        </p:nvGraphicFramePr>
        <p:xfrm>
          <a:off x="6893414" y="1154906"/>
          <a:ext cx="2119424" cy="4339284"/>
        </p:xfrm>
        <a:graphic>
          <a:graphicData uri="http://schemas.openxmlformats.org/drawingml/2006/table">
            <a:tbl>
              <a:tblPr firstRow="1" bandRow="1">
                <a:tableStyleId>{5C22544A-7EE6-4342-B048-85BDC9FD1C3A}</a:tableStyleId>
              </a:tblPr>
              <a:tblGrid>
                <a:gridCol w="693476">
                  <a:extLst>
                    <a:ext uri="{9D8B030D-6E8A-4147-A177-3AD203B41FA5}">
                      <a16:colId xmlns:a16="http://schemas.microsoft.com/office/drawing/2014/main" val="2724806108"/>
                    </a:ext>
                  </a:extLst>
                </a:gridCol>
                <a:gridCol w="338054">
                  <a:extLst>
                    <a:ext uri="{9D8B030D-6E8A-4147-A177-3AD203B41FA5}">
                      <a16:colId xmlns:a16="http://schemas.microsoft.com/office/drawing/2014/main" val="3904363519"/>
                    </a:ext>
                  </a:extLst>
                </a:gridCol>
                <a:gridCol w="543947">
                  <a:extLst>
                    <a:ext uri="{9D8B030D-6E8A-4147-A177-3AD203B41FA5}">
                      <a16:colId xmlns:a16="http://schemas.microsoft.com/office/drawing/2014/main" val="1279212463"/>
                    </a:ext>
                  </a:extLst>
                </a:gridCol>
                <a:gridCol w="543947">
                  <a:extLst>
                    <a:ext uri="{9D8B030D-6E8A-4147-A177-3AD203B41FA5}">
                      <a16:colId xmlns:a16="http://schemas.microsoft.com/office/drawing/2014/main" val="3327447910"/>
                    </a:ext>
                  </a:extLst>
                </a:gridCol>
              </a:tblGrid>
              <a:tr h="469782">
                <a:tc>
                  <a:txBody>
                    <a:bodyPr/>
                    <a:lstStyle/>
                    <a:p>
                      <a:r>
                        <a:rPr lang="en-US" sz="1400" dirty="0"/>
                        <a:t>index</a:t>
                      </a:r>
                      <a:endParaRPr lang="en-US" dirty="0"/>
                    </a:p>
                  </a:txBody>
                  <a:tcPr/>
                </a:tc>
                <a:tc>
                  <a:txBody>
                    <a:bodyPr/>
                    <a:lstStyle/>
                    <a:p>
                      <a:r>
                        <a:rPr lang="en-US" dirty="0"/>
                        <a:t>B</a:t>
                      </a:r>
                    </a:p>
                  </a:txBody>
                  <a:tcPr/>
                </a:tc>
                <a:tc>
                  <a:txBody>
                    <a:bodyPr/>
                    <a:lstStyle/>
                    <a:p>
                      <a:r>
                        <a:rPr lang="en-US" dirty="0"/>
                        <a:t>C</a:t>
                      </a:r>
                    </a:p>
                  </a:txBody>
                  <a:tcPr/>
                </a:tc>
                <a:tc>
                  <a:txBody>
                    <a:bodyPr/>
                    <a:lstStyle/>
                    <a:p>
                      <a:r>
                        <a:rPr lang="en-US" dirty="0"/>
                        <a:t>D</a:t>
                      </a:r>
                    </a:p>
                  </a:txBody>
                  <a:tcPr/>
                </a:tc>
                <a:extLst>
                  <a:ext uri="{0D108BD9-81ED-4DB2-BD59-A6C34878D82A}">
                    <a16:rowId xmlns:a16="http://schemas.microsoft.com/office/drawing/2014/main" val="3343489409"/>
                  </a:ext>
                </a:extLst>
              </a:tr>
              <a:tr h="552786">
                <a:tc>
                  <a:txBody>
                    <a:bodyPr/>
                    <a:lstStyle/>
                    <a:p>
                      <a:r>
                        <a:rPr lang="en-US" dirty="0"/>
                        <a:t>1</a:t>
                      </a:r>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532409805"/>
                  </a:ext>
                </a:extLst>
              </a:tr>
              <a:tr h="552786">
                <a:tc>
                  <a:txBody>
                    <a:bodyPr/>
                    <a:lstStyle/>
                    <a:p>
                      <a:r>
                        <a:rPr lang="en-US" dirty="0"/>
                        <a:t>2</a:t>
                      </a:r>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927225677"/>
                  </a:ext>
                </a:extLst>
              </a:tr>
              <a:tr h="552786">
                <a:tc>
                  <a:txBody>
                    <a:bodyPr/>
                    <a:lstStyle/>
                    <a:p>
                      <a:r>
                        <a:rPr lang="en-US" dirty="0"/>
                        <a:t>3</a:t>
                      </a:r>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664678265"/>
                  </a:ext>
                </a:extLst>
              </a:tr>
              <a:tr h="552786">
                <a:tc>
                  <a:txBody>
                    <a:bodyPr/>
                    <a:lstStyle/>
                    <a:p>
                      <a:r>
                        <a:rPr lang="en-US" dirty="0"/>
                        <a:t>4</a:t>
                      </a:r>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3822654"/>
                  </a:ext>
                </a:extLst>
              </a:tr>
              <a:tr h="552786">
                <a:tc>
                  <a:txBody>
                    <a:bodyPr/>
                    <a:lstStyle/>
                    <a:p>
                      <a:r>
                        <a:rPr lang="en-US" dirty="0"/>
                        <a:t>9</a:t>
                      </a:r>
                    </a:p>
                  </a:txBody>
                  <a:tcPr/>
                </a:tc>
                <a:tc>
                  <a:txBody>
                    <a:bodyPr/>
                    <a:lstStyle/>
                    <a:p>
                      <a:endParaRPr lang="en-US" dirty="0"/>
                    </a:p>
                  </a:txBody>
                  <a:tcPr>
                    <a:solidFill>
                      <a:srgbClr val="00B0F0"/>
                    </a:solidFill>
                  </a:tcPr>
                </a:tc>
                <a:tc>
                  <a:txBody>
                    <a:bodyPr/>
                    <a:lstStyle/>
                    <a:p>
                      <a:endParaRPr lang="en-US" dirty="0"/>
                    </a:p>
                  </a:txBody>
                  <a:tcPr>
                    <a:solidFill>
                      <a:srgbClr val="00B0F0"/>
                    </a:solidFill>
                  </a:tcPr>
                </a:tc>
                <a:tc>
                  <a:txBody>
                    <a:bodyPr/>
                    <a:lstStyle/>
                    <a:p>
                      <a:endParaRPr lang="en-US" dirty="0"/>
                    </a:p>
                  </a:txBody>
                  <a:tcPr>
                    <a:solidFill>
                      <a:srgbClr val="00B0F0"/>
                    </a:solidFill>
                  </a:tcPr>
                </a:tc>
                <a:extLst>
                  <a:ext uri="{0D108BD9-81ED-4DB2-BD59-A6C34878D82A}">
                    <a16:rowId xmlns:a16="http://schemas.microsoft.com/office/drawing/2014/main" val="2734187761"/>
                  </a:ext>
                </a:extLst>
              </a:tr>
              <a:tr h="552786">
                <a:tc>
                  <a:txBody>
                    <a:bodyPr/>
                    <a:lstStyle/>
                    <a:p>
                      <a:r>
                        <a:rPr lang="en-US" dirty="0"/>
                        <a:t>10</a:t>
                      </a:r>
                    </a:p>
                  </a:txBody>
                  <a:tcPr/>
                </a:tc>
                <a:tc>
                  <a:txBody>
                    <a:bodyPr/>
                    <a:lstStyle/>
                    <a:p>
                      <a:endParaRPr lang="en-US" dirty="0"/>
                    </a:p>
                  </a:txBody>
                  <a:tcPr>
                    <a:solidFill>
                      <a:srgbClr val="00B0F0"/>
                    </a:solidFill>
                  </a:tcPr>
                </a:tc>
                <a:tc>
                  <a:txBody>
                    <a:bodyPr/>
                    <a:lstStyle/>
                    <a:p>
                      <a:endParaRPr lang="en-US" dirty="0"/>
                    </a:p>
                  </a:txBody>
                  <a:tcPr>
                    <a:solidFill>
                      <a:srgbClr val="00B0F0"/>
                    </a:solidFill>
                  </a:tcPr>
                </a:tc>
                <a:tc>
                  <a:txBody>
                    <a:bodyPr/>
                    <a:lstStyle/>
                    <a:p>
                      <a:endParaRPr lang="en-US" dirty="0"/>
                    </a:p>
                  </a:txBody>
                  <a:tcPr>
                    <a:solidFill>
                      <a:srgbClr val="00B0F0"/>
                    </a:solidFill>
                  </a:tcPr>
                </a:tc>
                <a:extLst>
                  <a:ext uri="{0D108BD9-81ED-4DB2-BD59-A6C34878D82A}">
                    <a16:rowId xmlns:a16="http://schemas.microsoft.com/office/drawing/2014/main" val="3474672238"/>
                  </a:ext>
                </a:extLst>
              </a:tr>
              <a:tr h="552786">
                <a:tc>
                  <a:txBody>
                    <a:bodyPr/>
                    <a:lstStyle/>
                    <a:p>
                      <a:r>
                        <a:rPr lang="en-US" dirty="0"/>
                        <a:t>11</a:t>
                      </a:r>
                    </a:p>
                  </a:txBody>
                  <a:tcPr/>
                </a:tc>
                <a:tc>
                  <a:txBody>
                    <a:bodyPr/>
                    <a:lstStyle/>
                    <a:p>
                      <a:endParaRPr lang="en-US" dirty="0"/>
                    </a:p>
                  </a:txBody>
                  <a:tcPr>
                    <a:solidFill>
                      <a:srgbClr val="00B0F0"/>
                    </a:solidFill>
                  </a:tcPr>
                </a:tc>
                <a:tc>
                  <a:txBody>
                    <a:bodyPr/>
                    <a:lstStyle/>
                    <a:p>
                      <a:endParaRPr lang="en-US" dirty="0"/>
                    </a:p>
                  </a:txBody>
                  <a:tcPr>
                    <a:solidFill>
                      <a:srgbClr val="00B0F0"/>
                    </a:solidFill>
                  </a:tcPr>
                </a:tc>
                <a:tc>
                  <a:txBody>
                    <a:bodyPr/>
                    <a:lstStyle/>
                    <a:p>
                      <a:endParaRPr lang="en-US" dirty="0"/>
                    </a:p>
                  </a:txBody>
                  <a:tcPr>
                    <a:solidFill>
                      <a:srgbClr val="00B0F0"/>
                    </a:solidFill>
                  </a:tcPr>
                </a:tc>
                <a:extLst>
                  <a:ext uri="{0D108BD9-81ED-4DB2-BD59-A6C34878D82A}">
                    <a16:rowId xmlns:a16="http://schemas.microsoft.com/office/drawing/2014/main" val="3842953416"/>
                  </a:ext>
                </a:extLst>
              </a:tr>
            </a:tbl>
          </a:graphicData>
        </a:graphic>
      </p:graphicFrame>
      <p:graphicFrame>
        <p:nvGraphicFramePr>
          <p:cNvPr id="5" name="Table 4">
            <a:extLst>
              <a:ext uri="{FF2B5EF4-FFF2-40B4-BE49-F238E27FC236}">
                <a16:creationId xmlns:a16="http://schemas.microsoft.com/office/drawing/2014/main" id="{70E382D5-6511-4141-AB97-E1FC9B7A692F}"/>
              </a:ext>
            </a:extLst>
          </p:cNvPr>
          <p:cNvGraphicFramePr>
            <a:graphicFrameLocks noGrp="1"/>
          </p:cNvGraphicFramePr>
          <p:nvPr>
            <p:extLst>
              <p:ext uri="{D42A27DB-BD31-4B8C-83A1-F6EECF244321}">
                <p14:modId xmlns:p14="http://schemas.microsoft.com/office/powerpoint/2010/main" val="3869890223"/>
              </p:ext>
            </p:extLst>
          </p:nvPr>
        </p:nvGraphicFramePr>
        <p:xfrm>
          <a:off x="1658844" y="719666"/>
          <a:ext cx="2611154" cy="5986908"/>
        </p:xfrm>
        <a:graphic>
          <a:graphicData uri="http://schemas.openxmlformats.org/drawingml/2006/table">
            <a:tbl>
              <a:tblPr firstRow="1" bandRow="1">
                <a:tableStyleId>{5C22544A-7EE6-4342-B048-85BDC9FD1C3A}</a:tableStyleId>
              </a:tblPr>
              <a:tblGrid>
                <a:gridCol w="619711">
                  <a:extLst>
                    <a:ext uri="{9D8B030D-6E8A-4147-A177-3AD203B41FA5}">
                      <a16:colId xmlns:a16="http://schemas.microsoft.com/office/drawing/2014/main" val="2602895088"/>
                    </a:ext>
                  </a:extLst>
                </a:gridCol>
                <a:gridCol w="362968">
                  <a:extLst>
                    <a:ext uri="{9D8B030D-6E8A-4147-A177-3AD203B41FA5}">
                      <a16:colId xmlns:a16="http://schemas.microsoft.com/office/drawing/2014/main" val="3072353049"/>
                    </a:ext>
                  </a:extLst>
                </a:gridCol>
                <a:gridCol w="680517">
                  <a:extLst>
                    <a:ext uri="{9D8B030D-6E8A-4147-A177-3AD203B41FA5}">
                      <a16:colId xmlns:a16="http://schemas.microsoft.com/office/drawing/2014/main" val="1382316476"/>
                    </a:ext>
                  </a:extLst>
                </a:gridCol>
                <a:gridCol w="405133">
                  <a:extLst>
                    <a:ext uri="{9D8B030D-6E8A-4147-A177-3AD203B41FA5}">
                      <a16:colId xmlns:a16="http://schemas.microsoft.com/office/drawing/2014/main" val="1446056001"/>
                    </a:ext>
                  </a:extLst>
                </a:gridCol>
                <a:gridCol w="542825">
                  <a:extLst>
                    <a:ext uri="{9D8B030D-6E8A-4147-A177-3AD203B41FA5}">
                      <a16:colId xmlns:a16="http://schemas.microsoft.com/office/drawing/2014/main" val="4255386391"/>
                    </a:ext>
                  </a:extLst>
                </a:gridCol>
              </a:tblGrid>
              <a:tr h="665212">
                <a:tc>
                  <a:txBody>
                    <a:bodyPr/>
                    <a:lstStyle/>
                    <a:p>
                      <a:r>
                        <a:rPr lang="en-US" sz="1600" dirty="0"/>
                        <a:t>index</a:t>
                      </a:r>
                    </a:p>
                  </a:txBody>
                  <a:tcPr/>
                </a:tc>
                <a:tc>
                  <a:txBody>
                    <a:bodyPr/>
                    <a:lstStyle/>
                    <a:p>
                      <a:r>
                        <a:rPr lang="en-US" sz="1600" dirty="0"/>
                        <a:t>A</a:t>
                      </a:r>
                    </a:p>
                  </a:txBody>
                  <a:tcPr/>
                </a:tc>
                <a:tc>
                  <a:txBody>
                    <a:bodyPr/>
                    <a:lstStyle/>
                    <a:p>
                      <a:r>
                        <a:rPr lang="en-US" sz="1600" dirty="0"/>
                        <a:t>B</a:t>
                      </a:r>
                    </a:p>
                  </a:txBody>
                  <a:tcPr/>
                </a:tc>
                <a:tc>
                  <a:txBody>
                    <a:bodyPr/>
                    <a:lstStyle/>
                    <a:p>
                      <a:r>
                        <a:rPr lang="en-US" sz="1600" dirty="0"/>
                        <a:t>C</a:t>
                      </a:r>
                    </a:p>
                  </a:txBody>
                  <a:tcPr/>
                </a:tc>
                <a:tc>
                  <a:txBody>
                    <a:bodyPr/>
                    <a:lstStyle/>
                    <a:p>
                      <a:r>
                        <a:rPr lang="en-US" sz="1600" dirty="0"/>
                        <a:t>D</a:t>
                      </a:r>
                    </a:p>
                  </a:txBody>
                  <a:tcPr/>
                </a:tc>
                <a:extLst>
                  <a:ext uri="{0D108BD9-81ED-4DB2-BD59-A6C34878D82A}">
                    <a16:rowId xmlns:a16="http://schemas.microsoft.com/office/drawing/2014/main" val="3421676682"/>
                  </a:ext>
                </a:extLst>
              </a:tr>
              <a:tr h="665212">
                <a:tc>
                  <a:txBody>
                    <a:bodyPr/>
                    <a:lstStyle/>
                    <a:p>
                      <a:r>
                        <a:rPr lang="en-US" sz="1600" dirty="0"/>
                        <a:t>1</a:t>
                      </a:r>
                    </a:p>
                  </a:txBody>
                  <a:tcPr/>
                </a:tc>
                <a:tc>
                  <a:txBody>
                    <a:bodyPr/>
                    <a:lstStyle/>
                    <a:p>
                      <a:endParaRPr lang="en-US" sz="1600" dirty="0"/>
                    </a:p>
                  </a:txBody>
                  <a:tcPr>
                    <a:solidFill>
                      <a:srgbClr val="FFC000"/>
                    </a:solidFill>
                  </a:tcPr>
                </a:tc>
                <a:tc>
                  <a:txBody>
                    <a:bodyPr/>
                    <a:lstStyle/>
                    <a:p>
                      <a:endParaRPr lang="en-US" sz="1600" dirty="0"/>
                    </a:p>
                  </a:txBody>
                  <a:tcPr/>
                </a:tc>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2657335329"/>
                  </a:ext>
                </a:extLst>
              </a:tr>
              <a:tr h="665212">
                <a:tc>
                  <a:txBody>
                    <a:bodyPr/>
                    <a:lstStyle/>
                    <a:p>
                      <a:r>
                        <a:rPr lang="en-US" sz="1600" dirty="0"/>
                        <a:t>2</a:t>
                      </a:r>
                    </a:p>
                  </a:txBody>
                  <a:tcPr/>
                </a:tc>
                <a:tc>
                  <a:txBody>
                    <a:bodyPr/>
                    <a:lstStyle/>
                    <a:p>
                      <a:endParaRPr lang="en-US" sz="1600" dirty="0"/>
                    </a:p>
                  </a:txBody>
                  <a:tcPr>
                    <a:solidFill>
                      <a:srgbClr val="FFC000"/>
                    </a:solidFill>
                  </a:tcPr>
                </a:tc>
                <a:tc>
                  <a:txBody>
                    <a:bodyPr/>
                    <a:lstStyle/>
                    <a:p>
                      <a:endParaRPr lang="en-US" sz="1600" dirty="0"/>
                    </a:p>
                  </a:txBody>
                  <a:tcPr/>
                </a:tc>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818334415"/>
                  </a:ext>
                </a:extLst>
              </a:tr>
              <a:tr h="665212">
                <a:tc>
                  <a:txBody>
                    <a:bodyPr/>
                    <a:lstStyle/>
                    <a:p>
                      <a:r>
                        <a:rPr lang="en-US" sz="1600" dirty="0"/>
                        <a:t>3</a:t>
                      </a:r>
                    </a:p>
                  </a:txBody>
                  <a:tcPr/>
                </a:tc>
                <a:tc>
                  <a:txBody>
                    <a:bodyPr/>
                    <a:lstStyle/>
                    <a:p>
                      <a:endParaRPr lang="en-US" sz="1600" dirty="0"/>
                    </a:p>
                  </a:txBody>
                  <a:tcPr>
                    <a:solidFill>
                      <a:srgbClr val="FFC000"/>
                    </a:solidFill>
                  </a:tcPr>
                </a:tc>
                <a:tc>
                  <a:txBody>
                    <a:bodyPr/>
                    <a:lstStyle/>
                    <a:p>
                      <a:endParaRPr lang="en-US" sz="1600" dirty="0"/>
                    </a:p>
                  </a:txBody>
                  <a:tcPr/>
                </a:tc>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1749196828"/>
                  </a:ext>
                </a:extLst>
              </a:tr>
              <a:tr h="665212">
                <a:tc>
                  <a:txBody>
                    <a:bodyPr/>
                    <a:lstStyle/>
                    <a:p>
                      <a:r>
                        <a:rPr lang="en-US" sz="1600" dirty="0"/>
                        <a:t>4</a:t>
                      </a:r>
                    </a:p>
                  </a:txBody>
                  <a:tcPr/>
                </a:tc>
                <a:tc>
                  <a:txBody>
                    <a:bodyPr/>
                    <a:lstStyle/>
                    <a:p>
                      <a:endParaRPr lang="en-US" sz="1600" dirty="0"/>
                    </a:p>
                  </a:txBody>
                  <a:tcPr>
                    <a:solidFill>
                      <a:srgbClr val="FFC000"/>
                    </a:solidFill>
                  </a:tcPr>
                </a:tc>
                <a:tc>
                  <a:txBody>
                    <a:bodyPr/>
                    <a:lstStyle/>
                    <a:p>
                      <a:endParaRPr lang="en-US" sz="1600" dirty="0"/>
                    </a:p>
                  </a:txBody>
                  <a:tcPr>
                    <a:lnB w="12700" cmpd="sng">
                      <a:noFill/>
                    </a:lnB>
                  </a:tcPr>
                </a:tc>
                <a:tc>
                  <a:txBody>
                    <a:bodyPr/>
                    <a:lstStyle/>
                    <a:p>
                      <a:endParaRPr lang="en-US" sz="1600" dirty="0"/>
                    </a:p>
                  </a:txBody>
                  <a:tcPr>
                    <a:lnB w="12700" cmpd="sng">
                      <a:noFill/>
                    </a:lnB>
                  </a:tcPr>
                </a:tc>
                <a:tc>
                  <a:txBody>
                    <a:bodyPr/>
                    <a:lstStyle/>
                    <a:p>
                      <a:endParaRPr lang="en-US" sz="1600" dirty="0"/>
                    </a:p>
                  </a:txBody>
                  <a:tcPr>
                    <a:lnB w="12700" cmpd="sng">
                      <a:noFill/>
                    </a:lnB>
                  </a:tcPr>
                </a:tc>
                <a:extLst>
                  <a:ext uri="{0D108BD9-81ED-4DB2-BD59-A6C34878D82A}">
                    <a16:rowId xmlns:a16="http://schemas.microsoft.com/office/drawing/2014/main" val="2330910062"/>
                  </a:ext>
                </a:extLst>
              </a:tr>
              <a:tr h="665212">
                <a:tc>
                  <a:txBody>
                    <a:bodyPr/>
                    <a:lstStyle/>
                    <a:p>
                      <a:r>
                        <a:rPr lang="en-US" sz="1600" dirty="0"/>
                        <a:t>5</a:t>
                      </a:r>
                    </a:p>
                  </a:txBody>
                  <a:tcPr/>
                </a:tc>
                <a:tc>
                  <a:txBody>
                    <a:bodyPr/>
                    <a:lstStyle/>
                    <a:p>
                      <a:endParaRPr lang="en-US" sz="1600" dirty="0"/>
                    </a:p>
                  </a:txBody>
                  <a:tcPr>
                    <a:lnR w="12700" cmpd="sng">
                      <a:noFill/>
                    </a:lnR>
                    <a:solidFill>
                      <a:srgbClr val="FFC000"/>
                    </a:solidFill>
                  </a:tcPr>
                </a:tc>
                <a:tc>
                  <a:txBody>
                    <a:bodyPr/>
                    <a:lstStyle/>
                    <a:p>
                      <a:r>
                        <a:rPr lang="en-US" sz="1600" dirty="0"/>
                        <a:t>NULL</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B050"/>
                    </a:solidFill>
                  </a:tcPr>
                </a:tc>
                <a:tc>
                  <a:txBody>
                    <a:bodyPr/>
                    <a:lstStyle/>
                    <a:p>
                      <a:endParaRPr 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B050"/>
                    </a:solidFill>
                  </a:tcPr>
                </a:tc>
                <a:tc>
                  <a:txBody>
                    <a:bodyPr/>
                    <a:lstStyle/>
                    <a:p>
                      <a:endParaRPr 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1192810"/>
                  </a:ext>
                </a:extLst>
              </a:tr>
              <a:tr h="665212">
                <a:tc>
                  <a:txBody>
                    <a:bodyPr/>
                    <a:lstStyle/>
                    <a:p>
                      <a:r>
                        <a:rPr lang="en-US" sz="1600" dirty="0"/>
                        <a:t>6</a:t>
                      </a:r>
                    </a:p>
                  </a:txBody>
                  <a:tcPr/>
                </a:tc>
                <a:tc>
                  <a:txBody>
                    <a:bodyPr/>
                    <a:lstStyle/>
                    <a:p>
                      <a:endParaRPr lang="en-US" sz="1600" dirty="0"/>
                    </a:p>
                  </a:txBody>
                  <a:tcPr>
                    <a:lnR w="12700" cmpd="sng">
                      <a:noFill/>
                    </a:lnR>
                    <a:solidFill>
                      <a:srgbClr val="FFC000"/>
                    </a:solidFill>
                  </a:tcPr>
                </a:tc>
                <a:tc>
                  <a:txBody>
                    <a:bodyPr/>
                    <a:lstStyle/>
                    <a:p>
                      <a:endParaRPr lang="en-US" sz="16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B050"/>
                    </a:solidFill>
                  </a:tcPr>
                </a:tc>
                <a:tc>
                  <a:txBody>
                    <a:bodyPr/>
                    <a:lstStyle/>
                    <a:p>
                      <a:endParaRPr 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B050"/>
                    </a:solidFill>
                  </a:tcPr>
                </a:tc>
                <a:tc>
                  <a:txBody>
                    <a:bodyPr/>
                    <a:lstStyle/>
                    <a:p>
                      <a:endParaRPr 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4102165149"/>
                  </a:ext>
                </a:extLst>
              </a:tr>
              <a:tr h="665212">
                <a:tc>
                  <a:txBody>
                    <a:bodyPr/>
                    <a:lstStyle/>
                    <a:p>
                      <a:r>
                        <a:rPr lang="en-US" sz="1600" dirty="0"/>
                        <a:t>7</a:t>
                      </a:r>
                    </a:p>
                  </a:txBody>
                  <a:tcPr/>
                </a:tc>
                <a:tc>
                  <a:txBody>
                    <a:bodyPr/>
                    <a:lstStyle/>
                    <a:p>
                      <a:endParaRPr lang="en-US" sz="1600" dirty="0"/>
                    </a:p>
                  </a:txBody>
                  <a:tcPr>
                    <a:lnR w="12700" cmpd="sng">
                      <a:noFill/>
                    </a:lnR>
                    <a:solidFill>
                      <a:srgbClr val="FFC000"/>
                    </a:solidFill>
                  </a:tcPr>
                </a:tc>
                <a:tc>
                  <a:txBody>
                    <a:bodyPr/>
                    <a:lstStyle/>
                    <a:p>
                      <a:endParaRPr 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B050"/>
                    </a:solidFill>
                  </a:tcPr>
                </a:tc>
                <a:tc>
                  <a:txBody>
                    <a:bodyPr/>
                    <a:lstStyle/>
                    <a:p>
                      <a:endParaRPr 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B050"/>
                    </a:solidFill>
                  </a:tcPr>
                </a:tc>
                <a:tc>
                  <a:txBody>
                    <a:bodyPr/>
                    <a:lstStyle/>
                    <a:p>
                      <a:endParaRPr 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172796007"/>
                  </a:ext>
                </a:extLst>
              </a:tr>
              <a:tr h="665212">
                <a:tc>
                  <a:txBody>
                    <a:bodyPr/>
                    <a:lstStyle/>
                    <a:p>
                      <a:r>
                        <a:rPr lang="en-US" sz="1600" dirty="0"/>
                        <a:t>8</a:t>
                      </a:r>
                    </a:p>
                  </a:txBody>
                  <a:tcPr/>
                </a:tc>
                <a:tc>
                  <a:txBody>
                    <a:bodyPr/>
                    <a:lstStyle/>
                    <a:p>
                      <a:endParaRPr lang="en-US" sz="1600" dirty="0"/>
                    </a:p>
                  </a:txBody>
                  <a:tcPr>
                    <a:lnR w="12700" cmpd="sng">
                      <a:noFill/>
                    </a:lnR>
                    <a:solidFill>
                      <a:srgbClr val="FFC000"/>
                    </a:solidFill>
                  </a:tcPr>
                </a:tc>
                <a:tc>
                  <a:txBody>
                    <a:bodyPr/>
                    <a:lstStyle/>
                    <a:p>
                      <a:endParaRPr 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B050"/>
                    </a:solidFill>
                  </a:tcPr>
                </a:tc>
                <a:tc>
                  <a:txBody>
                    <a:bodyPr/>
                    <a:lstStyle/>
                    <a:p>
                      <a:endParaRPr 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B050"/>
                    </a:solidFill>
                  </a:tcPr>
                </a:tc>
                <a:tc>
                  <a:txBody>
                    <a:bodyPr/>
                    <a:lstStyle/>
                    <a:p>
                      <a:endParaRPr 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3948122341"/>
                  </a:ext>
                </a:extLst>
              </a:tr>
            </a:tbl>
          </a:graphicData>
        </a:graphic>
      </p:graphicFrame>
      <p:graphicFrame>
        <p:nvGraphicFramePr>
          <p:cNvPr id="10" name="Table 9">
            <a:extLst>
              <a:ext uri="{FF2B5EF4-FFF2-40B4-BE49-F238E27FC236}">
                <a16:creationId xmlns:a16="http://schemas.microsoft.com/office/drawing/2014/main" id="{15F6261D-3477-4527-8616-8BB4875D60E9}"/>
              </a:ext>
            </a:extLst>
          </p:cNvPr>
          <p:cNvGraphicFramePr>
            <a:graphicFrameLocks noGrp="1"/>
          </p:cNvGraphicFramePr>
          <p:nvPr>
            <p:extLst>
              <p:ext uri="{D42A27DB-BD31-4B8C-83A1-F6EECF244321}">
                <p14:modId xmlns:p14="http://schemas.microsoft.com/office/powerpoint/2010/main" val="304575955"/>
              </p:ext>
            </p:extLst>
          </p:nvPr>
        </p:nvGraphicFramePr>
        <p:xfrm>
          <a:off x="9336778" y="344711"/>
          <a:ext cx="2714377" cy="5321696"/>
        </p:xfrm>
        <a:graphic>
          <a:graphicData uri="http://schemas.openxmlformats.org/drawingml/2006/table">
            <a:tbl>
              <a:tblPr firstRow="1" bandRow="1">
                <a:tableStyleId>{5C22544A-7EE6-4342-B048-85BDC9FD1C3A}</a:tableStyleId>
              </a:tblPr>
              <a:tblGrid>
                <a:gridCol w="506677">
                  <a:extLst>
                    <a:ext uri="{9D8B030D-6E8A-4147-A177-3AD203B41FA5}">
                      <a16:colId xmlns:a16="http://schemas.microsoft.com/office/drawing/2014/main" val="2602895088"/>
                    </a:ext>
                  </a:extLst>
                </a:gridCol>
                <a:gridCol w="514849">
                  <a:extLst>
                    <a:ext uri="{9D8B030D-6E8A-4147-A177-3AD203B41FA5}">
                      <a16:colId xmlns:a16="http://schemas.microsoft.com/office/drawing/2014/main" val="3072353049"/>
                    </a:ext>
                  </a:extLst>
                </a:gridCol>
                <a:gridCol w="707419">
                  <a:extLst>
                    <a:ext uri="{9D8B030D-6E8A-4147-A177-3AD203B41FA5}">
                      <a16:colId xmlns:a16="http://schemas.microsoft.com/office/drawing/2014/main" val="1382316476"/>
                    </a:ext>
                  </a:extLst>
                </a:gridCol>
                <a:gridCol w="421148">
                  <a:extLst>
                    <a:ext uri="{9D8B030D-6E8A-4147-A177-3AD203B41FA5}">
                      <a16:colId xmlns:a16="http://schemas.microsoft.com/office/drawing/2014/main" val="1446056001"/>
                    </a:ext>
                  </a:extLst>
                </a:gridCol>
                <a:gridCol w="564284">
                  <a:extLst>
                    <a:ext uri="{9D8B030D-6E8A-4147-A177-3AD203B41FA5}">
                      <a16:colId xmlns:a16="http://schemas.microsoft.com/office/drawing/2014/main" val="4255386391"/>
                    </a:ext>
                  </a:extLst>
                </a:gridCol>
              </a:tblGrid>
              <a:tr h="665212">
                <a:tc>
                  <a:txBody>
                    <a:bodyPr/>
                    <a:lstStyle/>
                    <a:p>
                      <a:r>
                        <a:rPr lang="en-US" sz="1200" dirty="0"/>
                        <a:t>index</a:t>
                      </a:r>
                    </a:p>
                  </a:txBody>
                  <a:tcPr/>
                </a:tc>
                <a:tc>
                  <a:txBody>
                    <a:bodyPr/>
                    <a:lstStyle/>
                    <a:p>
                      <a:r>
                        <a:rPr lang="en-US" sz="1600" dirty="0"/>
                        <a:t>A</a:t>
                      </a:r>
                    </a:p>
                  </a:txBody>
                  <a:tcPr/>
                </a:tc>
                <a:tc>
                  <a:txBody>
                    <a:bodyPr/>
                    <a:lstStyle/>
                    <a:p>
                      <a:r>
                        <a:rPr lang="en-US" sz="1600" dirty="0"/>
                        <a:t>B</a:t>
                      </a:r>
                    </a:p>
                  </a:txBody>
                  <a:tcPr/>
                </a:tc>
                <a:tc>
                  <a:txBody>
                    <a:bodyPr/>
                    <a:lstStyle/>
                    <a:p>
                      <a:r>
                        <a:rPr lang="en-US" sz="1600" dirty="0"/>
                        <a:t>C</a:t>
                      </a:r>
                    </a:p>
                  </a:txBody>
                  <a:tcPr/>
                </a:tc>
                <a:tc>
                  <a:txBody>
                    <a:bodyPr/>
                    <a:lstStyle/>
                    <a:p>
                      <a:r>
                        <a:rPr lang="en-US" sz="1600" dirty="0"/>
                        <a:t>D</a:t>
                      </a:r>
                    </a:p>
                  </a:txBody>
                  <a:tcPr/>
                </a:tc>
                <a:extLst>
                  <a:ext uri="{0D108BD9-81ED-4DB2-BD59-A6C34878D82A}">
                    <a16:rowId xmlns:a16="http://schemas.microsoft.com/office/drawing/2014/main" val="3421676682"/>
                  </a:ext>
                </a:extLst>
              </a:tr>
              <a:tr h="665212">
                <a:tc>
                  <a:txBody>
                    <a:bodyPr/>
                    <a:lstStyle/>
                    <a:p>
                      <a:r>
                        <a:rPr lang="en-US" sz="1600" dirty="0"/>
                        <a:t>1</a:t>
                      </a:r>
                    </a:p>
                  </a:txBody>
                  <a:tcPr/>
                </a:tc>
                <a:tc>
                  <a:txBody>
                    <a:bodyPr/>
                    <a:lstStyle/>
                    <a:p>
                      <a:endParaRPr lang="en-US" sz="1600" dirty="0"/>
                    </a:p>
                  </a:txBody>
                  <a:tcPr>
                    <a:solidFill>
                      <a:srgbClr val="FFC000"/>
                    </a:solidFill>
                  </a:tcPr>
                </a:tc>
                <a:tc>
                  <a:txBody>
                    <a:bodyPr/>
                    <a:lstStyle/>
                    <a:p>
                      <a:endParaRPr lang="en-US" sz="1600" dirty="0"/>
                    </a:p>
                  </a:txBody>
                  <a:tcPr/>
                </a:tc>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2657335329"/>
                  </a:ext>
                </a:extLst>
              </a:tr>
              <a:tr h="665212">
                <a:tc>
                  <a:txBody>
                    <a:bodyPr/>
                    <a:lstStyle/>
                    <a:p>
                      <a:r>
                        <a:rPr lang="en-US" sz="1600" dirty="0"/>
                        <a:t>2</a:t>
                      </a:r>
                    </a:p>
                  </a:txBody>
                  <a:tcPr/>
                </a:tc>
                <a:tc>
                  <a:txBody>
                    <a:bodyPr/>
                    <a:lstStyle/>
                    <a:p>
                      <a:endParaRPr lang="en-US" sz="1600" dirty="0"/>
                    </a:p>
                  </a:txBody>
                  <a:tcPr>
                    <a:solidFill>
                      <a:srgbClr val="FFC000"/>
                    </a:solidFill>
                  </a:tcPr>
                </a:tc>
                <a:tc>
                  <a:txBody>
                    <a:bodyPr/>
                    <a:lstStyle/>
                    <a:p>
                      <a:endParaRPr lang="en-US" sz="1600" dirty="0"/>
                    </a:p>
                  </a:txBody>
                  <a:tcPr/>
                </a:tc>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818334415"/>
                  </a:ext>
                </a:extLst>
              </a:tr>
              <a:tr h="665212">
                <a:tc>
                  <a:txBody>
                    <a:bodyPr/>
                    <a:lstStyle/>
                    <a:p>
                      <a:r>
                        <a:rPr lang="en-US" sz="1600" dirty="0"/>
                        <a:t>3</a:t>
                      </a:r>
                    </a:p>
                  </a:txBody>
                  <a:tcPr/>
                </a:tc>
                <a:tc>
                  <a:txBody>
                    <a:bodyPr/>
                    <a:lstStyle/>
                    <a:p>
                      <a:endParaRPr lang="en-US" sz="1600" dirty="0"/>
                    </a:p>
                  </a:txBody>
                  <a:tcPr>
                    <a:solidFill>
                      <a:srgbClr val="FFC000"/>
                    </a:solidFill>
                  </a:tcPr>
                </a:tc>
                <a:tc>
                  <a:txBody>
                    <a:bodyPr/>
                    <a:lstStyle/>
                    <a:p>
                      <a:endParaRPr lang="en-US" sz="1600" dirty="0"/>
                    </a:p>
                  </a:txBody>
                  <a:tcPr/>
                </a:tc>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1749196828"/>
                  </a:ext>
                </a:extLst>
              </a:tr>
              <a:tr h="665212">
                <a:tc>
                  <a:txBody>
                    <a:bodyPr/>
                    <a:lstStyle/>
                    <a:p>
                      <a:r>
                        <a:rPr lang="en-US" sz="1600" dirty="0"/>
                        <a:t>4</a:t>
                      </a:r>
                    </a:p>
                  </a:txBody>
                  <a:tcPr/>
                </a:tc>
                <a:tc>
                  <a:txBody>
                    <a:bodyPr/>
                    <a:lstStyle/>
                    <a:p>
                      <a:endParaRPr lang="en-US" sz="1600" dirty="0"/>
                    </a:p>
                  </a:txBody>
                  <a:tcPr>
                    <a:solidFill>
                      <a:srgbClr val="FFC000"/>
                    </a:solidFill>
                  </a:tcPr>
                </a:tc>
                <a:tc>
                  <a:txBody>
                    <a:bodyPr/>
                    <a:lstStyle/>
                    <a:p>
                      <a:endParaRPr lang="en-US" sz="1600" dirty="0"/>
                    </a:p>
                  </a:txBody>
                  <a:tcPr>
                    <a:lnB w="12700" cmpd="sng">
                      <a:noFill/>
                    </a:lnB>
                  </a:tcPr>
                </a:tc>
                <a:tc>
                  <a:txBody>
                    <a:bodyPr/>
                    <a:lstStyle/>
                    <a:p>
                      <a:endParaRPr lang="en-US" sz="1600" dirty="0"/>
                    </a:p>
                  </a:txBody>
                  <a:tcPr>
                    <a:lnB w="12700" cmpd="sng">
                      <a:noFill/>
                    </a:lnB>
                  </a:tcPr>
                </a:tc>
                <a:tc>
                  <a:txBody>
                    <a:bodyPr/>
                    <a:lstStyle/>
                    <a:p>
                      <a:endParaRPr lang="en-US" sz="1600" dirty="0"/>
                    </a:p>
                  </a:txBody>
                  <a:tcPr>
                    <a:lnB w="12700" cmpd="sng">
                      <a:noFill/>
                    </a:lnB>
                  </a:tcPr>
                </a:tc>
                <a:extLst>
                  <a:ext uri="{0D108BD9-81ED-4DB2-BD59-A6C34878D82A}">
                    <a16:rowId xmlns:a16="http://schemas.microsoft.com/office/drawing/2014/main" val="2330910062"/>
                  </a:ext>
                </a:extLst>
              </a:tr>
              <a:tr h="665212">
                <a:tc>
                  <a:txBody>
                    <a:bodyPr/>
                    <a:lstStyle/>
                    <a:p>
                      <a:r>
                        <a:rPr lang="en-US" sz="1600" dirty="0"/>
                        <a:t>9</a:t>
                      </a:r>
                    </a:p>
                  </a:txBody>
                  <a:tcPr/>
                </a:tc>
                <a:tc>
                  <a:txBody>
                    <a:bodyPr/>
                    <a:lstStyle/>
                    <a:p>
                      <a:r>
                        <a:rPr lang="en-US" sz="1600" dirty="0"/>
                        <a:t>NULL</a:t>
                      </a:r>
                    </a:p>
                  </a:txBody>
                  <a:tcPr>
                    <a:lnR w="12700" cmpd="sng">
                      <a:noFill/>
                    </a:lnR>
                    <a:noFill/>
                  </a:tcPr>
                </a:tc>
                <a:tc>
                  <a:txBody>
                    <a:bodyPr/>
                    <a:lstStyle/>
                    <a:p>
                      <a:endParaRPr 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B0F0"/>
                    </a:solidFill>
                  </a:tcPr>
                </a:tc>
                <a:tc>
                  <a:txBody>
                    <a:bodyPr/>
                    <a:lstStyle/>
                    <a:p>
                      <a:endParaRPr 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B0F0"/>
                    </a:solidFill>
                  </a:tcPr>
                </a:tc>
                <a:tc>
                  <a:txBody>
                    <a:bodyPr/>
                    <a:lstStyle/>
                    <a:p>
                      <a:endParaRPr 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11192810"/>
                  </a:ext>
                </a:extLst>
              </a:tr>
              <a:tr h="665212">
                <a:tc>
                  <a:txBody>
                    <a:bodyPr/>
                    <a:lstStyle/>
                    <a:p>
                      <a:r>
                        <a:rPr lang="en-US" sz="1600" dirty="0"/>
                        <a:t>10</a:t>
                      </a:r>
                    </a:p>
                  </a:txBody>
                  <a:tcPr/>
                </a:tc>
                <a:tc>
                  <a:txBody>
                    <a:bodyPr/>
                    <a:lstStyle/>
                    <a:p>
                      <a:r>
                        <a:rPr lang="en-US" sz="1600" dirty="0"/>
                        <a:t>NULL</a:t>
                      </a:r>
                    </a:p>
                  </a:txBody>
                  <a:tcPr>
                    <a:lnR w="12700" cmpd="sng">
                      <a:noFill/>
                    </a:lnR>
                    <a:noFill/>
                  </a:tcPr>
                </a:tc>
                <a:tc>
                  <a:txBody>
                    <a:bodyPr/>
                    <a:lstStyle/>
                    <a:p>
                      <a:endParaRPr lang="en-US" sz="16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B0F0"/>
                    </a:solidFill>
                  </a:tcPr>
                </a:tc>
                <a:tc>
                  <a:txBody>
                    <a:bodyPr/>
                    <a:lstStyle/>
                    <a:p>
                      <a:endParaRPr 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B0F0"/>
                    </a:solidFill>
                  </a:tcPr>
                </a:tc>
                <a:tc>
                  <a:txBody>
                    <a:bodyPr/>
                    <a:lstStyle/>
                    <a:p>
                      <a:endParaRPr 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4102165149"/>
                  </a:ext>
                </a:extLst>
              </a:tr>
              <a:tr h="665212">
                <a:tc>
                  <a:txBody>
                    <a:bodyPr/>
                    <a:lstStyle/>
                    <a:p>
                      <a:r>
                        <a:rPr lang="en-US" sz="1600" dirty="0"/>
                        <a:t>11</a:t>
                      </a:r>
                    </a:p>
                  </a:txBody>
                  <a:tcPr/>
                </a:tc>
                <a:tc>
                  <a:txBody>
                    <a:bodyPr/>
                    <a:lstStyle/>
                    <a:p>
                      <a:r>
                        <a:rPr lang="en-US" sz="1600" dirty="0" err="1"/>
                        <a:t>NuLL</a:t>
                      </a:r>
                      <a:endParaRPr lang="en-US" sz="1600" dirty="0"/>
                    </a:p>
                  </a:txBody>
                  <a:tcPr>
                    <a:lnR w="12700" cmpd="sng">
                      <a:noFill/>
                    </a:lnR>
                    <a:noFill/>
                  </a:tcPr>
                </a:tc>
                <a:tc>
                  <a:txBody>
                    <a:bodyPr/>
                    <a:lstStyle/>
                    <a:p>
                      <a:endParaRPr 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B0F0"/>
                    </a:solidFill>
                  </a:tcPr>
                </a:tc>
                <a:tc>
                  <a:txBody>
                    <a:bodyPr/>
                    <a:lstStyle/>
                    <a:p>
                      <a:endParaRPr 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B0F0"/>
                    </a:solidFill>
                  </a:tcPr>
                </a:tc>
                <a:tc>
                  <a:txBody>
                    <a:bodyPr/>
                    <a:lstStyle/>
                    <a:p>
                      <a:endParaRPr 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1172796007"/>
                  </a:ext>
                </a:extLst>
              </a:tr>
            </a:tbl>
          </a:graphicData>
        </a:graphic>
      </p:graphicFrame>
      <p:sp>
        <p:nvSpPr>
          <p:cNvPr id="11" name="TextBox 10">
            <a:extLst>
              <a:ext uri="{FF2B5EF4-FFF2-40B4-BE49-F238E27FC236}">
                <a16:creationId xmlns:a16="http://schemas.microsoft.com/office/drawing/2014/main" id="{AC82FEB4-3538-4FE8-B59B-413EAFD43043}"/>
              </a:ext>
            </a:extLst>
          </p:cNvPr>
          <p:cNvSpPr txBox="1"/>
          <p:nvPr/>
        </p:nvSpPr>
        <p:spPr>
          <a:xfrm>
            <a:off x="10029039" y="-24513"/>
            <a:ext cx="1610686" cy="369332"/>
          </a:xfrm>
          <a:prstGeom prst="rect">
            <a:avLst/>
          </a:prstGeom>
          <a:noFill/>
        </p:spPr>
        <p:txBody>
          <a:bodyPr wrap="square" rtlCol="0">
            <a:spAutoFit/>
          </a:bodyPr>
          <a:lstStyle/>
          <a:p>
            <a:r>
              <a:rPr lang="en-US" dirty="0"/>
              <a:t>Right Join</a:t>
            </a:r>
          </a:p>
        </p:txBody>
      </p:sp>
      <p:graphicFrame>
        <p:nvGraphicFramePr>
          <p:cNvPr id="12" name="Table 11">
            <a:extLst>
              <a:ext uri="{FF2B5EF4-FFF2-40B4-BE49-F238E27FC236}">
                <a16:creationId xmlns:a16="http://schemas.microsoft.com/office/drawing/2014/main" id="{89558347-FE3D-4B25-962E-2C6C633D049D}"/>
              </a:ext>
            </a:extLst>
          </p:cNvPr>
          <p:cNvGraphicFramePr>
            <a:graphicFrameLocks noGrp="1"/>
          </p:cNvGraphicFramePr>
          <p:nvPr>
            <p:extLst>
              <p:ext uri="{D42A27DB-BD31-4B8C-83A1-F6EECF244321}">
                <p14:modId xmlns:p14="http://schemas.microsoft.com/office/powerpoint/2010/main" val="978849022"/>
              </p:ext>
            </p:extLst>
          </p:nvPr>
        </p:nvGraphicFramePr>
        <p:xfrm>
          <a:off x="4738896" y="1270000"/>
          <a:ext cx="1412112" cy="4975074"/>
        </p:xfrm>
        <a:graphic>
          <a:graphicData uri="http://schemas.openxmlformats.org/drawingml/2006/table">
            <a:tbl>
              <a:tblPr firstRow="1" bandRow="1">
                <a:tableStyleId>{5C22544A-7EE6-4342-B048-85BDC9FD1C3A}</a:tableStyleId>
              </a:tblPr>
              <a:tblGrid>
                <a:gridCol w="706056">
                  <a:extLst>
                    <a:ext uri="{9D8B030D-6E8A-4147-A177-3AD203B41FA5}">
                      <a16:colId xmlns:a16="http://schemas.microsoft.com/office/drawing/2014/main" val="2724806108"/>
                    </a:ext>
                  </a:extLst>
                </a:gridCol>
                <a:gridCol w="706056">
                  <a:extLst>
                    <a:ext uri="{9D8B030D-6E8A-4147-A177-3AD203B41FA5}">
                      <a16:colId xmlns:a16="http://schemas.microsoft.com/office/drawing/2014/main" val="3327447910"/>
                    </a:ext>
                  </a:extLst>
                </a:gridCol>
              </a:tblGrid>
              <a:tr h="552786">
                <a:tc>
                  <a:txBody>
                    <a:bodyPr/>
                    <a:lstStyle/>
                    <a:p>
                      <a:r>
                        <a:rPr lang="en-US" sz="1400" dirty="0"/>
                        <a:t>index</a:t>
                      </a:r>
                    </a:p>
                  </a:txBody>
                  <a:tcPr/>
                </a:tc>
                <a:tc>
                  <a:txBody>
                    <a:bodyPr/>
                    <a:lstStyle/>
                    <a:p>
                      <a:r>
                        <a:rPr lang="en-US" dirty="0"/>
                        <a:t>A</a:t>
                      </a:r>
                    </a:p>
                  </a:txBody>
                  <a:tcPr/>
                </a:tc>
                <a:extLst>
                  <a:ext uri="{0D108BD9-81ED-4DB2-BD59-A6C34878D82A}">
                    <a16:rowId xmlns:a16="http://schemas.microsoft.com/office/drawing/2014/main" val="3343489409"/>
                  </a:ext>
                </a:extLst>
              </a:tr>
              <a:tr h="552786">
                <a:tc>
                  <a:txBody>
                    <a:bodyPr/>
                    <a:lstStyle/>
                    <a:p>
                      <a:r>
                        <a:rPr lang="en-US" dirty="0"/>
                        <a:t>1</a:t>
                      </a:r>
                    </a:p>
                  </a:txBody>
                  <a:tcPr/>
                </a:tc>
                <a:tc>
                  <a:txBody>
                    <a:bodyPr/>
                    <a:lstStyle/>
                    <a:p>
                      <a:endParaRPr lang="en-US" dirty="0"/>
                    </a:p>
                  </a:txBody>
                  <a:tcPr>
                    <a:solidFill>
                      <a:srgbClr val="FFC000"/>
                    </a:solidFill>
                  </a:tcPr>
                </a:tc>
                <a:extLst>
                  <a:ext uri="{0D108BD9-81ED-4DB2-BD59-A6C34878D82A}">
                    <a16:rowId xmlns:a16="http://schemas.microsoft.com/office/drawing/2014/main" val="3532409805"/>
                  </a:ext>
                </a:extLst>
              </a:tr>
              <a:tr h="552786">
                <a:tc>
                  <a:txBody>
                    <a:bodyPr/>
                    <a:lstStyle/>
                    <a:p>
                      <a:r>
                        <a:rPr lang="en-US" dirty="0"/>
                        <a:t>2</a:t>
                      </a:r>
                    </a:p>
                  </a:txBody>
                  <a:tcPr/>
                </a:tc>
                <a:tc>
                  <a:txBody>
                    <a:bodyPr/>
                    <a:lstStyle/>
                    <a:p>
                      <a:endParaRPr lang="en-US" dirty="0"/>
                    </a:p>
                  </a:txBody>
                  <a:tcPr>
                    <a:solidFill>
                      <a:srgbClr val="FFC000"/>
                    </a:solidFill>
                  </a:tcPr>
                </a:tc>
                <a:extLst>
                  <a:ext uri="{0D108BD9-81ED-4DB2-BD59-A6C34878D82A}">
                    <a16:rowId xmlns:a16="http://schemas.microsoft.com/office/drawing/2014/main" val="927225677"/>
                  </a:ext>
                </a:extLst>
              </a:tr>
              <a:tr h="552786">
                <a:tc>
                  <a:txBody>
                    <a:bodyPr/>
                    <a:lstStyle/>
                    <a:p>
                      <a:r>
                        <a:rPr lang="en-US" dirty="0"/>
                        <a:t>3</a:t>
                      </a:r>
                    </a:p>
                  </a:txBody>
                  <a:tcPr/>
                </a:tc>
                <a:tc>
                  <a:txBody>
                    <a:bodyPr/>
                    <a:lstStyle/>
                    <a:p>
                      <a:endParaRPr lang="en-US" dirty="0"/>
                    </a:p>
                  </a:txBody>
                  <a:tcPr>
                    <a:solidFill>
                      <a:srgbClr val="FFC000"/>
                    </a:solidFill>
                  </a:tcPr>
                </a:tc>
                <a:extLst>
                  <a:ext uri="{0D108BD9-81ED-4DB2-BD59-A6C34878D82A}">
                    <a16:rowId xmlns:a16="http://schemas.microsoft.com/office/drawing/2014/main" val="664678265"/>
                  </a:ext>
                </a:extLst>
              </a:tr>
              <a:tr h="552786">
                <a:tc>
                  <a:txBody>
                    <a:bodyPr/>
                    <a:lstStyle/>
                    <a:p>
                      <a:r>
                        <a:rPr lang="en-US" dirty="0"/>
                        <a:t>4</a:t>
                      </a:r>
                    </a:p>
                  </a:txBody>
                  <a:tcPr/>
                </a:tc>
                <a:tc>
                  <a:txBody>
                    <a:bodyPr/>
                    <a:lstStyle/>
                    <a:p>
                      <a:endParaRPr lang="en-US" dirty="0"/>
                    </a:p>
                  </a:txBody>
                  <a:tcPr>
                    <a:solidFill>
                      <a:srgbClr val="FFC000"/>
                    </a:solidFill>
                  </a:tcPr>
                </a:tc>
                <a:extLst>
                  <a:ext uri="{0D108BD9-81ED-4DB2-BD59-A6C34878D82A}">
                    <a16:rowId xmlns:a16="http://schemas.microsoft.com/office/drawing/2014/main" val="1003822654"/>
                  </a:ext>
                </a:extLst>
              </a:tr>
              <a:tr h="552786">
                <a:tc>
                  <a:txBody>
                    <a:bodyPr/>
                    <a:lstStyle/>
                    <a:p>
                      <a:r>
                        <a:rPr lang="en-US" dirty="0"/>
                        <a:t>5</a:t>
                      </a:r>
                    </a:p>
                  </a:txBody>
                  <a:tcPr/>
                </a:tc>
                <a:tc>
                  <a:txBody>
                    <a:bodyPr/>
                    <a:lstStyle/>
                    <a:p>
                      <a:endParaRPr lang="en-US" dirty="0"/>
                    </a:p>
                  </a:txBody>
                  <a:tcPr>
                    <a:solidFill>
                      <a:srgbClr val="FFC000"/>
                    </a:solidFill>
                  </a:tcPr>
                </a:tc>
                <a:extLst>
                  <a:ext uri="{0D108BD9-81ED-4DB2-BD59-A6C34878D82A}">
                    <a16:rowId xmlns:a16="http://schemas.microsoft.com/office/drawing/2014/main" val="2734187761"/>
                  </a:ext>
                </a:extLst>
              </a:tr>
              <a:tr h="552786">
                <a:tc>
                  <a:txBody>
                    <a:bodyPr/>
                    <a:lstStyle/>
                    <a:p>
                      <a:r>
                        <a:rPr lang="en-US" dirty="0"/>
                        <a:t>6</a:t>
                      </a:r>
                    </a:p>
                  </a:txBody>
                  <a:tcPr/>
                </a:tc>
                <a:tc>
                  <a:txBody>
                    <a:bodyPr/>
                    <a:lstStyle/>
                    <a:p>
                      <a:endParaRPr lang="en-US" dirty="0"/>
                    </a:p>
                  </a:txBody>
                  <a:tcPr>
                    <a:solidFill>
                      <a:srgbClr val="FFC000"/>
                    </a:solidFill>
                  </a:tcPr>
                </a:tc>
                <a:extLst>
                  <a:ext uri="{0D108BD9-81ED-4DB2-BD59-A6C34878D82A}">
                    <a16:rowId xmlns:a16="http://schemas.microsoft.com/office/drawing/2014/main" val="3474672238"/>
                  </a:ext>
                </a:extLst>
              </a:tr>
              <a:tr h="552786">
                <a:tc>
                  <a:txBody>
                    <a:bodyPr/>
                    <a:lstStyle/>
                    <a:p>
                      <a:r>
                        <a:rPr lang="en-US" dirty="0"/>
                        <a:t>7</a:t>
                      </a:r>
                    </a:p>
                  </a:txBody>
                  <a:tcPr/>
                </a:tc>
                <a:tc>
                  <a:txBody>
                    <a:bodyPr/>
                    <a:lstStyle/>
                    <a:p>
                      <a:endParaRPr lang="en-US" dirty="0"/>
                    </a:p>
                  </a:txBody>
                  <a:tcPr>
                    <a:solidFill>
                      <a:srgbClr val="FFC000"/>
                    </a:solidFill>
                  </a:tcPr>
                </a:tc>
                <a:extLst>
                  <a:ext uri="{0D108BD9-81ED-4DB2-BD59-A6C34878D82A}">
                    <a16:rowId xmlns:a16="http://schemas.microsoft.com/office/drawing/2014/main" val="3842953416"/>
                  </a:ext>
                </a:extLst>
              </a:tr>
              <a:tr h="552786">
                <a:tc>
                  <a:txBody>
                    <a:bodyPr/>
                    <a:lstStyle/>
                    <a:p>
                      <a:r>
                        <a:rPr lang="en-US" dirty="0"/>
                        <a:t>8</a:t>
                      </a:r>
                    </a:p>
                  </a:txBody>
                  <a:tcPr/>
                </a:tc>
                <a:tc>
                  <a:txBody>
                    <a:bodyPr/>
                    <a:lstStyle/>
                    <a:p>
                      <a:endParaRPr lang="en-US" dirty="0"/>
                    </a:p>
                  </a:txBody>
                  <a:tcPr>
                    <a:solidFill>
                      <a:srgbClr val="FFC000"/>
                    </a:solidFill>
                  </a:tcPr>
                </a:tc>
                <a:extLst>
                  <a:ext uri="{0D108BD9-81ED-4DB2-BD59-A6C34878D82A}">
                    <a16:rowId xmlns:a16="http://schemas.microsoft.com/office/drawing/2014/main" val="3650766343"/>
                  </a:ext>
                </a:extLst>
              </a:tr>
            </a:tbl>
          </a:graphicData>
        </a:graphic>
      </p:graphicFrame>
      <p:cxnSp>
        <p:nvCxnSpPr>
          <p:cNvPr id="6" name="Straight Connector 5">
            <a:extLst>
              <a:ext uri="{FF2B5EF4-FFF2-40B4-BE49-F238E27FC236}">
                <a16:creationId xmlns:a16="http://schemas.microsoft.com/office/drawing/2014/main" id="{65E46D1A-4D44-4B21-8FAB-589FBCB854EC}"/>
              </a:ext>
            </a:extLst>
          </p:cNvPr>
          <p:cNvCxnSpPr/>
          <p:nvPr/>
        </p:nvCxnSpPr>
        <p:spPr>
          <a:xfrm flipV="1">
            <a:off x="5310231" y="2114026"/>
            <a:ext cx="2583809" cy="67112"/>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30C4AC9-60BA-4C96-8E47-2ED102C43CEB}"/>
              </a:ext>
            </a:extLst>
          </p:cNvPr>
          <p:cNvCxnSpPr/>
          <p:nvPr/>
        </p:nvCxnSpPr>
        <p:spPr>
          <a:xfrm flipV="1">
            <a:off x="5308356" y="2701255"/>
            <a:ext cx="3122580" cy="58723"/>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6D9EA67-4EC0-407A-8A02-E9F698EA4F6F}"/>
              </a:ext>
            </a:extLst>
          </p:cNvPr>
          <p:cNvCxnSpPr/>
          <p:nvPr/>
        </p:nvCxnSpPr>
        <p:spPr>
          <a:xfrm>
            <a:off x="5251508" y="3271706"/>
            <a:ext cx="301728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A9895BE-DA7A-4539-9757-AED9A230A2D2}"/>
              </a:ext>
            </a:extLst>
          </p:cNvPr>
          <p:cNvCxnSpPr/>
          <p:nvPr/>
        </p:nvCxnSpPr>
        <p:spPr>
          <a:xfrm>
            <a:off x="5308356" y="3716323"/>
            <a:ext cx="2753464"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4C3D47F-759F-4DA1-9271-006B1634557B}"/>
              </a:ext>
            </a:extLst>
          </p:cNvPr>
          <p:cNvSpPr txBox="1"/>
          <p:nvPr/>
        </p:nvSpPr>
        <p:spPr>
          <a:xfrm>
            <a:off x="2004969" y="167780"/>
            <a:ext cx="1610686" cy="369332"/>
          </a:xfrm>
          <a:prstGeom prst="rect">
            <a:avLst/>
          </a:prstGeom>
          <a:noFill/>
        </p:spPr>
        <p:txBody>
          <a:bodyPr wrap="square" rtlCol="0">
            <a:spAutoFit/>
          </a:bodyPr>
          <a:lstStyle/>
          <a:p>
            <a:r>
              <a:rPr lang="en-US" dirty="0"/>
              <a:t>Left Join</a:t>
            </a:r>
          </a:p>
        </p:txBody>
      </p:sp>
      <p:sp>
        <p:nvSpPr>
          <p:cNvPr id="14" name="TextBox 13">
            <a:extLst>
              <a:ext uri="{FF2B5EF4-FFF2-40B4-BE49-F238E27FC236}">
                <a16:creationId xmlns:a16="http://schemas.microsoft.com/office/drawing/2014/main" id="{81E387F8-EC1E-4716-9270-122498C53950}"/>
              </a:ext>
            </a:extLst>
          </p:cNvPr>
          <p:cNvSpPr txBox="1"/>
          <p:nvPr/>
        </p:nvSpPr>
        <p:spPr>
          <a:xfrm>
            <a:off x="5202170" y="785574"/>
            <a:ext cx="654341" cy="369332"/>
          </a:xfrm>
          <a:prstGeom prst="rect">
            <a:avLst/>
          </a:prstGeom>
          <a:noFill/>
        </p:spPr>
        <p:txBody>
          <a:bodyPr wrap="square" rtlCol="0">
            <a:spAutoFit/>
          </a:bodyPr>
          <a:lstStyle/>
          <a:p>
            <a:r>
              <a:rPr lang="en-US" dirty="0"/>
              <a:t>A</a:t>
            </a:r>
          </a:p>
        </p:txBody>
      </p:sp>
      <p:sp>
        <p:nvSpPr>
          <p:cNvPr id="15" name="TextBox 14">
            <a:extLst>
              <a:ext uri="{FF2B5EF4-FFF2-40B4-BE49-F238E27FC236}">
                <a16:creationId xmlns:a16="http://schemas.microsoft.com/office/drawing/2014/main" id="{1F159B19-DC2A-4C61-8EB5-2BE2701DE0CC}"/>
              </a:ext>
            </a:extLst>
          </p:cNvPr>
          <p:cNvSpPr txBox="1"/>
          <p:nvPr/>
        </p:nvSpPr>
        <p:spPr>
          <a:xfrm>
            <a:off x="7867308" y="672753"/>
            <a:ext cx="654341" cy="369332"/>
          </a:xfrm>
          <a:prstGeom prst="rect">
            <a:avLst/>
          </a:prstGeom>
          <a:noFill/>
        </p:spPr>
        <p:txBody>
          <a:bodyPr wrap="square" rtlCol="0">
            <a:spAutoFit/>
          </a:bodyPr>
          <a:lstStyle/>
          <a:p>
            <a:r>
              <a:rPr lang="en-US" dirty="0"/>
              <a:t>B</a:t>
            </a:r>
          </a:p>
        </p:txBody>
      </p:sp>
    </p:spTree>
    <p:extLst>
      <p:ext uri="{BB962C8B-B14F-4D97-AF65-F5344CB8AC3E}">
        <p14:creationId xmlns:p14="http://schemas.microsoft.com/office/powerpoint/2010/main" val="29126338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2D97E-E93E-401D-B39F-9CFA7E62E39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5002F13-D4EB-41D0-8274-C20150821BF0}"/>
              </a:ext>
            </a:extLst>
          </p:cNvPr>
          <p:cNvSpPr>
            <a:spLocks noGrp="1"/>
          </p:cNvSpPr>
          <p:nvPr>
            <p:ph idx="1"/>
          </p:nvPr>
        </p:nvSpPr>
        <p:spPr/>
        <p:txBody>
          <a:bodyPr/>
          <a:lstStyle/>
          <a:p>
            <a:r>
              <a:rPr lang="en-US" dirty="0">
                <a:solidFill>
                  <a:srgbClr val="FF0000"/>
                </a:solidFill>
              </a:rPr>
              <a:t>SELECT</a:t>
            </a:r>
            <a:r>
              <a:rPr lang="en-US" dirty="0"/>
              <a:t>  *</a:t>
            </a:r>
          </a:p>
          <a:p>
            <a:r>
              <a:rPr lang="en-US" dirty="0">
                <a:solidFill>
                  <a:srgbClr val="FF0000"/>
                </a:solidFill>
              </a:rPr>
              <a:t>From</a:t>
            </a:r>
            <a:r>
              <a:rPr lang="en-US" dirty="0"/>
              <a:t>  “TenBang1”</a:t>
            </a:r>
          </a:p>
          <a:p>
            <a:r>
              <a:rPr lang="en-US" dirty="0"/>
              <a:t>[left, right, full, inner] </a:t>
            </a:r>
            <a:r>
              <a:rPr lang="en-US" dirty="0">
                <a:solidFill>
                  <a:srgbClr val="FF0000"/>
                </a:solidFill>
              </a:rPr>
              <a:t>Join</a:t>
            </a:r>
            <a:r>
              <a:rPr lang="en-US" dirty="0"/>
              <a:t>  “TenBang2”</a:t>
            </a:r>
          </a:p>
          <a:p>
            <a:r>
              <a:rPr lang="en-US" dirty="0">
                <a:solidFill>
                  <a:srgbClr val="FF0000"/>
                </a:solidFill>
              </a:rPr>
              <a:t>On</a:t>
            </a:r>
            <a:r>
              <a:rPr lang="en-US" dirty="0"/>
              <a:t>  “Tenbang1.ThuocTinh1” = “Tenbang2.ThuocTinh2”</a:t>
            </a:r>
          </a:p>
          <a:p>
            <a:r>
              <a:rPr lang="en-US" dirty="0"/>
              <a:t>[where]</a:t>
            </a:r>
          </a:p>
        </p:txBody>
      </p:sp>
    </p:spTree>
    <p:extLst>
      <p:ext uri="{BB962C8B-B14F-4D97-AF65-F5344CB8AC3E}">
        <p14:creationId xmlns:p14="http://schemas.microsoft.com/office/powerpoint/2010/main" val="34623909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C86A3-4418-44E6-B3CE-E962428C04E8}"/>
              </a:ext>
            </a:extLst>
          </p:cNvPr>
          <p:cNvSpPr>
            <a:spLocks noGrp="1"/>
          </p:cNvSpPr>
          <p:nvPr>
            <p:ph type="title"/>
          </p:nvPr>
        </p:nvSpPr>
        <p:spPr/>
        <p:txBody>
          <a:bodyPr/>
          <a:lstStyle/>
          <a:p>
            <a:r>
              <a:rPr lang="en-US" dirty="0" err="1"/>
              <a:t>Các</a:t>
            </a:r>
            <a:r>
              <a:rPr lang="en-US" dirty="0"/>
              <a:t> </a:t>
            </a:r>
            <a:r>
              <a:rPr lang="en-US" dirty="0" err="1"/>
              <a:t>mệnh</a:t>
            </a:r>
            <a:r>
              <a:rPr lang="en-US" dirty="0"/>
              <a:t> </a:t>
            </a:r>
            <a:r>
              <a:rPr lang="en-US" dirty="0" err="1"/>
              <a:t>đề</a:t>
            </a:r>
            <a:r>
              <a:rPr lang="en-US" dirty="0"/>
              <a:t> Group by - Having</a:t>
            </a:r>
          </a:p>
        </p:txBody>
      </p:sp>
      <p:sp>
        <p:nvSpPr>
          <p:cNvPr id="3" name="Content Placeholder 2">
            <a:extLst>
              <a:ext uri="{FF2B5EF4-FFF2-40B4-BE49-F238E27FC236}">
                <a16:creationId xmlns:a16="http://schemas.microsoft.com/office/drawing/2014/main" id="{FB3F4459-C490-4564-9CE1-D5B78419F185}"/>
              </a:ext>
            </a:extLst>
          </p:cNvPr>
          <p:cNvSpPr>
            <a:spLocks noGrp="1"/>
          </p:cNvSpPr>
          <p:nvPr>
            <p:ph idx="1"/>
          </p:nvPr>
        </p:nvSpPr>
        <p:spPr>
          <a:xfrm>
            <a:off x="677334" y="1627464"/>
            <a:ext cx="8596668" cy="4413899"/>
          </a:xfrm>
        </p:spPr>
        <p:txBody>
          <a:bodyPr/>
          <a:lstStyle/>
          <a:p>
            <a:r>
              <a:rPr lang="en-US" dirty="0" err="1"/>
              <a:t>Trong</a:t>
            </a:r>
            <a:r>
              <a:rPr lang="en-US" dirty="0"/>
              <a:t> </a:t>
            </a:r>
            <a:r>
              <a:rPr lang="en-US" dirty="0" err="1"/>
              <a:t>bài</a:t>
            </a:r>
            <a:r>
              <a:rPr lang="en-US" dirty="0"/>
              <a:t> </a:t>
            </a:r>
            <a:r>
              <a:rPr lang="en-US" dirty="0" err="1"/>
              <a:t>này</a:t>
            </a:r>
            <a:r>
              <a:rPr lang="en-US" dirty="0"/>
              <a:t>, </a:t>
            </a:r>
            <a:r>
              <a:rPr lang="en-US" dirty="0" err="1"/>
              <a:t>chúng</a:t>
            </a:r>
            <a:r>
              <a:rPr lang="en-US" dirty="0"/>
              <a:t> ta </a:t>
            </a:r>
            <a:r>
              <a:rPr lang="en-US" dirty="0" err="1"/>
              <a:t>sẽ</a:t>
            </a:r>
            <a:r>
              <a:rPr lang="en-US" dirty="0"/>
              <a:t> </a:t>
            </a:r>
            <a:r>
              <a:rPr lang="en-US" dirty="0" err="1"/>
              <a:t>làm</a:t>
            </a:r>
            <a:r>
              <a:rPr lang="en-US" dirty="0"/>
              <a:t> </a:t>
            </a:r>
            <a:r>
              <a:rPr lang="en-US" dirty="0" err="1"/>
              <a:t>quen</a:t>
            </a:r>
            <a:r>
              <a:rPr lang="en-US" dirty="0"/>
              <a:t> </a:t>
            </a:r>
            <a:r>
              <a:rPr lang="en-US" dirty="0" err="1"/>
              <a:t>với</a:t>
            </a:r>
            <a:r>
              <a:rPr lang="en-US" dirty="0"/>
              <a:t> </a:t>
            </a:r>
            <a:r>
              <a:rPr lang="en-US" dirty="0" err="1"/>
              <a:t>các</a:t>
            </a:r>
            <a:r>
              <a:rPr lang="en-US" dirty="0"/>
              <a:t> </a:t>
            </a:r>
            <a:r>
              <a:rPr lang="en-US" dirty="0" err="1"/>
              <a:t>hàm</a:t>
            </a:r>
            <a:r>
              <a:rPr lang="en-US" dirty="0"/>
              <a:t> </a:t>
            </a:r>
            <a:r>
              <a:rPr lang="en-US" dirty="0" err="1"/>
              <a:t>nhóm</a:t>
            </a:r>
            <a:r>
              <a:rPr lang="en-US" dirty="0"/>
              <a:t> </a:t>
            </a:r>
            <a:r>
              <a:rPr lang="en-US" dirty="0" err="1"/>
              <a:t>và</a:t>
            </a:r>
            <a:r>
              <a:rPr lang="en-US" dirty="0"/>
              <a:t> </a:t>
            </a:r>
            <a:r>
              <a:rPr lang="en-US" dirty="0" err="1"/>
              <a:t>truy</a:t>
            </a:r>
            <a:r>
              <a:rPr lang="en-US" dirty="0"/>
              <a:t> </a:t>
            </a:r>
            <a:r>
              <a:rPr lang="en-US" dirty="0" err="1"/>
              <a:t>vấn</a:t>
            </a:r>
            <a:r>
              <a:rPr lang="en-US" dirty="0"/>
              <a:t> </a:t>
            </a:r>
            <a:r>
              <a:rPr lang="en-US" dirty="0" err="1"/>
              <a:t>nhóm</a:t>
            </a:r>
            <a:r>
              <a:rPr lang="en-US" dirty="0"/>
              <a:t>: - </a:t>
            </a:r>
            <a:r>
              <a:rPr lang="en-US" dirty="0" err="1"/>
              <a:t>Các</a:t>
            </a:r>
            <a:r>
              <a:rPr lang="en-US" dirty="0"/>
              <a:t> </a:t>
            </a:r>
            <a:r>
              <a:rPr lang="en-US" dirty="0" err="1"/>
              <a:t>hàm</a:t>
            </a:r>
            <a:r>
              <a:rPr lang="en-US" dirty="0"/>
              <a:t> </a:t>
            </a:r>
            <a:r>
              <a:rPr lang="en-US" dirty="0" err="1"/>
              <a:t>nhóm</a:t>
            </a:r>
            <a:r>
              <a:rPr lang="en-US" dirty="0"/>
              <a:t>: </a:t>
            </a:r>
          </a:p>
          <a:p>
            <a:pPr lvl="1"/>
            <a:r>
              <a:rPr lang="en-US" dirty="0"/>
              <a:t>SUM, AVG, MAX </a:t>
            </a:r>
            <a:r>
              <a:rPr lang="en-US" dirty="0" err="1"/>
              <a:t>và</a:t>
            </a:r>
            <a:r>
              <a:rPr lang="en-US" dirty="0"/>
              <a:t> MIN , COUNT </a:t>
            </a:r>
          </a:p>
          <a:p>
            <a:pPr lvl="1"/>
            <a:r>
              <a:rPr lang="en-US" dirty="0" err="1"/>
              <a:t>Mệnh</a:t>
            </a:r>
            <a:r>
              <a:rPr lang="en-US" dirty="0"/>
              <a:t> </a:t>
            </a:r>
            <a:r>
              <a:rPr lang="en-US" dirty="0" err="1"/>
              <a:t>đề</a:t>
            </a:r>
            <a:r>
              <a:rPr lang="en-US" dirty="0"/>
              <a:t> GROUP BY - </a:t>
            </a:r>
            <a:r>
              <a:rPr lang="en-US" dirty="0" err="1"/>
              <a:t>Mệnh</a:t>
            </a:r>
            <a:r>
              <a:rPr lang="en-US" dirty="0"/>
              <a:t> </a:t>
            </a:r>
            <a:r>
              <a:rPr lang="en-US" dirty="0" err="1"/>
              <a:t>đề</a:t>
            </a:r>
            <a:r>
              <a:rPr lang="en-US" dirty="0"/>
              <a:t> HAVING</a:t>
            </a:r>
          </a:p>
        </p:txBody>
      </p:sp>
    </p:spTree>
    <p:extLst>
      <p:ext uri="{BB962C8B-B14F-4D97-AF65-F5344CB8AC3E}">
        <p14:creationId xmlns:p14="http://schemas.microsoft.com/office/powerpoint/2010/main" val="7950500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75390-888A-45F0-9A41-299231833BEA}"/>
              </a:ext>
            </a:extLst>
          </p:cNvPr>
          <p:cNvSpPr>
            <a:spLocks noGrp="1"/>
          </p:cNvSpPr>
          <p:nvPr>
            <p:ph type="title"/>
          </p:nvPr>
        </p:nvSpPr>
        <p:spPr/>
        <p:txBody>
          <a:bodyPr/>
          <a:lstStyle/>
          <a:p>
            <a:r>
              <a:rPr lang="en-US" dirty="0" err="1"/>
              <a:t>Các</a:t>
            </a:r>
            <a:r>
              <a:rPr lang="en-US" dirty="0"/>
              <a:t> </a:t>
            </a:r>
            <a:r>
              <a:rPr lang="en-US" dirty="0" err="1"/>
              <a:t>hàm</a:t>
            </a:r>
            <a:r>
              <a:rPr lang="en-US" dirty="0"/>
              <a:t> </a:t>
            </a:r>
            <a:r>
              <a:rPr lang="en-US" dirty="0" err="1"/>
              <a:t>kết</a:t>
            </a:r>
            <a:r>
              <a:rPr lang="en-US" dirty="0"/>
              <a:t> </a:t>
            </a:r>
            <a:r>
              <a:rPr lang="en-US" dirty="0" err="1"/>
              <a:t>hợp</a:t>
            </a:r>
            <a:endParaRPr lang="en-US" dirty="0"/>
          </a:p>
        </p:txBody>
      </p:sp>
      <p:sp>
        <p:nvSpPr>
          <p:cNvPr id="3" name="Content Placeholder 2">
            <a:extLst>
              <a:ext uri="{FF2B5EF4-FFF2-40B4-BE49-F238E27FC236}">
                <a16:creationId xmlns:a16="http://schemas.microsoft.com/office/drawing/2014/main" id="{9D31467B-CF93-41AA-9E65-C9EE65EBCD31}"/>
              </a:ext>
            </a:extLst>
          </p:cNvPr>
          <p:cNvSpPr>
            <a:spLocks noGrp="1"/>
          </p:cNvSpPr>
          <p:nvPr>
            <p:ph idx="1"/>
          </p:nvPr>
        </p:nvSpPr>
        <p:spPr>
          <a:xfrm>
            <a:off x="595618" y="1778467"/>
            <a:ext cx="8678384" cy="4262896"/>
          </a:xfrm>
        </p:spPr>
        <p:txBody>
          <a:bodyPr/>
          <a:lstStyle/>
          <a:p>
            <a:pPr>
              <a:lnSpc>
                <a:spcPct val="90000"/>
              </a:lnSpc>
            </a:pPr>
            <a:r>
              <a:rPr lang="en-US" altLang="en-US" dirty="0"/>
              <a:t>COUNT</a:t>
            </a:r>
          </a:p>
          <a:p>
            <a:pPr lvl="1">
              <a:lnSpc>
                <a:spcPct val="90000"/>
              </a:lnSpc>
            </a:pPr>
            <a:r>
              <a:rPr lang="en-US" altLang="en-US" dirty="0"/>
              <a:t>COUNT(*)  </a:t>
            </a:r>
            <a:r>
              <a:rPr lang="en-US" altLang="en-US" dirty="0" err="1"/>
              <a:t>đếm</a:t>
            </a:r>
            <a:r>
              <a:rPr lang="en-US" altLang="en-US" dirty="0"/>
              <a:t> </a:t>
            </a:r>
            <a:r>
              <a:rPr lang="en-US" altLang="en-US" dirty="0" err="1"/>
              <a:t>số</a:t>
            </a:r>
            <a:r>
              <a:rPr lang="en-US" altLang="en-US" dirty="0"/>
              <a:t> </a:t>
            </a:r>
            <a:r>
              <a:rPr lang="en-US" altLang="en-US" dirty="0" err="1"/>
              <a:t>dòng</a:t>
            </a:r>
            <a:endParaRPr lang="en-US" altLang="en-US" dirty="0"/>
          </a:p>
          <a:p>
            <a:pPr lvl="1">
              <a:lnSpc>
                <a:spcPct val="90000"/>
              </a:lnSpc>
            </a:pPr>
            <a:r>
              <a:rPr lang="en-US" altLang="en-US" dirty="0"/>
              <a:t>COUNT(&lt;</a:t>
            </a:r>
            <a:r>
              <a:rPr lang="en-US" altLang="en-US" dirty="0" err="1"/>
              <a:t>tên</a:t>
            </a:r>
            <a:r>
              <a:rPr lang="en-US" altLang="en-US" dirty="0"/>
              <a:t> </a:t>
            </a:r>
            <a:r>
              <a:rPr lang="en-US" altLang="en-US" dirty="0" err="1"/>
              <a:t>thuộc</a:t>
            </a:r>
            <a:r>
              <a:rPr lang="en-US" altLang="en-US" dirty="0"/>
              <a:t> </a:t>
            </a:r>
            <a:r>
              <a:rPr lang="en-US" altLang="en-US" dirty="0" err="1"/>
              <a:t>tính</a:t>
            </a:r>
            <a:r>
              <a:rPr lang="en-US" altLang="en-US" dirty="0"/>
              <a:t>&gt;) </a:t>
            </a:r>
            <a:r>
              <a:rPr lang="en-US" altLang="en-US" dirty="0" err="1"/>
              <a:t>đếm</a:t>
            </a:r>
            <a:r>
              <a:rPr lang="en-US" altLang="en-US" dirty="0"/>
              <a:t> </a:t>
            </a:r>
            <a:r>
              <a:rPr lang="en-US" altLang="en-US" dirty="0" err="1"/>
              <a:t>số</a:t>
            </a:r>
            <a:r>
              <a:rPr lang="en-US" altLang="en-US" dirty="0"/>
              <a:t> </a:t>
            </a:r>
            <a:r>
              <a:rPr lang="en-US" altLang="en-US" dirty="0" err="1"/>
              <a:t>giá</a:t>
            </a:r>
            <a:r>
              <a:rPr lang="en-US" altLang="en-US" dirty="0"/>
              <a:t> </a:t>
            </a:r>
            <a:r>
              <a:rPr lang="en-US" altLang="en-US" dirty="0" err="1"/>
              <a:t>trị</a:t>
            </a:r>
            <a:r>
              <a:rPr lang="en-US" altLang="en-US" dirty="0"/>
              <a:t> </a:t>
            </a:r>
            <a:r>
              <a:rPr lang="en-US" altLang="en-US" dirty="0" err="1"/>
              <a:t>khác</a:t>
            </a:r>
            <a:r>
              <a:rPr lang="en-US" altLang="en-US" dirty="0"/>
              <a:t> NULL </a:t>
            </a:r>
            <a:r>
              <a:rPr lang="en-US" altLang="en-US" dirty="0" err="1"/>
              <a:t>của</a:t>
            </a:r>
            <a:r>
              <a:rPr lang="en-US" altLang="en-US" dirty="0"/>
              <a:t> </a:t>
            </a:r>
            <a:r>
              <a:rPr lang="en-US" altLang="en-US" dirty="0" err="1"/>
              <a:t>thuộc</a:t>
            </a:r>
            <a:r>
              <a:rPr lang="en-US" altLang="en-US" dirty="0"/>
              <a:t> </a:t>
            </a:r>
            <a:r>
              <a:rPr lang="en-US" altLang="en-US" dirty="0" err="1"/>
              <a:t>tính</a:t>
            </a:r>
            <a:endParaRPr lang="en-US" altLang="en-US" dirty="0"/>
          </a:p>
          <a:p>
            <a:pPr lvl="1">
              <a:lnSpc>
                <a:spcPct val="90000"/>
              </a:lnSpc>
            </a:pPr>
            <a:r>
              <a:rPr lang="en-US" altLang="en-US" dirty="0"/>
              <a:t>COUNT(DISTINCT &lt;</a:t>
            </a:r>
            <a:r>
              <a:rPr lang="en-US" altLang="en-US" dirty="0" err="1"/>
              <a:t>tên</a:t>
            </a:r>
            <a:r>
              <a:rPr lang="en-US" altLang="en-US" dirty="0"/>
              <a:t> </a:t>
            </a:r>
            <a:r>
              <a:rPr lang="en-US" altLang="en-US" dirty="0" err="1"/>
              <a:t>thuộc</a:t>
            </a:r>
            <a:r>
              <a:rPr lang="en-US" altLang="en-US" dirty="0"/>
              <a:t> </a:t>
            </a:r>
            <a:r>
              <a:rPr lang="en-US" altLang="en-US" dirty="0" err="1"/>
              <a:t>tính</a:t>
            </a:r>
            <a:r>
              <a:rPr lang="en-US" altLang="en-US" dirty="0"/>
              <a:t>&gt;) </a:t>
            </a:r>
            <a:r>
              <a:rPr lang="en-US" altLang="en-US" dirty="0" err="1"/>
              <a:t>đếm</a:t>
            </a:r>
            <a:r>
              <a:rPr lang="en-US" altLang="en-US" dirty="0"/>
              <a:t> </a:t>
            </a:r>
            <a:r>
              <a:rPr lang="en-US" altLang="en-US" dirty="0" err="1"/>
              <a:t>số</a:t>
            </a:r>
            <a:r>
              <a:rPr lang="en-US" altLang="en-US" dirty="0"/>
              <a:t> </a:t>
            </a:r>
            <a:r>
              <a:rPr lang="en-US" altLang="en-US" dirty="0" err="1"/>
              <a:t>giá</a:t>
            </a:r>
            <a:r>
              <a:rPr lang="en-US" altLang="en-US" dirty="0"/>
              <a:t> </a:t>
            </a:r>
            <a:r>
              <a:rPr lang="en-US" altLang="en-US" dirty="0" err="1"/>
              <a:t>trị</a:t>
            </a:r>
            <a:r>
              <a:rPr lang="en-US" altLang="en-US" dirty="0"/>
              <a:t> </a:t>
            </a:r>
            <a:r>
              <a:rPr lang="en-US" altLang="en-US" dirty="0" err="1"/>
              <a:t>khác</a:t>
            </a:r>
            <a:r>
              <a:rPr lang="en-US" altLang="en-US" dirty="0"/>
              <a:t> </a:t>
            </a:r>
            <a:r>
              <a:rPr lang="en-US" altLang="en-US" dirty="0" err="1"/>
              <a:t>nhau</a:t>
            </a:r>
            <a:r>
              <a:rPr lang="en-US" altLang="en-US" dirty="0"/>
              <a:t> </a:t>
            </a:r>
            <a:r>
              <a:rPr lang="en-US" altLang="en-US" dirty="0" err="1"/>
              <a:t>và</a:t>
            </a:r>
            <a:r>
              <a:rPr lang="en-US" altLang="en-US" dirty="0"/>
              <a:t> </a:t>
            </a:r>
            <a:r>
              <a:rPr lang="en-US" altLang="en-US" dirty="0" err="1"/>
              <a:t>khác</a:t>
            </a:r>
            <a:r>
              <a:rPr lang="en-US" altLang="en-US" dirty="0"/>
              <a:t> NULL </a:t>
            </a:r>
            <a:r>
              <a:rPr lang="en-US" altLang="en-US" dirty="0" err="1"/>
              <a:t>của</a:t>
            </a:r>
            <a:r>
              <a:rPr lang="en-US" altLang="en-US" dirty="0"/>
              <a:t> </a:t>
            </a:r>
            <a:r>
              <a:rPr lang="en-US" altLang="en-US" dirty="0" err="1"/>
              <a:t>thuộc</a:t>
            </a:r>
            <a:r>
              <a:rPr lang="en-US" altLang="en-US" dirty="0"/>
              <a:t> </a:t>
            </a:r>
            <a:r>
              <a:rPr lang="en-US" altLang="en-US" dirty="0" err="1"/>
              <a:t>tính</a:t>
            </a:r>
            <a:endParaRPr lang="en-US" altLang="en-US" dirty="0"/>
          </a:p>
          <a:p>
            <a:pPr>
              <a:lnSpc>
                <a:spcPct val="90000"/>
              </a:lnSpc>
            </a:pPr>
            <a:r>
              <a:rPr lang="en-US" altLang="en-US" dirty="0"/>
              <a:t>MIN</a:t>
            </a:r>
          </a:p>
          <a:p>
            <a:pPr>
              <a:lnSpc>
                <a:spcPct val="90000"/>
              </a:lnSpc>
            </a:pPr>
            <a:r>
              <a:rPr lang="en-US" altLang="en-US" dirty="0"/>
              <a:t>MAX</a:t>
            </a:r>
          </a:p>
          <a:p>
            <a:pPr>
              <a:lnSpc>
                <a:spcPct val="90000"/>
              </a:lnSpc>
            </a:pPr>
            <a:r>
              <a:rPr lang="en-US" altLang="en-US" dirty="0"/>
              <a:t>SUM</a:t>
            </a:r>
          </a:p>
          <a:p>
            <a:pPr>
              <a:lnSpc>
                <a:spcPct val="90000"/>
              </a:lnSpc>
            </a:pPr>
            <a:r>
              <a:rPr lang="en-US" altLang="en-US" dirty="0"/>
              <a:t>AVG</a:t>
            </a:r>
          </a:p>
          <a:p>
            <a:pPr>
              <a:lnSpc>
                <a:spcPct val="90000"/>
              </a:lnSpc>
            </a:pPr>
            <a:endParaRPr lang="en-US" altLang="en-US" dirty="0"/>
          </a:p>
          <a:p>
            <a:pPr>
              <a:lnSpc>
                <a:spcPct val="90000"/>
              </a:lnSpc>
            </a:pPr>
            <a:r>
              <a:rPr lang="en-US" altLang="en-US" dirty="0" err="1"/>
              <a:t>Các</a:t>
            </a:r>
            <a:r>
              <a:rPr lang="en-US" altLang="en-US" dirty="0"/>
              <a:t> </a:t>
            </a:r>
            <a:r>
              <a:rPr lang="en-US" altLang="en-US" dirty="0" err="1"/>
              <a:t>hàm</a:t>
            </a:r>
            <a:r>
              <a:rPr lang="en-US" altLang="en-US" dirty="0"/>
              <a:t> </a:t>
            </a:r>
            <a:r>
              <a:rPr lang="en-US" altLang="en-US" dirty="0" err="1"/>
              <a:t>kết</a:t>
            </a:r>
            <a:r>
              <a:rPr lang="en-US" altLang="en-US" dirty="0"/>
              <a:t> </a:t>
            </a:r>
            <a:r>
              <a:rPr lang="en-US" altLang="en-US" dirty="0" err="1"/>
              <a:t>hợp</a:t>
            </a:r>
            <a:r>
              <a:rPr lang="en-US" altLang="en-US" dirty="0"/>
              <a:t> </a:t>
            </a:r>
            <a:r>
              <a:rPr lang="en-US" altLang="en-US" dirty="0" err="1"/>
              <a:t>được</a:t>
            </a:r>
            <a:r>
              <a:rPr lang="en-US" altLang="en-US" dirty="0"/>
              <a:t> </a:t>
            </a:r>
            <a:r>
              <a:rPr lang="en-US" altLang="en-US" dirty="0" err="1"/>
              <a:t>đặt</a:t>
            </a:r>
            <a:r>
              <a:rPr lang="en-US" altLang="en-US" dirty="0"/>
              <a:t> ở </a:t>
            </a:r>
            <a:r>
              <a:rPr lang="en-US" altLang="en-US" dirty="0" err="1"/>
              <a:t>mệnh</a:t>
            </a:r>
            <a:r>
              <a:rPr lang="en-US" altLang="en-US" dirty="0"/>
              <a:t> </a:t>
            </a:r>
            <a:r>
              <a:rPr lang="en-US" altLang="en-US" dirty="0" err="1"/>
              <a:t>đề</a:t>
            </a:r>
            <a:r>
              <a:rPr lang="en-US" altLang="en-US" dirty="0"/>
              <a:t> SELECT</a:t>
            </a:r>
          </a:p>
          <a:p>
            <a:endParaRPr lang="en-US" dirty="0"/>
          </a:p>
        </p:txBody>
      </p:sp>
    </p:spTree>
    <p:extLst>
      <p:ext uri="{BB962C8B-B14F-4D97-AF65-F5344CB8AC3E}">
        <p14:creationId xmlns:p14="http://schemas.microsoft.com/office/powerpoint/2010/main" val="9877087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354D3-0E65-4AD6-8E7E-B75D3BD88D8E}"/>
              </a:ext>
            </a:extLst>
          </p:cNvPr>
          <p:cNvSpPr>
            <a:spLocks noGrp="1"/>
          </p:cNvSpPr>
          <p:nvPr>
            <p:ph type="title"/>
          </p:nvPr>
        </p:nvSpPr>
        <p:spPr/>
        <p:txBody>
          <a:bodyPr/>
          <a:lstStyle/>
          <a:p>
            <a:r>
              <a:rPr lang="en-US" dirty="0"/>
              <a:t>Count</a:t>
            </a:r>
          </a:p>
        </p:txBody>
      </p:sp>
      <p:sp>
        <p:nvSpPr>
          <p:cNvPr id="3" name="Content Placeholder 2">
            <a:extLst>
              <a:ext uri="{FF2B5EF4-FFF2-40B4-BE49-F238E27FC236}">
                <a16:creationId xmlns:a16="http://schemas.microsoft.com/office/drawing/2014/main" id="{584D6C7B-042E-45B1-AB71-D244F6A4CA26}"/>
              </a:ext>
            </a:extLst>
          </p:cNvPr>
          <p:cNvSpPr>
            <a:spLocks noGrp="1"/>
          </p:cNvSpPr>
          <p:nvPr>
            <p:ph idx="1"/>
          </p:nvPr>
        </p:nvSpPr>
        <p:spPr/>
        <p:txBody>
          <a:bodyPr/>
          <a:lstStyle/>
          <a:p>
            <a:r>
              <a:rPr lang="vi-VN" dirty="0"/>
              <a:t>Hàm COUNT là hàm đếm số lượng, chẳng hạn chúng ta có thể đếm số lượng sản phẩm đang được bán như sau: </a:t>
            </a:r>
          </a:p>
          <a:p>
            <a:pPr marL="400050" lvl="1" indent="0">
              <a:buNone/>
            </a:pPr>
            <a:r>
              <a:rPr lang="en-US" dirty="0">
                <a:solidFill>
                  <a:srgbClr val="FF0000"/>
                </a:solidFill>
              </a:rPr>
              <a:t>SELECT COUNT</a:t>
            </a:r>
            <a:r>
              <a:rPr lang="en-US" dirty="0"/>
              <a:t>(*) </a:t>
            </a:r>
            <a:r>
              <a:rPr lang="en-US" dirty="0">
                <a:solidFill>
                  <a:srgbClr val="FF0000"/>
                </a:solidFill>
              </a:rPr>
              <a:t>AS</a:t>
            </a:r>
            <a:r>
              <a:rPr lang="en-US" dirty="0"/>
              <a:t> Total </a:t>
            </a:r>
          </a:p>
          <a:p>
            <a:pPr marL="400050" lvl="1" indent="0">
              <a:buNone/>
            </a:pPr>
            <a:r>
              <a:rPr lang="en-US" dirty="0">
                <a:solidFill>
                  <a:srgbClr val="FF0000"/>
                </a:solidFill>
              </a:rPr>
              <a:t>FROM</a:t>
            </a:r>
            <a:r>
              <a:rPr lang="en-US" dirty="0"/>
              <a:t> products </a:t>
            </a:r>
          </a:p>
          <a:p>
            <a:pPr marL="400050" lvl="1" indent="0">
              <a:buNone/>
            </a:pPr>
            <a:endParaRPr lang="en-US" dirty="0"/>
          </a:p>
        </p:txBody>
      </p:sp>
    </p:spTree>
    <p:extLst>
      <p:ext uri="{BB962C8B-B14F-4D97-AF65-F5344CB8AC3E}">
        <p14:creationId xmlns:p14="http://schemas.microsoft.com/office/powerpoint/2010/main" val="3250545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CA4BB-8913-435B-BC12-6D9ACDDE48DE}"/>
              </a:ext>
            </a:extLst>
          </p:cNvPr>
          <p:cNvSpPr>
            <a:spLocks noGrp="1"/>
          </p:cNvSpPr>
          <p:nvPr>
            <p:ph type="title"/>
          </p:nvPr>
        </p:nvSpPr>
        <p:spPr/>
        <p:txBody>
          <a:bodyPr/>
          <a:lstStyle/>
          <a:p>
            <a:r>
              <a:rPr lang="en-US" dirty="0" err="1"/>
              <a:t>Hàm</a:t>
            </a:r>
            <a:r>
              <a:rPr lang="en-US" dirty="0"/>
              <a:t> Max </a:t>
            </a:r>
            <a:r>
              <a:rPr lang="en-US" dirty="0" err="1"/>
              <a:t>và</a:t>
            </a:r>
            <a:r>
              <a:rPr lang="en-US" dirty="0"/>
              <a:t> Min</a:t>
            </a:r>
          </a:p>
        </p:txBody>
      </p:sp>
      <p:sp>
        <p:nvSpPr>
          <p:cNvPr id="3" name="Content Placeholder 2">
            <a:extLst>
              <a:ext uri="{FF2B5EF4-FFF2-40B4-BE49-F238E27FC236}">
                <a16:creationId xmlns:a16="http://schemas.microsoft.com/office/drawing/2014/main" id="{69406228-46AA-45EB-8468-FA0FFD9A8AA6}"/>
              </a:ext>
            </a:extLst>
          </p:cNvPr>
          <p:cNvSpPr>
            <a:spLocks noGrp="1"/>
          </p:cNvSpPr>
          <p:nvPr>
            <p:ph idx="1"/>
          </p:nvPr>
        </p:nvSpPr>
        <p:spPr/>
        <p:txBody>
          <a:bodyPr/>
          <a:lstStyle/>
          <a:p>
            <a:r>
              <a:rPr lang="en-US" b="1" i="1" dirty="0" err="1"/>
              <a:t>Hàm</a:t>
            </a:r>
            <a:r>
              <a:rPr lang="en-US" b="1" i="1" dirty="0"/>
              <a:t> MAX </a:t>
            </a:r>
            <a:r>
              <a:rPr lang="en-US" b="1" i="1" dirty="0" err="1"/>
              <a:t>và</a:t>
            </a:r>
            <a:r>
              <a:rPr lang="en-US" b="1" i="1" dirty="0"/>
              <a:t> MIN </a:t>
            </a:r>
            <a:endParaRPr lang="en-US" dirty="0"/>
          </a:p>
          <a:p>
            <a:r>
              <a:rPr lang="en-US" dirty="0" err="1"/>
              <a:t>Hàm</a:t>
            </a:r>
            <a:r>
              <a:rPr lang="en-US" dirty="0"/>
              <a:t> MAX </a:t>
            </a:r>
            <a:r>
              <a:rPr lang="en-US" dirty="0" err="1"/>
              <a:t>trả</a:t>
            </a:r>
            <a:r>
              <a:rPr lang="en-US" dirty="0"/>
              <a:t> </a:t>
            </a:r>
            <a:r>
              <a:rPr lang="en-US" dirty="0" err="1"/>
              <a:t>về</a:t>
            </a:r>
            <a:r>
              <a:rPr lang="en-US" dirty="0"/>
              <a:t> </a:t>
            </a:r>
            <a:r>
              <a:rPr lang="en-US" dirty="0" err="1"/>
              <a:t>giá</a:t>
            </a:r>
            <a:r>
              <a:rPr lang="en-US" dirty="0"/>
              <a:t> </a:t>
            </a:r>
            <a:r>
              <a:rPr lang="en-US" dirty="0" err="1"/>
              <a:t>trị</a:t>
            </a:r>
            <a:r>
              <a:rPr lang="en-US" dirty="0"/>
              <a:t> </a:t>
            </a:r>
            <a:r>
              <a:rPr lang="en-US" dirty="0" err="1"/>
              <a:t>lớn</a:t>
            </a:r>
            <a:r>
              <a:rPr lang="en-US" dirty="0"/>
              <a:t> </a:t>
            </a:r>
            <a:r>
              <a:rPr lang="en-US" dirty="0" err="1"/>
              <a:t>nhất</a:t>
            </a:r>
            <a:r>
              <a:rPr lang="en-US" dirty="0"/>
              <a:t> </a:t>
            </a:r>
            <a:r>
              <a:rPr lang="en-US" dirty="0" err="1"/>
              <a:t>và</a:t>
            </a:r>
            <a:r>
              <a:rPr lang="en-US" dirty="0"/>
              <a:t> </a:t>
            </a:r>
            <a:r>
              <a:rPr lang="en-US" dirty="0" err="1"/>
              <a:t>hàm</a:t>
            </a:r>
            <a:r>
              <a:rPr lang="en-US" dirty="0"/>
              <a:t> MIN </a:t>
            </a:r>
            <a:r>
              <a:rPr lang="en-US" dirty="0" err="1"/>
              <a:t>trả</a:t>
            </a:r>
            <a:r>
              <a:rPr lang="en-US" dirty="0"/>
              <a:t> </a:t>
            </a:r>
            <a:r>
              <a:rPr lang="en-US" dirty="0" err="1"/>
              <a:t>về</a:t>
            </a:r>
            <a:r>
              <a:rPr lang="en-US" dirty="0"/>
              <a:t> </a:t>
            </a:r>
            <a:r>
              <a:rPr lang="en-US" dirty="0" err="1"/>
              <a:t>giá</a:t>
            </a:r>
            <a:r>
              <a:rPr lang="en-US" dirty="0"/>
              <a:t> </a:t>
            </a:r>
            <a:r>
              <a:rPr lang="en-US" dirty="0" err="1"/>
              <a:t>trị</a:t>
            </a:r>
            <a:r>
              <a:rPr lang="en-US" dirty="0"/>
              <a:t> </a:t>
            </a:r>
            <a:r>
              <a:rPr lang="en-US" dirty="0" err="1"/>
              <a:t>nhỏ</a:t>
            </a:r>
            <a:r>
              <a:rPr lang="en-US" dirty="0"/>
              <a:t> </a:t>
            </a:r>
            <a:r>
              <a:rPr lang="en-US" dirty="0" err="1"/>
              <a:t>nhất</a:t>
            </a:r>
            <a:r>
              <a:rPr lang="en-US" dirty="0"/>
              <a:t> </a:t>
            </a:r>
            <a:r>
              <a:rPr lang="en-US" dirty="0" err="1"/>
              <a:t>của</a:t>
            </a:r>
            <a:r>
              <a:rPr lang="en-US" dirty="0"/>
              <a:t> </a:t>
            </a:r>
            <a:r>
              <a:rPr lang="en-US" dirty="0" err="1"/>
              <a:t>một</a:t>
            </a:r>
            <a:r>
              <a:rPr lang="en-US" dirty="0"/>
              <a:t> </a:t>
            </a:r>
            <a:r>
              <a:rPr lang="en-US" dirty="0" err="1"/>
              <a:t>tập</a:t>
            </a:r>
            <a:r>
              <a:rPr lang="en-US" dirty="0"/>
              <a:t> </a:t>
            </a:r>
            <a:r>
              <a:rPr lang="en-US" dirty="0" err="1"/>
              <a:t>các</a:t>
            </a:r>
            <a:r>
              <a:rPr lang="en-US" dirty="0"/>
              <a:t> </a:t>
            </a:r>
            <a:r>
              <a:rPr lang="en-US" dirty="0" err="1"/>
              <a:t>giá</a:t>
            </a:r>
            <a:r>
              <a:rPr lang="en-US" dirty="0"/>
              <a:t> </a:t>
            </a:r>
            <a:r>
              <a:rPr lang="en-US" dirty="0" err="1"/>
              <a:t>trị</a:t>
            </a:r>
            <a:r>
              <a:rPr lang="en-US" dirty="0"/>
              <a:t>. </a:t>
            </a:r>
          </a:p>
          <a:p>
            <a:r>
              <a:rPr lang="en-US" dirty="0"/>
              <a:t>MAX(expression) </a:t>
            </a:r>
          </a:p>
          <a:p>
            <a:r>
              <a:rPr lang="en-US" dirty="0"/>
              <a:t>MIN(expression) </a:t>
            </a:r>
          </a:p>
          <a:p>
            <a:endParaRPr lang="en-US" dirty="0"/>
          </a:p>
          <a:p>
            <a:r>
              <a:rPr lang="en-US" dirty="0">
                <a:solidFill>
                  <a:srgbClr val="FF0000"/>
                </a:solidFill>
              </a:rPr>
              <a:t>SELECT MAX</a:t>
            </a:r>
            <a:r>
              <a:rPr lang="en-US" dirty="0"/>
              <a:t>(</a:t>
            </a:r>
            <a:r>
              <a:rPr lang="en-US" dirty="0" err="1"/>
              <a:t>buyPrice</a:t>
            </a:r>
            <a:r>
              <a:rPr lang="en-US" dirty="0"/>
              <a:t>) </a:t>
            </a:r>
            <a:r>
              <a:rPr lang="en-US" dirty="0" err="1"/>
              <a:t>highest_price</a:t>
            </a:r>
            <a:r>
              <a:rPr lang="en-US" dirty="0"/>
              <a:t>,  </a:t>
            </a:r>
            <a:r>
              <a:rPr lang="en-US" dirty="0">
                <a:solidFill>
                  <a:srgbClr val="FF0000"/>
                </a:solidFill>
              </a:rPr>
              <a:t>MIN(</a:t>
            </a:r>
            <a:r>
              <a:rPr lang="en-US" dirty="0" err="1"/>
              <a:t>buyPrice</a:t>
            </a:r>
            <a:r>
              <a:rPr lang="en-US" dirty="0"/>
              <a:t>) </a:t>
            </a:r>
            <a:r>
              <a:rPr lang="en-US" dirty="0" err="1"/>
              <a:t>lowest_price</a:t>
            </a:r>
            <a:r>
              <a:rPr lang="en-US" dirty="0"/>
              <a:t> </a:t>
            </a:r>
            <a:r>
              <a:rPr lang="en-US" dirty="0">
                <a:solidFill>
                  <a:srgbClr val="FF0000"/>
                </a:solidFill>
              </a:rPr>
              <a:t>FROM</a:t>
            </a:r>
            <a:r>
              <a:rPr lang="en-US" dirty="0"/>
              <a:t> Products </a:t>
            </a:r>
          </a:p>
        </p:txBody>
      </p:sp>
    </p:spTree>
    <p:extLst>
      <p:ext uri="{BB962C8B-B14F-4D97-AF65-F5344CB8AC3E}">
        <p14:creationId xmlns:p14="http://schemas.microsoft.com/office/powerpoint/2010/main" val="17697413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8EC68-27C6-45F1-A584-D360D8B47A44}"/>
              </a:ext>
            </a:extLst>
          </p:cNvPr>
          <p:cNvSpPr>
            <a:spLocks noGrp="1"/>
          </p:cNvSpPr>
          <p:nvPr>
            <p:ph type="title"/>
          </p:nvPr>
        </p:nvSpPr>
        <p:spPr/>
        <p:txBody>
          <a:bodyPr/>
          <a:lstStyle/>
          <a:p>
            <a:r>
              <a:rPr lang="en-US" dirty="0" err="1"/>
              <a:t>Hàm</a:t>
            </a:r>
            <a:r>
              <a:rPr lang="en-US" dirty="0"/>
              <a:t> SUM</a:t>
            </a:r>
          </a:p>
        </p:txBody>
      </p:sp>
      <p:sp>
        <p:nvSpPr>
          <p:cNvPr id="3" name="Content Placeholder 2">
            <a:extLst>
              <a:ext uri="{FF2B5EF4-FFF2-40B4-BE49-F238E27FC236}">
                <a16:creationId xmlns:a16="http://schemas.microsoft.com/office/drawing/2014/main" id="{892DEC40-3F79-4BC0-8442-3CB10F40FB10}"/>
              </a:ext>
            </a:extLst>
          </p:cNvPr>
          <p:cNvSpPr>
            <a:spLocks noGrp="1"/>
          </p:cNvSpPr>
          <p:nvPr>
            <p:ph idx="1"/>
          </p:nvPr>
        </p:nvSpPr>
        <p:spPr/>
        <p:txBody>
          <a:bodyPr/>
          <a:lstStyle/>
          <a:p>
            <a:r>
              <a:rPr lang="en-US" dirty="0" err="1"/>
              <a:t>Hàm</a:t>
            </a:r>
            <a:r>
              <a:rPr lang="en-US" dirty="0"/>
              <a:t> SUM </a:t>
            </a:r>
            <a:r>
              <a:rPr lang="en-US" dirty="0" err="1"/>
              <a:t>dùng</a:t>
            </a:r>
            <a:r>
              <a:rPr lang="en-US" dirty="0"/>
              <a:t> </a:t>
            </a:r>
            <a:r>
              <a:rPr lang="en-US" dirty="0" err="1"/>
              <a:t>để</a:t>
            </a:r>
            <a:r>
              <a:rPr lang="en-US" dirty="0"/>
              <a:t> </a:t>
            </a:r>
            <a:r>
              <a:rPr lang="en-US" dirty="0" err="1"/>
              <a:t>tính</a:t>
            </a:r>
            <a:r>
              <a:rPr lang="en-US" dirty="0"/>
              <a:t> </a:t>
            </a:r>
            <a:r>
              <a:rPr lang="en-US" dirty="0" err="1"/>
              <a:t>tổng</a:t>
            </a:r>
            <a:r>
              <a:rPr lang="en-US" dirty="0"/>
              <a:t> </a:t>
            </a:r>
            <a:r>
              <a:rPr lang="en-US" dirty="0" err="1"/>
              <a:t>số</a:t>
            </a:r>
            <a:r>
              <a:rPr lang="en-US" dirty="0"/>
              <a:t> l</a:t>
            </a:r>
            <a:r>
              <a:rPr lang="vi-VN" dirty="0"/>
              <a:t>ư</a:t>
            </a:r>
            <a:r>
              <a:rPr lang="en-US" dirty="0" err="1"/>
              <a:t>ợng</a:t>
            </a:r>
            <a:r>
              <a:rPr lang="en-US" dirty="0"/>
              <a:t> </a:t>
            </a:r>
            <a:r>
              <a:rPr lang="en-US" dirty="0" err="1"/>
              <a:t>trong</a:t>
            </a:r>
            <a:r>
              <a:rPr lang="en-US" dirty="0"/>
              <a:t> </a:t>
            </a:r>
            <a:r>
              <a:rPr lang="en-US" dirty="0" err="1"/>
              <a:t>một</a:t>
            </a:r>
            <a:r>
              <a:rPr lang="en-US" dirty="0"/>
              <a:t> </a:t>
            </a:r>
            <a:r>
              <a:rPr lang="en-US" dirty="0" err="1"/>
              <a:t>cột</a:t>
            </a:r>
            <a:r>
              <a:rPr lang="en-US" dirty="0"/>
              <a:t> </a:t>
            </a:r>
            <a:r>
              <a:rPr lang="en-US" dirty="0" err="1"/>
              <a:t>thuộc</a:t>
            </a:r>
            <a:r>
              <a:rPr lang="en-US" dirty="0"/>
              <a:t> </a:t>
            </a:r>
            <a:r>
              <a:rPr lang="en-US" dirty="0" err="1"/>
              <a:t>tính</a:t>
            </a:r>
            <a:r>
              <a:rPr lang="en-US" dirty="0"/>
              <a:t> </a:t>
            </a:r>
            <a:r>
              <a:rPr lang="en-US" dirty="0" err="1"/>
              <a:t>có</a:t>
            </a:r>
            <a:r>
              <a:rPr lang="en-US" dirty="0"/>
              <a:t> </a:t>
            </a:r>
            <a:r>
              <a:rPr lang="en-US" dirty="0" err="1"/>
              <a:t>thể</a:t>
            </a:r>
            <a:r>
              <a:rPr lang="en-US" dirty="0"/>
              <a:t> </a:t>
            </a:r>
            <a:r>
              <a:rPr lang="en-US" dirty="0" err="1"/>
              <a:t>theo</a:t>
            </a:r>
            <a:r>
              <a:rPr lang="en-US" dirty="0"/>
              <a:t> hay </a:t>
            </a:r>
            <a:r>
              <a:rPr lang="en-US" dirty="0" err="1"/>
              <a:t>không</a:t>
            </a:r>
            <a:r>
              <a:rPr lang="en-US" dirty="0"/>
              <a:t> </a:t>
            </a:r>
            <a:r>
              <a:rPr lang="en-US" dirty="0" err="1"/>
              <a:t>theo</a:t>
            </a:r>
            <a:r>
              <a:rPr lang="en-US" dirty="0"/>
              <a:t> </a:t>
            </a:r>
            <a:r>
              <a:rPr lang="en-US" dirty="0" err="1"/>
              <a:t>một</a:t>
            </a:r>
            <a:r>
              <a:rPr lang="en-US" dirty="0"/>
              <a:t> </a:t>
            </a:r>
            <a:r>
              <a:rPr lang="en-US" dirty="0" err="1"/>
              <a:t>điều</a:t>
            </a:r>
            <a:r>
              <a:rPr lang="en-US" dirty="0"/>
              <a:t> </a:t>
            </a:r>
            <a:r>
              <a:rPr lang="en-US" dirty="0" err="1"/>
              <a:t>kiện</a:t>
            </a:r>
            <a:r>
              <a:rPr lang="en-US" dirty="0"/>
              <a:t> </a:t>
            </a:r>
          </a:p>
          <a:p>
            <a:r>
              <a:rPr lang="en-US" dirty="0" err="1"/>
              <a:t>Ví</a:t>
            </a:r>
            <a:r>
              <a:rPr lang="en-US" dirty="0"/>
              <a:t> </a:t>
            </a:r>
            <a:r>
              <a:rPr lang="en-US" dirty="0" err="1"/>
              <a:t>dụ</a:t>
            </a:r>
            <a:r>
              <a:rPr lang="en-US" dirty="0"/>
              <a:t>: </a:t>
            </a:r>
            <a:r>
              <a:rPr lang="vi-VN" dirty="0"/>
              <a:t>Tính tổng số lượng hàng hóa trong kho </a:t>
            </a:r>
            <a:r>
              <a:rPr lang="en-US" dirty="0"/>
              <a:t>:</a:t>
            </a:r>
            <a:endParaRPr lang="vi-VN" dirty="0"/>
          </a:p>
          <a:p>
            <a:pPr marL="457200" lvl="1" indent="0">
              <a:buNone/>
            </a:pPr>
            <a:r>
              <a:rPr lang="en-US" dirty="0">
                <a:solidFill>
                  <a:srgbClr val="FF0000"/>
                </a:solidFill>
              </a:rPr>
              <a:t>SELECT</a:t>
            </a:r>
            <a:r>
              <a:rPr lang="en-US" dirty="0"/>
              <a:t> sum(</a:t>
            </a:r>
            <a:r>
              <a:rPr lang="en-US" dirty="0" err="1"/>
              <a:t>quantityInStock</a:t>
            </a:r>
            <a:r>
              <a:rPr lang="en-US" dirty="0"/>
              <a:t>)  </a:t>
            </a:r>
            <a:r>
              <a:rPr lang="en-US" dirty="0">
                <a:solidFill>
                  <a:srgbClr val="FF0000"/>
                </a:solidFill>
              </a:rPr>
              <a:t>FROM</a:t>
            </a:r>
            <a:r>
              <a:rPr lang="en-US" dirty="0"/>
              <a:t> products </a:t>
            </a:r>
          </a:p>
        </p:txBody>
      </p:sp>
    </p:spTree>
    <p:extLst>
      <p:ext uri="{BB962C8B-B14F-4D97-AF65-F5344CB8AC3E}">
        <p14:creationId xmlns:p14="http://schemas.microsoft.com/office/powerpoint/2010/main" val="15377788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2F86C-6503-460C-87D7-C024286E7AF0}"/>
              </a:ext>
            </a:extLst>
          </p:cNvPr>
          <p:cNvSpPr>
            <a:spLocks noGrp="1"/>
          </p:cNvSpPr>
          <p:nvPr>
            <p:ph type="title"/>
          </p:nvPr>
        </p:nvSpPr>
        <p:spPr/>
        <p:txBody>
          <a:bodyPr/>
          <a:lstStyle/>
          <a:p>
            <a:r>
              <a:rPr lang="en-US" b="1" i="1" dirty="0" err="1"/>
              <a:t>Hàm</a:t>
            </a:r>
            <a:r>
              <a:rPr lang="en-US" b="1" i="1" dirty="0"/>
              <a:t> AVG </a:t>
            </a:r>
            <a:br>
              <a:rPr lang="en-US" dirty="0"/>
            </a:br>
            <a:endParaRPr lang="en-US" dirty="0"/>
          </a:p>
        </p:txBody>
      </p:sp>
      <p:sp>
        <p:nvSpPr>
          <p:cNvPr id="3" name="Content Placeholder 2">
            <a:extLst>
              <a:ext uri="{FF2B5EF4-FFF2-40B4-BE49-F238E27FC236}">
                <a16:creationId xmlns:a16="http://schemas.microsoft.com/office/drawing/2014/main" id="{62D3D8CA-1B11-4913-B8E8-5B56A9DE54C0}"/>
              </a:ext>
            </a:extLst>
          </p:cNvPr>
          <p:cNvSpPr>
            <a:spLocks noGrp="1"/>
          </p:cNvSpPr>
          <p:nvPr>
            <p:ph idx="1"/>
          </p:nvPr>
        </p:nvSpPr>
        <p:spPr/>
        <p:txBody>
          <a:bodyPr/>
          <a:lstStyle/>
          <a:p>
            <a:r>
              <a:rPr lang="en-US" b="1" i="1" dirty="0" err="1"/>
              <a:t>Hàm</a:t>
            </a:r>
            <a:r>
              <a:rPr lang="en-US" b="1" i="1" dirty="0"/>
              <a:t> AVG </a:t>
            </a:r>
            <a:endParaRPr lang="en-US" dirty="0"/>
          </a:p>
          <a:p>
            <a:r>
              <a:rPr lang="vi-VN" dirty="0"/>
              <a:t>AVG được sử dụng để tính giá trị trung bình của một biểu thức, Nó không chấp nhận giá trị NULL. Chúng ta có thể sử dụng AVG để tính toán giá trung bình của tất cả các sản phẩm đã mua như sau: </a:t>
            </a:r>
            <a:r>
              <a:rPr lang="en-US" dirty="0"/>
              <a:t> </a:t>
            </a:r>
          </a:p>
          <a:p>
            <a:pPr lvl="1"/>
            <a:endParaRPr lang="en-US" dirty="0">
              <a:solidFill>
                <a:srgbClr val="FF0000"/>
              </a:solidFill>
            </a:endParaRPr>
          </a:p>
          <a:p>
            <a:pPr marL="457200" lvl="1" indent="0">
              <a:buNone/>
            </a:pPr>
            <a:r>
              <a:rPr lang="en-US" dirty="0">
                <a:solidFill>
                  <a:srgbClr val="FF0000"/>
                </a:solidFill>
              </a:rPr>
              <a:t>SELECT AVG</a:t>
            </a:r>
            <a:r>
              <a:rPr lang="en-US" dirty="0"/>
              <a:t>(</a:t>
            </a:r>
            <a:r>
              <a:rPr lang="en-US" dirty="0" err="1"/>
              <a:t>buyPrice</a:t>
            </a:r>
            <a:r>
              <a:rPr lang="en-US" dirty="0"/>
              <a:t>) </a:t>
            </a:r>
            <a:r>
              <a:rPr lang="en-US" dirty="0" err="1"/>
              <a:t>average_buy_price</a:t>
            </a:r>
            <a:r>
              <a:rPr lang="en-US" dirty="0"/>
              <a:t>  </a:t>
            </a:r>
            <a:r>
              <a:rPr lang="en-US" dirty="0">
                <a:solidFill>
                  <a:srgbClr val="FF0000"/>
                </a:solidFill>
              </a:rPr>
              <a:t>FROM</a:t>
            </a:r>
            <a:r>
              <a:rPr lang="en-US" dirty="0"/>
              <a:t> Products </a:t>
            </a:r>
          </a:p>
        </p:txBody>
      </p:sp>
    </p:spTree>
    <p:extLst>
      <p:ext uri="{BB962C8B-B14F-4D97-AF65-F5344CB8AC3E}">
        <p14:creationId xmlns:p14="http://schemas.microsoft.com/office/powerpoint/2010/main" val="15376916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99998-C4B3-4C5E-A590-77F6B20F0E30}"/>
              </a:ext>
            </a:extLst>
          </p:cNvPr>
          <p:cNvSpPr>
            <a:spLocks noGrp="1"/>
          </p:cNvSpPr>
          <p:nvPr>
            <p:ph type="title"/>
          </p:nvPr>
        </p:nvSpPr>
        <p:spPr/>
        <p:txBody>
          <a:bodyPr/>
          <a:lstStyle/>
          <a:p>
            <a:r>
              <a:rPr lang="en-US" dirty="0" err="1"/>
              <a:t>Mệnh</a:t>
            </a:r>
            <a:r>
              <a:rPr lang="en-US" dirty="0"/>
              <a:t> </a:t>
            </a:r>
            <a:r>
              <a:rPr lang="en-US" dirty="0" err="1"/>
              <a:t>đề</a:t>
            </a:r>
            <a:r>
              <a:rPr lang="en-US" dirty="0"/>
              <a:t> </a:t>
            </a:r>
            <a:r>
              <a:rPr lang="en-US" dirty="0" err="1"/>
              <a:t>Gom</a:t>
            </a:r>
            <a:r>
              <a:rPr lang="en-US" dirty="0"/>
              <a:t> </a:t>
            </a:r>
            <a:r>
              <a:rPr lang="en-US" dirty="0" err="1"/>
              <a:t>Nhóm</a:t>
            </a:r>
            <a:r>
              <a:rPr lang="en-US" dirty="0"/>
              <a:t>: Group by</a:t>
            </a:r>
          </a:p>
        </p:txBody>
      </p:sp>
      <p:sp>
        <p:nvSpPr>
          <p:cNvPr id="4" name="Rectangle 3">
            <a:extLst>
              <a:ext uri="{FF2B5EF4-FFF2-40B4-BE49-F238E27FC236}">
                <a16:creationId xmlns:a16="http://schemas.microsoft.com/office/drawing/2014/main" id="{D90ECCA0-14FA-4743-BE36-2B759C81CA88}"/>
              </a:ext>
            </a:extLst>
          </p:cNvPr>
          <p:cNvSpPr>
            <a:spLocks noGrp="1" noChangeArrowheads="1"/>
          </p:cNvSpPr>
          <p:nvPr>
            <p:ph idx="1"/>
          </p:nvPr>
        </p:nvSpPr>
        <p:spPr>
          <a:xfrm>
            <a:off x="677863" y="2160588"/>
            <a:ext cx="8596312" cy="3881437"/>
          </a:xfrm>
        </p:spPr>
        <p:txBody>
          <a:bodyPr/>
          <a:lstStyle/>
          <a:p>
            <a:r>
              <a:rPr lang="en-US" altLang="en-US" dirty="0" err="1"/>
              <a:t>Cú</a:t>
            </a:r>
            <a:r>
              <a:rPr lang="en-US" altLang="en-US" dirty="0"/>
              <a:t> </a:t>
            </a:r>
            <a:r>
              <a:rPr lang="en-US" altLang="en-US" dirty="0" err="1"/>
              <a:t>pháp</a:t>
            </a:r>
            <a:endParaRPr lang="en-US" altLang="en-US" dirty="0"/>
          </a:p>
          <a:p>
            <a:endParaRPr lang="en-US" altLang="en-US" dirty="0"/>
          </a:p>
          <a:p>
            <a:endParaRPr lang="en-US" altLang="en-US" dirty="0"/>
          </a:p>
          <a:p>
            <a:endParaRPr lang="en-US" altLang="en-US" dirty="0"/>
          </a:p>
          <a:p>
            <a:endParaRPr lang="en-US" altLang="en-US" dirty="0"/>
          </a:p>
          <a:p>
            <a:endParaRPr lang="en-US" altLang="en-US" dirty="0"/>
          </a:p>
          <a:p>
            <a:r>
              <a:rPr lang="en-US" altLang="en-US" dirty="0"/>
              <a:t>Sau </a:t>
            </a:r>
            <a:r>
              <a:rPr lang="en-US" altLang="en-US" dirty="0" err="1"/>
              <a:t>khi</a:t>
            </a:r>
            <a:r>
              <a:rPr lang="en-US" altLang="en-US" dirty="0"/>
              <a:t> </a:t>
            </a:r>
            <a:r>
              <a:rPr lang="en-US" altLang="en-US" dirty="0" err="1"/>
              <a:t>gom</a:t>
            </a:r>
            <a:r>
              <a:rPr lang="en-US" altLang="en-US" dirty="0"/>
              <a:t> </a:t>
            </a:r>
            <a:r>
              <a:rPr lang="en-US" altLang="en-US" dirty="0" err="1"/>
              <a:t>nhóm</a:t>
            </a:r>
            <a:endParaRPr lang="en-US" altLang="en-US" dirty="0"/>
          </a:p>
          <a:p>
            <a:pPr lvl="1"/>
            <a:r>
              <a:rPr lang="en-US" altLang="en-US" dirty="0" err="1"/>
              <a:t>Mỗi</a:t>
            </a:r>
            <a:r>
              <a:rPr lang="en-US" altLang="en-US" dirty="0"/>
              <a:t> </a:t>
            </a:r>
            <a:r>
              <a:rPr lang="en-US" altLang="en-US" dirty="0" err="1"/>
              <a:t>nhóm</a:t>
            </a:r>
            <a:r>
              <a:rPr lang="en-US" altLang="en-US" dirty="0"/>
              <a:t> </a:t>
            </a:r>
            <a:r>
              <a:rPr lang="en-US" altLang="en-US" dirty="0" err="1"/>
              <a:t>các</a:t>
            </a:r>
            <a:r>
              <a:rPr lang="en-US" altLang="en-US" dirty="0"/>
              <a:t> </a:t>
            </a:r>
            <a:r>
              <a:rPr lang="en-US" altLang="en-US" dirty="0" err="1"/>
              <a:t>bộ</a:t>
            </a:r>
            <a:r>
              <a:rPr lang="en-US" altLang="en-US" dirty="0"/>
              <a:t> </a:t>
            </a:r>
            <a:r>
              <a:rPr lang="en-US" altLang="en-US" dirty="0" err="1"/>
              <a:t>sẽ</a:t>
            </a:r>
            <a:r>
              <a:rPr lang="en-US" altLang="en-US" dirty="0"/>
              <a:t> </a:t>
            </a:r>
            <a:r>
              <a:rPr lang="en-US" altLang="en-US" dirty="0" err="1"/>
              <a:t>có</a:t>
            </a:r>
            <a:r>
              <a:rPr lang="en-US" altLang="en-US" dirty="0"/>
              <a:t> </a:t>
            </a:r>
            <a:r>
              <a:rPr lang="en-US" altLang="en-US" dirty="0" err="1"/>
              <a:t>cùng</a:t>
            </a:r>
            <a:r>
              <a:rPr lang="en-US" altLang="en-US" dirty="0"/>
              <a:t> </a:t>
            </a:r>
            <a:r>
              <a:rPr lang="en-US" altLang="en-US" dirty="0" err="1"/>
              <a:t>giá</a:t>
            </a:r>
            <a:r>
              <a:rPr lang="en-US" altLang="en-US" dirty="0"/>
              <a:t> </a:t>
            </a:r>
            <a:r>
              <a:rPr lang="en-US" altLang="en-US" dirty="0" err="1"/>
              <a:t>trị</a:t>
            </a:r>
            <a:r>
              <a:rPr lang="en-US" altLang="en-US" dirty="0"/>
              <a:t> </a:t>
            </a:r>
            <a:r>
              <a:rPr lang="en-US" altLang="en-US" dirty="0" err="1"/>
              <a:t>tại</a:t>
            </a:r>
            <a:r>
              <a:rPr lang="en-US" altLang="en-US" dirty="0"/>
              <a:t> </a:t>
            </a:r>
            <a:r>
              <a:rPr lang="en-US" altLang="en-US" dirty="0" err="1"/>
              <a:t>các</a:t>
            </a:r>
            <a:r>
              <a:rPr lang="en-US" altLang="en-US" dirty="0"/>
              <a:t> </a:t>
            </a:r>
            <a:r>
              <a:rPr lang="en-US" altLang="en-US" dirty="0" err="1"/>
              <a:t>thuộc</a:t>
            </a:r>
            <a:r>
              <a:rPr lang="en-US" altLang="en-US" dirty="0"/>
              <a:t> </a:t>
            </a:r>
            <a:r>
              <a:rPr lang="en-US" altLang="en-US" dirty="0" err="1"/>
              <a:t>tính</a:t>
            </a:r>
            <a:r>
              <a:rPr lang="en-US" altLang="en-US" dirty="0"/>
              <a:t> </a:t>
            </a:r>
            <a:r>
              <a:rPr lang="en-US" altLang="en-US" dirty="0" err="1"/>
              <a:t>gom</a:t>
            </a:r>
            <a:r>
              <a:rPr lang="en-US" altLang="en-US" dirty="0"/>
              <a:t> </a:t>
            </a:r>
            <a:r>
              <a:rPr lang="en-US" altLang="en-US" dirty="0" err="1"/>
              <a:t>nhóm</a:t>
            </a:r>
            <a:endParaRPr lang="en-US" altLang="en-US" dirty="0"/>
          </a:p>
        </p:txBody>
      </p:sp>
      <p:sp>
        <p:nvSpPr>
          <p:cNvPr id="5" name="Rectangle 4">
            <a:extLst>
              <a:ext uri="{FF2B5EF4-FFF2-40B4-BE49-F238E27FC236}">
                <a16:creationId xmlns:a16="http://schemas.microsoft.com/office/drawing/2014/main" id="{935D5723-7CEB-4513-83F4-0F623703F501}"/>
              </a:ext>
            </a:extLst>
          </p:cNvPr>
          <p:cNvSpPr>
            <a:spLocks noChangeArrowheads="1"/>
          </p:cNvSpPr>
          <p:nvPr/>
        </p:nvSpPr>
        <p:spPr bwMode="auto">
          <a:xfrm>
            <a:off x="2299981" y="2828835"/>
            <a:ext cx="4953000" cy="1200329"/>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r>
              <a:rPr lang="en-US" altLang="en-US" b="1" dirty="0"/>
              <a:t>SELECT</a:t>
            </a:r>
            <a:r>
              <a:rPr lang="en-US" altLang="en-US" dirty="0"/>
              <a:t> &lt;</a:t>
            </a:r>
            <a:r>
              <a:rPr lang="en-US" altLang="en-US" dirty="0" err="1"/>
              <a:t>danh</a:t>
            </a:r>
            <a:r>
              <a:rPr lang="en-US" altLang="en-US" dirty="0"/>
              <a:t> </a:t>
            </a:r>
            <a:r>
              <a:rPr lang="en-US" altLang="en-US" dirty="0" err="1"/>
              <a:t>sách</a:t>
            </a:r>
            <a:r>
              <a:rPr lang="en-US" altLang="en-US" dirty="0"/>
              <a:t> </a:t>
            </a:r>
            <a:r>
              <a:rPr lang="en-US" altLang="en-US" dirty="0" err="1"/>
              <a:t>các</a:t>
            </a:r>
            <a:r>
              <a:rPr lang="en-US" altLang="en-US" dirty="0"/>
              <a:t> </a:t>
            </a:r>
            <a:r>
              <a:rPr lang="en-US" altLang="en-US" dirty="0" err="1"/>
              <a:t>cột</a:t>
            </a:r>
            <a:r>
              <a:rPr lang="en-US" altLang="en-US" dirty="0"/>
              <a:t>&gt;</a:t>
            </a:r>
          </a:p>
          <a:p>
            <a:pPr algn="l"/>
            <a:r>
              <a:rPr lang="en-US" altLang="en-US" b="1" dirty="0"/>
              <a:t>FROM</a:t>
            </a:r>
            <a:r>
              <a:rPr lang="en-US" altLang="en-US" dirty="0"/>
              <a:t> &lt;</a:t>
            </a:r>
            <a:r>
              <a:rPr lang="en-US" altLang="en-US" dirty="0" err="1"/>
              <a:t>danh</a:t>
            </a:r>
            <a:r>
              <a:rPr lang="en-US" altLang="en-US" dirty="0"/>
              <a:t> </a:t>
            </a:r>
            <a:r>
              <a:rPr lang="en-US" altLang="en-US" dirty="0" err="1"/>
              <a:t>sách</a:t>
            </a:r>
            <a:r>
              <a:rPr lang="en-US" altLang="en-US" dirty="0"/>
              <a:t> </a:t>
            </a:r>
            <a:r>
              <a:rPr lang="en-US" altLang="en-US" dirty="0" err="1"/>
              <a:t>các</a:t>
            </a:r>
            <a:r>
              <a:rPr lang="en-US" altLang="en-US" dirty="0"/>
              <a:t> </a:t>
            </a:r>
            <a:r>
              <a:rPr lang="en-US" altLang="en-US" dirty="0" err="1"/>
              <a:t>bảng</a:t>
            </a:r>
            <a:r>
              <a:rPr lang="en-US" altLang="en-US" dirty="0"/>
              <a:t>&gt;</a:t>
            </a:r>
          </a:p>
          <a:p>
            <a:pPr algn="l"/>
            <a:r>
              <a:rPr lang="en-US" altLang="en-US" b="1" dirty="0"/>
              <a:t>[WHERE]</a:t>
            </a:r>
            <a:r>
              <a:rPr lang="en-US" altLang="en-US" dirty="0"/>
              <a:t> &lt;</a:t>
            </a:r>
            <a:r>
              <a:rPr lang="en-US" altLang="en-US" dirty="0" err="1"/>
              <a:t>điều</a:t>
            </a:r>
            <a:r>
              <a:rPr lang="en-US" altLang="en-US" dirty="0"/>
              <a:t> </a:t>
            </a:r>
            <a:r>
              <a:rPr lang="en-US" altLang="en-US" dirty="0" err="1"/>
              <a:t>kiện</a:t>
            </a:r>
            <a:r>
              <a:rPr lang="en-US" altLang="en-US" dirty="0"/>
              <a:t>&gt;</a:t>
            </a:r>
          </a:p>
          <a:p>
            <a:pPr algn="l"/>
            <a:r>
              <a:rPr lang="en-US" altLang="en-US" b="1" dirty="0"/>
              <a:t>GROUP BY</a:t>
            </a:r>
            <a:r>
              <a:rPr lang="en-US" altLang="en-US" dirty="0"/>
              <a:t> &lt;</a:t>
            </a:r>
            <a:r>
              <a:rPr lang="en-US" altLang="en-US" dirty="0" err="1"/>
              <a:t>danh</a:t>
            </a:r>
            <a:r>
              <a:rPr lang="en-US" altLang="en-US" dirty="0"/>
              <a:t> </a:t>
            </a:r>
            <a:r>
              <a:rPr lang="en-US" altLang="en-US" dirty="0" err="1"/>
              <a:t>sách</a:t>
            </a:r>
            <a:r>
              <a:rPr lang="en-US" altLang="en-US" dirty="0"/>
              <a:t> </a:t>
            </a:r>
            <a:r>
              <a:rPr lang="en-US" altLang="en-US" dirty="0" err="1"/>
              <a:t>các</a:t>
            </a:r>
            <a:r>
              <a:rPr lang="en-US" altLang="en-US" dirty="0"/>
              <a:t> </a:t>
            </a:r>
            <a:r>
              <a:rPr lang="en-US" altLang="en-US" dirty="0" err="1"/>
              <a:t>cột</a:t>
            </a:r>
            <a:r>
              <a:rPr lang="en-US" altLang="en-US" dirty="0"/>
              <a:t> </a:t>
            </a:r>
            <a:r>
              <a:rPr lang="en-US" altLang="en-US" dirty="0" err="1"/>
              <a:t>gom</a:t>
            </a:r>
            <a:r>
              <a:rPr lang="en-US" altLang="en-US" dirty="0"/>
              <a:t> </a:t>
            </a:r>
            <a:r>
              <a:rPr lang="en-US" altLang="en-US" dirty="0" err="1"/>
              <a:t>nhóm</a:t>
            </a:r>
            <a:r>
              <a:rPr lang="en-US" altLang="en-US" dirty="0"/>
              <a:t>&gt;</a:t>
            </a:r>
          </a:p>
        </p:txBody>
      </p:sp>
    </p:spTree>
    <p:extLst>
      <p:ext uri="{BB962C8B-B14F-4D97-AF65-F5344CB8AC3E}">
        <p14:creationId xmlns:p14="http://schemas.microsoft.com/office/powerpoint/2010/main" val="101233946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20F3B-BBE8-4A23-BA82-DA8FA1D5AE3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B90E8CC-A434-4D97-9247-304EC521D597}"/>
              </a:ext>
            </a:extLst>
          </p:cNvPr>
          <p:cNvSpPr>
            <a:spLocks noGrp="1"/>
          </p:cNvSpPr>
          <p:nvPr>
            <p:ph idx="1"/>
          </p:nvPr>
        </p:nvSpPr>
        <p:spPr>
          <a:xfrm>
            <a:off x="677334" y="2160590"/>
            <a:ext cx="4658064" cy="3384534"/>
          </a:xfrm>
        </p:spPr>
        <p:txBody>
          <a:bodyPr/>
          <a:lstStyle/>
          <a:p>
            <a:pPr marL="0" indent="0">
              <a:buNone/>
            </a:pPr>
            <a:r>
              <a:rPr lang="en-US" dirty="0">
                <a:solidFill>
                  <a:srgbClr val="FF0000"/>
                </a:solidFill>
              </a:rPr>
              <a:t>SELECT</a:t>
            </a:r>
            <a:r>
              <a:rPr lang="en-US" dirty="0"/>
              <a:t> status  </a:t>
            </a:r>
            <a:r>
              <a:rPr lang="en-US" dirty="0">
                <a:solidFill>
                  <a:srgbClr val="FF0000"/>
                </a:solidFill>
              </a:rPr>
              <a:t>FROM</a:t>
            </a:r>
            <a:r>
              <a:rPr lang="en-US" dirty="0"/>
              <a:t> orders  </a:t>
            </a:r>
          </a:p>
          <a:p>
            <a:pPr marL="0" indent="0">
              <a:buNone/>
            </a:pPr>
            <a:r>
              <a:rPr lang="en-US" dirty="0">
                <a:solidFill>
                  <a:srgbClr val="FF0000"/>
                </a:solidFill>
              </a:rPr>
              <a:t>GROUP BY</a:t>
            </a:r>
            <a:r>
              <a:rPr lang="en-US" dirty="0"/>
              <a:t> status   </a:t>
            </a:r>
          </a:p>
          <a:p>
            <a:pPr marL="0" indent="0">
              <a:buNone/>
            </a:pPr>
            <a:endParaRPr lang="en-US" dirty="0"/>
          </a:p>
          <a:p>
            <a:pPr marL="0" indent="0">
              <a:buNone/>
            </a:pPr>
            <a:r>
              <a:rPr lang="vi-VN" i="1" dirty="0"/>
              <a:t>Các hàm nhóm được sử dụng với GROUP BY để thực hiện tính toán trên mỗi nhóm các bản ghi và trả về một giá trị duy nhất cho mỗi hàng. </a:t>
            </a:r>
            <a:endParaRPr lang="en-US" dirty="0"/>
          </a:p>
          <a:p>
            <a:pPr marL="0" indent="0">
              <a:buNone/>
            </a:pPr>
            <a:endParaRPr lang="en-US" dirty="0"/>
          </a:p>
        </p:txBody>
      </p:sp>
      <p:pic>
        <p:nvPicPr>
          <p:cNvPr id="4" name="Picture 3">
            <a:extLst>
              <a:ext uri="{FF2B5EF4-FFF2-40B4-BE49-F238E27FC236}">
                <a16:creationId xmlns:a16="http://schemas.microsoft.com/office/drawing/2014/main" id="{8B0D526C-7C3B-423E-AF2B-449CE6A78FE2}"/>
              </a:ext>
            </a:extLst>
          </p:cNvPr>
          <p:cNvPicPr>
            <a:picLocks noChangeAspect="1"/>
          </p:cNvPicPr>
          <p:nvPr/>
        </p:nvPicPr>
        <p:blipFill>
          <a:blip r:embed="rId2"/>
          <a:stretch>
            <a:fillRect/>
          </a:stretch>
        </p:blipFill>
        <p:spPr>
          <a:xfrm>
            <a:off x="6194700" y="2160589"/>
            <a:ext cx="1887352" cy="3491603"/>
          </a:xfrm>
          <a:prstGeom prst="rect">
            <a:avLst/>
          </a:prstGeom>
        </p:spPr>
      </p:pic>
    </p:spTree>
    <p:extLst>
      <p:ext uri="{BB962C8B-B14F-4D97-AF65-F5344CB8AC3E}">
        <p14:creationId xmlns:p14="http://schemas.microsoft.com/office/powerpoint/2010/main" val="18193981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B4E29-FAD0-4870-B663-0668CBCF84BB}"/>
              </a:ext>
            </a:extLst>
          </p:cNvPr>
          <p:cNvSpPr>
            <a:spLocks noGrp="1"/>
          </p:cNvSpPr>
          <p:nvPr>
            <p:ph type="title"/>
          </p:nvPr>
        </p:nvSpPr>
        <p:spPr/>
        <p:txBody>
          <a:bodyPr/>
          <a:lstStyle/>
          <a:p>
            <a:r>
              <a:rPr lang="en-US" altLang="en-US" dirty="0" err="1"/>
              <a:t>Điều</a:t>
            </a:r>
            <a:r>
              <a:rPr lang="en-US" altLang="en-US" dirty="0"/>
              <a:t> </a:t>
            </a:r>
            <a:r>
              <a:rPr lang="en-US" altLang="en-US" dirty="0" err="1"/>
              <a:t>kiện</a:t>
            </a:r>
            <a:r>
              <a:rPr lang="en-US" altLang="en-US" dirty="0"/>
              <a:t> </a:t>
            </a:r>
            <a:r>
              <a:rPr lang="en-US" altLang="en-US" dirty="0" err="1"/>
              <a:t>trên</a:t>
            </a:r>
            <a:r>
              <a:rPr lang="en-US" altLang="en-US" dirty="0"/>
              <a:t> </a:t>
            </a:r>
            <a:r>
              <a:rPr lang="en-US" altLang="en-US" dirty="0" err="1"/>
              <a:t>nhóm</a:t>
            </a:r>
            <a:r>
              <a:rPr lang="en-US" altLang="en-US" dirty="0"/>
              <a:t> - Having</a:t>
            </a:r>
            <a:endParaRPr lang="en-US" dirty="0"/>
          </a:p>
        </p:txBody>
      </p:sp>
      <p:sp>
        <p:nvSpPr>
          <p:cNvPr id="3" name="Content Placeholder 2">
            <a:extLst>
              <a:ext uri="{FF2B5EF4-FFF2-40B4-BE49-F238E27FC236}">
                <a16:creationId xmlns:a16="http://schemas.microsoft.com/office/drawing/2014/main" id="{C39F67D0-95D8-4E05-A331-D166FB4D62E8}"/>
              </a:ext>
            </a:extLst>
          </p:cNvPr>
          <p:cNvSpPr>
            <a:spLocks noGrp="1"/>
          </p:cNvSpPr>
          <p:nvPr>
            <p:ph idx="1"/>
          </p:nvPr>
        </p:nvSpPr>
        <p:spPr>
          <a:xfrm>
            <a:off x="601833" y="1488613"/>
            <a:ext cx="8596668" cy="3880773"/>
          </a:xfrm>
        </p:spPr>
        <p:txBody>
          <a:bodyPr/>
          <a:lstStyle/>
          <a:p>
            <a:r>
              <a:rPr lang="en-US" dirty="0" err="1"/>
              <a:t>Câu</a:t>
            </a:r>
            <a:r>
              <a:rPr lang="en-US" dirty="0"/>
              <a:t> </a:t>
            </a:r>
            <a:r>
              <a:rPr lang="en-US" dirty="0" err="1"/>
              <a:t>lệnh</a:t>
            </a:r>
            <a:endParaRPr lang="en-US" dirty="0"/>
          </a:p>
          <a:p>
            <a:endParaRPr lang="en-US" dirty="0"/>
          </a:p>
          <a:p>
            <a:endParaRPr lang="en-US" dirty="0"/>
          </a:p>
          <a:p>
            <a:endParaRPr lang="en-US" dirty="0"/>
          </a:p>
          <a:p>
            <a:endParaRPr lang="en-US" dirty="0"/>
          </a:p>
          <a:p>
            <a:endParaRPr lang="en-US" dirty="0"/>
          </a:p>
          <a:p>
            <a:r>
              <a:rPr lang="vi-VN" dirty="0"/>
              <a:t>HAVING thường được sử dụng cùng với GROUP BY, khi đó điều kiện lọc chỉ được áp dụng trên các cột xuất hiện trong mệnh đề GROUP BY mà thôi. Nếu HAVING không di kèm với GROUP BY, khi đó nó có ý nghĩa như WHERE mà thôi. Lưu ý rằng, HAVING áp dụng trên các nhóm bản ghi, còn WHERE áp dụng trên từng bản ghi riêng lẻ </a:t>
            </a:r>
            <a:endParaRPr lang="en-US" dirty="0"/>
          </a:p>
          <a:p>
            <a:endParaRPr lang="en-US" dirty="0"/>
          </a:p>
        </p:txBody>
      </p:sp>
      <p:sp>
        <p:nvSpPr>
          <p:cNvPr id="4" name="Rectangle 4">
            <a:extLst>
              <a:ext uri="{FF2B5EF4-FFF2-40B4-BE49-F238E27FC236}">
                <a16:creationId xmlns:a16="http://schemas.microsoft.com/office/drawing/2014/main" id="{EEE150DB-2F4A-49B9-A68C-C51FD34A0EB0}"/>
              </a:ext>
            </a:extLst>
          </p:cNvPr>
          <p:cNvSpPr>
            <a:spLocks noChangeArrowheads="1"/>
          </p:cNvSpPr>
          <p:nvPr/>
        </p:nvSpPr>
        <p:spPr bwMode="auto">
          <a:xfrm>
            <a:off x="3657600" y="1488613"/>
            <a:ext cx="4876800" cy="1477328"/>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r>
              <a:rPr lang="en-US" altLang="en-US" b="1" dirty="0"/>
              <a:t>SELECT</a:t>
            </a:r>
            <a:r>
              <a:rPr lang="en-US" altLang="en-US" dirty="0"/>
              <a:t> &lt;</a:t>
            </a:r>
            <a:r>
              <a:rPr lang="en-US" altLang="en-US" dirty="0" err="1"/>
              <a:t>danh</a:t>
            </a:r>
            <a:r>
              <a:rPr lang="en-US" altLang="en-US" dirty="0"/>
              <a:t> </a:t>
            </a:r>
            <a:r>
              <a:rPr lang="en-US" altLang="en-US" dirty="0" err="1"/>
              <a:t>sách</a:t>
            </a:r>
            <a:r>
              <a:rPr lang="en-US" altLang="en-US" dirty="0"/>
              <a:t> </a:t>
            </a:r>
            <a:r>
              <a:rPr lang="en-US" altLang="en-US" dirty="0" err="1"/>
              <a:t>các</a:t>
            </a:r>
            <a:r>
              <a:rPr lang="en-US" altLang="en-US" dirty="0"/>
              <a:t> </a:t>
            </a:r>
            <a:r>
              <a:rPr lang="en-US" altLang="en-US" dirty="0" err="1"/>
              <a:t>cột</a:t>
            </a:r>
            <a:r>
              <a:rPr lang="en-US" altLang="en-US" dirty="0"/>
              <a:t>&gt;</a:t>
            </a:r>
          </a:p>
          <a:p>
            <a:pPr algn="l"/>
            <a:r>
              <a:rPr lang="en-US" altLang="en-US" b="1" dirty="0"/>
              <a:t>FROM</a:t>
            </a:r>
            <a:r>
              <a:rPr lang="en-US" altLang="en-US" dirty="0"/>
              <a:t> &lt;</a:t>
            </a:r>
            <a:r>
              <a:rPr lang="en-US" altLang="en-US" dirty="0" err="1"/>
              <a:t>danh</a:t>
            </a:r>
            <a:r>
              <a:rPr lang="en-US" altLang="en-US" dirty="0"/>
              <a:t> </a:t>
            </a:r>
            <a:r>
              <a:rPr lang="en-US" altLang="en-US" dirty="0" err="1"/>
              <a:t>sách</a:t>
            </a:r>
            <a:r>
              <a:rPr lang="en-US" altLang="en-US" dirty="0"/>
              <a:t> </a:t>
            </a:r>
            <a:r>
              <a:rPr lang="en-US" altLang="en-US" dirty="0" err="1"/>
              <a:t>các</a:t>
            </a:r>
            <a:r>
              <a:rPr lang="en-US" altLang="en-US" dirty="0"/>
              <a:t> </a:t>
            </a:r>
            <a:r>
              <a:rPr lang="en-US" altLang="en-US" dirty="0" err="1"/>
              <a:t>bảng</a:t>
            </a:r>
            <a:r>
              <a:rPr lang="en-US" altLang="en-US" dirty="0"/>
              <a:t>&gt;</a:t>
            </a:r>
          </a:p>
          <a:p>
            <a:pPr algn="l"/>
            <a:r>
              <a:rPr lang="en-US" altLang="en-US" b="1" dirty="0"/>
              <a:t>[WHERE]</a:t>
            </a:r>
            <a:r>
              <a:rPr lang="en-US" altLang="en-US" dirty="0"/>
              <a:t> &lt;</a:t>
            </a:r>
            <a:r>
              <a:rPr lang="en-US" altLang="en-US" dirty="0" err="1"/>
              <a:t>điều</a:t>
            </a:r>
            <a:r>
              <a:rPr lang="en-US" altLang="en-US" dirty="0"/>
              <a:t> </a:t>
            </a:r>
            <a:r>
              <a:rPr lang="en-US" altLang="en-US" dirty="0" err="1"/>
              <a:t>kiện</a:t>
            </a:r>
            <a:r>
              <a:rPr lang="en-US" altLang="en-US" dirty="0"/>
              <a:t>&gt;</a:t>
            </a:r>
          </a:p>
          <a:p>
            <a:pPr algn="l"/>
            <a:r>
              <a:rPr lang="en-US" altLang="en-US" b="1" dirty="0"/>
              <a:t>GROUP BY</a:t>
            </a:r>
            <a:r>
              <a:rPr lang="en-US" altLang="en-US" dirty="0"/>
              <a:t> &lt;</a:t>
            </a:r>
            <a:r>
              <a:rPr lang="en-US" altLang="en-US" dirty="0" err="1"/>
              <a:t>danh</a:t>
            </a:r>
            <a:r>
              <a:rPr lang="en-US" altLang="en-US" dirty="0"/>
              <a:t> </a:t>
            </a:r>
            <a:r>
              <a:rPr lang="en-US" altLang="en-US" dirty="0" err="1"/>
              <a:t>sách</a:t>
            </a:r>
            <a:r>
              <a:rPr lang="en-US" altLang="en-US" dirty="0"/>
              <a:t> </a:t>
            </a:r>
            <a:r>
              <a:rPr lang="en-US" altLang="en-US" dirty="0" err="1"/>
              <a:t>các</a:t>
            </a:r>
            <a:r>
              <a:rPr lang="en-US" altLang="en-US" dirty="0"/>
              <a:t> </a:t>
            </a:r>
            <a:r>
              <a:rPr lang="en-US" altLang="en-US" dirty="0" err="1"/>
              <a:t>cột</a:t>
            </a:r>
            <a:r>
              <a:rPr lang="en-US" altLang="en-US" dirty="0"/>
              <a:t> </a:t>
            </a:r>
            <a:r>
              <a:rPr lang="en-US" altLang="en-US" dirty="0" err="1"/>
              <a:t>gom</a:t>
            </a:r>
            <a:r>
              <a:rPr lang="en-US" altLang="en-US" dirty="0"/>
              <a:t> </a:t>
            </a:r>
            <a:r>
              <a:rPr lang="en-US" altLang="en-US" dirty="0" err="1"/>
              <a:t>nhóm</a:t>
            </a:r>
            <a:r>
              <a:rPr lang="en-US" altLang="en-US" dirty="0"/>
              <a:t>&gt;</a:t>
            </a:r>
          </a:p>
          <a:p>
            <a:pPr algn="l"/>
            <a:r>
              <a:rPr lang="en-US" altLang="en-US" b="1" dirty="0"/>
              <a:t>HAVING </a:t>
            </a:r>
            <a:r>
              <a:rPr lang="en-US" altLang="en-US" dirty="0"/>
              <a:t>&lt;</a:t>
            </a:r>
            <a:r>
              <a:rPr lang="en-US" altLang="en-US" dirty="0" err="1"/>
              <a:t>điều</a:t>
            </a:r>
            <a:r>
              <a:rPr lang="en-US" altLang="en-US" dirty="0"/>
              <a:t> </a:t>
            </a:r>
            <a:r>
              <a:rPr lang="en-US" altLang="en-US" dirty="0" err="1"/>
              <a:t>kiện</a:t>
            </a:r>
            <a:r>
              <a:rPr lang="en-US" altLang="en-US" dirty="0"/>
              <a:t> </a:t>
            </a:r>
            <a:r>
              <a:rPr lang="en-US" altLang="en-US" dirty="0" err="1"/>
              <a:t>trên</a:t>
            </a:r>
            <a:r>
              <a:rPr lang="en-US" altLang="en-US" dirty="0"/>
              <a:t> </a:t>
            </a:r>
            <a:r>
              <a:rPr lang="en-US" altLang="en-US" dirty="0" err="1"/>
              <a:t>nhóm</a:t>
            </a:r>
            <a:r>
              <a:rPr lang="en-US" altLang="en-US" dirty="0"/>
              <a:t>&gt;</a:t>
            </a:r>
          </a:p>
        </p:txBody>
      </p:sp>
    </p:spTree>
    <p:extLst>
      <p:ext uri="{BB962C8B-B14F-4D97-AF65-F5344CB8AC3E}">
        <p14:creationId xmlns:p14="http://schemas.microsoft.com/office/powerpoint/2010/main" val="34525899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60AA39-45ED-461F-8671-83810DB061DD}"/>
              </a:ext>
            </a:extLst>
          </p:cNvPr>
          <p:cNvSpPr>
            <a:spLocks noGrp="1"/>
          </p:cNvSpPr>
          <p:nvPr>
            <p:ph idx="1"/>
          </p:nvPr>
        </p:nvSpPr>
        <p:spPr>
          <a:xfrm>
            <a:off x="627000" y="684125"/>
            <a:ext cx="11025308" cy="5876065"/>
          </a:xfrm>
        </p:spPr>
        <p:txBody>
          <a:bodyPr>
            <a:normAutofit/>
          </a:bodyPr>
          <a:lstStyle/>
          <a:p>
            <a:r>
              <a:rPr lang="vi-VN" b="1" dirty="0"/>
              <a:t>Ví dụ: </a:t>
            </a:r>
            <a:r>
              <a:rPr lang="vi-VN" dirty="0"/>
              <a:t>Chúng ta sử dụng mệnh đề GROUP BY để có được tất cả các đơn đặt hàng, số lượng các mặt hàng bán ra và tổng giá trị trong mỗi đơn đặt hàng như sau: </a:t>
            </a:r>
            <a:endParaRPr lang="en-US" dirty="0"/>
          </a:p>
          <a:p>
            <a:pPr marL="0" indent="0">
              <a:buNone/>
            </a:pPr>
            <a:r>
              <a:rPr lang="en-US" dirty="0">
                <a:solidFill>
                  <a:srgbClr val="FF0000"/>
                </a:solidFill>
              </a:rPr>
              <a:t>SELECT</a:t>
            </a:r>
            <a:r>
              <a:rPr lang="en-US" dirty="0"/>
              <a:t> </a:t>
            </a:r>
            <a:r>
              <a:rPr lang="en-US" dirty="0" err="1"/>
              <a:t>ordernumber</a:t>
            </a:r>
            <a:r>
              <a:rPr lang="en-US" dirty="0"/>
              <a:t>, </a:t>
            </a:r>
            <a:r>
              <a:rPr lang="en-US" dirty="0">
                <a:solidFill>
                  <a:srgbClr val="FF0000"/>
                </a:solidFill>
              </a:rPr>
              <a:t>sum</a:t>
            </a:r>
            <a:r>
              <a:rPr lang="en-US" dirty="0"/>
              <a:t>(</a:t>
            </a:r>
            <a:r>
              <a:rPr lang="en-US" dirty="0" err="1"/>
              <a:t>quantityOrdered</a:t>
            </a:r>
            <a:r>
              <a:rPr lang="en-US" dirty="0"/>
              <a:t>) </a:t>
            </a:r>
            <a:r>
              <a:rPr lang="en-US" dirty="0">
                <a:solidFill>
                  <a:srgbClr val="FF0000"/>
                </a:solidFill>
              </a:rPr>
              <a:t>AS</a:t>
            </a:r>
            <a:r>
              <a:rPr lang="en-US" dirty="0"/>
              <a:t> </a:t>
            </a:r>
            <a:r>
              <a:rPr lang="en-US" dirty="0" err="1"/>
              <a:t>itemsCount</a:t>
            </a:r>
            <a:r>
              <a:rPr lang="en-US" dirty="0"/>
              <a:t>,  </a:t>
            </a:r>
          </a:p>
          <a:p>
            <a:pPr marL="0" indent="0">
              <a:buNone/>
            </a:pPr>
            <a:r>
              <a:rPr lang="en-US" dirty="0">
                <a:solidFill>
                  <a:srgbClr val="FF0000"/>
                </a:solidFill>
              </a:rPr>
              <a:t>	sum</a:t>
            </a:r>
            <a:r>
              <a:rPr lang="en-US" dirty="0"/>
              <a:t>(</a:t>
            </a:r>
            <a:r>
              <a:rPr lang="en-US" dirty="0" err="1"/>
              <a:t>priceEach</a:t>
            </a:r>
            <a:r>
              <a:rPr lang="en-US" dirty="0"/>
              <a:t> *	</a:t>
            </a:r>
            <a:r>
              <a:rPr lang="en-US" dirty="0" err="1"/>
              <a:t>quantityOrdered</a:t>
            </a:r>
            <a:r>
              <a:rPr lang="en-US" dirty="0"/>
              <a:t>) </a:t>
            </a:r>
            <a:r>
              <a:rPr lang="en-US" dirty="0">
                <a:solidFill>
                  <a:srgbClr val="FF0000"/>
                </a:solidFill>
              </a:rPr>
              <a:t>AS</a:t>
            </a:r>
            <a:r>
              <a:rPr lang="en-US" dirty="0"/>
              <a:t> total </a:t>
            </a:r>
          </a:p>
          <a:p>
            <a:pPr marL="0" indent="0">
              <a:buNone/>
            </a:pPr>
            <a:r>
              <a:rPr lang="en-US" dirty="0">
                <a:solidFill>
                  <a:srgbClr val="FF0000"/>
                </a:solidFill>
              </a:rPr>
              <a:t>FROM</a:t>
            </a:r>
            <a:r>
              <a:rPr lang="en-US" dirty="0"/>
              <a:t> </a:t>
            </a:r>
            <a:r>
              <a:rPr lang="en-US" dirty="0" err="1"/>
              <a:t>orderdetails</a:t>
            </a:r>
            <a:r>
              <a:rPr lang="en-US" dirty="0"/>
              <a:t> </a:t>
            </a:r>
          </a:p>
          <a:p>
            <a:pPr marL="0" indent="0">
              <a:buNone/>
            </a:pPr>
            <a:r>
              <a:rPr lang="en-US" dirty="0">
                <a:solidFill>
                  <a:srgbClr val="FF0000"/>
                </a:solidFill>
              </a:rPr>
              <a:t>GROUP</a:t>
            </a:r>
            <a:r>
              <a:rPr lang="en-US" dirty="0"/>
              <a:t> </a:t>
            </a:r>
            <a:r>
              <a:rPr lang="en-US" dirty="0">
                <a:solidFill>
                  <a:srgbClr val="FF0000"/>
                </a:solidFill>
              </a:rPr>
              <a:t>BY</a:t>
            </a:r>
            <a:r>
              <a:rPr lang="en-US" dirty="0"/>
              <a:t> </a:t>
            </a:r>
            <a:r>
              <a:rPr lang="en-US" dirty="0" err="1"/>
              <a:t>ordernumber</a:t>
            </a:r>
            <a:r>
              <a:rPr lang="en-US" dirty="0"/>
              <a:t> </a:t>
            </a:r>
          </a:p>
          <a:p>
            <a:pPr marL="0" indent="0">
              <a:buNone/>
            </a:pPr>
            <a:endParaRPr lang="en-US" dirty="0"/>
          </a:p>
          <a:p>
            <a:pPr marL="0" indent="0">
              <a:buNone/>
            </a:pPr>
            <a:r>
              <a:rPr lang="en-US" b="1" dirty="0" err="1"/>
              <a:t>Xác</a:t>
            </a:r>
            <a:r>
              <a:rPr lang="en-US" b="1" dirty="0"/>
              <a:t> </a:t>
            </a:r>
            <a:r>
              <a:rPr lang="en-US" b="1" dirty="0" err="1"/>
              <a:t>định</a:t>
            </a:r>
            <a:r>
              <a:rPr lang="en-US" b="1" dirty="0"/>
              <a:t> </a:t>
            </a:r>
            <a:r>
              <a:rPr lang="en-US" b="1" dirty="0" err="1"/>
              <a:t>những</a:t>
            </a:r>
            <a:r>
              <a:rPr lang="en-US" b="1" dirty="0"/>
              <a:t> đ</a:t>
            </a:r>
            <a:r>
              <a:rPr lang="vi-VN" b="1" dirty="0"/>
              <a:t>ơ</a:t>
            </a:r>
            <a:r>
              <a:rPr lang="en-US" b="1" dirty="0"/>
              <a:t>n </a:t>
            </a:r>
            <a:r>
              <a:rPr lang="en-US" b="1" dirty="0" err="1"/>
              <a:t>hàng</a:t>
            </a:r>
            <a:r>
              <a:rPr lang="en-US" b="1" dirty="0"/>
              <a:t> </a:t>
            </a:r>
            <a:r>
              <a:rPr lang="en-US" b="1" dirty="0" err="1"/>
              <a:t>có</a:t>
            </a:r>
            <a:r>
              <a:rPr lang="en-US" b="1" dirty="0"/>
              <a:t> </a:t>
            </a:r>
            <a:r>
              <a:rPr lang="en-US" b="1" dirty="0" err="1"/>
              <a:t>giá</a:t>
            </a:r>
            <a:r>
              <a:rPr lang="en-US" b="1" dirty="0"/>
              <a:t> </a:t>
            </a:r>
            <a:r>
              <a:rPr lang="en-US" b="1" dirty="0" err="1"/>
              <a:t>trị</a:t>
            </a:r>
            <a:r>
              <a:rPr lang="en-US" b="1" dirty="0"/>
              <a:t> </a:t>
            </a:r>
            <a:r>
              <a:rPr lang="en-US" b="1" dirty="0" err="1"/>
              <a:t>lớn</a:t>
            </a:r>
            <a:r>
              <a:rPr lang="en-US" b="1" dirty="0"/>
              <a:t> </a:t>
            </a:r>
            <a:r>
              <a:rPr lang="en-US" b="1" dirty="0" err="1"/>
              <a:t>hơn</a:t>
            </a:r>
            <a:r>
              <a:rPr lang="en-US" b="1" dirty="0"/>
              <a:t> 10000</a:t>
            </a:r>
          </a:p>
          <a:p>
            <a:pPr marL="0" indent="0">
              <a:buNone/>
            </a:pPr>
            <a:endParaRPr lang="en-US" dirty="0">
              <a:solidFill>
                <a:srgbClr val="FF0000"/>
              </a:solidFill>
            </a:endParaRPr>
          </a:p>
          <a:p>
            <a:pPr marL="0" indent="0">
              <a:buNone/>
            </a:pPr>
            <a:endParaRPr lang="en-US" dirty="0"/>
          </a:p>
          <a:p>
            <a:pPr marL="0" indent="0">
              <a:buNone/>
            </a:pPr>
            <a:endParaRPr lang="en-US" dirty="0"/>
          </a:p>
        </p:txBody>
      </p:sp>
      <p:sp>
        <p:nvSpPr>
          <p:cNvPr id="4" name="TextBox 3">
            <a:extLst>
              <a:ext uri="{FF2B5EF4-FFF2-40B4-BE49-F238E27FC236}">
                <a16:creationId xmlns:a16="http://schemas.microsoft.com/office/drawing/2014/main" id="{D0A3A213-F5B7-40D6-AF2B-6DDE9CD2840B}"/>
              </a:ext>
            </a:extLst>
          </p:cNvPr>
          <p:cNvSpPr txBox="1"/>
          <p:nvPr/>
        </p:nvSpPr>
        <p:spPr>
          <a:xfrm>
            <a:off x="627000" y="4066774"/>
            <a:ext cx="4132354" cy="2031325"/>
          </a:xfrm>
          <a:prstGeom prst="rect">
            <a:avLst/>
          </a:prstGeom>
          <a:noFill/>
        </p:spPr>
        <p:txBody>
          <a:bodyPr wrap="square" rtlCol="0">
            <a:spAutoFit/>
          </a:bodyPr>
          <a:lstStyle/>
          <a:p>
            <a:r>
              <a:rPr lang="en-US" dirty="0">
                <a:solidFill>
                  <a:srgbClr val="FF0000"/>
                </a:solidFill>
              </a:rPr>
              <a:t>SELECT</a:t>
            </a:r>
            <a:r>
              <a:rPr lang="en-US" dirty="0"/>
              <a:t> </a:t>
            </a:r>
            <a:r>
              <a:rPr lang="en-US" dirty="0" err="1"/>
              <a:t>ordernumber</a:t>
            </a:r>
            <a:r>
              <a:rPr lang="en-US" dirty="0"/>
              <a:t>, </a:t>
            </a:r>
            <a:r>
              <a:rPr lang="en-US" dirty="0">
                <a:solidFill>
                  <a:srgbClr val="FF0000"/>
                </a:solidFill>
              </a:rPr>
              <a:t>sum</a:t>
            </a:r>
            <a:r>
              <a:rPr lang="en-US" dirty="0"/>
              <a:t>(</a:t>
            </a:r>
            <a:r>
              <a:rPr lang="en-US" dirty="0" err="1"/>
              <a:t>quantityOrdered</a:t>
            </a:r>
            <a:r>
              <a:rPr lang="en-US" dirty="0"/>
              <a:t>) </a:t>
            </a:r>
            <a:r>
              <a:rPr lang="en-US" dirty="0">
                <a:solidFill>
                  <a:srgbClr val="FF0000"/>
                </a:solidFill>
              </a:rPr>
              <a:t>AS</a:t>
            </a:r>
            <a:r>
              <a:rPr lang="en-US" dirty="0"/>
              <a:t> </a:t>
            </a:r>
            <a:r>
              <a:rPr lang="en-US" dirty="0" err="1"/>
              <a:t>itemsCount</a:t>
            </a:r>
            <a:r>
              <a:rPr lang="en-US" dirty="0"/>
              <a:t>,  </a:t>
            </a:r>
          </a:p>
          <a:p>
            <a:r>
              <a:rPr lang="en-US" dirty="0">
                <a:solidFill>
                  <a:srgbClr val="FF0000"/>
                </a:solidFill>
              </a:rPr>
              <a:t>	sum</a:t>
            </a:r>
            <a:r>
              <a:rPr lang="en-US" dirty="0"/>
              <a:t>(</a:t>
            </a:r>
            <a:r>
              <a:rPr lang="en-US" dirty="0" err="1"/>
              <a:t>priceEach</a:t>
            </a:r>
            <a:r>
              <a:rPr lang="en-US" dirty="0"/>
              <a:t> * </a:t>
            </a:r>
            <a:r>
              <a:rPr lang="en-US" dirty="0" err="1"/>
              <a:t>quantityOrdered</a:t>
            </a:r>
            <a:r>
              <a:rPr lang="en-US" dirty="0"/>
              <a:t>) 	</a:t>
            </a:r>
            <a:r>
              <a:rPr lang="en-US" dirty="0">
                <a:solidFill>
                  <a:srgbClr val="FF0000"/>
                </a:solidFill>
              </a:rPr>
              <a:t>AS</a:t>
            </a:r>
            <a:r>
              <a:rPr lang="en-US" dirty="0"/>
              <a:t> total </a:t>
            </a:r>
          </a:p>
          <a:p>
            <a:r>
              <a:rPr lang="en-US" dirty="0">
                <a:solidFill>
                  <a:srgbClr val="FF0000"/>
                </a:solidFill>
              </a:rPr>
              <a:t>FROM</a:t>
            </a:r>
            <a:r>
              <a:rPr lang="en-US" dirty="0"/>
              <a:t> </a:t>
            </a:r>
            <a:r>
              <a:rPr lang="en-US" dirty="0" err="1"/>
              <a:t>orderdetails</a:t>
            </a:r>
            <a:r>
              <a:rPr lang="en-US" dirty="0"/>
              <a:t> </a:t>
            </a:r>
          </a:p>
          <a:p>
            <a:r>
              <a:rPr lang="en-US" dirty="0">
                <a:solidFill>
                  <a:srgbClr val="FF0000"/>
                </a:solidFill>
              </a:rPr>
              <a:t>GROUP</a:t>
            </a:r>
            <a:r>
              <a:rPr lang="en-US" dirty="0"/>
              <a:t> </a:t>
            </a:r>
            <a:r>
              <a:rPr lang="en-US" dirty="0">
                <a:solidFill>
                  <a:srgbClr val="FF0000"/>
                </a:solidFill>
              </a:rPr>
              <a:t>BY</a:t>
            </a:r>
            <a:r>
              <a:rPr lang="en-US" dirty="0"/>
              <a:t> </a:t>
            </a:r>
            <a:r>
              <a:rPr lang="en-US" dirty="0" err="1"/>
              <a:t>ordernumber</a:t>
            </a:r>
            <a:r>
              <a:rPr lang="en-US" dirty="0"/>
              <a:t> </a:t>
            </a:r>
          </a:p>
          <a:p>
            <a:r>
              <a:rPr lang="en-US" dirty="0">
                <a:solidFill>
                  <a:srgbClr val="FF0000"/>
                </a:solidFill>
              </a:rPr>
              <a:t>Having</a:t>
            </a:r>
            <a:r>
              <a:rPr lang="en-US" dirty="0"/>
              <a:t> total &gt;10000</a:t>
            </a:r>
          </a:p>
        </p:txBody>
      </p:sp>
      <p:sp>
        <p:nvSpPr>
          <p:cNvPr id="5" name="TextBox 4">
            <a:extLst>
              <a:ext uri="{FF2B5EF4-FFF2-40B4-BE49-F238E27FC236}">
                <a16:creationId xmlns:a16="http://schemas.microsoft.com/office/drawing/2014/main" id="{040E27D7-861C-4D75-B3EB-E1381601FA8C}"/>
              </a:ext>
            </a:extLst>
          </p:cNvPr>
          <p:cNvSpPr txBox="1"/>
          <p:nvPr/>
        </p:nvSpPr>
        <p:spPr>
          <a:xfrm>
            <a:off x="7004032" y="4142550"/>
            <a:ext cx="4132354" cy="2031325"/>
          </a:xfrm>
          <a:prstGeom prst="rect">
            <a:avLst/>
          </a:prstGeom>
          <a:noFill/>
        </p:spPr>
        <p:txBody>
          <a:bodyPr wrap="square" rtlCol="0">
            <a:spAutoFit/>
          </a:bodyPr>
          <a:lstStyle/>
          <a:p>
            <a:r>
              <a:rPr lang="en-US" dirty="0">
                <a:solidFill>
                  <a:srgbClr val="FF0000"/>
                </a:solidFill>
              </a:rPr>
              <a:t>SELECT</a:t>
            </a:r>
            <a:r>
              <a:rPr lang="en-US" dirty="0"/>
              <a:t> </a:t>
            </a:r>
            <a:r>
              <a:rPr lang="en-US" dirty="0" err="1"/>
              <a:t>ordernumber</a:t>
            </a:r>
            <a:r>
              <a:rPr lang="en-US" dirty="0"/>
              <a:t>, </a:t>
            </a:r>
            <a:r>
              <a:rPr lang="en-US" dirty="0">
                <a:solidFill>
                  <a:srgbClr val="FF0000"/>
                </a:solidFill>
              </a:rPr>
              <a:t>sum</a:t>
            </a:r>
            <a:r>
              <a:rPr lang="en-US" dirty="0"/>
              <a:t>(</a:t>
            </a:r>
            <a:r>
              <a:rPr lang="en-US" dirty="0" err="1"/>
              <a:t>quantityOrdered</a:t>
            </a:r>
            <a:r>
              <a:rPr lang="en-US" dirty="0"/>
              <a:t>) </a:t>
            </a:r>
            <a:r>
              <a:rPr lang="en-US" dirty="0">
                <a:solidFill>
                  <a:srgbClr val="FF0000"/>
                </a:solidFill>
              </a:rPr>
              <a:t>AS</a:t>
            </a:r>
            <a:r>
              <a:rPr lang="en-US" dirty="0"/>
              <a:t> </a:t>
            </a:r>
            <a:r>
              <a:rPr lang="en-US" dirty="0" err="1"/>
              <a:t>itemsCount</a:t>
            </a:r>
            <a:r>
              <a:rPr lang="en-US" dirty="0"/>
              <a:t>,  </a:t>
            </a:r>
          </a:p>
          <a:p>
            <a:r>
              <a:rPr lang="en-US" dirty="0">
                <a:solidFill>
                  <a:srgbClr val="FF0000"/>
                </a:solidFill>
              </a:rPr>
              <a:t>	sum</a:t>
            </a:r>
            <a:r>
              <a:rPr lang="en-US" dirty="0"/>
              <a:t>(</a:t>
            </a:r>
            <a:r>
              <a:rPr lang="en-US" dirty="0" err="1"/>
              <a:t>priceEach</a:t>
            </a:r>
            <a:r>
              <a:rPr lang="en-US" dirty="0"/>
              <a:t> * </a:t>
            </a:r>
            <a:r>
              <a:rPr lang="en-US" dirty="0" err="1"/>
              <a:t>quantityOrdered</a:t>
            </a:r>
            <a:r>
              <a:rPr lang="en-US" dirty="0"/>
              <a:t>) 	</a:t>
            </a:r>
            <a:r>
              <a:rPr lang="en-US" dirty="0">
                <a:solidFill>
                  <a:srgbClr val="FF0000"/>
                </a:solidFill>
              </a:rPr>
              <a:t>AS</a:t>
            </a:r>
            <a:r>
              <a:rPr lang="en-US" dirty="0"/>
              <a:t> total </a:t>
            </a:r>
          </a:p>
          <a:p>
            <a:r>
              <a:rPr lang="en-US" dirty="0">
                <a:solidFill>
                  <a:srgbClr val="FF0000"/>
                </a:solidFill>
              </a:rPr>
              <a:t>FROM</a:t>
            </a:r>
            <a:r>
              <a:rPr lang="en-US" dirty="0"/>
              <a:t> </a:t>
            </a:r>
            <a:r>
              <a:rPr lang="en-US" dirty="0" err="1"/>
              <a:t>orderdetails</a:t>
            </a:r>
            <a:r>
              <a:rPr lang="en-US" dirty="0"/>
              <a:t> </a:t>
            </a:r>
          </a:p>
          <a:p>
            <a:r>
              <a:rPr lang="en-US" dirty="0">
                <a:solidFill>
                  <a:srgbClr val="FF0000"/>
                </a:solidFill>
              </a:rPr>
              <a:t>Where</a:t>
            </a:r>
            <a:r>
              <a:rPr lang="en-US" dirty="0"/>
              <a:t> total &gt;10000</a:t>
            </a:r>
          </a:p>
          <a:p>
            <a:r>
              <a:rPr lang="en-US" dirty="0">
                <a:solidFill>
                  <a:srgbClr val="FF0000"/>
                </a:solidFill>
              </a:rPr>
              <a:t>GROUP</a:t>
            </a:r>
            <a:r>
              <a:rPr lang="en-US" dirty="0"/>
              <a:t> </a:t>
            </a:r>
            <a:r>
              <a:rPr lang="en-US" dirty="0">
                <a:solidFill>
                  <a:srgbClr val="FF0000"/>
                </a:solidFill>
              </a:rPr>
              <a:t>BY</a:t>
            </a:r>
            <a:r>
              <a:rPr lang="en-US" dirty="0"/>
              <a:t> </a:t>
            </a:r>
            <a:r>
              <a:rPr lang="en-US" dirty="0" err="1"/>
              <a:t>ordernumber</a:t>
            </a:r>
            <a:r>
              <a:rPr lang="en-US" dirty="0"/>
              <a:t> </a:t>
            </a:r>
          </a:p>
        </p:txBody>
      </p:sp>
      <p:cxnSp>
        <p:nvCxnSpPr>
          <p:cNvPr id="7" name="Straight Connector 6">
            <a:extLst>
              <a:ext uri="{FF2B5EF4-FFF2-40B4-BE49-F238E27FC236}">
                <a16:creationId xmlns:a16="http://schemas.microsoft.com/office/drawing/2014/main" id="{5A5438FE-71E0-45E9-8C30-19EF5D776588}"/>
              </a:ext>
            </a:extLst>
          </p:cNvPr>
          <p:cNvCxnSpPr/>
          <p:nvPr/>
        </p:nvCxnSpPr>
        <p:spPr>
          <a:xfrm>
            <a:off x="3959604" y="5394121"/>
            <a:ext cx="2759978"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EF58DD08-4E69-4CC0-99E1-B0EED2D91CC8}"/>
              </a:ext>
            </a:extLst>
          </p:cNvPr>
          <p:cNvSpPr txBox="1"/>
          <p:nvPr/>
        </p:nvSpPr>
        <p:spPr>
          <a:xfrm>
            <a:off x="5082642" y="5024789"/>
            <a:ext cx="1057012" cy="369332"/>
          </a:xfrm>
          <a:prstGeom prst="rect">
            <a:avLst/>
          </a:prstGeom>
          <a:noFill/>
        </p:spPr>
        <p:txBody>
          <a:bodyPr wrap="square" rtlCol="0">
            <a:spAutoFit/>
          </a:bodyPr>
          <a:lstStyle/>
          <a:p>
            <a:r>
              <a:rPr lang="en-US" dirty="0" err="1"/>
              <a:t>Kiểm</a:t>
            </a:r>
            <a:r>
              <a:rPr lang="en-US" dirty="0"/>
              <a:t> </a:t>
            </a:r>
            <a:r>
              <a:rPr lang="en-US" dirty="0" err="1"/>
              <a:t>tra</a:t>
            </a:r>
            <a:endParaRPr lang="en-US" dirty="0"/>
          </a:p>
        </p:txBody>
      </p:sp>
    </p:spTree>
    <p:extLst>
      <p:ext uri="{BB962C8B-B14F-4D97-AF65-F5344CB8AC3E}">
        <p14:creationId xmlns:p14="http://schemas.microsoft.com/office/powerpoint/2010/main" val="315334631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89839-843D-46F7-BD0E-C8A9E50F52C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EC4BA89-4FE4-4185-9631-D7770A76B75F}"/>
              </a:ext>
            </a:extLst>
          </p:cNvPr>
          <p:cNvSpPr>
            <a:spLocks noGrp="1"/>
          </p:cNvSpPr>
          <p:nvPr>
            <p:ph idx="1"/>
          </p:nvPr>
        </p:nvSpPr>
        <p:spPr/>
        <p:txBody>
          <a:bodyPr/>
          <a:lstStyle/>
          <a:p>
            <a:r>
              <a:rPr lang="en-US" dirty="0" err="1"/>
              <a:t>Một</a:t>
            </a:r>
            <a:r>
              <a:rPr lang="en-US" dirty="0"/>
              <a:t> </a:t>
            </a:r>
            <a:r>
              <a:rPr lang="en-US" dirty="0" err="1"/>
              <a:t>số</a:t>
            </a:r>
            <a:r>
              <a:rPr lang="en-US" dirty="0"/>
              <a:t> </a:t>
            </a:r>
            <a:r>
              <a:rPr lang="en-US" dirty="0" err="1"/>
              <a:t>hàm</a:t>
            </a:r>
            <a:r>
              <a:rPr lang="en-US" dirty="0"/>
              <a:t> </a:t>
            </a:r>
            <a:r>
              <a:rPr lang="en-US" dirty="0" err="1"/>
              <a:t>xử</a:t>
            </a:r>
            <a:r>
              <a:rPr lang="en-US" dirty="0"/>
              <a:t> </a:t>
            </a:r>
            <a:r>
              <a:rPr lang="en-US" dirty="0" err="1"/>
              <a:t>lý</a:t>
            </a:r>
            <a:r>
              <a:rPr lang="en-US" dirty="0"/>
              <a:t> </a:t>
            </a:r>
            <a:r>
              <a:rPr lang="en-US" dirty="0" err="1"/>
              <a:t>chuỗi</a:t>
            </a:r>
            <a:endParaRPr lang="en-US" dirty="0"/>
          </a:p>
          <a:p>
            <a:r>
              <a:rPr lang="en-US" dirty="0" err="1">
                <a:solidFill>
                  <a:srgbClr val="FF0000"/>
                </a:solidFill>
              </a:rPr>
              <a:t>Substr</a:t>
            </a:r>
            <a:r>
              <a:rPr lang="en-US" dirty="0"/>
              <a:t> : </a:t>
            </a:r>
            <a:r>
              <a:rPr lang="en-US" dirty="0" err="1"/>
              <a:t>Dùng</a:t>
            </a:r>
            <a:r>
              <a:rPr lang="en-US" dirty="0"/>
              <a:t> </a:t>
            </a:r>
            <a:r>
              <a:rPr lang="en-US" dirty="0" err="1"/>
              <a:t>để</a:t>
            </a:r>
            <a:r>
              <a:rPr lang="en-US" dirty="0"/>
              <a:t> </a:t>
            </a:r>
            <a:r>
              <a:rPr lang="en-US" dirty="0" err="1"/>
              <a:t>lấy</a:t>
            </a:r>
            <a:r>
              <a:rPr lang="en-US" dirty="0"/>
              <a:t> </a:t>
            </a:r>
            <a:r>
              <a:rPr lang="en-US" dirty="0" err="1"/>
              <a:t>một</a:t>
            </a:r>
            <a:r>
              <a:rPr lang="en-US" dirty="0"/>
              <a:t> </a:t>
            </a:r>
            <a:r>
              <a:rPr lang="en-US" dirty="0" err="1"/>
              <a:t>số</a:t>
            </a:r>
            <a:r>
              <a:rPr lang="en-US" dirty="0"/>
              <a:t> </a:t>
            </a:r>
            <a:r>
              <a:rPr lang="en-US" dirty="0" err="1"/>
              <a:t>ký</a:t>
            </a:r>
            <a:r>
              <a:rPr lang="en-US" dirty="0"/>
              <a:t> </a:t>
            </a:r>
            <a:r>
              <a:rPr lang="en-US" dirty="0" err="1"/>
              <a:t>tự</a:t>
            </a:r>
            <a:r>
              <a:rPr lang="en-US" dirty="0"/>
              <a:t> </a:t>
            </a:r>
            <a:r>
              <a:rPr lang="en-US" dirty="0" err="1"/>
              <a:t>trong</a:t>
            </a:r>
            <a:r>
              <a:rPr lang="en-US" dirty="0"/>
              <a:t> </a:t>
            </a:r>
            <a:r>
              <a:rPr lang="en-US" dirty="0" err="1"/>
              <a:t>một</a:t>
            </a:r>
            <a:r>
              <a:rPr lang="en-US" dirty="0"/>
              <a:t> string</a:t>
            </a:r>
          </a:p>
          <a:p>
            <a:r>
              <a:rPr lang="en-US" dirty="0" err="1">
                <a:solidFill>
                  <a:srgbClr val="FF0000"/>
                </a:solidFill>
              </a:rPr>
              <a:t>Concat</a:t>
            </a:r>
            <a:r>
              <a:rPr lang="en-US" dirty="0"/>
              <a:t>: </a:t>
            </a:r>
            <a:r>
              <a:rPr lang="en-US" dirty="0" err="1"/>
              <a:t>Dùng</a:t>
            </a:r>
            <a:r>
              <a:rPr lang="en-US" dirty="0"/>
              <a:t> </a:t>
            </a:r>
            <a:r>
              <a:rPr lang="en-US" dirty="0" err="1"/>
              <a:t>để</a:t>
            </a:r>
            <a:r>
              <a:rPr lang="en-US" dirty="0"/>
              <a:t> </a:t>
            </a:r>
            <a:r>
              <a:rPr lang="en-US" dirty="0" err="1"/>
              <a:t>ghép</a:t>
            </a:r>
            <a:r>
              <a:rPr lang="en-US" dirty="0"/>
              <a:t> </a:t>
            </a:r>
            <a:r>
              <a:rPr lang="en-US" dirty="0" err="1"/>
              <a:t>hai</a:t>
            </a:r>
            <a:r>
              <a:rPr lang="en-US" dirty="0"/>
              <a:t> hay </a:t>
            </a:r>
            <a:r>
              <a:rPr lang="en-US" dirty="0" err="1"/>
              <a:t>nhiều</a:t>
            </a:r>
            <a:r>
              <a:rPr lang="en-US" dirty="0"/>
              <a:t> </a:t>
            </a:r>
            <a:r>
              <a:rPr lang="en-US" dirty="0" err="1"/>
              <a:t>chuỗi</a:t>
            </a:r>
            <a:r>
              <a:rPr lang="en-US" dirty="0"/>
              <a:t> </a:t>
            </a:r>
            <a:r>
              <a:rPr lang="en-US" dirty="0" err="1"/>
              <a:t>vào</a:t>
            </a:r>
            <a:r>
              <a:rPr lang="en-US" dirty="0"/>
              <a:t> </a:t>
            </a:r>
            <a:r>
              <a:rPr lang="en-US" dirty="0" err="1"/>
              <a:t>với</a:t>
            </a:r>
            <a:r>
              <a:rPr lang="en-US" dirty="0"/>
              <a:t> </a:t>
            </a:r>
            <a:r>
              <a:rPr lang="en-US" dirty="0" err="1"/>
              <a:t>nhau</a:t>
            </a:r>
            <a:endParaRPr lang="en-US" dirty="0"/>
          </a:p>
          <a:p>
            <a:r>
              <a:rPr lang="en-US" dirty="0">
                <a:solidFill>
                  <a:srgbClr val="FF0000"/>
                </a:solidFill>
              </a:rPr>
              <a:t>Replace</a:t>
            </a:r>
            <a:r>
              <a:rPr lang="en-US" dirty="0"/>
              <a:t>: MySQL </a:t>
            </a:r>
            <a:r>
              <a:rPr lang="en-US" dirty="0" err="1"/>
              <a:t>cung</a:t>
            </a:r>
            <a:r>
              <a:rPr lang="en-US" dirty="0"/>
              <a:t> </a:t>
            </a:r>
            <a:r>
              <a:rPr lang="en-US" dirty="0" err="1"/>
              <a:t>cấp</a:t>
            </a:r>
            <a:r>
              <a:rPr lang="en-US" dirty="0"/>
              <a:t> </a:t>
            </a:r>
            <a:r>
              <a:rPr lang="en-US" dirty="0" err="1"/>
              <a:t>cho</a:t>
            </a:r>
            <a:r>
              <a:rPr lang="en-US" dirty="0"/>
              <a:t> </a:t>
            </a:r>
            <a:r>
              <a:rPr lang="en-US" dirty="0" err="1"/>
              <a:t>một</a:t>
            </a:r>
            <a:r>
              <a:rPr lang="en-US" dirty="0"/>
              <a:t> </a:t>
            </a:r>
            <a:r>
              <a:rPr lang="en-US" dirty="0" err="1"/>
              <a:t>hàm</a:t>
            </a:r>
            <a:r>
              <a:rPr lang="en-US" dirty="0"/>
              <a:t> </a:t>
            </a:r>
            <a:r>
              <a:rPr lang="en-US" dirty="0" err="1"/>
              <a:t>xử</a:t>
            </a:r>
            <a:r>
              <a:rPr lang="en-US" dirty="0"/>
              <a:t> </a:t>
            </a:r>
            <a:r>
              <a:rPr lang="en-US" dirty="0" err="1"/>
              <a:t>lý</a:t>
            </a:r>
            <a:r>
              <a:rPr lang="en-US" dirty="0"/>
              <a:t> </a:t>
            </a:r>
            <a:r>
              <a:rPr lang="en-US" dirty="0" err="1"/>
              <a:t>chuỗi</a:t>
            </a:r>
            <a:r>
              <a:rPr lang="en-US" dirty="0"/>
              <a:t> </a:t>
            </a:r>
            <a:r>
              <a:rPr lang="en-US" dirty="0" err="1"/>
              <a:t>hữu</a:t>
            </a:r>
            <a:r>
              <a:rPr lang="en-US" dirty="0"/>
              <a:t> </a:t>
            </a:r>
            <a:r>
              <a:rPr lang="en-US" dirty="0" err="1"/>
              <a:t>ích</a:t>
            </a:r>
            <a:r>
              <a:rPr lang="en-US" dirty="0"/>
              <a:t> </a:t>
            </a:r>
            <a:r>
              <a:rPr lang="en-US" dirty="0" err="1"/>
              <a:t>là</a:t>
            </a:r>
            <a:r>
              <a:rPr lang="en-US" dirty="0"/>
              <a:t> Replace, </a:t>
            </a:r>
            <a:r>
              <a:rPr lang="en-US" dirty="0" err="1"/>
              <a:t>cho</a:t>
            </a:r>
            <a:r>
              <a:rPr lang="en-US" dirty="0"/>
              <a:t> </a:t>
            </a:r>
            <a:r>
              <a:rPr lang="en-US" dirty="0" err="1"/>
              <a:t>phép</a:t>
            </a:r>
            <a:r>
              <a:rPr lang="en-US" dirty="0"/>
              <a:t> </a:t>
            </a:r>
            <a:r>
              <a:rPr lang="en-US" dirty="0" err="1"/>
              <a:t>thay</a:t>
            </a:r>
            <a:r>
              <a:rPr lang="en-US" dirty="0"/>
              <a:t> </a:t>
            </a:r>
            <a:r>
              <a:rPr lang="en-US" dirty="0" err="1"/>
              <a:t>thế</a:t>
            </a:r>
            <a:r>
              <a:rPr lang="en-US" dirty="0"/>
              <a:t> </a:t>
            </a:r>
            <a:r>
              <a:rPr lang="en-US" dirty="0" err="1"/>
              <a:t>một</a:t>
            </a:r>
            <a:r>
              <a:rPr lang="en-US" dirty="0"/>
              <a:t> </a:t>
            </a:r>
            <a:r>
              <a:rPr lang="en-US" dirty="0" err="1"/>
              <a:t>chuỗi</a:t>
            </a:r>
            <a:r>
              <a:rPr lang="en-US" dirty="0"/>
              <a:t> </a:t>
            </a:r>
            <a:r>
              <a:rPr lang="en-US" dirty="0" err="1"/>
              <a:t>trong</a:t>
            </a:r>
            <a:r>
              <a:rPr lang="en-US" dirty="0"/>
              <a:t> </a:t>
            </a:r>
            <a:r>
              <a:rPr lang="en-US" dirty="0" err="1"/>
              <a:t>một</a:t>
            </a:r>
            <a:r>
              <a:rPr lang="en-US" dirty="0"/>
              <a:t> </a:t>
            </a:r>
            <a:r>
              <a:rPr lang="en-US" dirty="0" err="1"/>
              <a:t>cột</a:t>
            </a:r>
            <a:r>
              <a:rPr lang="en-US" dirty="0"/>
              <a:t> </a:t>
            </a:r>
            <a:r>
              <a:rPr lang="en-US" dirty="0" err="1"/>
              <a:t>của</a:t>
            </a:r>
            <a:r>
              <a:rPr lang="en-US" dirty="0"/>
              <a:t> </a:t>
            </a:r>
            <a:r>
              <a:rPr lang="en-US" dirty="0" err="1"/>
              <a:t>một</a:t>
            </a:r>
            <a:r>
              <a:rPr lang="en-US" dirty="0"/>
              <a:t> </a:t>
            </a:r>
            <a:r>
              <a:rPr lang="en-US" dirty="0" err="1"/>
              <a:t>bảng</a:t>
            </a:r>
            <a:r>
              <a:rPr lang="en-US" dirty="0"/>
              <a:t> </a:t>
            </a:r>
            <a:r>
              <a:rPr lang="en-US" dirty="0" err="1"/>
              <a:t>bằng</a:t>
            </a:r>
            <a:r>
              <a:rPr lang="en-US" dirty="0"/>
              <a:t> </a:t>
            </a:r>
            <a:r>
              <a:rPr lang="en-US" dirty="0" err="1"/>
              <a:t>một</a:t>
            </a:r>
            <a:r>
              <a:rPr lang="en-US" dirty="0"/>
              <a:t> </a:t>
            </a:r>
            <a:r>
              <a:rPr lang="en-US" dirty="0" err="1"/>
              <a:t>chuỗi</a:t>
            </a:r>
            <a:r>
              <a:rPr lang="en-US" dirty="0"/>
              <a:t> </a:t>
            </a:r>
            <a:r>
              <a:rPr lang="en-US" dirty="0" err="1"/>
              <a:t>mới</a:t>
            </a:r>
            <a:endParaRPr lang="en-US" dirty="0"/>
          </a:p>
          <a:p>
            <a:endParaRPr lang="en-US" dirty="0"/>
          </a:p>
          <a:p>
            <a:endParaRPr lang="en-US" dirty="0"/>
          </a:p>
        </p:txBody>
      </p:sp>
    </p:spTree>
    <p:extLst>
      <p:ext uri="{BB962C8B-B14F-4D97-AF65-F5344CB8AC3E}">
        <p14:creationId xmlns:p14="http://schemas.microsoft.com/office/powerpoint/2010/main" val="122172250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AD154-3F82-4D6E-8F96-C1D402FCB615}"/>
              </a:ext>
            </a:extLst>
          </p:cNvPr>
          <p:cNvSpPr>
            <a:spLocks noGrp="1"/>
          </p:cNvSpPr>
          <p:nvPr>
            <p:ph type="title"/>
          </p:nvPr>
        </p:nvSpPr>
        <p:spPr/>
        <p:txBody>
          <a:bodyPr/>
          <a:lstStyle/>
          <a:p>
            <a:r>
              <a:rPr lang="en-US" dirty="0" err="1"/>
              <a:t>SubStr</a:t>
            </a:r>
            <a:r>
              <a:rPr lang="en-US" dirty="0"/>
              <a:t> </a:t>
            </a:r>
            <a:r>
              <a:rPr lang="en-US" dirty="0" err="1"/>
              <a:t>hoặc</a:t>
            </a:r>
            <a:r>
              <a:rPr lang="en-US" dirty="0"/>
              <a:t> Substring</a:t>
            </a:r>
          </a:p>
        </p:txBody>
      </p:sp>
      <p:sp>
        <p:nvSpPr>
          <p:cNvPr id="3" name="Content Placeholder 2">
            <a:extLst>
              <a:ext uri="{FF2B5EF4-FFF2-40B4-BE49-F238E27FC236}">
                <a16:creationId xmlns:a16="http://schemas.microsoft.com/office/drawing/2014/main" id="{4F6F8A16-DACE-44B9-81F5-7FC467C4CEFA}"/>
              </a:ext>
            </a:extLst>
          </p:cNvPr>
          <p:cNvSpPr>
            <a:spLocks noGrp="1"/>
          </p:cNvSpPr>
          <p:nvPr>
            <p:ph idx="1"/>
          </p:nvPr>
        </p:nvSpPr>
        <p:spPr>
          <a:xfrm>
            <a:off x="677334" y="1669409"/>
            <a:ext cx="8596668" cy="4371953"/>
          </a:xfrm>
        </p:spPr>
        <p:txBody>
          <a:bodyPr/>
          <a:lstStyle/>
          <a:p>
            <a:r>
              <a:rPr lang="en-US" dirty="0" err="1"/>
              <a:t>Substr</a:t>
            </a:r>
            <a:r>
              <a:rPr lang="en-US" dirty="0"/>
              <a:t> </a:t>
            </a:r>
            <a:r>
              <a:rPr lang="en-US" dirty="0" err="1"/>
              <a:t>và</a:t>
            </a:r>
            <a:r>
              <a:rPr lang="en-US" dirty="0"/>
              <a:t> substring: </a:t>
            </a:r>
            <a:r>
              <a:rPr lang="en-US" dirty="0" err="1"/>
              <a:t>Cùng</a:t>
            </a:r>
            <a:r>
              <a:rPr lang="en-US" dirty="0"/>
              <a:t> </a:t>
            </a:r>
            <a:r>
              <a:rPr lang="en-US" dirty="0" err="1"/>
              <a:t>chức</a:t>
            </a:r>
            <a:r>
              <a:rPr lang="en-US" dirty="0"/>
              <a:t> </a:t>
            </a:r>
            <a:r>
              <a:rPr lang="en-US" dirty="0" err="1"/>
              <a:t>năng</a:t>
            </a:r>
            <a:endParaRPr lang="en-US" dirty="0"/>
          </a:p>
          <a:p>
            <a:endParaRPr lang="en-US" dirty="0"/>
          </a:p>
          <a:p>
            <a:r>
              <a:rPr lang="en-US" dirty="0">
                <a:solidFill>
                  <a:srgbClr val="FF0000"/>
                </a:solidFill>
              </a:rPr>
              <a:t>SUBSTRING(</a:t>
            </a:r>
            <a:r>
              <a:rPr lang="en-US" dirty="0" err="1">
                <a:solidFill>
                  <a:srgbClr val="FF0000"/>
                </a:solidFill>
              </a:rPr>
              <a:t>str,pos</a:t>
            </a:r>
            <a:r>
              <a:rPr lang="en-US" dirty="0">
                <a:solidFill>
                  <a:srgbClr val="FF0000"/>
                </a:solidFill>
              </a:rPr>
              <a:t>): </a:t>
            </a:r>
            <a:r>
              <a:rPr lang="en-US" dirty="0" err="1"/>
              <a:t>lấy</a:t>
            </a:r>
            <a:r>
              <a:rPr lang="en-US" dirty="0"/>
              <a:t> </a:t>
            </a:r>
            <a:r>
              <a:rPr lang="en-US" dirty="0" err="1"/>
              <a:t>giá</a:t>
            </a:r>
            <a:r>
              <a:rPr lang="en-US" dirty="0"/>
              <a:t> </a:t>
            </a:r>
            <a:r>
              <a:rPr lang="en-US" dirty="0" err="1"/>
              <a:t>trị</a:t>
            </a:r>
            <a:r>
              <a:rPr lang="en-US" dirty="0"/>
              <a:t> </a:t>
            </a:r>
            <a:r>
              <a:rPr lang="en-US" dirty="0" err="1"/>
              <a:t>từ</a:t>
            </a:r>
            <a:r>
              <a:rPr lang="en-US" dirty="0"/>
              <a:t> </a:t>
            </a:r>
            <a:r>
              <a:rPr lang="en-US" dirty="0" err="1"/>
              <a:t>vị</a:t>
            </a:r>
            <a:r>
              <a:rPr lang="en-US" dirty="0"/>
              <a:t> </a:t>
            </a:r>
            <a:r>
              <a:rPr lang="en-US" dirty="0" err="1"/>
              <a:t>trí</a:t>
            </a:r>
            <a:r>
              <a:rPr lang="en-US" dirty="0"/>
              <a:t> Post </a:t>
            </a:r>
            <a:r>
              <a:rPr lang="en-US" dirty="0" err="1"/>
              <a:t>của</a:t>
            </a:r>
            <a:r>
              <a:rPr lang="en-US" dirty="0"/>
              <a:t> </a:t>
            </a:r>
            <a:r>
              <a:rPr lang="en-US" dirty="0" err="1"/>
              <a:t>choỗi</a:t>
            </a:r>
            <a:r>
              <a:rPr lang="en-US" dirty="0"/>
              <a:t> STR</a:t>
            </a:r>
          </a:p>
          <a:p>
            <a:r>
              <a:rPr lang="en-US" dirty="0">
                <a:solidFill>
                  <a:srgbClr val="FF0000"/>
                </a:solidFill>
              </a:rPr>
              <a:t>SUBSTRING(str FROM pos)</a:t>
            </a:r>
            <a:r>
              <a:rPr lang="en-US" dirty="0"/>
              <a:t>;</a:t>
            </a:r>
          </a:p>
          <a:p>
            <a:pPr lvl="1"/>
            <a:r>
              <a:rPr lang="en-US" dirty="0"/>
              <a:t>VÍ </a:t>
            </a:r>
            <a:r>
              <a:rPr lang="en-US" dirty="0" err="1"/>
              <a:t>dụ</a:t>
            </a:r>
            <a:r>
              <a:rPr lang="en-US" dirty="0"/>
              <a:t>:  sub = substring(“CSDL2021”,2) ;   sub = SDL2021  </a:t>
            </a:r>
          </a:p>
          <a:p>
            <a:endParaRPr lang="en-US" dirty="0"/>
          </a:p>
          <a:p>
            <a:r>
              <a:rPr lang="en-US" dirty="0" err="1">
                <a:solidFill>
                  <a:srgbClr val="FF0000"/>
                </a:solidFill>
              </a:rPr>
              <a:t>SubStr</a:t>
            </a:r>
            <a:r>
              <a:rPr lang="en-US" dirty="0">
                <a:solidFill>
                  <a:srgbClr val="FF0000"/>
                </a:solidFill>
              </a:rPr>
              <a:t>(Str, pos, </a:t>
            </a:r>
            <a:r>
              <a:rPr lang="en-US" dirty="0" err="1">
                <a:solidFill>
                  <a:srgbClr val="FF0000"/>
                </a:solidFill>
              </a:rPr>
              <a:t>len</a:t>
            </a:r>
            <a:r>
              <a:rPr lang="en-US" dirty="0">
                <a:solidFill>
                  <a:srgbClr val="FF0000"/>
                </a:solidFill>
              </a:rPr>
              <a:t>):   </a:t>
            </a:r>
            <a:r>
              <a:rPr lang="en-US" dirty="0" err="1">
                <a:solidFill>
                  <a:schemeClr val="tx1"/>
                </a:solidFill>
              </a:rPr>
              <a:t>Lấy</a:t>
            </a:r>
            <a:r>
              <a:rPr lang="en-US" dirty="0">
                <a:solidFill>
                  <a:schemeClr val="tx1"/>
                </a:solidFill>
              </a:rPr>
              <a:t> </a:t>
            </a:r>
            <a:r>
              <a:rPr lang="en-US" dirty="0" err="1">
                <a:solidFill>
                  <a:schemeClr val="tx1"/>
                </a:solidFill>
              </a:rPr>
              <a:t>giá</a:t>
            </a:r>
            <a:r>
              <a:rPr lang="en-US" dirty="0">
                <a:solidFill>
                  <a:schemeClr val="tx1"/>
                </a:solidFill>
              </a:rPr>
              <a:t> </a:t>
            </a:r>
            <a:r>
              <a:rPr lang="en-US" dirty="0" err="1">
                <a:solidFill>
                  <a:schemeClr val="tx1"/>
                </a:solidFill>
              </a:rPr>
              <a:t>trị</a:t>
            </a:r>
            <a:r>
              <a:rPr lang="en-US" dirty="0">
                <a:solidFill>
                  <a:schemeClr val="tx1"/>
                </a:solidFill>
              </a:rPr>
              <a:t> </a:t>
            </a:r>
            <a:r>
              <a:rPr lang="en-US" dirty="0" err="1">
                <a:solidFill>
                  <a:schemeClr val="tx1"/>
                </a:solidFill>
              </a:rPr>
              <a:t>từ</a:t>
            </a:r>
            <a:r>
              <a:rPr lang="en-US" dirty="0">
                <a:solidFill>
                  <a:schemeClr val="tx1"/>
                </a:solidFill>
              </a:rPr>
              <a:t> </a:t>
            </a:r>
            <a:r>
              <a:rPr lang="en-US" dirty="0" err="1">
                <a:solidFill>
                  <a:schemeClr val="tx1"/>
                </a:solidFill>
              </a:rPr>
              <a:t>vị</a:t>
            </a:r>
            <a:r>
              <a:rPr lang="en-US" dirty="0">
                <a:solidFill>
                  <a:schemeClr val="tx1"/>
                </a:solidFill>
              </a:rPr>
              <a:t> </a:t>
            </a:r>
            <a:r>
              <a:rPr lang="en-US" dirty="0" err="1">
                <a:solidFill>
                  <a:schemeClr val="tx1"/>
                </a:solidFill>
              </a:rPr>
              <a:t>trí</a:t>
            </a:r>
            <a:r>
              <a:rPr lang="en-US" dirty="0">
                <a:solidFill>
                  <a:schemeClr val="tx1"/>
                </a:solidFill>
              </a:rPr>
              <a:t> </a:t>
            </a:r>
            <a:r>
              <a:rPr lang="en-US" dirty="0">
                <a:solidFill>
                  <a:srgbClr val="FF0000"/>
                </a:solidFill>
              </a:rPr>
              <a:t>pos</a:t>
            </a:r>
            <a:r>
              <a:rPr lang="en-US" dirty="0">
                <a:solidFill>
                  <a:schemeClr val="tx1"/>
                </a:solidFill>
              </a:rPr>
              <a:t>, </a:t>
            </a:r>
            <a:r>
              <a:rPr lang="en-US" dirty="0" err="1">
                <a:solidFill>
                  <a:schemeClr val="tx1"/>
                </a:solidFill>
              </a:rPr>
              <a:t>với</a:t>
            </a:r>
            <a:r>
              <a:rPr lang="en-US" dirty="0">
                <a:solidFill>
                  <a:schemeClr val="tx1"/>
                </a:solidFill>
              </a:rPr>
              <a:t> </a:t>
            </a:r>
            <a:r>
              <a:rPr lang="en-US" dirty="0" err="1">
                <a:solidFill>
                  <a:schemeClr val="tx1"/>
                </a:solidFill>
              </a:rPr>
              <a:t>độ</a:t>
            </a:r>
            <a:r>
              <a:rPr lang="en-US" dirty="0">
                <a:solidFill>
                  <a:schemeClr val="tx1"/>
                </a:solidFill>
              </a:rPr>
              <a:t> </a:t>
            </a:r>
            <a:r>
              <a:rPr lang="en-US" dirty="0" err="1">
                <a:solidFill>
                  <a:schemeClr val="tx1"/>
                </a:solidFill>
              </a:rPr>
              <a:t>dài</a:t>
            </a:r>
            <a:r>
              <a:rPr lang="en-US" dirty="0">
                <a:solidFill>
                  <a:schemeClr val="tx1"/>
                </a:solidFill>
              </a:rPr>
              <a:t> </a:t>
            </a:r>
            <a:r>
              <a:rPr lang="en-US" dirty="0" err="1">
                <a:solidFill>
                  <a:schemeClr val="tx1"/>
                </a:solidFill>
              </a:rPr>
              <a:t>cần</a:t>
            </a:r>
            <a:r>
              <a:rPr lang="en-US" dirty="0">
                <a:solidFill>
                  <a:schemeClr val="tx1"/>
                </a:solidFill>
              </a:rPr>
              <a:t> </a:t>
            </a:r>
            <a:r>
              <a:rPr lang="en-US" dirty="0" err="1">
                <a:solidFill>
                  <a:schemeClr val="tx1"/>
                </a:solidFill>
              </a:rPr>
              <a:t>lấy</a:t>
            </a:r>
            <a:r>
              <a:rPr lang="en-US" dirty="0">
                <a:solidFill>
                  <a:schemeClr val="tx1"/>
                </a:solidFill>
              </a:rPr>
              <a:t> </a:t>
            </a:r>
            <a:r>
              <a:rPr lang="en-US" dirty="0" err="1">
                <a:solidFill>
                  <a:schemeClr val="tx1"/>
                </a:solidFill>
              </a:rPr>
              <a:t>là</a:t>
            </a:r>
            <a:r>
              <a:rPr lang="en-US" dirty="0">
                <a:solidFill>
                  <a:schemeClr val="tx1"/>
                </a:solidFill>
              </a:rPr>
              <a:t> </a:t>
            </a:r>
            <a:r>
              <a:rPr lang="en-US" dirty="0" err="1">
                <a:solidFill>
                  <a:srgbClr val="FF0000"/>
                </a:solidFill>
              </a:rPr>
              <a:t>len</a:t>
            </a:r>
            <a:endParaRPr lang="en-US" dirty="0">
              <a:solidFill>
                <a:schemeClr val="tx1"/>
              </a:solidFill>
            </a:endParaRPr>
          </a:p>
          <a:p>
            <a:pPr lvl="1"/>
            <a:r>
              <a:rPr lang="en-US" dirty="0"/>
              <a:t>VÍ </a:t>
            </a:r>
            <a:r>
              <a:rPr lang="en-US" dirty="0" err="1"/>
              <a:t>dụ</a:t>
            </a:r>
            <a:r>
              <a:rPr lang="en-US" dirty="0"/>
              <a:t>:  sub = substring(“CSDL2021”,2,4) ;   sub = SDL2</a:t>
            </a:r>
          </a:p>
          <a:p>
            <a:pPr lvl="1"/>
            <a:r>
              <a:rPr lang="en-US" dirty="0"/>
              <a:t>  </a:t>
            </a:r>
          </a:p>
          <a:p>
            <a:pPr lvl="1"/>
            <a:r>
              <a:rPr lang="en-US" dirty="0"/>
              <a:t>Create table </a:t>
            </a:r>
            <a:r>
              <a:rPr lang="en-US" dirty="0" err="1"/>
              <a:t>TenMoi</a:t>
            </a:r>
            <a:r>
              <a:rPr lang="en-US" dirty="0"/>
              <a:t> as (Select *, </a:t>
            </a:r>
            <a:r>
              <a:rPr lang="en-US" dirty="0" err="1"/>
              <a:t>substr</a:t>
            </a:r>
            <a:r>
              <a:rPr lang="en-US" dirty="0"/>
              <a:t>(</a:t>
            </a:r>
            <a:r>
              <a:rPr lang="en-US" dirty="0" err="1"/>
              <a:t>tencot</a:t>
            </a:r>
            <a:r>
              <a:rPr lang="en-US" dirty="0"/>
              <a:t>, 1,7) as </a:t>
            </a:r>
            <a:r>
              <a:rPr lang="en-US" dirty="0" err="1"/>
              <a:t>Nam_thang</a:t>
            </a:r>
            <a:r>
              <a:rPr lang="en-US" dirty="0"/>
              <a:t> from orders)</a:t>
            </a:r>
          </a:p>
          <a:p>
            <a:pPr lvl="1"/>
            <a:endParaRPr lang="en-US" dirty="0">
              <a:solidFill>
                <a:srgbClr val="FF0000"/>
              </a:solidFill>
            </a:endParaRPr>
          </a:p>
        </p:txBody>
      </p:sp>
    </p:spTree>
    <p:extLst>
      <p:ext uri="{BB962C8B-B14F-4D97-AF65-F5344CB8AC3E}">
        <p14:creationId xmlns:p14="http://schemas.microsoft.com/office/powerpoint/2010/main" val="16471905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76B64-4EDB-4D17-9E21-FBC570B437BC}"/>
              </a:ext>
            </a:extLst>
          </p:cNvPr>
          <p:cNvSpPr>
            <a:spLocks noGrp="1"/>
          </p:cNvSpPr>
          <p:nvPr>
            <p:ph type="title"/>
          </p:nvPr>
        </p:nvSpPr>
        <p:spPr/>
        <p:txBody>
          <a:bodyPr/>
          <a:lstStyle/>
          <a:p>
            <a:r>
              <a:rPr lang="en-US" dirty="0" err="1"/>
              <a:t>Concat</a:t>
            </a:r>
            <a:r>
              <a:rPr lang="en-US" dirty="0"/>
              <a:t> - </a:t>
            </a:r>
            <a:r>
              <a:rPr lang="en-US" dirty="0" err="1"/>
              <a:t>ghép</a:t>
            </a:r>
            <a:endParaRPr lang="en-US" dirty="0"/>
          </a:p>
        </p:txBody>
      </p:sp>
      <p:sp>
        <p:nvSpPr>
          <p:cNvPr id="3" name="Content Placeholder 2">
            <a:extLst>
              <a:ext uri="{FF2B5EF4-FFF2-40B4-BE49-F238E27FC236}">
                <a16:creationId xmlns:a16="http://schemas.microsoft.com/office/drawing/2014/main" id="{AEF65DAE-FB2D-4DF5-A3C9-C7FD464644DB}"/>
              </a:ext>
            </a:extLst>
          </p:cNvPr>
          <p:cNvSpPr>
            <a:spLocks noGrp="1"/>
          </p:cNvSpPr>
          <p:nvPr>
            <p:ph idx="1"/>
          </p:nvPr>
        </p:nvSpPr>
        <p:spPr>
          <a:xfrm>
            <a:off x="677334" y="1577131"/>
            <a:ext cx="8596668" cy="4464232"/>
          </a:xfrm>
        </p:spPr>
        <p:txBody>
          <a:bodyPr>
            <a:normAutofit lnSpcReduction="10000"/>
          </a:bodyPr>
          <a:lstStyle/>
          <a:p>
            <a:r>
              <a:rPr lang="vi-VN" dirty="0"/>
              <a:t>Hàm Concat được sử dụng để nối hai hoặc nhiều chuỗi. Nếu các đối số là số, chúng sẽ</a:t>
            </a:r>
            <a:r>
              <a:rPr lang="en-US" dirty="0"/>
              <a:t> </a:t>
            </a:r>
            <a:r>
              <a:rPr lang="vi-VN" dirty="0"/>
              <a:t>được chuyển đổi thành chuỗi trước khi nối. Nếu bất kỳ đối số trong danh sách đối số là</a:t>
            </a:r>
            <a:r>
              <a:rPr lang="en-US" dirty="0"/>
              <a:t> NULL, </a:t>
            </a:r>
            <a:r>
              <a:rPr lang="en-US" dirty="0" err="1"/>
              <a:t>hàm</a:t>
            </a:r>
            <a:r>
              <a:rPr lang="en-US" dirty="0"/>
              <a:t> </a:t>
            </a:r>
            <a:r>
              <a:rPr lang="en-US" dirty="0" err="1"/>
              <a:t>concat</a:t>
            </a:r>
            <a:r>
              <a:rPr lang="en-US" dirty="0"/>
              <a:t> </a:t>
            </a:r>
            <a:r>
              <a:rPr lang="en-US" dirty="0" err="1"/>
              <a:t>sẽ</a:t>
            </a:r>
            <a:r>
              <a:rPr lang="en-US" dirty="0"/>
              <a:t> </a:t>
            </a:r>
            <a:r>
              <a:rPr lang="en-US" dirty="0" err="1"/>
              <a:t>trả</a:t>
            </a:r>
            <a:r>
              <a:rPr lang="en-US" dirty="0"/>
              <a:t> </a:t>
            </a:r>
            <a:r>
              <a:rPr lang="en-US" dirty="0" err="1"/>
              <a:t>về</a:t>
            </a:r>
            <a:r>
              <a:rPr lang="en-US" dirty="0"/>
              <a:t> NULL.</a:t>
            </a:r>
          </a:p>
          <a:p>
            <a:endParaRPr lang="en-US" dirty="0"/>
          </a:p>
          <a:p>
            <a:r>
              <a:rPr lang="en-US" dirty="0"/>
              <a:t>CONCAT(str1,str2,...)</a:t>
            </a:r>
          </a:p>
          <a:p>
            <a:r>
              <a:rPr lang="en-US" dirty="0" err="1"/>
              <a:t>Ví</a:t>
            </a:r>
            <a:r>
              <a:rPr lang="en-US" dirty="0"/>
              <a:t> </a:t>
            </a:r>
            <a:r>
              <a:rPr lang="en-US" dirty="0" err="1"/>
              <a:t>dụ</a:t>
            </a:r>
            <a:r>
              <a:rPr lang="en-US" dirty="0"/>
              <a:t>:  Con =   </a:t>
            </a:r>
            <a:r>
              <a:rPr lang="en-US" dirty="0" err="1"/>
              <a:t>Concat</a:t>
            </a:r>
            <a:r>
              <a:rPr lang="en-US" dirty="0"/>
              <a:t> (‘CSDL’, ‘2021’) = CSDL2021</a:t>
            </a:r>
          </a:p>
          <a:p>
            <a:pPr lvl="1"/>
            <a:r>
              <a:rPr lang="en-US" dirty="0"/>
              <a:t>Con =   </a:t>
            </a:r>
            <a:r>
              <a:rPr lang="en-US" dirty="0" err="1"/>
              <a:t>Concat</a:t>
            </a:r>
            <a:r>
              <a:rPr lang="en-US" dirty="0"/>
              <a:t> (‘CSDL’,’ ‘,‘2021’) = CSDL 2021</a:t>
            </a:r>
          </a:p>
          <a:p>
            <a:pPr lvl="1"/>
            <a:r>
              <a:rPr lang="en-US" dirty="0"/>
              <a:t>Con =   </a:t>
            </a:r>
            <a:r>
              <a:rPr lang="en-US" dirty="0" err="1"/>
              <a:t>Concat</a:t>
            </a:r>
            <a:r>
              <a:rPr lang="en-US" dirty="0"/>
              <a:t> (‘CSDL’,’_‘,‘2021’) = CSDL_2021</a:t>
            </a:r>
          </a:p>
          <a:p>
            <a:endParaRPr lang="en-US" dirty="0"/>
          </a:p>
          <a:p>
            <a:r>
              <a:rPr lang="en-US" dirty="0" err="1"/>
              <a:t>Ví</a:t>
            </a:r>
            <a:r>
              <a:rPr lang="en-US" dirty="0"/>
              <a:t> </a:t>
            </a:r>
            <a:r>
              <a:rPr lang="en-US" dirty="0" err="1"/>
              <a:t>dụ</a:t>
            </a:r>
            <a:endParaRPr lang="en-US" dirty="0"/>
          </a:p>
          <a:p>
            <a:pPr marL="0" indent="0">
              <a:buNone/>
            </a:pPr>
            <a:r>
              <a:rPr lang="en-US" dirty="0"/>
              <a:t>SELECT CONCAT(</a:t>
            </a:r>
            <a:r>
              <a:rPr lang="en-US" dirty="0" err="1"/>
              <a:t>contactLastname</a:t>
            </a:r>
            <a:r>
              <a:rPr lang="en-US" dirty="0"/>
              <a:t>,', ',</a:t>
            </a:r>
            <a:r>
              <a:rPr lang="en-US" dirty="0" err="1"/>
              <a:t>contactFirstname</a:t>
            </a:r>
            <a:r>
              <a:rPr lang="en-US" dirty="0"/>
              <a:t>) </a:t>
            </a:r>
            <a:r>
              <a:rPr lang="en-US" dirty="0" err="1"/>
              <a:t>Fullname</a:t>
            </a:r>
            <a:r>
              <a:rPr lang="en-US" dirty="0"/>
              <a:t> </a:t>
            </a:r>
          </a:p>
          <a:p>
            <a:pPr marL="0" indent="0">
              <a:buNone/>
            </a:pPr>
            <a:r>
              <a:rPr lang="en-US" dirty="0"/>
              <a:t>FROM customers</a:t>
            </a:r>
          </a:p>
          <a:p>
            <a:pPr lvl="1"/>
            <a:endParaRPr lang="en-US" dirty="0"/>
          </a:p>
          <a:p>
            <a:pPr lvl="1"/>
            <a:endParaRPr lang="en-US" dirty="0"/>
          </a:p>
          <a:p>
            <a:pPr lvl="1"/>
            <a:endParaRPr lang="en-US" dirty="0"/>
          </a:p>
          <a:p>
            <a:endParaRPr lang="en-US" dirty="0"/>
          </a:p>
        </p:txBody>
      </p:sp>
    </p:spTree>
    <p:extLst>
      <p:ext uri="{BB962C8B-B14F-4D97-AF65-F5344CB8AC3E}">
        <p14:creationId xmlns:p14="http://schemas.microsoft.com/office/powerpoint/2010/main" val="155609757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5830A-81F9-4F17-ADF1-02378082E6B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4D253F4-C84F-40CC-A556-B0EF1BEFE663}"/>
              </a:ext>
            </a:extLst>
          </p:cNvPr>
          <p:cNvSpPr>
            <a:spLocks noGrp="1"/>
          </p:cNvSpPr>
          <p:nvPr>
            <p:ph idx="1"/>
          </p:nvPr>
        </p:nvSpPr>
        <p:spPr/>
        <p:txBody>
          <a:bodyPr/>
          <a:lstStyle/>
          <a:p>
            <a:r>
              <a:rPr lang="vi-VN" dirty="0">
                <a:solidFill>
                  <a:schemeClr val="tx1"/>
                </a:solidFill>
              </a:rPr>
              <a:t>MySQL cũng hỗ trợ hàm concat_ws cho phép chúng ta nối hai hay nhiều hơn hai chuỗi</a:t>
            </a:r>
            <a:r>
              <a:rPr lang="en-US" dirty="0">
                <a:solidFill>
                  <a:schemeClr val="tx1"/>
                </a:solidFill>
              </a:rPr>
              <a:t> </a:t>
            </a:r>
            <a:r>
              <a:rPr lang="vi-VN" dirty="0">
                <a:solidFill>
                  <a:schemeClr val="tx1"/>
                </a:solidFill>
              </a:rPr>
              <a:t>với một dấu phân cách được xác định trước. Cú pháp của hàm concat_ws là:</a:t>
            </a:r>
          </a:p>
          <a:p>
            <a:r>
              <a:rPr lang="en-US" dirty="0">
                <a:solidFill>
                  <a:srgbClr val="C00000"/>
                </a:solidFill>
              </a:rPr>
              <a:t>CONCAT_WS</a:t>
            </a:r>
            <a:r>
              <a:rPr lang="en-US" dirty="0">
                <a:solidFill>
                  <a:schemeClr val="tx1"/>
                </a:solidFill>
              </a:rPr>
              <a:t>(</a:t>
            </a:r>
            <a:r>
              <a:rPr lang="en-US" dirty="0">
                <a:solidFill>
                  <a:srgbClr val="C00000"/>
                </a:solidFill>
              </a:rPr>
              <a:t>seperator,</a:t>
            </a:r>
            <a:r>
              <a:rPr lang="en-US" dirty="0">
                <a:solidFill>
                  <a:schemeClr val="tx1"/>
                </a:solidFill>
              </a:rPr>
              <a:t>str1,str2, str3, str4,…, </a:t>
            </a:r>
            <a:r>
              <a:rPr lang="en-US" dirty="0" err="1">
                <a:solidFill>
                  <a:schemeClr val="tx1"/>
                </a:solidFill>
              </a:rPr>
              <a:t>strK</a:t>
            </a:r>
            <a:r>
              <a:rPr lang="en-US" dirty="0">
                <a:solidFill>
                  <a:schemeClr val="tx1"/>
                </a:solidFill>
              </a:rPr>
              <a:t>)</a:t>
            </a:r>
          </a:p>
          <a:p>
            <a:r>
              <a:rPr lang="en-US" dirty="0">
                <a:solidFill>
                  <a:schemeClr val="tx1"/>
                </a:solidFill>
                <a:sym typeface="Symbol" panose="05050102010706020507" pitchFamily="18" charset="2"/>
              </a:rPr>
              <a:t>  </a:t>
            </a:r>
            <a:r>
              <a:rPr lang="en-US" dirty="0" err="1">
                <a:solidFill>
                  <a:schemeClr val="tx1"/>
                </a:solidFill>
                <a:sym typeface="Symbol" panose="05050102010706020507" pitchFamily="18" charset="2"/>
              </a:rPr>
              <a:t>Concat</a:t>
            </a:r>
            <a:r>
              <a:rPr lang="en-US" dirty="0">
                <a:solidFill>
                  <a:schemeClr val="tx1"/>
                </a:solidFill>
                <a:sym typeface="Symbol" panose="05050102010706020507" pitchFamily="18" charset="2"/>
              </a:rPr>
              <a:t>(str,’ : ‘, str2, ‘ : ’ str3, ‘ : ’ ,str4,…. ,’ : ’, </a:t>
            </a:r>
            <a:r>
              <a:rPr lang="en-US" dirty="0" err="1">
                <a:solidFill>
                  <a:schemeClr val="tx1"/>
                </a:solidFill>
                <a:sym typeface="Symbol" panose="05050102010706020507" pitchFamily="18" charset="2"/>
              </a:rPr>
              <a:t>strK</a:t>
            </a:r>
            <a:r>
              <a:rPr lang="en-US" dirty="0">
                <a:solidFill>
                  <a:schemeClr val="tx1"/>
                </a:solidFill>
                <a:sym typeface="Symbol" panose="05050102010706020507" pitchFamily="18" charset="2"/>
              </a:rPr>
              <a:t>)</a:t>
            </a:r>
            <a:endParaRPr lang="en-US" dirty="0">
              <a:solidFill>
                <a:schemeClr val="tx1"/>
              </a:solidFill>
            </a:endParaRPr>
          </a:p>
          <a:p>
            <a:endParaRPr lang="en-US" dirty="0">
              <a:solidFill>
                <a:schemeClr val="tx1"/>
              </a:solidFill>
            </a:endParaRPr>
          </a:p>
          <a:p>
            <a:endParaRPr lang="en-US" dirty="0">
              <a:solidFill>
                <a:schemeClr val="tx1"/>
              </a:solidFill>
            </a:endParaRPr>
          </a:p>
          <a:p>
            <a:r>
              <a:rPr lang="en-US" dirty="0" err="1">
                <a:solidFill>
                  <a:schemeClr val="tx1"/>
                </a:solidFill>
              </a:rPr>
              <a:t>Ví</a:t>
            </a:r>
            <a:r>
              <a:rPr lang="en-US" dirty="0">
                <a:solidFill>
                  <a:schemeClr val="tx1"/>
                </a:solidFill>
              </a:rPr>
              <a:t> </a:t>
            </a:r>
            <a:r>
              <a:rPr lang="en-US" dirty="0" err="1">
                <a:solidFill>
                  <a:schemeClr val="tx1"/>
                </a:solidFill>
              </a:rPr>
              <a:t>dụ</a:t>
            </a:r>
            <a:r>
              <a:rPr lang="en-US" dirty="0">
                <a:solidFill>
                  <a:schemeClr val="tx1"/>
                </a:solidFill>
              </a:rPr>
              <a:t>:</a:t>
            </a:r>
          </a:p>
          <a:p>
            <a:pPr marL="0" indent="0">
              <a:buNone/>
            </a:pPr>
            <a:r>
              <a:rPr lang="en-US" dirty="0"/>
              <a:t>SELECT </a:t>
            </a:r>
            <a:r>
              <a:rPr lang="en-US" dirty="0">
                <a:solidFill>
                  <a:srgbClr val="C00000"/>
                </a:solidFill>
              </a:rPr>
              <a:t>CONCAT_WS</a:t>
            </a:r>
            <a:r>
              <a:rPr lang="en-US" dirty="0"/>
              <a:t>(‘ : ‘,</a:t>
            </a:r>
            <a:r>
              <a:rPr lang="en-US" dirty="0" err="1"/>
              <a:t>contactLastname</a:t>
            </a:r>
            <a:r>
              <a:rPr lang="en-US" dirty="0"/>
              <a:t> , </a:t>
            </a:r>
            <a:r>
              <a:rPr lang="en-US" dirty="0" err="1"/>
              <a:t>contactFirstname</a:t>
            </a:r>
            <a:r>
              <a:rPr lang="en-US" dirty="0"/>
              <a:t>) </a:t>
            </a:r>
            <a:r>
              <a:rPr lang="en-US" dirty="0" err="1"/>
              <a:t>Fullname</a:t>
            </a:r>
            <a:r>
              <a:rPr lang="en-US" dirty="0"/>
              <a:t> </a:t>
            </a:r>
          </a:p>
          <a:p>
            <a:pPr marL="0" indent="0">
              <a:buNone/>
            </a:pPr>
            <a:r>
              <a:rPr lang="en-US" dirty="0"/>
              <a:t>FROM customers</a:t>
            </a:r>
          </a:p>
          <a:p>
            <a:endParaRPr lang="en-US" dirty="0">
              <a:solidFill>
                <a:schemeClr val="tx1"/>
              </a:solidFill>
            </a:endParaRPr>
          </a:p>
          <a:p>
            <a:endParaRPr lang="en-US" dirty="0">
              <a:solidFill>
                <a:schemeClr val="tx1"/>
              </a:solidFill>
            </a:endParaRPr>
          </a:p>
        </p:txBody>
      </p:sp>
    </p:spTree>
    <p:extLst>
      <p:ext uri="{BB962C8B-B14F-4D97-AF65-F5344CB8AC3E}">
        <p14:creationId xmlns:p14="http://schemas.microsoft.com/office/powerpoint/2010/main" val="110341010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3FAAA-209E-489D-BE65-ED70B4FFEB32}"/>
              </a:ext>
            </a:extLst>
          </p:cNvPr>
          <p:cNvSpPr>
            <a:spLocks noGrp="1"/>
          </p:cNvSpPr>
          <p:nvPr>
            <p:ph type="title"/>
          </p:nvPr>
        </p:nvSpPr>
        <p:spPr>
          <a:xfrm>
            <a:off x="677334" y="290819"/>
            <a:ext cx="8596668" cy="1320800"/>
          </a:xfrm>
        </p:spPr>
        <p:txBody>
          <a:bodyPr/>
          <a:lstStyle/>
          <a:p>
            <a:r>
              <a:rPr lang="en-US" dirty="0"/>
              <a:t>Replace – </a:t>
            </a:r>
            <a:r>
              <a:rPr lang="en-US" dirty="0" err="1"/>
              <a:t>Thay</a:t>
            </a:r>
            <a:r>
              <a:rPr lang="en-US" dirty="0"/>
              <a:t> </a:t>
            </a:r>
            <a:r>
              <a:rPr lang="en-US" dirty="0" err="1"/>
              <a:t>thế</a:t>
            </a:r>
            <a:r>
              <a:rPr lang="en-US" dirty="0"/>
              <a:t> </a:t>
            </a:r>
            <a:r>
              <a:rPr lang="en-US" dirty="0" err="1"/>
              <a:t>ký</a:t>
            </a:r>
            <a:r>
              <a:rPr lang="en-US" dirty="0"/>
              <a:t> </a:t>
            </a:r>
            <a:r>
              <a:rPr lang="en-US" dirty="0" err="1"/>
              <a:t>tự</a:t>
            </a:r>
            <a:endParaRPr lang="en-US" dirty="0"/>
          </a:p>
        </p:txBody>
      </p:sp>
      <p:sp>
        <p:nvSpPr>
          <p:cNvPr id="3" name="Content Placeholder 2">
            <a:extLst>
              <a:ext uri="{FF2B5EF4-FFF2-40B4-BE49-F238E27FC236}">
                <a16:creationId xmlns:a16="http://schemas.microsoft.com/office/drawing/2014/main" id="{C83271FE-B3AA-4612-A61D-3860F15D30C2}"/>
              </a:ext>
            </a:extLst>
          </p:cNvPr>
          <p:cNvSpPr>
            <a:spLocks noGrp="1"/>
          </p:cNvSpPr>
          <p:nvPr>
            <p:ph idx="1"/>
          </p:nvPr>
        </p:nvSpPr>
        <p:spPr>
          <a:xfrm>
            <a:off x="611150" y="1098958"/>
            <a:ext cx="8596668" cy="4539733"/>
          </a:xfrm>
        </p:spPr>
        <p:txBody>
          <a:bodyPr>
            <a:normAutofit/>
          </a:bodyPr>
          <a:lstStyle/>
          <a:p>
            <a:r>
              <a:rPr lang="en-US" dirty="0"/>
              <a:t>MySQL </a:t>
            </a:r>
            <a:r>
              <a:rPr lang="en-US" dirty="0" err="1"/>
              <a:t>cung</a:t>
            </a:r>
            <a:r>
              <a:rPr lang="en-US" dirty="0"/>
              <a:t> </a:t>
            </a:r>
            <a:r>
              <a:rPr lang="en-US" dirty="0" err="1"/>
              <a:t>cấp</a:t>
            </a:r>
            <a:r>
              <a:rPr lang="en-US" dirty="0"/>
              <a:t> </a:t>
            </a:r>
            <a:r>
              <a:rPr lang="en-US" dirty="0" err="1"/>
              <a:t>cho</a:t>
            </a:r>
            <a:r>
              <a:rPr lang="en-US" dirty="0"/>
              <a:t> </a:t>
            </a:r>
            <a:r>
              <a:rPr lang="en-US" dirty="0" err="1"/>
              <a:t>một</a:t>
            </a:r>
            <a:r>
              <a:rPr lang="en-US" dirty="0"/>
              <a:t> </a:t>
            </a:r>
            <a:r>
              <a:rPr lang="en-US" dirty="0" err="1"/>
              <a:t>hàm</a:t>
            </a:r>
            <a:r>
              <a:rPr lang="en-US" dirty="0"/>
              <a:t> </a:t>
            </a:r>
            <a:r>
              <a:rPr lang="en-US" dirty="0" err="1"/>
              <a:t>xử</a:t>
            </a:r>
            <a:r>
              <a:rPr lang="en-US" dirty="0"/>
              <a:t> </a:t>
            </a:r>
            <a:r>
              <a:rPr lang="en-US" dirty="0" err="1"/>
              <a:t>lý</a:t>
            </a:r>
            <a:r>
              <a:rPr lang="en-US" dirty="0"/>
              <a:t> </a:t>
            </a:r>
            <a:r>
              <a:rPr lang="en-US" dirty="0" err="1"/>
              <a:t>chuỗi</a:t>
            </a:r>
            <a:r>
              <a:rPr lang="en-US" dirty="0"/>
              <a:t> </a:t>
            </a:r>
            <a:r>
              <a:rPr lang="en-US" dirty="0" err="1"/>
              <a:t>hữu</a:t>
            </a:r>
            <a:r>
              <a:rPr lang="en-US" dirty="0"/>
              <a:t> </a:t>
            </a:r>
            <a:r>
              <a:rPr lang="en-US" dirty="0" err="1"/>
              <a:t>ích</a:t>
            </a:r>
            <a:r>
              <a:rPr lang="en-US" dirty="0"/>
              <a:t> </a:t>
            </a:r>
            <a:r>
              <a:rPr lang="en-US" dirty="0" err="1"/>
              <a:t>là</a:t>
            </a:r>
            <a:r>
              <a:rPr lang="en-US" dirty="0"/>
              <a:t> Replace, </a:t>
            </a:r>
            <a:r>
              <a:rPr lang="en-US" dirty="0" err="1"/>
              <a:t>cho</a:t>
            </a:r>
            <a:r>
              <a:rPr lang="en-US" dirty="0"/>
              <a:t> </a:t>
            </a:r>
            <a:r>
              <a:rPr lang="en-US" dirty="0" err="1"/>
              <a:t>phép</a:t>
            </a:r>
            <a:r>
              <a:rPr lang="en-US" dirty="0"/>
              <a:t> </a:t>
            </a:r>
            <a:r>
              <a:rPr lang="en-US" dirty="0" err="1"/>
              <a:t>thay</a:t>
            </a:r>
            <a:r>
              <a:rPr lang="en-US" dirty="0"/>
              <a:t> </a:t>
            </a:r>
            <a:r>
              <a:rPr lang="en-US" dirty="0" err="1"/>
              <a:t>thế</a:t>
            </a:r>
            <a:r>
              <a:rPr lang="en-US" dirty="0"/>
              <a:t> </a:t>
            </a:r>
            <a:r>
              <a:rPr lang="en-US" dirty="0" err="1"/>
              <a:t>một</a:t>
            </a:r>
            <a:r>
              <a:rPr lang="en-US" dirty="0"/>
              <a:t> </a:t>
            </a:r>
            <a:r>
              <a:rPr lang="en-US" dirty="0" err="1"/>
              <a:t>chuỗi</a:t>
            </a:r>
            <a:r>
              <a:rPr lang="en-US" dirty="0"/>
              <a:t> </a:t>
            </a:r>
            <a:r>
              <a:rPr lang="en-US" dirty="0" err="1"/>
              <a:t>trong</a:t>
            </a:r>
            <a:r>
              <a:rPr lang="en-US" dirty="0"/>
              <a:t> </a:t>
            </a:r>
            <a:r>
              <a:rPr lang="en-US" dirty="0" err="1"/>
              <a:t>một</a:t>
            </a:r>
            <a:r>
              <a:rPr lang="en-US" dirty="0"/>
              <a:t>  </a:t>
            </a:r>
            <a:r>
              <a:rPr lang="en-US" dirty="0" err="1"/>
              <a:t>cột</a:t>
            </a:r>
            <a:r>
              <a:rPr lang="en-US" dirty="0"/>
              <a:t> </a:t>
            </a:r>
            <a:r>
              <a:rPr lang="en-US" dirty="0" err="1"/>
              <a:t>của</a:t>
            </a:r>
            <a:r>
              <a:rPr lang="en-US" dirty="0"/>
              <a:t> </a:t>
            </a:r>
            <a:r>
              <a:rPr lang="en-US" dirty="0" err="1"/>
              <a:t>một</a:t>
            </a:r>
            <a:r>
              <a:rPr lang="en-US" dirty="0"/>
              <a:t> </a:t>
            </a:r>
            <a:r>
              <a:rPr lang="en-US" dirty="0" err="1"/>
              <a:t>bảng</a:t>
            </a:r>
            <a:r>
              <a:rPr lang="en-US" dirty="0"/>
              <a:t> </a:t>
            </a:r>
            <a:r>
              <a:rPr lang="en-US" dirty="0" err="1"/>
              <a:t>bằng</a:t>
            </a:r>
            <a:r>
              <a:rPr lang="en-US" dirty="0"/>
              <a:t> </a:t>
            </a:r>
            <a:r>
              <a:rPr lang="en-US" dirty="0" err="1"/>
              <a:t>một</a:t>
            </a:r>
            <a:r>
              <a:rPr lang="en-US" dirty="0"/>
              <a:t> </a:t>
            </a:r>
            <a:r>
              <a:rPr lang="en-US" dirty="0" err="1"/>
              <a:t>chuỗi</a:t>
            </a:r>
            <a:r>
              <a:rPr lang="en-US" dirty="0"/>
              <a:t> </a:t>
            </a:r>
            <a:r>
              <a:rPr lang="en-US" dirty="0" err="1"/>
              <a:t>mới</a:t>
            </a:r>
            <a:r>
              <a:rPr lang="en-US" dirty="0"/>
              <a:t>.</a:t>
            </a:r>
          </a:p>
          <a:p>
            <a:r>
              <a:rPr lang="vi-VN" i="1" dirty="0"/>
              <a:t>Cú pháp của hàm như sau:</a:t>
            </a:r>
            <a:endParaRPr lang="en-US" i="1" dirty="0"/>
          </a:p>
          <a:p>
            <a:endParaRPr lang="en-US" i="1" dirty="0"/>
          </a:p>
          <a:p>
            <a:endParaRPr lang="en-US" i="1" dirty="0"/>
          </a:p>
          <a:p>
            <a:endParaRPr lang="en-US" dirty="0"/>
          </a:p>
          <a:p>
            <a:r>
              <a:rPr lang="en-US" dirty="0" err="1"/>
              <a:t>Trong</a:t>
            </a:r>
            <a:r>
              <a:rPr lang="en-US" dirty="0"/>
              <a:t> MySQL, </a:t>
            </a:r>
            <a:r>
              <a:rPr lang="en-US" dirty="0" err="1"/>
              <a:t>có</a:t>
            </a:r>
            <a:r>
              <a:rPr lang="en-US" dirty="0"/>
              <a:t> </a:t>
            </a:r>
            <a:r>
              <a:rPr lang="en-US" dirty="0" err="1"/>
              <a:t>phân</a:t>
            </a:r>
            <a:r>
              <a:rPr lang="en-US" dirty="0"/>
              <a:t> </a:t>
            </a:r>
            <a:r>
              <a:rPr lang="en-US" dirty="0" err="1"/>
              <a:t>biệt</a:t>
            </a:r>
            <a:r>
              <a:rPr lang="en-US" dirty="0"/>
              <a:t> </a:t>
            </a:r>
            <a:r>
              <a:rPr lang="en-US" dirty="0" err="1"/>
              <a:t>hoa</a:t>
            </a:r>
            <a:r>
              <a:rPr lang="en-US" dirty="0"/>
              <a:t> – </a:t>
            </a:r>
            <a:r>
              <a:rPr lang="en-US" dirty="0" err="1"/>
              <a:t>th</a:t>
            </a:r>
            <a:r>
              <a:rPr lang="vi-VN" dirty="0"/>
              <a:t>ư</a:t>
            </a:r>
            <a:r>
              <a:rPr lang="en-US" dirty="0" err="1"/>
              <a:t>ờng</a:t>
            </a:r>
            <a:r>
              <a:rPr lang="en-US" dirty="0"/>
              <a:t> </a:t>
            </a:r>
            <a:r>
              <a:rPr lang="en-US" dirty="0" err="1"/>
              <a:t>khi</a:t>
            </a:r>
            <a:r>
              <a:rPr lang="en-US" dirty="0"/>
              <a:t> </a:t>
            </a:r>
            <a:r>
              <a:rPr lang="en-US" dirty="0" err="1"/>
              <a:t>tìm</a:t>
            </a:r>
            <a:r>
              <a:rPr lang="en-US" dirty="0"/>
              <a:t> </a:t>
            </a:r>
            <a:r>
              <a:rPr lang="en-US" dirty="0" err="1"/>
              <a:t>kiếm</a:t>
            </a:r>
            <a:r>
              <a:rPr lang="en-US" dirty="0"/>
              <a:t> </a:t>
            </a:r>
            <a:r>
              <a:rPr lang="en-US" dirty="0" err="1"/>
              <a:t>thay</a:t>
            </a:r>
            <a:r>
              <a:rPr lang="en-US" dirty="0"/>
              <a:t> </a:t>
            </a:r>
            <a:r>
              <a:rPr lang="en-US" dirty="0" err="1"/>
              <a:t>thế</a:t>
            </a:r>
            <a:r>
              <a:rPr lang="en-US" dirty="0"/>
              <a:t> </a:t>
            </a:r>
            <a:r>
              <a:rPr lang="en-US" dirty="0" err="1"/>
              <a:t>văn</a:t>
            </a:r>
            <a:r>
              <a:rPr lang="en-US" dirty="0"/>
              <a:t> </a:t>
            </a:r>
            <a:r>
              <a:rPr lang="en-US" dirty="0" err="1"/>
              <a:t>bản</a:t>
            </a:r>
            <a:endParaRPr lang="en-US" dirty="0"/>
          </a:p>
          <a:p>
            <a:endParaRPr lang="en-US" dirty="0"/>
          </a:p>
          <a:p>
            <a:r>
              <a:rPr lang="en-US" dirty="0" err="1"/>
              <a:t>Ví</a:t>
            </a:r>
            <a:r>
              <a:rPr lang="en-US" dirty="0"/>
              <a:t> </a:t>
            </a:r>
            <a:r>
              <a:rPr lang="en-US" dirty="0" err="1"/>
              <a:t>dụ</a:t>
            </a:r>
            <a:endParaRPr lang="en-US" dirty="0"/>
          </a:p>
          <a:p>
            <a:pPr marL="400050" lvl="1" indent="0">
              <a:buNone/>
            </a:pPr>
            <a:r>
              <a:rPr lang="en-US" dirty="0"/>
              <a:t>UPDATE products </a:t>
            </a:r>
          </a:p>
          <a:p>
            <a:pPr marL="400050" lvl="1" indent="0">
              <a:buNone/>
            </a:pPr>
            <a:r>
              <a:rPr lang="en-US" dirty="0"/>
              <a:t>SET </a:t>
            </a:r>
            <a:r>
              <a:rPr lang="en-US" dirty="0" err="1">
                <a:solidFill>
                  <a:srgbClr val="FF0000"/>
                </a:solidFill>
              </a:rPr>
              <a:t>productDescription</a:t>
            </a:r>
            <a:r>
              <a:rPr lang="en-US" dirty="0"/>
              <a:t> =  REPLACE(</a:t>
            </a:r>
            <a:r>
              <a:rPr lang="en-US" dirty="0" err="1">
                <a:solidFill>
                  <a:srgbClr val="FF0000"/>
                </a:solidFill>
              </a:rPr>
              <a:t>productDescription</a:t>
            </a:r>
            <a:r>
              <a:rPr lang="en-US" dirty="0"/>
              <a:t>,'</a:t>
            </a:r>
            <a:r>
              <a:rPr lang="en-US" dirty="0" err="1"/>
              <a:t>abuot</a:t>
            </a:r>
            <a:r>
              <a:rPr lang="en-US" dirty="0"/>
              <a:t>','about')</a:t>
            </a:r>
          </a:p>
          <a:p>
            <a:endParaRPr lang="en-US" dirty="0"/>
          </a:p>
        </p:txBody>
      </p:sp>
      <p:sp>
        <p:nvSpPr>
          <p:cNvPr id="4" name="TextBox 3">
            <a:extLst>
              <a:ext uri="{FF2B5EF4-FFF2-40B4-BE49-F238E27FC236}">
                <a16:creationId xmlns:a16="http://schemas.microsoft.com/office/drawing/2014/main" id="{87AA8EF9-6F29-4B3B-A92C-5E49D956CAB5}"/>
              </a:ext>
            </a:extLst>
          </p:cNvPr>
          <p:cNvSpPr txBox="1"/>
          <p:nvPr/>
        </p:nvSpPr>
        <p:spPr>
          <a:xfrm>
            <a:off x="3051294" y="2097547"/>
            <a:ext cx="6654769" cy="923330"/>
          </a:xfrm>
          <a:prstGeom prst="rect">
            <a:avLst/>
          </a:prstGeom>
          <a:noFill/>
        </p:spPr>
        <p:txBody>
          <a:bodyPr wrap="square" rtlCol="0">
            <a:spAutoFit/>
          </a:bodyPr>
          <a:lstStyle/>
          <a:p>
            <a:r>
              <a:rPr lang="en-US" dirty="0"/>
              <a:t>UPDATE &lt;</a:t>
            </a:r>
            <a:r>
              <a:rPr lang="en-US" dirty="0" err="1"/>
              <a:t>tên</a:t>
            </a:r>
            <a:r>
              <a:rPr lang="en-US" dirty="0"/>
              <a:t> </a:t>
            </a:r>
            <a:r>
              <a:rPr lang="en-US" dirty="0" err="1"/>
              <a:t>bảng</a:t>
            </a:r>
            <a:r>
              <a:rPr lang="en-US" dirty="0"/>
              <a:t>&gt;</a:t>
            </a:r>
          </a:p>
          <a:p>
            <a:r>
              <a:rPr lang="en-US" dirty="0"/>
              <a:t>SET </a:t>
            </a:r>
            <a:r>
              <a:rPr lang="en-US" dirty="0" err="1"/>
              <a:t>tên</a:t>
            </a:r>
            <a:r>
              <a:rPr lang="en-US" dirty="0"/>
              <a:t> </a:t>
            </a:r>
            <a:r>
              <a:rPr lang="en-US" dirty="0" err="1"/>
              <a:t>cột</a:t>
            </a:r>
            <a:r>
              <a:rPr lang="en-US" dirty="0"/>
              <a:t> = REPLACE(</a:t>
            </a:r>
            <a:r>
              <a:rPr lang="en-US" dirty="0" err="1"/>
              <a:t>tên</a:t>
            </a:r>
            <a:r>
              <a:rPr lang="en-US" dirty="0"/>
              <a:t> </a:t>
            </a:r>
            <a:r>
              <a:rPr lang="en-US" dirty="0" err="1"/>
              <a:t>cột,xâu</a:t>
            </a:r>
            <a:r>
              <a:rPr lang="en-US" dirty="0"/>
              <a:t> </a:t>
            </a:r>
            <a:r>
              <a:rPr lang="en-US" dirty="0" err="1"/>
              <a:t>cần</a:t>
            </a:r>
            <a:r>
              <a:rPr lang="en-US" dirty="0"/>
              <a:t> </a:t>
            </a:r>
            <a:r>
              <a:rPr lang="en-US" dirty="0" err="1"/>
              <a:t>tìm,xâu</a:t>
            </a:r>
            <a:r>
              <a:rPr lang="en-US" dirty="0"/>
              <a:t> </a:t>
            </a:r>
            <a:r>
              <a:rPr lang="en-US" dirty="0" err="1"/>
              <a:t>thay</a:t>
            </a:r>
            <a:r>
              <a:rPr lang="en-US" dirty="0"/>
              <a:t> </a:t>
            </a:r>
            <a:r>
              <a:rPr lang="en-US" dirty="0" err="1"/>
              <a:t>thế</a:t>
            </a:r>
            <a:r>
              <a:rPr lang="en-US" dirty="0"/>
              <a:t>)</a:t>
            </a:r>
          </a:p>
          <a:p>
            <a:r>
              <a:rPr lang="en-US" dirty="0"/>
              <a:t>WHERE &lt;</a:t>
            </a:r>
            <a:r>
              <a:rPr lang="en-US" dirty="0" err="1"/>
              <a:t>các</a:t>
            </a:r>
            <a:r>
              <a:rPr lang="en-US" dirty="0"/>
              <a:t> </a:t>
            </a:r>
            <a:r>
              <a:rPr lang="en-US" dirty="0" err="1"/>
              <a:t>điều</a:t>
            </a:r>
            <a:r>
              <a:rPr lang="en-US" dirty="0"/>
              <a:t> </a:t>
            </a:r>
            <a:r>
              <a:rPr lang="en-US" dirty="0" err="1"/>
              <a:t>kiện</a:t>
            </a:r>
            <a:r>
              <a:rPr lang="en-US" dirty="0"/>
              <a:t>&gt;</a:t>
            </a:r>
          </a:p>
        </p:txBody>
      </p:sp>
      <p:cxnSp>
        <p:nvCxnSpPr>
          <p:cNvPr id="6" name="Straight Connector 5">
            <a:extLst>
              <a:ext uri="{FF2B5EF4-FFF2-40B4-BE49-F238E27FC236}">
                <a16:creationId xmlns:a16="http://schemas.microsoft.com/office/drawing/2014/main" id="{108C95CC-623F-44B2-87D9-32C14036C49F}"/>
              </a:ext>
            </a:extLst>
          </p:cNvPr>
          <p:cNvCxnSpPr>
            <a:cxnSpLocks/>
          </p:cNvCxnSpPr>
          <p:nvPr/>
        </p:nvCxnSpPr>
        <p:spPr>
          <a:xfrm>
            <a:off x="2592198" y="5343787"/>
            <a:ext cx="1249960" cy="53689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BBD94B3-AB17-40DF-853D-3B520B53A76C}"/>
              </a:ext>
            </a:extLst>
          </p:cNvPr>
          <p:cNvCxnSpPr/>
          <p:nvPr/>
        </p:nvCxnSpPr>
        <p:spPr>
          <a:xfrm flipH="1">
            <a:off x="4211273" y="5259897"/>
            <a:ext cx="939567" cy="545285"/>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56B8B79E-D1F3-4DA2-8BD5-6FC0B20996B3}"/>
              </a:ext>
            </a:extLst>
          </p:cNvPr>
          <p:cNvSpPr txBox="1"/>
          <p:nvPr/>
        </p:nvSpPr>
        <p:spPr>
          <a:xfrm>
            <a:off x="3051294" y="5880683"/>
            <a:ext cx="3531765" cy="646331"/>
          </a:xfrm>
          <a:prstGeom prst="rect">
            <a:avLst/>
          </a:prstGeom>
          <a:noFill/>
        </p:spPr>
        <p:txBody>
          <a:bodyPr wrap="square" rtlCol="0">
            <a:spAutoFit/>
          </a:bodyPr>
          <a:lstStyle/>
          <a:p>
            <a:r>
              <a:rPr lang="en-US" dirty="0" err="1"/>
              <a:t>Giống</a:t>
            </a:r>
            <a:r>
              <a:rPr lang="en-US" dirty="0"/>
              <a:t> </a:t>
            </a:r>
            <a:r>
              <a:rPr lang="en-US" dirty="0" err="1"/>
              <a:t>hệt</a:t>
            </a:r>
            <a:r>
              <a:rPr lang="en-US" dirty="0"/>
              <a:t> </a:t>
            </a:r>
            <a:r>
              <a:rPr lang="en-US" dirty="0" err="1"/>
              <a:t>nhau</a:t>
            </a:r>
            <a:r>
              <a:rPr lang="en-US" dirty="0"/>
              <a:t> </a:t>
            </a:r>
            <a:r>
              <a:rPr lang="en-US" dirty="0" err="1"/>
              <a:t>và</a:t>
            </a:r>
            <a:r>
              <a:rPr lang="en-US" dirty="0"/>
              <a:t> </a:t>
            </a:r>
            <a:r>
              <a:rPr lang="en-US" dirty="0" err="1"/>
              <a:t>không</a:t>
            </a:r>
            <a:r>
              <a:rPr lang="en-US" dirty="0"/>
              <a:t> </a:t>
            </a:r>
            <a:r>
              <a:rPr lang="en-US" dirty="0" err="1"/>
              <a:t>nằm</a:t>
            </a:r>
            <a:r>
              <a:rPr lang="en-US" dirty="0"/>
              <a:t> </a:t>
            </a:r>
            <a:r>
              <a:rPr lang="en-US" dirty="0" err="1"/>
              <a:t>trong</a:t>
            </a:r>
            <a:r>
              <a:rPr lang="en-US" dirty="0"/>
              <a:t> </a:t>
            </a:r>
            <a:r>
              <a:rPr lang="en-US" dirty="0" err="1"/>
              <a:t>dấu</a:t>
            </a:r>
            <a:r>
              <a:rPr lang="en-US" dirty="0"/>
              <a:t> </a:t>
            </a:r>
            <a:r>
              <a:rPr lang="en-US" dirty="0">
                <a:solidFill>
                  <a:srgbClr val="FF0000"/>
                </a:solidFill>
              </a:rPr>
              <a:t>‘ ‘</a:t>
            </a:r>
          </a:p>
        </p:txBody>
      </p:sp>
    </p:spTree>
    <p:extLst>
      <p:ext uri="{BB962C8B-B14F-4D97-AF65-F5344CB8AC3E}">
        <p14:creationId xmlns:p14="http://schemas.microsoft.com/office/powerpoint/2010/main" val="420409808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9012B1-F205-4244-AB2D-1E6399590475}"/>
              </a:ext>
            </a:extLst>
          </p:cNvPr>
          <p:cNvSpPr>
            <a:spLocks noGrp="1"/>
          </p:cNvSpPr>
          <p:nvPr>
            <p:ph idx="1"/>
          </p:nvPr>
        </p:nvSpPr>
        <p:spPr>
          <a:xfrm>
            <a:off x="677334" y="545285"/>
            <a:ext cx="8596668" cy="5496078"/>
          </a:xfrm>
        </p:spPr>
        <p:txBody>
          <a:bodyPr/>
          <a:lstStyle/>
          <a:p>
            <a:r>
              <a:rPr lang="en-US" dirty="0"/>
              <a:t>Do </a:t>
            </a:r>
            <a:r>
              <a:rPr lang="en-US" dirty="0" err="1"/>
              <a:t>tính</a:t>
            </a:r>
            <a:r>
              <a:rPr lang="en-US" dirty="0"/>
              <a:t> </a:t>
            </a:r>
            <a:r>
              <a:rPr lang="en-US" dirty="0" err="1"/>
              <a:t>toàn</a:t>
            </a:r>
            <a:r>
              <a:rPr lang="en-US" dirty="0"/>
              <a:t> </a:t>
            </a:r>
            <a:r>
              <a:rPr lang="en-US" dirty="0" err="1"/>
              <a:t>vẹn</a:t>
            </a:r>
            <a:r>
              <a:rPr lang="en-US" dirty="0"/>
              <a:t> </a:t>
            </a:r>
            <a:r>
              <a:rPr lang="en-US" dirty="0" err="1"/>
              <a:t>của</a:t>
            </a:r>
            <a:r>
              <a:rPr lang="en-US" dirty="0"/>
              <a:t> MySQL, tr</a:t>
            </a:r>
            <a:r>
              <a:rPr lang="vi-VN" dirty="0"/>
              <a:t>ư</a:t>
            </a:r>
            <a:r>
              <a:rPr lang="en-US" dirty="0" err="1"/>
              <a:t>ớc</a:t>
            </a:r>
            <a:r>
              <a:rPr lang="en-US" dirty="0"/>
              <a:t> </a:t>
            </a:r>
            <a:r>
              <a:rPr lang="en-US" dirty="0" err="1"/>
              <a:t>khi</a:t>
            </a:r>
            <a:r>
              <a:rPr lang="en-US" dirty="0"/>
              <a:t> </a:t>
            </a:r>
            <a:r>
              <a:rPr lang="en-US" dirty="0" err="1"/>
              <a:t>chạy</a:t>
            </a:r>
            <a:r>
              <a:rPr lang="en-US" dirty="0"/>
              <a:t> Update – Replace </a:t>
            </a:r>
            <a:r>
              <a:rPr lang="en-US" dirty="0" err="1"/>
              <a:t>mà</a:t>
            </a:r>
            <a:r>
              <a:rPr lang="en-US" dirty="0"/>
              <a:t> </a:t>
            </a:r>
            <a:r>
              <a:rPr lang="en-US" dirty="0" err="1"/>
              <a:t>không</a:t>
            </a:r>
            <a:r>
              <a:rPr lang="en-US" dirty="0"/>
              <a:t> </a:t>
            </a:r>
            <a:r>
              <a:rPr lang="en-US" dirty="0" err="1"/>
              <a:t>có</a:t>
            </a:r>
            <a:r>
              <a:rPr lang="en-US" dirty="0"/>
              <a:t> Where </a:t>
            </a:r>
            <a:r>
              <a:rPr lang="en-US" dirty="0" err="1"/>
              <a:t>đi</a:t>
            </a:r>
            <a:r>
              <a:rPr lang="en-US" dirty="0"/>
              <a:t> </a:t>
            </a:r>
            <a:r>
              <a:rPr lang="en-US" dirty="0" err="1"/>
              <a:t>kèm</a:t>
            </a:r>
            <a:r>
              <a:rPr lang="en-US" dirty="0"/>
              <a:t>; </a:t>
            </a:r>
            <a:r>
              <a:rPr lang="en-US" dirty="0" err="1"/>
              <a:t>phải</a:t>
            </a:r>
            <a:r>
              <a:rPr lang="en-US" dirty="0"/>
              <a:t> </a:t>
            </a:r>
            <a:r>
              <a:rPr lang="en-US" dirty="0" err="1"/>
              <a:t>dùng</a:t>
            </a:r>
            <a:r>
              <a:rPr lang="en-US" dirty="0"/>
              <a:t> </a:t>
            </a:r>
            <a:r>
              <a:rPr lang="en-US" dirty="0" err="1"/>
              <a:t>câu</a:t>
            </a:r>
            <a:r>
              <a:rPr lang="en-US" dirty="0"/>
              <a:t> </a:t>
            </a:r>
            <a:r>
              <a:rPr lang="en-US" dirty="0" err="1"/>
              <a:t>lệnh</a:t>
            </a:r>
            <a:r>
              <a:rPr lang="en-US" dirty="0"/>
              <a:t> </a:t>
            </a:r>
            <a:r>
              <a:rPr lang="en-US" dirty="0" err="1"/>
              <a:t>sau</a:t>
            </a:r>
            <a:r>
              <a:rPr lang="en-US" dirty="0"/>
              <a:t>:</a:t>
            </a:r>
          </a:p>
          <a:p>
            <a:pPr lvl="1"/>
            <a:endParaRPr lang="en-US" dirty="0"/>
          </a:p>
          <a:p>
            <a:pPr lvl="1"/>
            <a:r>
              <a:rPr lang="en-US" dirty="0"/>
              <a:t>SET SQL_SAFE_UPDATES = 0;</a:t>
            </a:r>
          </a:p>
          <a:p>
            <a:pPr marL="400050" lvl="1" indent="0">
              <a:buNone/>
            </a:pPr>
            <a:r>
              <a:rPr lang="en-US" dirty="0"/>
              <a:t>		</a:t>
            </a:r>
          </a:p>
          <a:p>
            <a:pPr marL="800100" lvl="2" indent="0">
              <a:buNone/>
            </a:pPr>
            <a:r>
              <a:rPr lang="en-US" dirty="0"/>
              <a:t>UPDATE products </a:t>
            </a:r>
          </a:p>
          <a:p>
            <a:pPr marL="457200" lvl="1" indent="0">
              <a:buNone/>
            </a:pPr>
            <a:r>
              <a:rPr lang="en-US" dirty="0"/>
              <a:t>      ………………….</a:t>
            </a:r>
          </a:p>
          <a:p>
            <a:pPr marL="457200" lvl="1" indent="0">
              <a:buNone/>
            </a:pPr>
            <a:endParaRPr lang="en-US" dirty="0"/>
          </a:p>
          <a:p>
            <a:pPr lvl="1"/>
            <a:r>
              <a:rPr lang="en-US" dirty="0"/>
              <a:t>Sau </a:t>
            </a:r>
            <a:r>
              <a:rPr lang="en-US" dirty="0" err="1"/>
              <a:t>đấy</a:t>
            </a:r>
            <a:r>
              <a:rPr lang="en-US" dirty="0"/>
              <a:t> </a:t>
            </a:r>
            <a:r>
              <a:rPr lang="en-US" dirty="0" err="1"/>
              <a:t>đặt</a:t>
            </a:r>
            <a:r>
              <a:rPr lang="en-US" dirty="0"/>
              <a:t> </a:t>
            </a:r>
            <a:r>
              <a:rPr lang="en-US" dirty="0" err="1"/>
              <a:t>lại</a:t>
            </a:r>
            <a:r>
              <a:rPr lang="en-US" dirty="0"/>
              <a:t>:  SET SQL_SAFE_UPDATES = 1;</a:t>
            </a:r>
          </a:p>
          <a:p>
            <a:pPr lvl="1"/>
            <a:endParaRPr lang="en-US" dirty="0"/>
          </a:p>
          <a:p>
            <a:endParaRPr lang="en-US" dirty="0"/>
          </a:p>
        </p:txBody>
      </p:sp>
      <p:sp>
        <p:nvSpPr>
          <p:cNvPr id="5" name="TextBox 4">
            <a:extLst>
              <a:ext uri="{FF2B5EF4-FFF2-40B4-BE49-F238E27FC236}">
                <a16:creationId xmlns:a16="http://schemas.microsoft.com/office/drawing/2014/main" id="{4549D412-3E78-4493-94B1-75BC11F50411}"/>
              </a:ext>
            </a:extLst>
          </p:cNvPr>
          <p:cNvSpPr txBox="1"/>
          <p:nvPr/>
        </p:nvSpPr>
        <p:spPr>
          <a:xfrm>
            <a:off x="6414782" y="1484496"/>
            <a:ext cx="5310233" cy="2031325"/>
          </a:xfrm>
          <a:prstGeom prst="rect">
            <a:avLst/>
          </a:prstGeom>
          <a:noFill/>
          <a:ln>
            <a:solidFill>
              <a:srgbClr val="FF0000"/>
            </a:solidFill>
          </a:ln>
        </p:spPr>
        <p:txBody>
          <a:bodyPr wrap="square" rtlCol="0">
            <a:spAutoFit/>
          </a:bodyPr>
          <a:lstStyle/>
          <a:p>
            <a:pPr lvl="1"/>
            <a:r>
              <a:rPr lang="en-US" dirty="0"/>
              <a:t>SET SQL_SAFE_UPDATES = 0;</a:t>
            </a:r>
          </a:p>
          <a:p>
            <a:pPr marL="400050" lvl="1" indent="0">
              <a:buNone/>
            </a:pPr>
            <a:endParaRPr lang="en-US" dirty="0"/>
          </a:p>
          <a:p>
            <a:pPr marL="400050" lvl="1" indent="0">
              <a:buNone/>
            </a:pPr>
            <a:r>
              <a:rPr lang="en-US" dirty="0"/>
              <a:t>UPDATE products </a:t>
            </a:r>
          </a:p>
          <a:p>
            <a:pPr marL="400050" lvl="1" indent="0">
              <a:buNone/>
            </a:pPr>
            <a:r>
              <a:rPr lang="en-US" dirty="0"/>
              <a:t>SET </a:t>
            </a:r>
            <a:r>
              <a:rPr lang="en-US" dirty="0" err="1">
                <a:solidFill>
                  <a:srgbClr val="FF0000"/>
                </a:solidFill>
              </a:rPr>
              <a:t>productDescription</a:t>
            </a:r>
            <a:r>
              <a:rPr lang="en-US" dirty="0"/>
              <a:t> =  REPLACE(</a:t>
            </a:r>
            <a:r>
              <a:rPr lang="en-US" dirty="0" err="1">
                <a:solidFill>
                  <a:srgbClr val="FF0000"/>
                </a:solidFill>
              </a:rPr>
              <a:t>productDescription</a:t>
            </a:r>
            <a:r>
              <a:rPr lang="en-US" dirty="0"/>
              <a:t>,'</a:t>
            </a:r>
            <a:r>
              <a:rPr lang="en-US" dirty="0" err="1"/>
              <a:t>abuot</a:t>
            </a:r>
            <a:r>
              <a:rPr lang="en-US" dirty="0"/>
              <a:t>','about’) ;</a:t>
            </a:r>
          </a:p>
          <a:p>
            <a:pPr marL="400050" lvl="1" indent="0">
              <a:buNone/>
            </a:pPr>
            <a:endParaRPr lang="en-US" dirty="0"/>
          </a:p>
          <a:p>
            <a:pPr marL="400050" lvl="1"/>
            <a:r>
              <a:rPr lang="en-US" dirty="0"/>
              <a:t>SET SQL_SAFE_UPDATES = 1;</a:t>
            </a:r>
          </a:p>
        </p:txBody>
      </p:sp>
      <p:cxnSp>
        <p:nvCxnSpPr>
          <p:cNvPr id="7" name="Straight Arrow Connector 6">
            <a:extLst>
              <a:ext uri="{FF2B5EF4-FFF2-40B4-BE49-F238E27FC236}">
                <a16:creationId xmlns:a16="http://schemas.microsoft.com/office/drawing/2014/main" id="{511EAAE2-9363-4A5D-B436-9BAEADC9C923}"/>
              </a:ext>
            </a:extLst>
          </p:cNvPr>
          <p:cNvCxnSpPr/>
          <p:nvPr/>
        </p:nvCxnSpPr>
        <p:spPr>
          <a:xfrm>
            <a:off x="4462943" y="2357306"/>
            <a:ext cx="229858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300241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A2488-083A-4C48-90EA-3BBEC1B4F8EA}"/>
              </a:ext>
            </a:extLst>
          </p:cNvPr>
          <p:cNvSpPr>
            <a:spLocks noGrp="1"/>
          </p:cNvSpPr>
          <p:nvPr>
            <p:ph type="title"/>
          </p:nvPr>
        </p:nvSpPr>
        <p:spPr/>
        <p:txBody>
          <a:bodyPr/>
          <a:lstStyle/>
          <a:p>
            <a:r>
              <a:rPr lang="en-US"/>
              <a:t>Phép Nối - JOIN</a:t>
            </a:r>
          </a:p>
        </p:txBody>
      </p:sp>
      <p:pic>
        <p:nvPicPr>
          <p:cNvPr id="4" name="Content Placeholder 3">
            <a:extLst>
              <a:ext uri="{FF2B5EF4-FFF2-40B4-BE49-F238E27FC236}">
                <a16:creationId xmlns:a16="http://schemas.microsoft.com/office/drawing/2014/main" id="{F4D35819-524C-4C88-B41D-F5366F09A658}"/>
              </a:ext>
            </a:extLst>
          </p:cNvPr>
          <p:cNvPicPr>
            <a:picLocks noGrp="1"/>
          </p:cNvPicPr>
          <p:nvPr>
            <p:ph idx="1"/>
          </p:nvPr>
        </p:nvPicPr>
        <p:blipFill>
          <a:blip r:embed="rId2"/>
          <a:stretch>
            <a:fillRect/>
          </a:stretch>
        </p:blipFill>
        <p:spPr>
          <a:xfrm>
            <a:off x="2015890" y="1543312"/>
            <a:ext cx="5685366" cy="4356100"/>
          </a:xfrm>
          <a:prstGeom prst="rect">
            <a:avLst/>
          </a:prstGeom>
        </p:spPr>
      </p:pic>
    </p:spTree>
    <p:extLst>
      <p:ext uri="{BB962C8B-B14F-4D97-AF65-F5344CB8AC3E}">
        <p14:creationId xmlns:p14="http://schemas.microsoft.com/office/powerpoint/2010/main" val="319987301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C006F-6EB8-4969-919D-5BE04F1048C0}"/>
              </a:ext>
            </a:extLst>
          </p:cNvPr>
          <p:cNvSpPr>
            <a:spLocks noGrp="1"/>
          </p:cNvSpPr>
          <p:nvPr>
            <p:ph type="title"/>
          </p:nvPr>
        </p:nvSpPr>
        <p:spPr/>
        <p:txBody>
          <a:bodyPr/>
          <a:lstStyle/>
          <a:p>
            <a:r>
              <a:rPr lang="en-US" dirty="0" err="1"/>
              <a:t>Toán</a:t>
            </a:r>
            <a:r>
              <a:rPr lang="en-US" dirty="0"/>
              <a:t> </a:t>
            </a:r>
            <a:r>
              <a:rPr lang="en-US" dirty="0" err="1"/>
              <a:t>tử</a:t>
            </a:r>
            <a:r>
              <a:rPr lang="en-US" dirty="0"/>
              <a:t> JOIN</a:t>
            </a:r>
          </a:p>
        </p:txBody>
      </p:sp>
      <p:sp>
        <p:nvSpPr>
          <p:cNvPr id="3" name="Content Placeholder 2">
            <a:extLst>
              <a:ext uri="{FF2B5EF4-FFF2-40B4-BE49-F238E27FC236}">
                <a16:creationId xmlns:a16="http://schemas.microsoft.com/office/drawing/2014/main" id="{507D9CC7-FDEC-41DE-8FCD-59B8FAD20EC6}"/>
              </a:ext>
            </a:extLst>
          </p:cNvPr>
          <p:cNvSpPr>
            <a:spLocks noGrp="1"/>
          </p:cNvSpPr>
          <p:nvPr>
            <p:ph idx="1"/>
          </p:nvPr>
        </p:nvSpPr>
        <p:spPr>
          <a:xfrm>
            <a:off x="634393" y="1619075"/>
            <a:ext cx="8596668" cy="4422287"/>
          </a:xfrm>
        </p:spPr>
        <p:txBody>
          <a:bodyPr/>
          <a:lstStyle/>
          <a:p>
            <a:r>
              <a:rPr lang="en-US" dirty="0" err="1"/>
              <a:t>Kết</a:t>
            </a:r>
            <a:r>
              <a:rPr lang="en-US" dirty="0"/>
              <a:t> </a:t>
            </a:r>
            <a:r>
              <a:rPr lang="en-US" dirty="0" err="1"/>
              <a:t>hợp</a:t>
            </a:r>
            <a:r>
              <a:rPr lang="en-US" dirty="0"/>
              <a:t> 2 </a:t>
            </a:r>
            <a:r>
              <a:rPr lang="en-US" dirty="0" err="1"/>
              <a:t>hai</a:t>
            </a:r>
            <a:r>
              <a:rPr lang="en-US" dirty="0"/>
              <a:t> </a:t>
            </a:r>
            <a:r>
              <a:rPr lang="en-US" dirty="0" err="1"/>
              <a:t>nhiều</a:t>
            </a:r>
            <a:r>
              <a:rPr lang="en-US" dirty="0"/>
              <a:t> </a:t>
            </a:r>
            <a:r>
              <a:rPr lang="en-US" dirty="0" err="1"/>
              <a:t>bảng</a:t>
            </a:r>
            <a:r>
              <a:rPr lang="en-US" dirty="0"/>
              <a:t> </a:t>
            </a:r>
            <a:r>
              <a:rPr lang="en-US" dirty="0" err="1"/>
              <a:t>dựa</a:t>
            </a:r>
            <a:r>
              <a:rPr lang="en-US" dirty="0"/>
              <a:t> </a:t>
            </a:r>
            <a:r>
              <a:rPr lang="en-US" dirty="0" err="1"/>
              <a:t>vào</a:t>
            </a:r>
            <a:r>
              <a:rPr lang="en-US" dirty="0"/>
              <a:t> </a:t>
            </a:r>
            <a:r>
              <a:rPr lang="en-US" dirty="0" err="1"/>
              <a:t>các</a:t>
            </a:r>
            <a:r>
              <a:rPr lang="en-US" dirty="0"/>
              <a:t> </a:t>
            </a:r>
            <a:r>
              <a:rPr lang="en-US" dirty="0" err="1"/>
              <a:t>thuộc</a:t>
            </a:r>
            <a:r>
              <a:rPr lang="en-US" dirty="0"/>
              <a:t> </a:t>
            </a:r>
            <a:r>
              <a:rPr lang="en-US" dirty="0" err="1"/>
              <a:t>tính</a:t>
            </a:r>
            <a:endParaRPr lang="en-US" dirty="0"/>
          </a:p>
          <a:p>
            <a:r>
              <a:rPr lang="en-US" dirty="0">
                <a:solidFill>
                  <a:srgbClr val="FF0000"/>
                </a:solidFill>
              </a:rPr>
              <a:t>Left Join: </a:t>
            </a:r>
          </a:p>
          <a:p>
            <a:pPr lvl="1"/>
            <a:r>
              <a:rPr lang="en-US" dirty="0" err="1"/>
              <a:t>Kết</a:t>
            </a:r>
            <a:r>
              <a:rPr lang="en-US" dirty="0"/>
              <a:t> </a:t>
            </a:r>
            <a:r>
              <a:rPr lang="en-US" dirty="0" err="1"/>
              <a:t>quả</a:t>
            </a:r>
            <a:r>
              <a:rPr lang="en-US" dirty="0"/>
              <a:t> </a:t>
            </a:r>
            <a:r>
              <a:rPr lang="en-US" dirty="0" err="1"/>
              <a:t>trả</a:t>
            </a:r>
            <a:r>
              <a:rPr lang="en-US" dirty="0"/>
              <a:t> </a:t>
            </a:r>
            <a:r>
              <a:rPr lang="en-US" dirty="0" err="1"/>
              <a:t>về</a:t>
            </a:r>
            <a:r>
              <a:rPr lang="en-US"/>
              <a:t>: 5,6,7,8, 1,2,3,4</a:t>
            </a:r>
          </a:p>
          <a:p>
            <a:r>
              <a:rPr lang="en-US">
                <a:solidFill>
                  <a:srgbClr val="FF0000"/>
                </a:solidFill>
              </a:rPr>
              <a:t>Right </a:t>
            </a:r>
            <a:r>
              <a:rPr lang="en-US" dirty="0">
                <a:solidFill>
                  <a:srgbClr val="FF0000"/>
                </a:solidFill>
              </a:rPr>
              <a:t>join:</a:t>
            </a:r>
          </a:p>
          <a:p>
            <a:pPr lvl="1"/>
            <a:r>
              <a:rPr lang="en-US" dirty="0" err="1"/>
              <a:t>Kết</a:t>
            </a:r>
            <a:r>
              <a:rPr lang="en-US" dirty="0"/>
              <a:t> </a:t>
            </a:r>
            <a:r>
              <a:rPr lang="en-US" dirty="0" err="1"/>
              <a:t>quả</a:t>
            </a:r>
            <a:r>
              <a:rPr lang="en-US"/>
              <a:t>:  9,10,11,1,2,3,4</a:t>
            </a:r>
            <a:endParaRPr lang="en-US" dirty="0"/>
          </a:p>
          <a:p>
            <a:r>
              <a:rPr lang="en-US" dirty="0">
                <a:solidFill>
                  <a:srgbClr val="FF0000"/>
                </a:solidFill>
              </a:rPr>
              <a:t>Full Join:</a:t>
            </a:r>
          </a:p>
          <a:p>
            <a:pPr lvl="1"/>
            <a:r>
              <a:rPr lang="en-US" dirty="0" err="1"/>
              <a:t>Kết</a:t>
            </a:r>
            <a:r>
              <a:rPr lang="en-US" dirty="0"/>
              <a:t> </a:t>
            </a:r>
            <a:r>
              <a:rPr lang="en-US" dirty="0" err="1"/>
              <a:t>quả</a:t>
            </a:r>
            <a:r>
              <a:rPr lang="en-US" dirty="0"/>
              <a:t>: 1,2,3,4,5,6,7,8,9,10,11</a:t>
            </a:r>
          </a:p>
          <a:p>
            <a:endParaRPr lang="en-US" dirty="0"/>
          </a:p>
          <a:p>
            <a:r>
              <a:rPr lang="en-US" dirty="0">
                <a:solidFill>
                  <a:srgbClr val="FF0000"/>
                </a:solidFill>
              </a:rPr>
              <a:t>Inner Join:</a:t>
            </a:r>
          </a:p>
          <a:p>
            <a:pPr lvl="1"/>
            <a:r>
              <a:rPr lang="en-US" dirty="0" err="1"/>
              <a:t>Kết</a:t>
            </a:r>
            <a:r>
              <a:rPr lang="en-US" dirty="0"/>
              <a:t> </a:t>
            </a:r>
            <a:r>
              <a:rPr lang="en-US" dirty="0" err="1"/>
              <a:t>quả</a:t>
            </a:r>
            <a:r>
              <a:rPr lang="en-US" dirty="0"/>
              <a:t>: 1,2,3,4</a:t>
            </a:r>
          </a:p>
          <a:p>
            <a:endParaRPr lang="en-US" dirty="0"/>
          </a:p>
          <a:p>
            <a:endParaRPr lang="en-US" dirty="0"/>
          </a:p>
          <a:p>
            <a:pPr marL="0" indent="0">
              <a:buNone/>
            </a:pPr>
            <a:endParaRPr lang="en-US" dirty="0"/>
          </a:p>
        </p:txBody>
      </p:sp>
      <p:pic>
        <p:nvPicPr>
          <p:cNvPr id="8" name="Picture 7">
            <a:extLst>
              <a:ext uri="{FF2B5EF4-FFF2-40B4-BE49-F238E27FC236}">
                <a16:creationId xmlns:a16="http://schemas.microsoft.com/office/drawing/2014/main" id="{DBD1E5E5-C9FC-4732-9314-60051AEB2127}"/>
              </a:ext>
            </a:extLst>
          </p:cNvPr>
          <p:cNvPicPr>
            <a:picLocks noChangeAspect="1"/>
          </p:cNvPicPr>
          <p:nvPr/>
        </p:nvPicPr>
        <p:blipFill>
          <a:blip r:embed="rId2"/>
          <a:stretch>
            <a:fillRect/>
          </a:stretch>
        </p:blipFill>
        <p:spPr>
          <a:xfrm>
            <a:off x="6387779" y="714043"/>
            <a:ext cx="3829050" cy="2181225"/>
          </a:xfrm>
          <a:prstGeom prst="rect">
            <a:avLst/>
          </a:prstGeom>
        </p:spPr>
      </p:pic>
      <p:cxnSp>
        <p:nvCxnSpPr>
          <p:cNvPr id="7" name="Straight Connector 6">
            <a:extLst>
              <a:ext uri="{FF2B5EF4-FFF2-40B4-BE49-F238E27FC236}">
                <a16:creationId xmlns:a16="http://schemas.microsoft.com/office/drawing/2014/main" id="{9CD0D049-87AC-43D5-AA6E-82F65AEB9327}"/>
              </a:ext>
            </a:extLst>
          </p:cNvPr>
          <p:cNvCxnSpPr/>
          <p:nvPr/>
        </p:nvCxnSpPr>
        <p:spPr>
          <a:xfrm>
            <a:off x="10377182" y="2114026"/>
            <a:ext cx="914400" cy="9144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549462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A5ABF-115D-4053-9E57-6D166A3CDBF2}"/>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93DCBB44-8D68-4A8B-8DFE-A1CF255E5382}"/>
              </a:ext>
            </a:extLst>
          </p:cNvPr>
          <p:cNvSpPr>
            <a:spLocks noGrp="1"/>
          </p:cNvSpPr>
          <p:nvPr>
            <p:ph idx="1"/>
          </p:nvPr>
        </p:nvSpPr>
        <p:spPr/>
        <p:txBody>
          <a:bodyPr/>
          <a:lstStyle/>
          <a:p>
            <a:endParaRPr lang="en-US" dirty="0"/>
          </a:p>
        </p:txBody>
      </p:sp>
      <p:graphicFrame>
        <p:nvGraphicFramePr>
          <p:cNvPr id="4" name="Table 3">
            <a:extLst>
              <a:ext uri="{FF2B5EF4-FFF2-40B4-BE49-F238E27FC236}">
                <a16:creationId xmlns:a16="http://schemas.microsoft.com/office/drawing/2014/main" id="{7C581CCB-5BED-44D3-A9B5-539B94D75476}"/>
              </a:ext>
            </a:extLst>
          </p:cNvPr>
          <p:cNvGraphicFramePr>
            <a:graphicFrameLocks noGrp="1"/>
          </p:cNvGraphicFramePr>
          <p:nvPr/>
        </p:nvGraphicFramePr>
        <p:xfrm>
          <a:off x="6893414" y="1154906"/>
          <a:ext cx="2119424" cy="4339284"/>
        </p:xfrm>
        <a:graphic>
          <a:graphicData uri="http://schemas.openxmlformats.org/drawingml/2006/table">
            <a:tbl>
              <a:tblPr firstRow="1" bandRow="1">
                <a:tableStyleId>{5C22544A-7EE6-4342-B048-85BDC9FD1C3A}</a:tableStyleId>
              </a:tblPr>
              <a:tblGrid>
                <a:gridCol w="693476">
                  <a:extLst>
                    <a:ext uri="{9D8B030D-6E8A-4147-A177-3AD203B41FA5}">
                      <a16:colId xmlns:a16="http://schemas.microsoft.com/office/drawing/2014/main" val="2724806108"/>
                    </a:ext>
                  </a:extLst>
                </a:gridCol>
                <a:gridCol w="338054">
                  <a:extLst>
                    <a:ext uri="{9D8B030D-6E8A-4147-A177-3AD203B41FA5}">
                      <a16:colId xmlns:a16="http://schemas.microsoft.com/office/drawing/2014/main" val="3904363519"/>
                    </a:ext>
                  </a:extLst>
                </a:gridCol>
                <a:gridCol w="543947">
                  <a:extLst>
                    <a:ext uri="{9D8B030D-6E8A-4147-A177-3AD203B41FA5}">
                      <a16:colId xmlns:a16="http://schemas.microsoft.com/office/drawing/2014/main" val="1279212463"/>
                    </a:ext>
                  </a:extLst>
                </a:gridCol>
                <a:gridCol w="543947">
                  <a:extLst>
                    <a:ext uri="{9D8B030D-6E8A-4147-A177-3AD203B41FA5}">
                      <a16:colId xmlns:a16="http://schemas.microsoft.com/office/drawing/2014/main" val="3327447910"/>
                    </a:ext>
                  </a:extLst>
                </a:gridCol>
              </a:tblGrid>
              <a:tr h="469782">
                <a:tc>
                  <a:txBody>
                    <a:bodyPr/>
                    <a:lstStyle/>
                    <a:p>
                      <a:r>
                        <a:rPr lang="en-US" sz="1400" dirty="0"/>
                        <a:t>index</a:t>
                      </a:r>
                      <a:endParaRPr lang="en-US" dirty="0"/>
                    </a:p>
                  </a:txBody>
                  <a:tcPr/>
                </a:tc>
                <a:tc>
                  <a:txBody>
                    <a:bodyPr/>
                    <a:lstStyle/>
                    <a:p>
                      <a:r>
                        <a:rPr lang="en-US" dirty="0"/>
                        <a:t>B</a:t>
                      </a:r>
                    </a:p>
                  </a:txBody>
                  <a:tcPr/>
                </a:tc>
                <a:tc>
                  <a:txBody>
                    <a:bodyPr/>
                    <a:lstStyle/>
                    <a:p>
                      <a:r>
                        <a:rPr lang="en-US" dirty="0"/>
                        <a:t>C</a:t>
                      </a:r>
                    </a:p>
                  </a:txBody>
                  <a:tcPr/>
                </a:tc>
                <a:tc>
                  <a:txBody>
                    <a:bodyPr/>
                    <a:lstStyle/>
                    <a:p>
                      <a:r>
                        <a:rPr lang="en-US" dirty="0"/>
                        <a:t>D</a:t>
                      </a:r>
                    </a:p>
                  </a:txBody>
                  <a:tcPr/>
                </a:tc>
                <a:extLst>
                  <a:ext uri="{0D108BD9-81ED-4DB2-BD59-A6C34878D82A}">
                    <a16:rowId xmlns:a16="http://schemas.microsoft.com/office/drawing/2014/main" val="3343489409"/>
                  </a:ext>
                </a:extLst>
              </a:tr>
              <a:tr h="552786">
                <a:tc>
                  <a:txBody>
                    <a:bodyPr/>
                    <a:lstStyle/>
                    <a:p>
                      <a:r>
                        <a:rPr lang="en-US" dirty="0"/>
                        <a:t>1</a:t>
                      </a:r>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532409805"/>
                  </a:ext>
                </a:extLst>
              </a:tr>
              <a:tr h="552786">
                <a:tc>
                  <a:txBody>
                    <a:bodyPr/>
                    <a:lstStyle/>
                    <a:p>
                      <a:r>
                        <a:rPr lang="en-US" dirty="0"/>
                        <a:t>2</a:t>
                      </a:r>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927225677"/>
                  </a:ext>
                </a:extLst>
              </a:tr>
              <a:tr h="552786">
                <a:tc>
                  <a:txBody>
                    <a:bodyPr/>
                    <a:lstStyle/>
                    <a:p>
                      <a:r>
                        <a:rPr lang="en-US" dirty="0"/>
                        <a:t>3</a:t>
                      </a:r>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664678265"/>
                  </a:ext>
                </a:extLst>
              </a:tr>
              <a:tr h="552786">
                <a:tc>
                  <a:txBody>
                    <a:bodyPr/>
                    <a:lstStyle/>
                    <a:p>
                      <a:r>
                        <a:rPr lang="en-US" dirty="0"/>
                        <a:t>4</a:t>
                      </a:r>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3822654"/>
                  </a:ext>
                </a:extLst>
              </a:tr>
              <a:tr h="552786">
                <a:tc>
                  <a:txBody>
                    <a:bodyPr/>
                    <a:lstStyle/>
                    <a:p>
                      <a:r>
                        <a:rPr lang="en-US" dirty="0"/>
                        <a:t>9</a:t>
                      </a:r>
                    </a:p>
                  </a:txBody>
                  <a:tcPr/>
                </a:tc>
                <a:tc>
                  <a:txBody>
                    <a:bodyPr/>
                    <a:lstStyle/>
                    <a:p>
                      <a:endParaRPr lang="en-US" dirty="0"/>
                    </a:p>
                  </a:txBody>
                  <a:tcPr>
                    <a:solidFill>
                      <a:srgbClr val="00B0F0"/>
                    </a:solidFill>
                  </a:tcPr>
                </a:tc>
                <a:tc>
                  <a:txBody>
                    <a:bodyPr/>
                    <a:lstStyle/>
                    <a:p>
                      <a:endParaRPr lang="en-US" dirty="0"/>
                    </a:p>
                  </a:txBody>
                  <a:tcPr>
                    <a:solidFill>
                      <a:srgbClr val="00B0F0"/>
                    </a:solidFill>
                  </a:tcPr>
                </a:tc>
                <a:tc>
                  <a:txBody>
                    <a:bodyPr/>
                    <a:lstStyle/>
                    <a:p>
                      <a:endParaRPr lang="en-US" dirty="0"/>
                    </a:p>
                  </a:txBody>
                  <a:tcPr>
                    <a:solidFill>
                      <a:srgbClr val="00B0F0"/>
                    </a:solidFill>
                  </a:tcPr>
                </a:tc>
                <a:extLst>
                  <a:ext uri="{0D108BD9-81ED-4DB2-BD59-A6C34878D82A}">
                    <a16:rowId xmlns:a16="http://schemas.microsoft.com/office/drawing/2014/main" val="2734187761"/>
                  </a:ext>
                </a:extLst>
              </a:tr>
              <a:tr h="552786">
                <a:tc>
                  <a:txBody>
                    <a:bodyPr/>
                    <a:lstStyle/>
                    <a:p>
                      <a:r>
                        <a:rPr lang="en-US" dirty="0"/>
                        <a:t>10</a:t>
                      </a:r>
                    </a:p>
                  </a:txBody>
                  <a:tcPr/>
                </a:tc>
                <a:tc>
                  <a:txBody>
                    <a:bodyPr/>
                    <a:lstStyle/>
                    <a:p>
                      <a:endParaRPr lang="en-US" dirty="0"/>
                    </a:p>
                  </a:txBody>
                  <a:tcPr>
                    <a:solidFill>
                      <a:srgbClr val="00B0F0"/>
                    </a:solidFill>
                  </a:tcPr>
                </a:tc>
                <a:tc>
                  <a:txBody>
                    <a:bodyPr/>
                    <a:lstStyle/>
                    <a:p>
                      <a:endParaRPr lang="en-US" dirty="0"/>
                    </a:p>
                  </a:txBody>
                  <a:tcPr>
                    <a:solidFill>
                      <a:srgbClr val="00B0F0"/>
                    </a:solidFill>
                  </a:tcPr>
                </a:tc>
                <a:tc>
                  <a:txBody>
                    <a:bodyPr/>
                    <a:lstStyle/>
                    <a:p>
                      <a:endParaRPr lang="en-US" dirty="0"/>
                    </a:p>
                  </a:txBody>
                  <a:tcPr>
                    <a:solidFill>
                      <a:srgbClr val="00B0F0"/>
                    </a:solidFill>
                  </a:tcPr>
                </a:tc>
                <a:extLst>
                  <a:ext uri="{0D108BD9-81ED-4DB2-BD59-A6C34878D82A}">
                    <a16:rowId xmlns:a16="http://schemas.microsoft.com/office/drawing/2014/main" val="3474672238"/>
                  </a:ext>
                </a:extLst>
              </a:tr>
              <a:tr h="552786">
                <a:tc>
                  <a:txBody>
                    <a:bodyPr/>
                    <a:lstStyle/>
                    <a:p>
                      <a:r>
                        <a:rPr lang="en-US" dirty="0"/>
                        <a:t>11</a:t>
                      </a:r>
                    </a:p>
                  </a:txBody>
                  <a:tcPr/>
                </a:tc>
                <a:tc>
                  <a:txBody>
                    <a:bodyPr/>
                    <a:lstStyle/>
                    <a:p>
                      <a:endParaRPr lang="en-US" dirty="0"/>
                    </a:p>
                  </a:txBody>
                  <a:tcPr>
                    <a:solidFill>
                      <a:srgbClr val="00B0F0"/>
                    </a:solidFill>
                  </a:tcPr>
                </a:tc>
                <a:tc>
                  <a:txBody>
                    <a:bodyPr/>
                    <a:lstStyle/>
                    <a:p>
                      <a:endParaRPr lang="en-US" dirty="0"/>
                    </a:p>
                  </a:txBody>
                  <a:tcPr>
                    <a:solidFill>
                      <a:srgbClr val="00B0F0"/>
                    </a:solidFill>
                  </a:tcPr>
                </a:tc>
                <a:tc>
                  <a:txBody>
                    <a:bodyPr/>
                    <a:lstStyle/>
                    <a:p>
                      <a:endParaRPr lang="en-US" dirty="0"/>
                    </a:p>
                  </a:txBody>
                  <a:tcPr>
                    <a:solidFill>
                      <a:srgbClr val="00B0F0"/>
                    </a:solidFill>
                  </a:tcPr>
                </a:tc>
                <a:extLst>
                  <a:ext uri="{0D108BD9-81ED-4DB2-BD59-A6C34878D82A}">
                    <a16:rowId xmlns:a16="http://schemas.microsoft.com/office/drawing/2014/main" val="3842953416"/>
                  </a:ext>
                </a:extLst>
              </a:tr>
            </a:tbl>
          </a:graphicData>
        </a:graphic>
      </p:graphicFrame>
      <p:graphicFrame>
        <p:nvGraphicFramePr>
          <p:cNvPr id="5" name="Table 4">
            <a:extLst>
              <a:ext uri="{FF2B5EF4-FFF2-40B4-BE49-F238E27FC236}">
                <a16:creationId xmlns:a16="http://schemas.microsoft.com/office/drawing/2014/main" id="{70E382D5-6511-4141-AB97-E1FC9B7A692F}"/>
              </a:ext>
            </a:extLst>
          </p:cNvPr>
          <p:cNvGraphicFramePr>
            <a:graphicFrameLocks noGrp="1"/>
          </p:cNvGraphicFramePr>
          <p:nvPr/>
        </p:nvGraphicFramePr>
        <p:xfrm>
          <a:off x="1658844" y="719666"/>
          <a:ext cx="2611154" cy="5986908"/>
        </p:xfrm>
        <a:graphic>
          <a:graphicData uri="http://schemas.openxmlformats.org/drawingml/2006/table">
            <a:tbl>
              <a:tblPr firstRow="1" bandRow="1">
                <a:tableStyleId>{5C22544A-7EE6-4342-B048-85BDC9FD1C3A}</a:tableStyleId>
              </a:tblPr>
              <a:tblGrid>
                <a:gridCol w="619711">
                  <a:extLst>
                    <a:ext uri="{9D8B030D-6E8A-4147-A177-3AD203B41FA5}">
                      <a16:colId xmlns:a16="http://schemas.microsoft.com/office/drawing/2014/main" val="2602895088"/>
                    </a:ext>
                  </a:extLst>
                </a:gridCol>
                <a:gridCol w="362968">
                  <a:extLst>
                    <a:ext uri="{9D8B030D-6E8A-4147-A177-3AD203B41FA5}">
                      <a16:colId xmlns:a16="http://schemas.microsoft.com/office/drawing/2014/main" val="3072353049"/>
                    </a:ext>
                  </a:extLst>
                </a:gridCol>
                <a:gridCol w="680517">
                  <a:extLst>
                    <a:ext uri="{9D8B030D-6E8A-4147-A177-3AD203B41FA5}">
                      <a16:colId xmlns:a16="http://schemas.microsoft.com/office/drawing/2014/main" val="1382316476"/>
                    </a:ext>
                  </a:extLst>
                </a:gridCol>
                <a:gridCol w="405133">
                  <a:extLst>
                    <a:ext uri="{9D8B030D-6E8A-4147-A177-3AD203B41FA5}">
                      <a16:colId xmlns:a16="http://schemas.microsoft.com/office/drawing/2014/main" val="1446056001"/>
                    </a:ext>
                  </a:extLst>
                </a:gridCol>
                <a:gridCol w="542825">
                  <a:extLst>
                    <a:ext uri="{9D8B030D-6E8A-4147-A177-3AD203B41FA5}">
                      <a16:colId xmlns:a16="http://schemas.microsoft.com/office/drawing/2014/main" val="4255386391"/>
                    </a:ext>
                  </a:extLst>
                </a:gridCol>
              </a:tblGrid>
              <a:tr h="665212">
                <a:tc>
                  <a:txBody>
                    <a:bodyPr/>
                    <a:lstStyle/>
                    <a:p>
                      <a:r>
                        <a:rPr lang="en-US" sz="1600" dirty="0"/>
                        <a:t>index</a:t>
                      </a:r>
                    </a:p>
                  </a:txBody>
                  <a:tcPr/>
                </a:tc>
                <a:tc>
                  <a:txBody>
                    <a:bodyPr/>
                    <a:lstStyle/>
                    <a:p>
                      <a:r>
                        <a:rPr lang="en-US" sz="1600" dirty="0"/>
                        <a:t>A</a:t>
                      </a:r>
                    </a:p>
                  </a:txBody>
                  <a:tcPr/>
                </a:tc>
                <a:tc>
                  <a:txBody>
                    <a:bodyPr/>
                    <a:lstStyle/>
                    <a:p>
                      <a:r>
                        <a:rPr lang="en-US" sz="1600" dirty="0"/>
                        <a:t>B</a:t>
                      </a:r>
                    </a:p>
                  </a:txBody>
                  <a:tcPr/>
                </a:tc>
                <a:tc>
                  <a:txBody>
                    <a:bodyPr/>
                    <a:lstStyle/>
                    <a:p>
                      <a:r>
                        <a:rPr lang="en-US" sz="1600" dirty="0"/>
                        <a:t>C</a:t>
                      </a:r>
                    </a:p>
                  </a:txBody>
                  <a:tcPr/>
                </a:tc>
                <a:tc>
                  <a:txBody>
                    <a:bodyPr/>
                    <a:lstStyle/>
                    <a:p>
                      <a:r>
                        <a:rPr lang="en-US" sz="1600" dirty="0"/>
                        <a:t>D</a:t>
                      </a:r>
                    </a:p>
                  </a:txBody>
                  <a:tcPr/>
                </a:tc>
                <a:extLst>
                  <a:ext uri="{0D108BD9-81ED-4DB2-BD59-A6C34878D82A}">
                    <a16:rowId xmlns:a16="http://schemas.microsoft.com/office/drawing/2014/main" val="3421676682"/>
                  </a:ext>
                </a:extLst>
              </a:tr>
              <a:tr h="665212">
                <a:tc>
                  <a:txBody>
                    <a:bodyPr/>
                    <a:lstStyle/>
                    <a:p>
                      <a:r>
                        <a:rPr lang="en-US" sz="1600" dirty="0"/>
                        <a:t>1</a:t>
                      </a:r>
                    </a:p>
                  </a:txBody>
                  <a:tcPr/>
                </a:tc>
                <a:tc>
                  <a:txBody>
                    <a:bodyPr/>
                    <a:lstStyle/>
                    <a:p>
                      <a:endParaRPr lang="en-US" sz="1600" dirty="0"/>
                    </a:p>
                  </a:txBody>
                  <a:tcPr>
                    <a:solidFill>
                      <a:srgbClr val="FFC000"/>
                    </a:solidFill>
                  </a:tcPr>
                </a:tc>
                <a:tc>
                  <a:txBody>
                    <a:bodyPr/>
                    <a:lstStyle/>
                    <a:p>
                      <a:endParaRPr lang="en-US" sz="1600" dirty="0"/>
                    </a:p>
                  </a:txBody>
                  <a:tcPr/>
                </a:tc>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2657335329"/>
                  </a:ext>
                </a:extLst>
              </a:tr>
              <a:tr h="665212">
                <a:tc>
                  <a:txBody>
                    <a:bodyPr/>
                    <a:lstStyle/>
                    <a:p>
                      <a:r>
                        <a:rPr lang="en-US" sz="1600" dirty="0"/>
                        <a:t>2</a:t>
                      </a:r>
                    </a:p>
                  </a:txBody>
                  <a:tcPr/>
                </a:tc>
                <a:tc>
                  <a:txBody>
                    <a:bodyPr/>
                    <a:lstStyle/>
                    <a:p>
                      <a:endParaRPr lang="en-US" sz="1600" dirty="0"/>
                    </a:p>
                  </a:txBody>
                  <a:tcPr>
                    <a:solidFill>
                      <a:srgbClr val="FFC000"/>
                    </a:solidFill>
                  </a:tcPr>
                </a:tc>
                <a:tc>
                  <a:txBody>
                    <a:bodyPr/>
                    <a:lstStyle/>
                    <a:p>
                      <a:endParaRPr lang="en-US" sz="1600" dirty="0"/>
                    </a:p>
                  </a:txBody>
                  <a:tcPr/>
                </a:tc>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818334415"/>
                  </a:ext>
                </a:extLst>
              </a:tr>
              <a:tr h="665212">
                <a:tc>
                  <a:txBody>
                    <a:bodyPr/>
                    <a:lstStyle/>
                    <a:p>
                      <a:r>
                        <a:rPr lang="en-US" sz="1600" dirty="0"/>
                        <a:t>3</a:t>
                      </a:r>
                    </a:p>
                  </a:txBody>
                  <a:tcPr/>
                </a:tc>
                <a:tc>
                  <a:txBody>
                    <a:bodyPr/>
                    <a:lstStyle/>
                    <a:p>
                      <a:endParaRPr lang="en-US" sz="1600" dirty="0"/>
                    </a:p>
                  </a:txBody>
                  <a:tcPr>
                    <a:solidFill>
                      <a:srgbClr val="FFC000"/>
                    </a:solidFill>
                  </a:tcPr>
                </a:tc>
                <a:tc>
                  <a:txBody>
                    <a:bodyPr/>
                    <a:lstStyle/>
                    <a:p>
                      <a:endParaRPr lang="en-US" sz="1600" dirty="0"/>
                    </a:p>
                  </a:txBody>
                  <a:tcPr/>
                </a:tc>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1749196828"/>
                  </a:ext>
                </a:extLst>
              </a:tr>
              <a:tr h="665212">
                <a:tc>
                  <a:txBody>
                    <a:bodyPr/>
                    <a:lstStyle/>
                    <a:p>
                      <a:r>
                        <a:rPr lang="en-US" sz="1600" dirty="0"/>
                        <a:t>4</a:t>
                      </a:r>
                    </a:p>
                  </a:txBody>
                  <a:tcPr/>
                </a:tc>
                <a:tc>
                  <a:txBody>
                    <a:bodyPr/>
                    <a:lstStyle/>
                    <a:p>
                      <a:endParaRPr lang="en-US" sz="1600" dirty="0"/>
                    </a:p>
                  </a:txBody>
                  <a:tcPr>
                    <a:solidFill>
                      <a:srgbClr val="FFC000"/>
                    </a:solidFill>
                  </a:tcPr>
                </a:tc>
                <a:tc>
                  <a:txBody>
                    <a:bodyPr/>
                    <a:lstStyle/>
                    <a:p>
                      <a:endParaRPr lang="en-US" sz="1600" dirty="0"/>
                    </a:p>
                  </a:txBody>
                  <a:tcPr>
                    <a:lnB w="12700" cmpd="sng">
                      <a:noFill/>
                    </a:lnB>
                  </a:tcPr>
                </a:tc>
                <a:tc>
                  <a:txBody>
                    <a:bodyPr/>
                    <a:lstStyle/>
                    <a:p>
                      <a:endParaRPr lang="en-US" sz="1600" dirty="0"/>
                    </a:p>
                  </a:txBody>
                  <a:tcPr>
                    <a:lnB w="12700" cmpd="sng">
                      <a:noFill/>
                    </a:lnB>
                  </a:tcPr>
                </a:tc>
                <a:tc>
                  <a:txBody>
                    <a:bodyPr/>
                    <a:lstStyle/>
                    <a:p>
                      <a:endParaRPr lang="en-US" sz="1600" dirty="0"/>
                    </a:p>
                  </a:txBody>
                  <a:tcPr>
                    <a:lnB w="12700" cmpd="sng">
                      <a:noFill/>
                    </a:lnB>
                  </a:tcPr>
                </a:tc>
                <a:extLst>
                  <a:ext uri="{0D108BD9-81ED-4DB2-BD59-A6C34878D82A}">
                    <a16:rowId xmlns:a16="http://schemas.microsoft.com/office/drawing/2014/main" val="2330910062"/>
                  </a:ext>
                </a:extLst>
              </a:tr>
              <a:tr h="665212">
                <a:tc>
                  <a:txBody>
                    <a:bodyPr/>
                    <a:lstStyle/>
                    <a:p>
                      <a:r>
                        <a:rPr lang="en-US" sz="1600" dirty="0"/>
                        <a:t>5</a:t>
                      </a:r>
                    </a:p>
                  </a:txBody>
                  <a:tcPr/>
                </a:tc>
                <a:tc>
                  <a:txBody>
                    <a:bodyPr/>
                    <a:lstStyle/>
                    <a:p>
                      <a:endParaRPr lang="en-US" sz="1600" dirty="0"/>
                    </a:p>
                  </a:txBody>
                  <a:tcPr>
                    <a:lnR w="12700" cmpd="sng">
                      <a:noFill/>
                    </a:lnR>
                    <a:solidFill>
                      <a:srgbClr val="FFC000"/>
                    </a:solidFill>
                  </a:tcPr>
                </a:tc>
                <a:tc>
                  <a:txBody>
                    <a:bodyPr/>
                    <a:lstStyle/>
                    <a:p>
                      <a:r>
                        <a:rPr lang="en-US" sz="1600" dirty="0"/>
                        <a:t>NULL</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B050"/>
                    </a:solidFill>
                  </a:tcPr>
                </a:tc>
                <a:tc>
                  <a:txBody>
                    <a:bodyPr/>
                    <a:lstStyle/>
                    <a:p>
                      <a:endParaRPr 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B050"/>
                    </a:solidFill>
                  </a:tcPr>
                </a:tc>
                <a:tc>
                  <a:txBody>
                    <a:bodyPr/>
                    <a:lstStyle/>
                    <a:p>
                      <a:endParaRPr 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1192810"/>
                  </a:ext>
                </a:extLst>
              </a:tr>
              <a:tr h="665212">
                <a:tc>
                  <a:txBody>
                    <a:bodyPr/>
                    <a:lstStyle/>
                    <a:p>
                      <a:r>
                        <a:rPr lang="en-US" sz="1600" dirty="0"/>
                        <a:t>6</a:t>
                      </a:r>
                    </a:p>
                  </a:txBody>
                  <a:tcPr/>
                </a:tc>
                <a:tc>
                  <a:txBody>
                    <a:bodyPr/>
                    <a:lstStyle/>
                    <a:p>
                      <a:endParaRPr lang="en-US" sz="1600" dirty="0"/>
                    </a:p>
                  </a:txBody>
                  <a:tcPr>
                    <a:lnR w="12700" cmpd="sng">
                      <a:noFill/>
                    </a:lnR>
                    <a:solidFill>
                      <a:srgbClr val="FFC000"/>
                    </a:solidFill>
                  </a:tcPr>
                </a:tc>
                <a:tc>
                  <a:txBody>
                    <a:bodyPr/>
                    <a:lstStyle/>
                    <a:p>
                      <a:endParaRPr lang="en-US" sz="16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B050"/>
                    </a:solidFill>
                  </a:tcPr>
                </a:tc>
                <a:tc>
                  <a:txBody>
                    <a:bodyPr/>
                    <a:lstStyle/>
                    <a:p>
                      <a:endParaRPr 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B050"/>
                    </a:solidFill>
                  </a:tcPr>
                </a:tc>
                <a:tc>
                  <a:txBody>
                    <a:bodyPr/>
                    <a:lstStyle/>
                    <a:p>
                      <a:endParaRPr 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4102165149"/>
                  </a:ext>
                </a:extLst>
              </a:tr>
              <a:tr h="665212">
                <a:tc>
                  <a:txBody>
                    <a:bodyPr/>
                    <a:lstStyle/>
                    <a:p>
                      <a:r>
                        <a:rPr lang="en-US" sz="1600" dirty="0"/>
                        <a:t>7</a:t>
                      </a:r>
                    </a:p>
                  </a:txBody>
                  <a:tcPr/>
                </a:tc>
                <a:tc>
                  <a:txBody>
                    <a:bodyPr/>
                    <a:lstStyle/>
                    <a:p>
                      <a:endParaRPr lang="en-US" sz="1600" dirty="0"/>
                    </a:p>
                  </a:txBody>
                  <a:tcPr>
                    <a:lnR w="12700" cmpd="sng">
                      <a:noFill/>
                    </a:lnR>
                    <a:solidFill>
                      <a:srgbClr val="FFC000"/>
                    </a:solidFill>
                  </a:tcPr>
                </a:tc>
                <a:tc>
                  <a:txBody>
                    <a:bodyPr/>
                    <a:lstStyle/>
                    <a:p>
                      <a:endParaRPr 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B050"/>
                    </a:solidFill>
                  </a:tcPr>
                </a:tc>
                <a:tc>
                  <a:txBody>
                    <a:bodyPr/>
                    <a:lstStyle/>
                    <a:p>
                      <a:endParaRPr 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B050"/>
                    </a:solidFill>
                  </a:tcPr>
                </a:tc>
                <a:tc>
                  <a:txBody>
                    <a:bodyPr/>
                    <a:lstStyle/>
                    <a:p>
                      <a:endParaRPr 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172796007"/>
                  </a:ext>
                </a:extLst>
              </a:tr>
              <a:tr h="665212">
                <a:tc>
                  <a:txBody>
                    <a:bodyPr/>
                    <a:lstStyle/>
                    <a:p>
                      <a:r>
                        <a:rPr lang="en-US" sz="1600" dirty="0"/>
                        <a:t>8</a:t>
                      </a:r>
                    </a:p>
                  </a:txBody>
                  <a:tcPr/>
                </a:tc>
                <a:tc>
                  <a:txBody>
                    <a:bodyPr/>
                    <a:lstStyle/>
                    <a:p>
                      <a:endParaRPr lang="en-US" sz="1600" dirty="0"/>
                    </a:p>
                  </a:txBody>
                  <a:tcPr>
                    <a:lnR w="12700" cmpd="sng">
                      <a:noFill/>
                    </a:lnR>
                    <a:solidFill>
                      <a:srgbClr val="FFC000"/>
                    </a:solidFill>
                  </a:tcPr>
                </a:tc>
                <a:tc>
                  <a:txBody>
                    <a:bodyPr/>
                    <a:lstStyle/>
                    <a:p>
                      <a:endParaRPr 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B050"/>
                    </a:solidFill>
                  </a:tcPr>
                </a:tc>
                <a:tc>
                  <a:txBody>
                    <a:bodyPr/>
                    <a:lstStyle/>
                    <a:p>
                      <a:endParaRPr 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B050"/>
                    </a:solidFill>
                  </a:tcPr>
                </a:tc>
                <a:tc>
                  <a:txBody>
                    <a:bodyPr/>
                    <a:lstStyle/>
                    <a:p>
                      <a:endParaRPr 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3948122341"/>
                  </a:ext>
                </a:extLst>
              </a:tr>
            </a:tbl>
          </a:graphicData>
        </a:graphic>
      </p:graphicFrame>
      <p:graphicFrame>
        <p:nvGraphicFramePr>
          <p:cNvPr id="10" name="Table 9">
            <a:extLst>
              <a:ext uri="{FF2B5EF4-FFF2-40B4-BE49-F238E27FC236}">
                <a16:creationId xmlns:a16="http://schemas.microsoft.com/office/drawing/2014/main" id="{15F6261D-3477-4527-8616-8BB4875D60E9}"/>
              </a:ext>
            </a:extLst>
          </p:cNvPr>
          <p:cNvGraphicFramePr>
            <a:graphicFrameLocks noGrp="1"/>
          </p:cNvGraphicFramePr>
          <p:nvPr/>
        </p:nvGraphicFramePr>
        <p:xfrm>
          <a:off x="9336778" y="344711"/>
          <a:ext cx="2714377" cy="5321696"/>
        </p:xfrm>
        <a:graphic>
          <a:graphicData uri="http://schemas.openxmlformats.org/drawingml/2006/table">
            <a:tbl>
              <a:tblPr firstRow="1" bandRow="1">
                <a:tableStyleId>{5C22544A-7EE6-4342-B048-85BDC9FD1C3A}</a:tableStyleId>
              </a:tblPr>
              <a:tblGrid>
                <a:gridCol w="506677">
                  <a:extLst>
                    <a:ext uri="{9D8B030D-6E8A-4147-A177-3AD203B41FA5}">
                      <a16:colId xmlns:a16="http://schemas.microsoft.com/office/drawing/2014/main" val="2602895088"/>
                    </a:ext>
                  </a:extLst>
                </a:gridCol>
                <a:gridCol w="514849">
                  <a:extLst>
                    <a:ext uri="{9D8B030D-6E8A-4147-A177-3AD203B41FA5}">
                      <a16:colId xmlns:a16="http://schemas.microsoft.com/office/drawing/2014/main" val="3072353049"/>
                    </a:ext>
                  </a:extLst>
                </a:gridCol>
                <a:gridCol w="707419">
                  <a:extLst>
                    <a:ext uri="{9D8B030D-6E8A-4147-A177-3AD203B41FA5}">
                      <a16:colId xmlns:a16="http://schemas.microsoft.com/office/drawing/2014/main" val="1382316476"/>
                    </a:ext>
                  </a:extLst>
                </a:gridCol>
                <a:gridCol w="421148">
                  <a:extLst>
                    <a:ext uri="{9D8B030D-6E8A-4147-A177-3AD203B41FA5}">
                      <a16:colId xmlns:a16="http://schemas.microsoft.com/office/drawing/2014/main" val="1446056001"/>
                    </a:ext>
                  </a:extLst>
                </a:gridCol>
                <a:gridCol w="564284">
                  <a:extLst>
                    <a:ext uri="{9D8B030D-6E8A-4147-A177-3AD203B41FA5}">
                      <a16:colId xmlns:a16="http://schemas.microsoft.com/office/drawing/2014/main" val="4255386391"/>
                    </a:ext>
                  </a:extLst>
                </a:gridCol>
              </a:tblGrid>
              <a:tr h="665212">
                <a:tc>
                  <a:txBody>
                    <a:bodyPr/>
                    <a:lstStyle/>
                    <a:p>
                      <a:r>
                        <a:rPr lang="en-US" sz="1200" dirty="0"/>
                        <a:t>index</a:t>
                      </a:r>
                    </a:p>
                  </a:txBody>
                  <a:tcPr/>
                </a:tc>
                <a:tc>
                  <a:txBody>
                    <a:bodyPr/>
                    <a:lstStyle/>
                    <a:p>
                      <a:r>
                        <a:rPr lang="en-US" sz="1600" dirty="0"/>
                        <a:t>A</a:t>
                      </a:r>
                    </a:p>
                  </a:txBody>
                  <a:tcPr/>
                </a:tc>
                <a:tc>
                  <a:txBody>
                    <a:bodyPr/>
                    <a:lstStyle/>
                    <a:p>
                      <a:r>
                        <a:rPr lang="en-US" sz="1600" dirty="0"/>
                        <a:t>B</a:t>
                      </a:r>
                    </a:p>
                  </a:txBody>
                  <a:tcPr/>
                </a:tc>
                <a:tc>
                  <a:txBody>
                    <a:bodyPr/>
                    <a:lstStyle/>
                    <a:p>
                      <a:r>
                        <a:rPr lang="en-US" sz="1600" dirty="0"/>
                        <a:t>C</a:t>
                      </a:r>
                    </a:p>
                  </a:txBody>
                  <a:tcPr/>
                </a:tc>
                <a:tc>
                  <a:txBody>
                    <a:bodyPr/>
                    <a:lstStyle/>
                    <a:p>
                      <a:r>
                        <a:rPr lang="en-US" sz="1600" dirty="0"/>
                        <a:t>D</a:t>
                      </a:r>
                    </a:p>
                  </a:txBody>
                  <a:tcPr/>
                </a:tc>
                <a:extLst>
                  <a:ext uri="{0D108BD9-81ED-4DB2-BD59-A6C34878D82A}">
                    <a16:rowId xmlns:a16="http://schemas.microsoft.com/office/drawing/2014/main" val="3421676682"/>
                  </a:ext>
                </a:extLst>
              </a:tr>
              <a:tr h="665212">
                <a:tc>
                  <a:txBody>
                    <a:bodyPr/>
                    <a:lstStyle/>
                    <a:p>
                      <a:r>
                        <a:rPr lang="en-US" sz="1600" dirty="0"/>
                        <a:t>1</a:t>
                      </a:r>
                    </a:p>
                  </a:txBody>
                  <a:tcPr/>
                </a:tc>
                <a:tc>
                  <a:txBody>
                    <a:bodyPr/>
                    <a:lstStyle/>
                    <a:p>
                      <a:endParaRPr lang="en-US" sz="1600" dirty="0"/>
                    </a:p>
                  </a:txBody>
                  <a:tcPr>
                    <a:solidFill>
                      <a:srgbClr val="FFC000"/>
                    </a:solidFill>
                  </a:tcPr>
                </a:tc>
                <a:tc>
                  <a:txBody>
                    <a:bodyPr/>
                    <a:lstStyle/>
                    <a:p>
                      <a:endParaRPr lang="en-US" sz="1600" dirty="0"/>
                    </a:p>
                  </a:txBody>
                  <a:tcPr/>
                </a:tc>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2657335329"/>
                  </a:ext>
                </a:extLst>
              </a:tr>
              <a:tr h="665212">
                <a:tc>
                  <a:txBody>
                    <a:bodyPr/>
                    <a:lstStyle/>
                    <a:p>
                      <a:r>
                        <a:rPr lang="en-US" sz="1600" dirty="0"/>
                        <a:t>2</a:t>
                      </a:r>
                    </a:p>
                  </a:txBody>
                  <a:tcPr/>
                </a:tc>
                <a:tc>
                  <a:txBody>
                    <a:bodyPr/>
                    <a:lstStyle/>
                    <a:p>
                      <a:endParaRPr lang="en-US" sz="1600" dirty="0"/>
                    </a:p>
                  </a:txBody>
                  <a:tcPr>
                    <a:solidFill>
                      <a:srgbClr val="FFC000"/>
                    </a:solidFill>
                  </a:tcPr>
                </a:tc>
                <a:tc>
                  <a:txBody>
                    <a:bodyPr/>
                    <a:lstStyle/>
                    <a:p>
                      <a:endParaRPr lang="en-US" sz="1600" dirty="0"/>
                    </a:p>
                  </a:txBody>
                  <a:tcPr/>
                </a:tc>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818334415"/>
                  </a:ext>
                </a:extLst>
              </a:tr>
              <a:tr h="665212">
                <a:tc>
                  <a:txBody>
                    <a:bodyPr/>
                    <a:lstStyle/>
                    <a:p>
                      <a:r>
                        <a:rPr lang="en-US" sz="1600" dirty="0"/>
                        <a:t>3</a:t>
                      </a:r>
                    </a:p>
                  </a:txBody>
                  <a:tcPr/>
                </a:tc>
                <a:tc>
                  <a:txBody>
                    <a:bodyPr/>
                    <a:lstStyle/>
                    <a:p>
                      <a:endParaRPr lang="en-US" sz="1600" dirty="0"/>
                    </a:p>
                  </a:txBody>
                  <a:tcPr>
                    <a:solidFill>
                      <a:srgbClr val="FFC000"/>
                    </a:solidFill>
                  </a:tcPr>
                </a:tc>
                <a:tc>
                  <a:txBody>
                    <a:bodyPr/>
                    <a:lstStyle/>
                    <a:p>
                      <a:endParaRPr lang="en-US" sz="1600" dirty="0"/>
                    </a:p>
                  </a:txBody>
                  <a:tcPr/>
                </a:tc>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1749196828"/>
                  </a:ext>
                </a:extLst>
              </a:tr>
              <a:tr h="665212">
                <a:tc>
                  <a:txBody>
                    <a:bodyPr/>
                    <a:lstStyle/>
                    <a:p>
                      <a:r>
                        <a:rPr lang="en-US" sz="1600" dirty="0"/>
                        <a:t>4</a:t>
                      </a:r>
                    </a:p>
                  </a:txBody>
                  <a:tcPr/>
                </a:tc>
                <a:tc>
                  <a:txBody>
                    <a:bodyPr/>
                    <a:lstStyle/>
                    <a:p>
                      <a:endParaRPr lang="en-US" sz="1600" dirty="0"/>
                    </a:p>
                  </a:txBody>
                  <a:tcPr>
                    <a:solidFill>
                      <a:srgbClr val="FFC000"/>
                    </a:solidFill>
                  </a:tcPr>
                </a:tc>
                <a:tc>
                  <a:txBody>
                    <a:bodyPr/>
                    <a:lstStyle/>
                    <a:p>
                      <a:endParaRPr lang="en-US" sz="1600" dirty="0"/>
                    </a:p>
                  </a:txBody>
                  <a:tcPr>
                    <a:lnB w="12700" cmpd="sng">
                      <a:noFill/>
                    </a:lnB>
                  </a:tcPr>
                </a:tc>
                <a:tc>
                  <a:txBody>
                    <a:bodyPr/>
                    <a:lstStyle/>
                    <a:p>
                      <a:endParaRPr lang="en-US" sz="1600" dirty="0"/>
                    </a:p>
                  </a:txBody>
                  <a:tcPr>
                    <a:lnB w="12700" cmpd="sng">
                      <a:noFill/>
                    </a:lnB>
                  </a:tcPr>
                </a:tc>
                <a:tc>
                  <a:txBody>
                    <a:bodyPr/>
                    <a:lstStyle/>
                    <a:p>
                      <a:endParaRPr lang="en-US" sz="1600" dirty="0"/>
                    </a:p>
                  </a:txBody>
                  <a:tcPr>
                    <a:lnB w="12700" cmpd="sng">
                      <a:noFill/>
                    </a:lnB>
                  </a:tcPr>
                </a:tc>
                <a:extLst>
                  <a:ext uri="{0D108BD9-81ED-4DB2-BD59-A6C34878D82A}">
                    <a16:rowId xmlns:a16="http://schemas.microsoft.com/office/drawing/2014/main" val="2330910062"/>
                  </a:ext>
                </a:extLst>
              </a:tr>
              <a:tr h="665212">
                <a:tc>
                  <a:txBody>
                    <a:bodyPr/>
                    <a:lstStyle/>
                    <a:p>
                      <a:r>
                        <a:rPr lang="en-US" sz="1600" dirty="0"/>
                        <a:t>9</a:t>
                      </a:r>
                    </a:p>
                  </a:txBody>
                  <a:tcPr/>
                </a:tc>
                <a:tc>
                  <a:txBody>
                    <a:bodyPr/>
                    <a:lstStyle/>
                    <a:p>
                      <a:r>
                        <a:rPr lang="en-US" sz="1600" dirty="0"/>
                        <a:t>NULL</a:t>
                      </a:r>
                    </a:p>
                  </a:txBody>
                  <a:tcPr>
                    <a:lnR w="12700" cmpd="sng">
                      <a:noFill/>
                    </a:lnR>
                    <a:noFill/>
                  </a:tcPr>
                </a:tc>
                <a:tc>
                  <a:txBody>
                    <a:bodyPr/>
                    <a:lstStyle/>
                    <a:p>
                      <a:endParaRPr 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B0F0"/>
                    </a:solidFill>
                  </a:tcPr>
                </a:tc>
                <a:tc>
                  <a:txBody>
                    <a:bodyPr/>
                    <a:lstStyle/>
                    <a:p>
                      <a:endParaRPr 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B0F0"/>
                    </a:solidFill>
                  </a:tcPr>
                </a:tc>
                <a:tc>
                  <a:txBody>
                    <a:bodyPr/>
                    <a:lstStyle/>
                    <a:p>
                      <a:endParaRPr 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11192810"/>
                  </a:ext>
                </a:extLst>
              </a:tr>
              <a:tr h="665212">
                <a:tc>
                  <a:txBody>
                    <a:bodyPr/>
                    <a:lstStyle/>
                    <a:p>
                      <a:r>
                        <a:rPr lang="en-US" sz="1600" dirty="0"/>
                        <a:t>10</a:t>
                      </a:r>
                    </a:p>
                  </a:txBody>
                  <a:tcPr/>
                </a:tc>
                <a:tc>
                  <a:txBody>
                    <a:bodyPr/>
                    <a:lstStyle/>
                    <a:p>
                      <a:r>
                        <a:rPr lang="en-US" sz="1600" dirty="0"/>
                        <a:t>NULL</a:t>
                      </a:r>
                    </a:p>
                  </a:txBody>
                  <a:tcPr>
                    <a:lnR w="12700" cmpd="sng">
                      <a:noFill/>
                    </a:lnR>
                    <a:noFill/>
                  </a:tcPr>
                </a:tc>
                <a:tc>
                  <a:txBody>
                    <a:bodyPr/>
                    <a:lstStyle/>
                    <a:p>
                      <a:endParaRPr lang="en-US" sz="16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B0F0"/>
                    </a:solidFill>
                  </a:tcPr>
                </a:tc>
                <a:tc>
                  <a:txBody>
                    <a:bodyPr/>
                    <a:lstStyle/>
                    <a:p>
                      <a:endParaRPr 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B0F0"/>
                    </a:solidFill>
                  </a:tcPr>
                </a:tc>
                <a:tc>
                  <a:txBody>
                    <a:bodyPr/>
                    <a:lstStyle/>
                    <a:p>
                      <a:endParaRPr 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4102165149"/>
                  </a:ext>
                </a:extLst>
              </a:tr>
              <a:tr h="665212">
                <a:tc>
                  <a:txBody>
                    <a:bodyPr/>
                    <a:lstStyle/>
                    <a:p>
                      <a:r>
                        <a:rPr lang="en-US" sz="1600" dirty="0"/>
                        <a:t>11</a:t>
                      </a:r>
                    </a:p>
                  </a:txBody>
                  <a:tcPr/>
                </a:tc>
                <a:tc>
                  <a:txBody>
                    <a:bodyPr/>
                    <a:lstStyle/>
                    <a:p>
                      <a:r>
                        <a:rPr lang="en-US" sz="1600" dirty="0" err="1"/>
                        <a:t>NuLL</a:t>
                      </a:r>
                      <a:endParaRPr lang="en-US" sz="1600" dirty="0"/>
                    </a:p>
                  </a:txBody>
                  <a:tcPr>
                    <a:lnR w="12700" cmpd="sng">
                      <a:noFill/>
                    </a:lnR>
                    <a:noFill/>
                  </a:tcPr>
                </a:tc>
                <a:tc>
                  <a:txBody>
                    <a:bodyPr/>
                    <a:lstStyle/>
                    <a:p>
                      <a:endParaRPr 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B0F0"/>
                    </a:solidFill>
                  </a:tcPr>
                </a:tc>
                <a:tc>
                  <a:txBody>
                    <a:bodyPr/>
                    <a:lstStyle/>
                    <a:p>
                      <a:endParaRPr 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B0F0"/>
                    </a:solidFill>
                  </a:tcPr>
                </a:tc>
                <a:tc>
                  <a:txBody>
                    <a:bodyPr/>
                    <a:lstStyle/>
                    <a:p>
                      <a:endParaRPr 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1172796007"/>
                  </a:ext>
                </a:extLst>
              </a:tr>
            </a:tbl>
          </a:graphicData>
        </a:graphic>
      </p:graphicFrame>
      <p:sp>
        <p:nvSpPr>
          <p:cNvPr id="11" name="TextBox 10">
            <a:extLst>
              <a:ext uri="{FF2B5EF4-FFF2-40B4-BE49-F238E27FC236}">
                <a16:creationId xmlns:a16="http://schemas.microsoft.com/office/drawing/2014/main" id="{AC82FEB4-3538-4FE8-B59B-413EAFD43043}"/>
              </a:ext>
            </a:extLst>
          </p:cNvPr>
          <p:cNvSpPr txBox="1"/>
          <p:nvPr/>
        </p:nvSpPr>
        <p:spPr>
          <a:xfrm>
            <a:off x="10029039" y="-24513"/>
            <a:ext cx="1610686" cy="369332"/>
          </a:xfrm>
          <a:prstGeom prst="rect">
            <a:avLst/>
          </a:prstGeom>
          <a:noFill/>
        </p:spPr>
        <p:txBody>
          <a:bodyPr wrap="square" rtlCol="0">
            <a:spAutoFit/>
          </a:bodyPr>
          <a:lstStyle/>
          <a:p>
            <a:r>
              <a:rPr lang="en-US" dirty="0"/>
              <a:t>Right Join</a:t>
            </a:r>
          </a:p>
        </p:txBody>
      </p:sp>
      <p:graphicFrame>
        <p:nvGraphicFramePr>
          <p:cNvPr id="12" name="Table 11">
            <a:extLst>
              <a:ext uri="{FF2B5EF4-FFF2-40B4-BE49-F238E27FC236}">
                <a16:creationId xmlns:a16="http://schemas.microsoft.com/office/drawing/2014/main" id="{89558347-FE3D-4B25-962E-2C6C633D049D}"/>
              </a:ext>
            </a:extLst>
          </p:cNvPr>
          <p:cNvGraphicFramePr>
            <a:graphicFrameLocks noGrp="1"/>
          </p:cNvGraphicFramePr>
          <p:nvPr/>
        </p:nvGraphicFramePr>
        <p:xfrm>
          <a:off x="4738896" y="1270000"/>
          <a:ext cx="1412112" cy="4975074"/>
        </p:xfrm>
        <a:graphic>
          <a:graphicData uri="http://schemas.openxmlformats.org/drawingml/2006/table">
            <a:tbl>
              <a:tblPr firstRow="1" bandRow="1">
                <a:tableStyleId>{5C22544A-7EE6-4342-B048-85BDC9FD1C3A}</a:tableStyleId>
              </a:tblPr>
              <a:tblGrid>
                <a:gridCol w="706056">
                  <a:extLst>
                    <a:ext uri="{9D8B030D-6E8A-4147-A177-3AD203B41FA5}">
                      <a16:colId xmlns:a16="http://schemas.microsoft.com/office/drawing/2014/main" val="2724806108"/>
                    </a:ext>
                  </a:extLst>
                </a:gridCol>
                <a:gridCol w="706056">
                  <a:extLst>
                    <a:ext uri="{9D8B030D-6E8A-4147-A177-3AD203B41FA5}">
                      <a16:colId xmlns:a16="http://schemas.microsoft.com/office/drawing/2014/main" val="3327447910"/>
                    </a:ext>
                  </a:extLst>
                </a:gridCol>
              </a:tblGrid>
              <a:tr h="552786">
                <a:tc>
                  <a:txBody>
                    <a:bodyPr/>
                    <a:lstStyle/>
                    <a:p>
                      <a:r>
                        <a:rPr lang="en-US" sz="1400" dirty="0"/>
                        <a:t>index</a:t>
                      </a:r>
                    </a:p>
                  </a:txBody>
                  <a:tcPr/>
                </a:tc>
                <a:tc>
                  <a:txBody>
                    <a:bodyPr/>
                    <a:lstStyle/>
                    <a:p>
                      <a:r>
                        <a:rPr lang="en-US" dirty="0"/>
                        <a:t>A</a:t>
                      </a:r>
                    </a:p>
                  </a:txBody>
                  <a:tcPr/>
                </a:tc>
                <a:extLst>
                  <a:ext uri="{0D108BD9-81ED-4DB2-BD59-A6C34878D82A}">
                    <a16:rowId xmlns:a16="http://schemas.microsoft.com/office/drawing/2014/main" val="3343489409"/>
                  </a:ext>
                </a:extLst>
              </a:tr>
              <a:tr h="552786">
                <a:tc>
                  <a:txBody>
                    <a:bodyPr/>
                    <a:lstStyle/>
                    <a:p>
                      <a:r>
                        <a:rPr lang="en-US" dirty="0"/>
                        <a:t>1</a:t>
                      </a:r>
                    </a:p>
                  </a:txBody>
                  <a:tcPr/>
                </a:tc>
                <a:tc>
                  <a:txBody>
                    <a:bodyPr/>
                    <a:lstStyle/>
                    <a:p>
                      <a:endParaRPr lang="en-US" dirty="0"/>
                    </a:p>
                  </a:txBody>
                  <a:tcPr>
                    <a:solidFill>
                      <a:srgbClr val="FFC000"/>
                    </a:solidFill>
                  </a:tcPr>
                </a:tc>
                <a:extLst>
                  <a:ext uri="{0D108BD9-81ED-4DB2-BD59-A6C34878D82A}">
                    <a16:rowId xmlns:a16="http://schemas.microsoft.com/office/drawing/2014/main" val="3532409805"/>
                  </a:ext>
                </a:extLst>
              </a:tr>
              <a:tr h="552786">
                <a:tc>
                  <a:txBody>
                    <a:bodyPr/>
                    <a:lstStyle/>
                    <a:p>
                      <a:r>
                        <a:rPr lang="en-US" dirty="0"/>
                        <a:t>2</a:t>
                      </a:r>
                    </a:p>
                  </a:txBody>
                  <a:tcPr/>
                </a:tc>
                <a:tc>
                  <a:txBody>
                    <a:bodyPr/>
                    <a:lstStyle/>
                    <a:p>
                      <a:endParaRPr lang="en-US" dirty="0"/>
                    </a:p>
                  </a:txBody>
                  <a:tcPr>
                    <a:solidFill>
                      <a:srgbClr val="FFC000"/>
                    </a:solidFill>
                  </a:tcPr>
                </a:tc>
                <a:extLst>
                  <a:ext uri="{0D108BD9-81ED-4DB2-BD59-A6C34878D82A}">
                    <a16:rowId xmlns:a16="http://schemas.microsoft.com/office/drawing/2014/main" val="927225677"/>
                  </a:ext>
                </a:extLst>
              </a:tr>
              <a:tr h="552786">
                <a:tc>
                  <a:txBody>
                    <a:bodyPr/>
                    <a:lstStyle/>
                    <a:p>
                      <a:r>
                        <a:rPr lang="en-US" dirty="0"/>
                        <a:t>3</a:t>
                      </a:r>
                    </a:p>
                  </a:txBody>
                  <a:tcPr/>
                </a:tc>
                <a:tc>
                  <a:txBody>
                    <a:bodyPr/>
                    <a:lstStyle/>
                    <a:p>
                      <a:endParaRPr lang="en-US" dirty="0"/>
                    </a:p>
                  </a:txBody>
                  <a:tcPr>
                    <a:solidFill>
                      <a:srgbClr val="FFC000"/>
                    </a:solidFill>
                  </a:tcPr>
                </a:tc>
                <a:extLst>
                  <a:ext uri="{0D108BD9-81ED-4DB2-BD59-A6C34878D82A}">
                    <a16:rowId xmlns:a16="http://schemas.microsoft.com/office/drawing/2014/main" val="664678265"/>
                  </a:ext>
                </a:extLst>
              </a:tr>
              <a:tr h="552786">
                <a:tc>
                  <a:txBody>
                    <a:bodyPr/>
                    <a:lstStyle/>
                    <a:p>
                      <a:r>
                        <a:rPr lang="en-US" dirty="0"/>
                        <a:t>4</a:t>
                      </a:r>
                    </a:p>
                  </a:txBody>
                  <a:tcPr/>
                </a:tc>
                <a:tc>
                  <a:txBody>
                    <a:bodyPr/>
                    <a:lstStyle/>
                    <a:p>
                      <a:endParaRPr lang="en-US" dirty="0"/>
                    </a:p>
                  </a:txBody>
                  <a:tcPr>
                    <a:solidFill>
                      <a:srgbClr val="FFC000"/>
                    </a:solidFill>
                  </a:tcPr>
                </a:tc>
                <a:extLst>
                  <a:ext uri="{0D108BD9-81ED-4DB2-BD59-A6C34878D82A}">
                    <a16:rowId xmlns:a16="http://schemas.microsoft.com/office/drawing/2014/main" val="1003822654"/>
                  </a:ext>
                </a:extLst>
              </a:tr>
              <a:tr h="552786">
                <a:tc>
                  <a:txBody>
                    <a:bodyPr/>
                    <a:lstStyle/>
                    <a:p>
                      <a:r>
                        <a:rPr lang="en-US" dirty="0"/>
                        <a:t>5</a:t>
                      </a:r>
                    </a:p>
                  </a:txBody>
                  <a:tcPr/>
                </a:tc>
                <a:tc>
                  <a:txBody>
                    <a:bodyPr/>
                    <a:lstStyle/>
                    <a:p>
                      <a:endParaRPr lang="en-US" dirty="0"/>
                    </a:p>
                  </a:txBody>
                  <a:tcPr>
                    <a:solidFill>
                      <a:srgbClr val="FFC000"/>
                    </a:solidFill>
                  </a:tcPr>
                </a:tc>
                <a:extLst>
                  <a:ext uri="{0D108BD9-81ED-4DB2-BD59-A6C34878D82A}">
                    <a16:rowId xmlns:a16="http://schemas.microsoft.com/office/drawing/2014/main" val="2734187761"/>
                  </a:ext>
                </a:extLst>
              </a:tr>
              <a:tr h="552786">
                <a:tc>
                  <a:txBody>
                    <a:bodyPr/>
                    <a:lstStyle/>
                    <a:p>
                      <a:r>
                        <a:rPr lang="en-US" dirty="0"/>
                        <a:t>6</a:t>
                      </a:r>
                    </a:p>
                  </a:txBody>
                  <a:tcPr/>
                </a:tc>
                <a:tc>
                  <a:txBody>
                    <a:bodyPr/>
                    <a:lstStyle/>
                    <a:p>
                      <a:endParaRPr lang="en-US" dirty="0"/>
                    </a:p>
                  </a:txBody>
                  <a:tcPr>
                    <a:solidFill>
                      <a:srgbClr val="FFC000"/>
                    </a:solidFill>
                  </a:tcPr>
                </a:tc>
                <a:extLst>
                  <a:ext uri="{0D108BD9-81ED-4DB2-BD59-A6C34878D82A}">
                    <a16:rowId xmlns:a16="http://schemas.microsoft.com/office/drawing/2014/main" val="3474672238"/>
                  </a:ext>
                </a:extLst>
              </a:tr>
              <a:tr h="552786">
                <a:tc>
                  <a:txBody>
                    <a:bodyPr/>
                    <a:lstStyle/>
                    <a:p>
                      <a:r>
                        <a:rPr lang="en-US" dirty="0"/>
                        <a:t>7</a:t>
                      </a:r>
                    </a:p>
                  </a:txBody>
                  <a:tcPr/>
                </a:tc>
                <a:tc>
                  <a:txBody>
                    <a:bodyPr/>
                    <a:lstStyle/>
                    <a:p>
                      <a:endParaRPr lang="en-US" dirty="0"/>
                    </a:p>
                  </a:txBody>
                  <a:tcPr>
                    <a:solidFill>
                      <a:srgbClr val="FFC000"/>
                    </a:solidFill>
                  </a:tcPr>
                </a:tc>
                <a:extLst>
                  <a:ext uri="{0D108BD9-81ED-4DB2-BD59-A6C34878D82A}">
                    <a16:rowId xmlns:a16="http://schemas.microsoft.com/office/drawing/2014/main" val="3842953416"/>
                  </a:ext>
                </a:extLst>
              </a:tr>
              <a:tr h="552786">
                <a:tc>
                  <a:txBody>
                    <a:bodyPr/>
                    <a:lstStyle/>
                    <a:p>
                      <a:r>
                        <a:rPr lang="en-US" dirty="0"/>
                        <a:t>8</a:t>
                      </a:r>
                    </a:p>
                  </a:txBody>
                  <a:tcPr/>
                </a:tc>
                <a:tc>
                  <a:txBody>
                    <a:bodyPr/>
                    <a:lstStyle/>
                    <a:p>
                      <a:endParaRPr lang="en-US" dirty="0"/>
                    </a:p>
                  </a:txBody>
                  <a:tcPr>
                    <a:solidFill>
                      <a:srgbClr val="FFC000"/>
                    </a:solidFill>
                  </a:tcPr>
                </a:tc>
                <a:extLst>
                  <a:ext uri="{0D108BD9-81ED-4DB2-BD59-A6C34878D82A}">
                    <a16:rowId xmlns:a16="http://schemas.microsoft.com/office/drawing/2014/main" val="3650766343"/>
                  </a:ext>
                </a:extLst>
              </a:tr>
            </a:tbl>
          </a:graphicData>
        </a:graphic>
      </p:graphicFrame>
      <p:cxnSp>
        <p:nvCxnSpPr>
          <p:cNvPr id="6" name="Straight Connector 5">
            <a:extLst>
              <a:ext uri="{FF2B5EF4-FFF2-40B4-BE49-F238E27FC236}">
                <a16:creationId xmlns:a16="http://schemas.microsoft.com/office/drawing/2014/main" id="{65E46D1A-4D44-4B21-8FAB-589FBCB854EC}"/>
              </a:ext>
            </a:extLst>
          </p:cNvPr>
          <p:cNvCxnSpPr/>
          <p:nvPr/>
        </p:nvCxnSpPr>
        <p:spPr>
          <a:xfrm flipV="1">
            <a:off x="5310231" y="2114026"/>
            <a:ext cx="2583809" cy="67112"/>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30C4AC9-60BA-4C96-8E47-2ED102C43CEB}"/>
              </a:ext>
            </a:extLst>
          </p:cNvPr>
          <p:cNvCxnSpPr/>
          <p:nvPr/>
        </p:nvCxnSpPr>
        <p:spPr>
          <a:xfrm flipV="1">
            <a:off x="5308356" y="2701255"/>
            <a:ext cx="3122580" cy="58723"/>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6D9EA67-4EC0-407A-8A02-E9F698EA4F6F}"/>
              </a:ext>
            </a:extLst>
          </p:cNvPr>
          <p:cNvCxnSpPr/>
          <p:nvPr/>
        </p:nvCxnSpPr>
        <p:spPr>
          <a:xfrm>
            <a:off x="5251508" y="3271706"/>
            <a:ext cx="301728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A9895BE-DA7A-4539-9757-AED9A230A2D2}"/>
              </a:ext>
            </a:extLst>
          </p:cNvPr>
          <p:cNvCxnSpPr/>
          <p:nvPr/>
        </p:nvCxnSpPr>
        <p:spPr>
          <a:xfrm>
            <a:off x="5308356" y="3716323"/>
            <a:ext cx="2753464"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4C3D47F-759F-4DA1-9271-006B1634557B}"/>
              </a:ext>
            </a:extLst>
          </p:cNvPr>
          <p:cNvSpPr txBox="1"/>
          <p:nvPr/>
        </p:nvSpPr>
        <p:spPr>
          <a:xfrm>
            <a:off x="2004969" y="167780"/>
            <a:ext cx="1610686" cy="369332"/>
          </a:xfrm>
          <a:prstGeom prst="rect">
            <a:avLst/>
          </a:prstGeom>
          <a:noFill/>
        </p:spPr>
        <p:txBody>
          <a:bodyPr wrap="square" rtlCol="0">
            <a:spAutoFit/>
          </a:bodyPr>
          <a:lstStyle/>
          <a:p>
            <a:r>
              <a:rPr lang="en-US" dirty="0"/>
              <a:t>Left Join</a:t>
            </a:r>
          </a:p>
        </p:txBody>
      </p:sp>
      <p:sp>
        <p:nvSpPr>
          <p:cNvPr id="14" name="TextBox 13">
            <a:extLst>
              <a:ext uri="{FF2B5EF4-FFF2-40B4-BE49-F238E27FC236}">
                <a16:creationId xmlns:a16="http://schemas.microsoft.com/office/drawing/2014/main" id="{81E387F8-EC1E-4716-9270-122498C53950}"/>
              </a:ext>
            </a:extLst>
          </p:cNvPr>
          <p:cNvSpPr txBox="1"/>
          <p:nvPr/>
        </p:nvSpPr>
        <p:spPr>
          <a:xfrm>
            <a:off x="5202170" y="785574"/>
            <a:ext cx="1011614" cy="369332"/>
          </a:xfrm>
          <a:prstGeom prst="rect">
            <a:avLst/>
          </a:prstGeom>
          <a:noFill/>
        </p:spPr>
        <p:txBody>
          <a:bodyPr wrap="square" rtlCol="0">
            <a:spAutoFit/>
          </a:bodyPr>
          <a:lstStyle/>
          <a:p>
            <a:r>
              <a:rPr lang="en-US"/>
              <a:t>Table1</a:t>
            </a:r>
            <a:endParaRPr lang="en-US" dirty="0"/>
          </a:p>
        </p:txBody>
      </p:sp>
      <p:sp>
        <p:nvSpPr>
          <p:cNvPr id="16" name="TextBox 15">
            <a:extLst>
              <a:ext uri="{FF2B5EF4-FFF2-40B4-BE49-F238E27FC236}">
                <a16:creationId xmlns:a16="http://schemas.microsoft.com/office/drawing/2014/main" id="{4939E2F6-7A97-4480-ADA1-97F137C0CA04}"/>
              </a:ext>
            </a:extLst>
          </p:cNvPr>
          <p:cNvSpPr txBox="1"/>
          <p:nvPr/>
        </p:nvSpPr>
        <p:spPr>
          <a:xfrm>
            <a:off x="7182864" y="751091"/>
            <a:ext cx="1011614" cy="369332"/>
          </a:xfrm>
          <a:prstGeom prst="rect">
            <a:avLst/>
          </a:prstGeom>
          <a:noFill/>
        </p:spPr>
        <p:txBody>
          <a:bodyPr wrap="square" rtlCol="0">
            <a:spAutoFit/>
          </a:bodyPr>
          <a:lstStyle/>
          <a:p>
            <a:r>
              <a:rPr lang="en-US"/>
              <a:t>Table2</a:t>
            </a:r>
            <a:endParaRPr lang="en-US" dirty="0"/>
          </a:p>
        </p:txBody>
      </p:sp>
    </p:spTree>
    <p:extLst>
      <p:ext uri="{BB962C8B-B14F-4D97-AF65-F5344CB8AC3E}">
        <p14:creationId xmlns:p14="http://schemas.microsoft.com/office/powerpoint/2010/main" val="388106834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B7D26-2B60-4687-9FB4-9CB2C0B79DFE}"/>
              </a:ext>
            </a:extLst>
          </p:cNvPr>
          <p:cNvSpPr>
            <a:spLocks noGrp="1"/>
          </p:cNvSpPr>
          <p:nvPr>
            <p:ph type="title"/>
          </p:nvPr>
        </p:nvSpPr>
        <p:spPr>
          <a:xfrm>
            <a:off x="677334" y="299208"/>
            <a:ext cx="8596668" cy="682305"/>
          </a:xfrm>
        </p:spPr>
        <p:txBody>
          <a:bodyPr/>
          <a:lstStyle/>
          <a:p>
            <a:r>
              <a:rPr lang="en-US"/>
              <a:t>1. PHÉP NỐI TRONG (INNER JOIN)</a:t>
            </a:r>
          </a:p>
        </p:txBody>
      </p:sp>
      <p:sp>
        <p:nvSpPr>
          <p:cNvPr id="3" name="Content Placeholder 2">
            <a:extLst>
              <a:ext uri="{FF2B5EF4-FFF2-40B4-BE49-F238E27FC236}">
                <a16:creationId xmlns:a16="http://schemas.microsoft.com/office/drawing/2014/main" id="{9B1CA7E3-FA29-40A6-B6B4-EE1E479457FD}"/>
              </a:ext>
            </a:extLst>
          </p:cNvPr>
          <p:cNvSpPr>
            <a:spLocks noGrp="1"/>
          </p:cNvSpPr>
          <p:nvPr>
            <p:ph idx="1"/>
          </p:nvPr>
        </p:nvSpPr>
        <p:spPr>
          <a:xfrm>
            <a:off x="677334" y="1057013"/>
            <a:ext cx="8596668" cy="4984349"/>
          </a:xfrm>
        </p:spPr>
        <p:txBody>
          <a:bodyPr/>
          <a:lstStyle/>
          <a:p>
            <a:r>
              <a:rPr lang="vi-VN"/>
              <a:t>INNER JOIN hay còn gọi là phép nối trong, là một phần tùy chọn của câu lệnh SELECT. </a:t>
            </a:r>
            <a:endParaRPr lang="en-US"/>
          </a:p>
          <a:p>
            <a:r>
              <a:rPr lang="vi-VN"/>
              <a:t>Nó xuất hiện liền ngay sau mệnh đề FROM. </a:t>
            </a:r>
            <a:endParaRPr lang="en-US"/>
          </a:p>
          <a:p>
            <a:r>
              <a:rPr lang="vi-VN"/>
              <a:t>Trước khi sử dụng INNER JOIN, phải xác định rõ các tiêu chí sau đây:</a:t>
            </a:r>
            <a:endParaRPr lang="en-US"/>
          </a:p>
          <a:p>
            <a:pPr lvl="1"/>
            <a:r>
              <a:rPr lang="vi-VN"/>
              <a:t>Trước tiên, cần phải xác định các bảng mà muốn liên kết với bảng chính. Bảng chính xuất hiện trong mệnh đề FROM</a:t>
            </a:r>
            <a:endParaRPr lang="en-US"/>
          </a:p>
          <a:p>
            <a:pPr lvl="1"/>
            <a:r>
              <a:rPr lang="en-US"/>
              <a:t>Thứ hai, cần phải xác định điều kiện nối. Điều kiện nối xuất hiện sau từ khóa ON</a:t>
            </a:r>
          </a:p>
          <a:p>
            <a:pPr lvl="1"/>
            <a:endParaRPr lang="en-US"/>
          </a:p>
          <a:p>
            <a:pPr marL="457200" lvl="1" indent="0">
              <a:buNone/>
            </a:pPr>
            <a:r>
              <a:rPr lang="en-US"/>
              <a:t>	SELECT column_list FROM table1 </a:t>
            </a:r>
          </a:p>
          <a:p>
            <a:pPr marL="457200" lvl="1" indent="0">
              <a:buNone/>
            </a:pPr>
            <a:r>
              <a:rPr lang="en-US"/>
              <a:t>	INNER JOIN table2 ON join_condition1 </a:t>
            </a:r>
          </a:p>
          <a:p>
            <a:pPr marL="457200" lvl="1" indent="0">
              <a:buNone/>
            </a:pPr>
            <a:r>
              <a:rPr lang="en-US"/>
              <a:t>	INNER JOIN table3 ON join_condition2 </a:t>
            </a:r>
          </a:p>
          <a:p>
            <a:pPr marL="457200" lvl="1" indent="0">
              <a:buNone/>
            </a:pPr>
            <a:r>
              <a:rPr lang="en-US"/>
              <a:t>	... </a:t>
            </a:r>
          </a:p>
          <a:p>
            <a:pPr marL="457200" lvl="1" indent="0">
              <a:buNone/>
            </a:pPr>
            <a:r>
              <a:rPr lang="en-US"/>
              <a:t>	WHERE WHERE_conditions; </a:t>
            </a:r>
          </a:p>
          <a:p>
            <a:pPr lvl="1"/>
            <a:endParaRPr lang="en-US"/>
          </a:p>
        </p:txBody>
      </p:sp>
    </p:spTree>
    <p:extLst>
      <p:ext uri="{BB962C8B-B14F-4D97-AF65-F5344CB8AC3E}">
        <p14:creationId xmlns:p14="http://schemas.microsoft.com/office/powerpoint/2010/main" val="287055040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AD6DB-2501-4084-966A-E88C57893701}"/>
              </a:ext>
            </a:extLst>
          </p:cNvPr>
          <p:cNvSpPr>
            <a:spLocks noGrp="1"/>
          </p:cNvSpPr>
          <p:nvPr>
            <p:ph type="title"/>
          </p:nvPr>
        </p:nvSpPr>
        <p:spPr>
          <a:xfrm>
            <a:off x="736057" y="257263"/>
            <a:ext cx="8181440" cy="690694"/>
          </a:xfrm>
        </p:spPr>
        <p:txBody>
          <a:bodyPr/>
          <a:lstStyle/>
          <a:p>
            <a:r>
              <a:rPr lang="en-US"/>
              <a:t>Ví dụ:</a:t>
            </a:r>
          </a:p>
        </p:txBody>
      </p:sp>
      <p:sp>
        <p:nvSpPr>
          <p:cNvPr id="3" name="Content Placeholder 2">
            <a:extLst>
              <a:ext uri="{FF2B5EF4-FFF2-40B4-BE49-F238E27FC236}">
                <a16:creationId xmlns:a16="http://schemas.microsoft.com/office/drawing/2014/main" id="{77D073FF-DDB0-4ABA-81F4-84489F213B3A}"/>
              </a:ext>
            </a:extLst>
          </p:cNvPr>
          <p:cNvSpPr>
            <a:spLocks noGrp="1"/>
          </p:cNvSpPr>
          <p:nvPr>
            <p:ph idx="1"/>
          </p:nvPr>
        </p:nvSpPr>
        <p:spPr>
          <a:xfrm>
            <a:off x="677333" y="1124125"/>
            <a:ext cx="10471635" cy="5476612"/>
          </a:xfrm>
        </p:spPr>
        <p:txBody>
          <a:bodyPr/>
          <a:lstStyle/>
          <a:p>
            <a:r>
              <a:rPr lang="en-US">
                <a:solidFill>
                  <a:srgbClr val="FF0000"/>
                </a:solidFill>
              </a:rPr>
              <a:t>SELECT</a:t>
            </a:r>
            <a:r>
              <a:rPr lang="en-US"/>
              <a:t> p.productCode, p.productName, o.orderNumber </a:t>
            </a:r>
          </a:p>
          <a:p>
            <a:pPr marL="0" indent="0">
              <a:buNone/>
            </a:pPr>
            <a:r>
              <a:rPr lang="en-US">
                <a:solidFill>
                  <a:srgbClr val="FF0000"/>
                </a:solidFill>
              </a:rPr>
              <a:t>     FROM</a:t>
            </a:r>
            <a:r>
              <a:rPr lang="en-US"/>
              <a:t> products </a:t>
            </a:r>
            <a:r>
              <a:rPr lang="en-US">
                <a:solidFill>
                  <a:srgbClr val="00B0F0"/>
                </a:solidFill>
              </a:rPr>
              <a:t>p</a:t>
            </a:r>
            <a:r>
              <a:rPr lang="en-US"/>
              <a:t> </a:t>
            </a:r>
          </a:p>
          <a:p>
            <a:pPr marL="0" indent="0">
              <a:buNone/>
            </a:pPr>
            <a:r>
              <a:rPr lang="en-US">
                <a:solidFill>
                  <a:srgbClr val="FF0000"/>
                </a:solidFill>
              </a:rPr>
              <a:t>     INNER</a:t>
            </a:r>
            <a:r>
              <a:rPr lang="en-US"/>
              <a:t> </a:t>
            </a:r>
            <a:r>
              <a:rPr lang="en-US">
                <a:solidFill>
                  <a:srgbClr val="FF0000"/>
                </a:solidFill>
              </a:rPr>
              <a:t>JOIN</a:t>
            </a:r>
            <a:r>
              <a:rPr lang="en-US"/>
              <a:t> orderDetails </a:t>
            </a:r>
            <a:r>
              <a:rPr lang="en-US">
                <a:solidFill>
                  <a:srgbClr val="00B0F0"/>
                </a:solidFill>
              </a:rPr>
              <a:t>o</a:t>
            </a:r>
            <a:r>
              <a:rPr lang="en-US"/>
              <a:t> </a:t>
            </a:r>
            <a:r>
              <a:rPr lang="en-US">
                <a:solidFill>
                  <a:srgbClr val="FF0000"/>
                </a:solidFill>
              </a:rPr>
              <a:t> ON</a:t>
            </a:r>
            <a:r>
              <a:rPr lang="en-US"/>
              <a:t> p.productCode = o.productCode;</a:t>
            </a:r>
          </a:p>
          <a:p>
            <a:endParaRPr lang="en-US"/>
          </a:p>
          <a:p>
            <a:r>
              <a:rPr lang="en-US">
                <a:solidFill>
                  <a:srgbClr val="00B0F0"/>
                </a:solidFill>
              </a:rPr>
              <a:t>p</a:t>
            </a:r>
            <a:r>
              <a:rPr lang="en-US"/>
              <a:t> và </a:t>
            </a:r>
            <a:r>
              <a:rPr lang="en-US">
                <a:solidFill>
                  <a:srgbClr val="00B0F0"/>
                </a:solidFill>
              </a:rPr>
              <a:t>o</a:t>
            </a:r>
            <a:r>
              <a:rPr lang="en-US"/>
              <a:t> là alias (bí danh) của hai bảng Products và  orderDetails.</a:t>
            </a:r>
          </a:p>
          <a:p>
            <a:endParaRPr lang="en-US"/>
          </a:p>
          <a:p>
            <a:r>
              <a:rPr lang="en-US"/>
              <a:t>Nối đ</a:t>
            </a:r>
            <a:r>
              <a:rPr lang="vi-VN"/>
              <a:t>ơ</a:t>
            </a:r>
            <a:r>
              <a:rPr lang="en-US"/>
              <a:t>n giản không có điều kiện phức tạp đi kèm, ta có thể thay thế INNER JOIN bằng WHERE</a:t>
            </a:r>
          </a:p>
          <a:p>
            <a:endParaRPr lang="en-US"/>
          </a:p>
          <a:p>
            <a:r>
              <a:rPr lang="en-US">
                <a:solidFill>
                  <a:srgbClr val="FF0000"/>
                </a:solidFill>
              </a:rPr>
              <a:t>SELECT</a:t>
            </a:r>
            <a:r>
              <a:rPr lang="en-US"/>
              <a:t> p.productCode, p.productName, o.orderNumber </a:t>
            </a:r>
            <a:r>
              <a:rPr lang="en-US">
                <a:solidFill>
                  <a:srgbClr val="FF0000"/>
                </a:solidFill>
              </a:rPr>
              <a:t>FROM</a:t>
            </a:r>
            <a:r>
              <a:rPr lang="en-US"/>
              <a:t> products </a:t>
            </a:r>
            <a:r>
              <a:rPr lang="en-US">
                <a:solidFill>
                  <a:srgbClr val="00B0F0"/>
                </a:solidFill>
              </a:rPr>
              <a:t>p</a:t>
            </a:r>
            <a:r>
              <a:rPr lang="en-US"/>
              <a:t>, orderDetails </a:t>
            </a:r>
            <a:r>
              <a:rPr lang="en-US">
                <a:solidFill>
                  <a:srgbClr val="00B0F0"/>
                </a:solidFill>
              </a:rPr>
              <a:t>o</a:t>
            </a:r>
            <a:r>
              <a:rPr lang="en-US"/>
              <a:t> </a:t>
            </a:r>
            <a:r>
              <a:rPr lang="en-US">
                <a:solidFill>
                  <a:srgbClr val="FF0000"/>
                </a:solidFill>
              </a:rPr>
              <a:t>WHERE</a:t>
            </a:r>
            <a:r>
              <a:rPr lang="en-US"/>
              <a:t> p.productCode = o.productCode;</a:t>
            </a:r>
          </a:p>
        </p:txBody>
      </p:sp>
    </p:spTree>
    <p:extLst>
      <p:ext uri="{BB962C8B-B14F-4D97-AF65-F5344CB8AC3E}">
        <p14:creationId xmlns:p14="http://schemas.microsoft.com/office/powerpoint/2010/main" val="97404654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8B0E1-7D52-4D26-96B2-B9BB1102AAEC}"/>
              </a:ext>
            </a:extLst>
          </p:cNvPr>
          <p:cNvSpPr>
            <a:spLocks noGrp="1"/>
          </p:cNvSpPr>
          <p:nvPr>
            <p:ph type="title"/>
          </p:nvPr>
        </p:nvSpPr>
        <p:spPr>
          <a:xfrm>
            <a:off x="677334" y="609600"/>
            <a:ext cx="8596668" cy="1026253"/>
          </a:xfrm>
        </p:spPr>
        <p:txBody>
          <a:bodyPr>
            <a:normAutofit fontScale="90000"/>
          </a:bodyPr>
          <a:lstStyle/>
          <a:p>
            <a:r>
              <a:rPr lang="vi-VN"/>
              <a:t>Ví dụ: Đưa ra tên các khách hàng và tổng giá trị các đơn hàng của các khách hàng đó.</a:t>
            </a:r>
            <a:endParaRPr lang="en-US"/>
          </a:p>
        </p:txBody>
      </p:sp>
      <p:sp>
        <p:nvSpPr>
          <p:cNvPr id="3" name="Content Placeholder 2">
            <a:extLst>
              <a:ext uri="{FF2B5EF4-FFF2-40B4-BE49-F238E27FC236}">
                <a16:creationId xmlns:a16="http://schemas.microsoft.com/office/drawing/2014/main" id="{8B18AFC2-91EE-413D-88C6-0FF11FAAEA1D}"/>
              </a:ext>
            </a:extLst>
          </p:cNvPr>
          <p:cNvSpPr>
            <a:spLocks noGrp="1"/>
          </p:cNvSpPr>
          <p:nvPr>
            <p:ph idx="1"/>
          </p:nvPr>
        </p:nvSpPr>
        <p:spPr>
          <a:xfrm>
            <a:off x="677334" y="2004969"/>
            <a:ext cx="8596668" cy="4036393"/>
          </a:xfrm>
        </p:spPr>
        <p:txBody>
          <a:bodyPr/>
          <a:lstStyle/>
          <a:p>
            <a:r>
              <a:rPr lang="en-US">
                <a:solidFill>
                  <a:srgbClr val="FF0000"/>
                </a:solidFill>
              </a:rPr>
              <a:t>SELECT</a:t>
            </a:r>
            <a:r>
              <a:rPr lang="en-US"/>
              <a:t> C.customerName, sum(OD.priceEach*OD.quantityOrdered) </a:t>
            </a:r>
            <a:r>
              <a:rPr lang="en-US">
                <a:solidFill>
                  <a:srgbClr val="FF0000"/>
                </a:solidFill>
              </a:rPr>
              <a:t>as</a:t>
            </a:r>
            <a:r>
              <a:rPr lang="en-US"/>
              <a:t> total </a:t>
            </a:r>
            <a:r>
              <a:rPr lang="en-US">
                <a:solidFill>
                  <a:srgbClr val="FF0000"/>
                </a:solidFill>
              </a:rPr>
              <a:t>FROM</a:t>
            </a:r>
            <a:r>
              <a:rPr lang="en-US"/>
              <a:t> customers </a:t>
            </a:r>
            <a:r>
              <a:rPr lang="en-US">
                <a:solidFill>
                  <a:srgbClr val="00B050"/>
                </a:solidFill>
              </a:rPr>
              <a:t>C</a:t>
            </a:r>
            <a:r>
              <a:rPr lang="en-US"/>
              <a:t> </a:t>
            </a:r>
          </a:p>
          <a:p>
            <a:pPr marL="0" indent="0">
              <a:buNone/>
            </a:pPr>
            <a:r>
              <a:rPr lang="en-US"/>
              <a:t>     </a:t>
            </a:r>
            <a:r>
              <a:rPr lang="en-US">
                <a:solidFill>
                  <a:srgbClr val="FF0000"/>
                </a:solidFill>
              </a:rPr>
              <a:t>INNER JOIN </a:t>
            </a:r>
            <a:r>
              <a:rPr lang="en-US"/>
              <a:t>orders </a:t>
            </a:r>
            <a:r>
              <a:rPr lang="en-US">
                <a:solidFill>
                  <a:srgbClr val="00B050"/>
                </a:solidFill>
              </a:rPr>
              <a:t>O</a:t>
            </a:r>
            <a:r>
              <a:rPr lang="en-US"/>
              <a:t> </a:t>
            </a:r>
            <a:r>
              <a:rPr lang="en-US">
                <a:solidFill>
                  <a:srgbClr val="FF0000"/>
                </a:solidFill>
              </a:rPr>
              <a:t>on</a:t>
            </a:r>
            <a:r>
              <a:rPr lang="en-US"/>
              <a:t> C.customerNumber = O.customerNumber </a:t>
            </a:r>
          </a:p>
          <a:p>
            <a:pPr marL="0" indent="0">
              <a:buNone/>
            </a:pPr>
            <a:r>
              <a:rPr lang="en-US"/>
              <a:t>     </a:t>
            </a:r>
            <a:r>
              <a:rPr lang="en-US">
                <a:solidFill>
                  <a:srgbClr val="FF0000"/>
                </a:solidFill>
              </a:rPr>
              <a:t>INNER JOIN </a:t>
            </a:r>
            <a:r>
              <a:rPr lang="en-US"/>
              <a:t>orderdetails </a:t>
            </a:r>
            <a:r>
              <a:rPr lang="en-US">
                <a:solidFill>
                  <a:srgbClr val="00B050"/>
                </a:solidFill>
              </a:rPr>
              <a:t>OD</a:t>
            </a:r>
            <a:r>
              <a:rPr lang="en-US"/>
              <a:t> </a:t>
            </a:r>
            <a:r>
              <a:rPr lang="en-US">
                <a:solidFill>
                  <a:srgbClr val="FF0000"/>
                </a:solidFill>
              </a:rPr>
              <a:t>on</a:t>
            </a:r>
            <a:r>
              <a:rPr lang="en-US"/>
              <a:t> O.orderNumber = OD.orderNumber </a:t>
            </a:r>
          </a:p>
          <a:p>
            <a:pPr marL="0" indent="0">
              <a:buNone/>
            </a:pPr>
            <a:r>
              <a:rPr lang="en-US"/>
              <a:t>     </a:t>
            </a:r>
            <a:r>
              <a:rPr lang="en-US">
                <a:solidFill>
                  <a:srgbClr val="FF0000"/>
                </a:solidFill>
              </a:rPr>
              <a:t>GROUP BY    </a:t>
            </a:r>
            <a:r>
              <a:rPr lang="en-US"/>
              <a:t>C.customerName</a:t>
            </a:r>
          </a:p>
        </p:txBody>
      </p:sp>
    </p:spTree>
    <p:extLst>
      <p:ext uri="{BB962C8B-B14F-4D97-AF65-F5344CB8AC3E}">
        <p14:creationId xmlns:p14="http://schemas.microsoft.com/office/powerpoint/2010/main" val="332110214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DA5C2-A91F-4DF5-8E70-068E0452A695}"/>
              </a:ext>
            </a:extLst>
          </p:cNvPr>
          <p:cNvSpPr>
            <a:spLocks noGrp="1"/>
          </p:cNvSpPr>
          <p:nvPr>
            <p:ph type="title"/>
          </p:nvPr>
        </p:nvSpPr>
        <p:spPr/>
        <p:txBody>
          <a:bodyPr/>
          <a:lstStyle/>
          <a:p>
            <a:r>
              <a:rPr lang="en-US"/>
              <a:t>2. Phép nối trái Left join</a:t>
            </a:r>
          </a:p>
        </p:txBody>
      </p:sp>
      <p:sp>
        <p:nvSpPr>
          <p:cNvPr id="3" name="Content Placeholder 2">
            <a:extLst>
              <a:ext uri="{FF2B5EF4-FFF2-40B4-BE49-F238E27FC236}">
                <a16:creationId xmlns:a16="http://schemas.microsoft.com/office/drawing/2014/main" id="{AC8B260D-7845-4159-96F8-DD612D1603BC}"/>
              </a:ext>
            </a:extLst>
          </p:cNvPr>
          <p:cNvSpPr>
            <a:spLocks noGrp="1"/>
          </p:cNvSpPr>
          <p:nvPr>
            <p:ph idx="1"/>
          </p:nvPr>
        </p:nvSpPr>
        <p:spPr>
          <a:xfrm>
            <a:off x="677334" y="1644243"/>
            <a:ext cx="8596668" cy="4397120"/>
          </a:xfrm>
        </p:spPr>
        <p:txBody>
          <a:bodyPr/>
          <a:lstStyle/>
          <a:p>
            <a:r>
              <a:rPr lang="en-US"/>
              <a:t>LEFT JOIN cũng là một tùy chọn của câu lệnh SELECT cho phép lấy thêm dữ liệu từ các bảng khác. LEFT JOIN bao gồm các từ khóa LEFT JOIN, tiếp theo là bảng thứ hai muốn thực hiện nối. Yếu tố tiếp theo là từ khóa ON và theo sau bởi các điều kiện nối.</a:t>
            </a:r>
          </a:p>
          <a:p>
            <a:endParaRPr lang="en-US"/>
          </a:p>
          <a:p>
            <a:r>
              <a:rPr lang="en-US"/>
              <a:t>LEFT JOIN cho phép chọn tất cả các hàng từ bảng bên trái ngay cả khi không có bản ghi nào phù hợp với nó trong bảng bên phải</a:t>
            </a:r>
          </a:p>
          <a:p>
            <a:endParaRPr lang="en-US"/>
          </a:p>
        </p:txBody>
      </p:sp>
    </p:spTree>
    <p:extLst>
      <p:ext uri="{BB962C8B-B14F-4D97-AF65-F5344CB8AC3E}">
        <p14:creationId xmlns:p14="http://schemas.microsoft.com/office/powerpoint/2010/main" val="419731025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AA854-B4C2-4516-932F-7727E0242B79}"/>
              </a:ext>
            </a:extLst>
          </p:cNvPr>
          <p:cNvSpPr>
            <a:spLocks noGrp="1"/>
          </p:cNvSpPr>
          <p:nvPr>
            <p:ph type="title"/>
          </p:nvPr>
        </p:nvSpPr>
        <p:spPr/>
        <p:txBody>
          <a:bodyPr/>
          <a:lstStyle/>
          <a:p>
            <a:r>
              <a:rPr lang="en-US"/>
              <a:t>Ví dụ</a:t>
            </a:r>
          </a:p>
        </p:txBody>
      </p:sp>
      <p:sp>
        <p:nvSpPr>
          <p:cNvPr id="3" name="Content Placeholder 2">
            <a:extLst>
              <a:ext uri="{FF2B5EF4-FFF2-40B4-BE49-F238E27FC236}">
                <a16:creationId xmlns:a16="http://schemas.microsoft.com/office/drawing/2014/main" id="{B43A2A00-762D-4639-8300-05FC0E768C67}"/>
              </a:ext>
            </a:extLst>
          </p:cNvPr>
          <p:cNvSpPr>
            <a:spLocks noGrp="1"/>
          </p:cNvSpPr>
          <p:nvPr>
            <p:ph idx="1"/>
          </p:nvPr>
        </p:nvSpPr>
        <p:spPr>
          <a:xfrm>
            <a:off x="677334" y="1535959"/>
            <a:ext cx="9389455" cy="4156321"/>
          </a:xfrm>
        </p:spPr>
        <p:txBody>
          <a:bodyPr/>
          <a:lstStyle/>
          <a:p>
            <a:r>
              <a:rPr lang="en-US">
                <a:solidFill>
                  <a:srgbClr val="FF0000"/>
                </a:solidFill>
              </a:rPr>
              <a:t>SELECT</a:t>
            </a:r>
            <a:r>
              <a:rPr lang="en-US"/>
              <a:t> c.customerNumber, customerName,orderNUmber, o.status </a:t>
            </a:r>
          </a:p>
          <a:p>
            <a:pPr marL="0" indent="0">
              <a:buNone/>
            </a:pPr>
            <a:r>
              <a:rPr lang="en-US"/>
              <a:t>     </a:t>
            </a:r>
            <a:r>
              <a:rPr lang="en-US">
                <a:solidFill>
                  <a:srgbClr val="FF0000"/>
                </a:solidFill>
              </a:rPr>
              <a:t>FROM</a:t>
            </a:r>
            <a:r>
              <a:rPr lang="en-US"/>
              <a:t> customers </a:t>
            </a:r>
            <a:r>
              <a:rPr lang="en-US">
                <a:solidFill>
                  <a:srgbClr val="00B050"/>
                </a:solidFill>
              </a:rPr>
              <a:t>c</a:t>
            </a:r>
            <a:r>
              <a:rPr lang="en-US"/>
              <a:t> </a:t>
            </a:r>
          </a:p>
          <a:p>
            <a:pPr marL="0" indent="0">
              <a:buNone/>
            </a:pPr>
            <a:r>
              <a:rPr lang="en-US"/>
              <a:t>     </a:t>
            </a:r>
            <a:r>
              <a:rPr lang="en-US">
                <a:solidFill>
                  <a:srgbClr val="FF0000"/>
                </a:solidFill>
              </a:rPr>
              <a:t>LEFT</a:t>
            </a:r>
            <a:r>
              <a:rPr lang="en-US"/>
              <a:t> </a:t>
            </a:r>
            <a:r>
              <a:rPr lang="en-US">
                <a:solidFill>
                  <a:srgbClr val="FF0000"/>
                </a:solidFill>
              </a:rPr>
              <a:t>JOIN</a:t>
            </a:r>
            <a:r>
              <a:rPr lang="en-US"/>
              <a:t> orders </a:t>
            </a:r>
            <a:r>
              <a:rPr lang="en-US">
                <a:solidFill>
                  <a:srgbClr val="00B050"/>
                </a:solidFill>
              </a:rPr>
              <a:t>o</a:t>
            </a:r>
            <a:r>
              <a:rPr lang="en-US"/>
              <a:t> </a:t>
            </a:r>
            <a:r>
              <a:rPr lang="en-US">
                <a:solidFill>
                  <a:srgbClr val="FF0000"/>
                </a:solidFill>
              </a:rPr>
              <a:t>ON</a:t>
            </a:r>
            <a:r>
              <a:rPr lang="en-US"/>
              <a:t> c.customerNumber = o.customerNumber; </a:t>
            </a:r>
          </a:p>
        </p:txBody>
      </p:sp>
      <p:pic>
        <p:nvPicPr>
          <p:cNvPr id="4" name="Picture 3">
            <a:extLst>
              <a:ext uri="{FF2B5EF4-FFF2-40B4-BE49-F238E27FC236}">
                <a16:creationId xmlns:a16="http://schemas.microsoft.com/office/drawing/2014/main" id="{7F7B097A-215B-4FF2-93FB-6595015F0F70}"/>
              </a:ext>
            </a:extLst>
          </p:cNvPr>
          <p:cNvPicPr>
            <a:picLocks noChangeAspect="1"/>
          </p:cNvPicPr>
          <p:nvPr/>
        </p:nvPicPr>
        <p:blipFill>
          <a:blip r:embed="rId2"/>
          <a:stretch>
            <a:fillRect/>
          </a:stretch>
        </p:blipFill>
        <p:spPr>
          <a:xfrm>
            <a:off x="2340528" y="2986480"/>
            <a:ext cx="5301667" cy="3410429"/>
          </a:xfrm>
          <a:prstGeom prst="rect">
            <a:avLst/>
          </a:prstGeom>
        </p:spPr>
      </p:pic>
      <p:sp>
        <p:nvSpPr>
          <p:cNvPr id="5" name="Rectangle 4">
            <a:extLst>
              <a:ext uri="{FF2B5EF4-FFF2-40B4-BE49-F238E27FC236}">
                <a16:creationId xmlns:a16="http://schemas.microsoft.com/office/drawing/2014/main" id="{04B0C0EE-5A8A-482B-A916-B52F88BD63D2}"/>
              </a:ext>
            </a:extLst>
          </p:cNvPr>
          <p:cNvSpPr/>
          <p:nvPr/>
        </p:nvSpPr>
        <p:spPr>
          <a:xfrm>
            <a:off x="5629013" y="4899170"/>
            <a:ext cx="2365695" cy="35233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732317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5408F-388C-4416-A401-F08CD88297D1}"/>
              </a:ext>
            </a:extLst>
          </p:cNvPr>
          <p:cNvSpPr>
            <a:spLocks noGrp="1"/>
          </p:cNvSpPr>
          <p:nvPr>
            <p:ph type="title"/>
          </p:nvPr>
        </p:nvSpPr>
        <p:spPr/>
        <p:txBody>
          <a:bodyPr/>
          <a:lstStyle/>
          <a:p>
            <a:r>
              <a:rPr lang="en-US"/>
              <a:t>3. Phép nối phải – Right join</a:t>
            </a:r>
          </a:p>
        </p:txBody>
      </p:sp>
      <p:sp>
        <p:nvSpPr>
          <p:cNvPr id="3" name="Content Placeholder 2">
            <a:extLst>
              <a:ext uri="{FF2B5EF4-FFF2-40B4-BE49-F238E27FC236}">
                <a16:creationId xmlns:a16="http://schemas.microsoft.com/office/drawing/2014/main" id="{EE09A638-2530-4638-BF75-36A7A3CC0A5D}"/>
              </a:ext>
            </a:extLst>
          </p:cNvPr>
          <p:cNvSpPr>
            <a:spLocks noGrp="1"/>
          </p:cNvSpPr>
          <p:nvPr>
            <p:ph idx="1"/>
          </p:nvPr>
        </p:nvSpPr>
        <p:spPr/>
        <p:txBody>
          <a:bodyPr/>
          <a:lstStyle/>
          <a:p>
            <a:r>
              <a:rPr lang="en-US"/>
              <a:t>Right JOIN cũng là một tùy chọn của câu lệnh SELECT cho phép lấy thêm dữ liệu từ các bảng khác. Right JOIN bao gồm các từ khóa Right JOIN, tiếp theo là bảng thứ hai muốn thực hiện nối. Yếu tố tiếp theo là từ khóa ON và theo sau bởi các điều kiện nối.</a:t>
            </a:r>
          </a:p>
          <a:p>
            <a:endParaRPr lang="en-US"/>
          </a:p>
          <a:p>
            <a:r>
              <a:rPr lang="en-US"/>
              <a:t>Right JOIN cho phép chọn tất cả các hàng từ bảng bên phải ngay cả khi không có bản ghi nào phù hợp với nó trong bảng bên trái</a:t>
            </a:r>
          </a:p>
          <a:p>
            <a:endParaRPr lang="en-US"/>
          </a:p>
          <a:p>
            <a:endParaRPr lang="en-US"/>
          </a:p>
        </p:txBody>
      </p:sp>
    </p:spTree>
    <p:extLst>
      <p:ext uri="{BB962C8B-B14F-4D97-AF65-F5344CB8AC3E}">
        <p14:creationId xmlns:p14="http://schemas.microsoft.com/office/powerpoint/2010/main" val="13207130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48D85-1364-4F99-9E5F-AFAE79C10E9E}"/>
              </a:ext>
            </a:extLst>
          </p:cNvPr>
          <p:cNvSpPr>
            <a:spLocks noGrp="1"/>
          </p:cNvSpPr>
          <p:nvPr>
            <p:ph type="title"/>
          </p:nvPr>
        </p:nvSpPr>
        <p:spPr/>
        <p:txBody>
          <a:bodyPr/>
          <a:lstStyle/>
          <a:p>
            <a:r>
              <a:rPr lang="en-US"/>
              <a:t>Ví dụ:</a:t>
            </a:r>
          </a:p>
        </p:txBody>
      </p:sp>
      <p:sp>
        <p:nvSpPr>
          <p:cNvPr id="3" name="Content Placeholder 2">
            <a:extLst>
              <a:ext uri="{FF2B5EF4-FFF2-40B4-BE49-F238E27FC236}">
                <a16:creationId xmlns:a16="http://schemas.microsoft.com/office/drawing/2014/main" id="{D24D62CD-F87D-4385-A7D6-AC1C0040C0EE}"/>
              </a:ext>
            </a:extLst>
          </p:cNvPr>
          <p:cNvSpPr>
            <a:spLocks noGrp="1"/>
          </p:cNvSpPr>
          <p:nvPr>
            <p:ph idx="1"/>
          </p:nvPr>
        </p:nvSpPr>
        <p:spPr>
          <a:xfrm>
            <a:off x="677334" y="1778467"/>
            <a:ext cx="8596668" cy="4262896"/>
          </a:xfrm>
        </p:spPr>
        <p:txBody>
          <a:bodyPr/>
          <a:lstStyle/>
          <a:p>
            <a:r>
              <a:rPr lang="en-US">
                <a:solidFill>
                  <a:srgbClr val="FF0000"/>
                </a:solidFill>
              </a:rPr>
              <a:t>SELECT</a:t>
            </a:r>
            <a:r>
              <a:rPr lang="en-US"/>
              <a:t> c.customerNumber, customerName,orderNUmber, o.status </a:t>
            </a:r>
          </a:p>
          <a:p>
            <a:pPr marL="0" indent="0">
              <a:buNone/>
            </a:pPr>
            <a:r>
              <a:rPr lang="en-US"/>
              <a:t>     </a:t>
            </a:r>
            <a:r>
              <a:rPr lang="en-US">
                <a:solidFill>
                  <a:srgbClr val="FF0000"/>
                </a:solidFill>
              </a:rPr>
              <a:t>FROM</a:t>
            </a:r>
            <a:r>
              <a:rPr lang="en-US"/>
              <a:t> customers </a:t>
            </a:r>
            <a:r>
              <a:rPr lang="en-US">
                <a:solidFill>
                  <a:srgbClr val="00B050"/>
                </a:solidFill>
              </a:rPr>
              <a:t>c</a:t>
            </a:r>
            <a:r>
              <a:rPr lang="en-US"/>
              <a:t> </a:t>
            </a:r>
          </a:p>
          <a:p>
            <a:pPr marL="0" indent="0">
              <a:buNone/>
            </a:pPr>
            <a:r>
              <a:rPr lang="en-US"/>
              <a:t>     </a:t>
            </a:r>
            <a:r>
              <a:rPr lang="en-US">
                <a:solidFill>
                  <a:srgbClr val="FF0000"/>
                </a:solidFill>
              </a:rPr>
              <a:t>RIGHT</a:t>
            </a:r>
            <a:r>
              <a:rPr lang="en-US"/>
              <a:t> </a:t>
            </a:r>
            <a:r>
              <a:rPr lang="en-US">
                <a:solidFill>
                  <a:srgbClr val="FF0000"/>
                </a:solidFill>
              </a:rPr>
              <a:t>JOIN</a:t>
            </a:r>
            <a:r>
              <a:rPr lang="en-US"/>
              <a:t> orders </a:t>
            </a:r>
            <a:r>
              <a:rPr lang="en-US">
                <a:solidFill>
                  <a:srgbClr val="00B050"/>
                </a:solidFill>
              </a:rPr>
              <a:t>o</a:t>
            </a:r>
            <a:r>
              <a:rPr lang="en-US"/>
              <a:t> </a:t>
            </a:r>
            <a:r>
              <a:rPr lang="en-US">
                <a:solidFill>
                  <a:srgbClr val="FF0000"/>
                </a:solidFill>
              </a:rPr>
              <a:t>ON</a:t>
            </a:r>
            <a:r>
              <a:rPr lang="en-US"/>
              <a:t> c.customerNumber = o.customerNumber; </a:t>
            </a:r>
          </a:p>
          <a:p>
            <a:pPr marL="0" indent="0">
              <a:buNone/>
            </a:pPr>
            <a:endParaRPr lang="en-US"/>
          </a:p>
          <a:p>
            <a:pPr marL="0" indent="0">
              <a:buNone/>
            </a:pPr>
            <a:r>
              <a:rPr lang="en-US"/>
              <a:t>Kiểm tra kết quả; với lệnh LEFT JOIN </a:t>
            </a:r>
          </a:p>
          <a:p>
            <a:pPr marL="0" indent="0">
              <a:buNone/>
            </a:pPr>
            <a:endParaRPr lang="en-US"/>
          </a:p>
          <a:p>
            <a:pPr marL="0" indent="0">
              <a:buNone/>
            </a:pPr>
            <a:endParaRPr lang="en-US"/>
          </a:p>
          <a:p>
            <a:pPr marL="0" indent="0">
              <a:buNone/>
            </a:pPr>
            <a:endParaRPr lang="en-US"/>
          </a:p>
          <a:p>
            <a:pPr marL="0" indent="0">
              <a:buNone/>
            </a:pPr>
            <a:endParaRPr lang="en-US"/>
          </a:p>
        </p:txBody>
      </p:sp>
    </p:spTree>
    <p:extLst>
      <p:ext uri="{BB962C8B-B14F-4D97-AF65-F5344CB8AC3E}">
        <p14:creationId xmlns:p14="http://schemas.microsoft.com/office/powerpoint/2010/main" val="69915921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917AC-7983-49AF-A18E-53C22F02DB85}"/>
              </a:ext>
            </a:extLst>
          </p:cNvPr>
          <p:cNvSpPr>
            <a:spLocks noGrp="1"/>
          </p:cNvSpPr>
          <p:nvPr>
            <p:ph type="title"/>
          </p:nvPr>
        </p:nvSpPr>
        <p:spPr/>
        <p:txBody>
          <a:bodyPr/>
          <a:lstStyle/>
          <a:p>
            <a:r>
              <a:rPr lang="en-US"/>
              <a:t>4. FULL JOIN</a:t>
            </a:r>
          </a:p>
        </p:txBody>
      </p:sp>
      <p:sp>
        <p:nvSpPr>
          <p:cNvPr id="3" name="Content Placeholder 2">
            <a:extLst>
              <a:ext uri="{FF2B5EF4-FFF2-40B4-BE49-F238E27FC236}">
                <a16:creationId xmlns:a16="http://schemas.microsoft.com/office/drawing/2014/main" id="{C52ABB8E-6152-4620-B952-99DA68D4D95D}"/>
              </a:ext>
            </a:extLst>
          </p:cNvPr>
          <p:cNvSpPr>
            <a:spLocks noGrp="1"/>
          </p:cNvSpPr>
          <p:nvPr>
            <p:ph idx="1"/>
          </p:nvPr>
        </p:nvSpPr>
        <p:spPr>
          <a:xfrm>
            <a:off x="677334" y="1468073"/>
            <a:ext cx="8596668" cy="4573289"/>
          </a:xfrm>
        </p:spPr>
        <p:txBody>
          <a:bodyPr/>
          <a:lstStyle/>
          <a:p>
            <a:r>
              <a:rPr lang="en-US"/>
              <a:t>Mysql không hỗ trợ Full JOIN</a:t>
            </a:r>
          </a:p>
          <a:p>
            <a:r>
              <a:rPr lang="en-US"/>
              <a:t>Tuy nhiên chúng ta có thể làm bằng cách Kết hợp giữa </a:t>
            </a:r>
            <a:r>
              <a:rPr lang="en-US">
                <a:solidFill>
                  <a:srgbClr val="FF0000"/>
                </a:solidFill>
              </a:rPr>
              <a:t>LEFT JOIN </a:t>
            </a:r>
            <a:r>
              <a:rPr lang="en-US"/>
              <a:t>+ </a:t>
            </a:r>
            <a:r>
              <a:rPr lang="en-US">
                <a:solidFill>
                  <a:srgbClr val="FF0000"/>
                </a:solidFill>
              </a:rPr>
              <a:t>RIGHT JOIN</a:t>
            </a:r>
          </a:p>
          <a:p>
            <a:r>
              <a:rPr lang="en-US"/>
              <a:t>Dùng toán tử </a:t>
            </a:r>
            <a:r>
              <a:rPr lang="en-US">
                <a:solidFill>
                  <a:srgbClr val="FF0000"/>
                </a:solidFill>
              </a:rPr>
              <a:t>UNION</a:t>
            </a:r>
          </a:p>
          <a:p>
            <a:endParaRPr lang="en-US"/>
          </a:p>
          <a:p>
            <a:endParaRPr lang="en-US"/>
          </a:p>
          <a:p>
            <a:endParaRPr lang="en-US"/>
          </a:p>
        </p:txBody>
      </p:sp>
      <p:sp>
        <p:nvSpPr>
          <p:cNvPr id="4" name="TextBox 3">
            <a:extLst>
              <a:ext uri="{FF2B5EF4-FFF2-40B4-BE49-F238E27FC236}">
                <a16:creationId xmlns:a16="http://schemas.microsoft.com/office/drawing/2014/main" id="{598C9D11-5E9D-429F-A837-2BECCFE2BFA2}"/>
              </a:ext>
            </a:extLst>
          </p:cNvPr>
          <p:cNvSpPr txBox="1"/>
          <p:nvPr/>
        </p:nvSpPr>
        <p:spPr>
          <a:xfrm>
            <a:off x="1593909" y="2896276"/>
            <a:ext cx="8036653" cy="2031325"/>
          </a:xfrm>
          <a:prstGeom prst="rect">
            <a:avLst/>
          </a:prstGeom>
          <a:noFill/>
        </p:spPr>
        <p:txBody>
          <a:bodyPr wrap="square" rtlCol="0">
            <a:spAutoFit/>
          </a:bodyPr>
          <a:lstStyle/>
          <a:p>
            <a:r>
              <a:rPr lang="en-US">
                <a:solidFill>
                  <a:srgbClr val="FF0000"/>
                </a:solidFill>
              </a:rPr>
              <a:t>SELECT</a:t>
            </a:r>
            <a:r>
              <a:rPr lang="en-US"/>
              <a:t> c.customerNumber, customerName,orderNUmber, o.status </a:t>
            </a:r>
          </a:p>
          <a:p>
            <a:r>
              <a:rPr lang="en-US"/>
              <a:t>     </a:t>
            </a:r>
            <a:r>
              <a:rPr lang="en-US">
                <a:solidFill>
                  <a:srgbClr val="FF0000"/>
                </a:solidFill>
              </a:rPr>
              <a:t>FROM</a:t>
            </a:r>
            <a:r>
              <a:rPr lang="en-US"/>
              <a:t> customers </a:t>
            </a:r>
            <a:r>
              <a:rPr lang="en-US">
                <a:solidFill>
                  <a:srgbClr val="00B050"/>
                </a:solidFill>
              </a:rPr>
              <a:t>c</a:t>
            </a:r>
            <a:r>
              <a:rPr lang="en-US"/>
              <a:t> </a:t>
            </a:r>
          </a:p>
          <a:p>
            <a:r>
              <a:rPr lang="en-US"/>
              <a:t>     </a:t>
            </a:r>
            <a:r>
              <a:rPr lang="en-US">
                <a:solidFill>
                  <a:srgbClr val="FF0000"/>
                </a:solidFill>
              </a:rPr>
              <a:t>Left JOIN</a:t>
            </a:r>
            <a:r>
              <a:rPr lang="en-US"/>
              <a:t> orders </a:t>
            </a:r>
            <a:r>
              <a:rPr lang="en-US">
                <a:solidFill>
                  <a:srgbClr val="00B050"/>
                </a:solidFill>
              </a:rPr>
              <a:t>o</a:t>
            </a:r>
            <a:r>
              <a:rPr lang="en-US"/>
              <a:t> </a:t>
            </a:r>
            <a:r>
              <a:rPr lang="en-US">
                <a:solidFill>
                  <a:srgbClr val="FF0000"/>
                </a:solidFill>
              </a:rPr>
              <a:t>ON</a:t>
            </a:r>
            <a:r>
              <a:rPr lang="en-US"/>
              <a:t> c.customerNumber = o.customerNumber </a:t>
            </a:r>
          </a:p>
          <a:p>
            <a:r>
              <a:rPr lang="en-US">
                <a:solidFill>
                  <a:srgbClr val="FF0000"/>
                </a:solidFill>
              </a:rPr>
              <a:t>Union</a:t>
            </a:r>
            <a:r>
              <a:rPr lang="en-US"/>
              <a:t> [</a:t>
            </a:r>
            <a:r>
              <a:rPr lang="en-US">
                <a:solidFill>
                  <a:srgbClr val="FF0000"/>
                </a:solidFill>
              </a:rPr>
              <a:t>distinct</a:t>
            </a:r>
            <a:r>
              <a:rPr lang="en-US"/>
              <a:t>]</a:t>
            </a:r>
          </a:p>
          <a:p>
            <a:r>
              <a:rPr lang="en-US">
                <a:solidFill>
                  <a:srgbClr val="FF0000"/>
                </a:solidFill>
              </a:rPr>
              <a:t>SELECT</a:t>
            </a:r>
            <a:r>
              <a:rPr lang="en-US"/>
              <a:t> c.customerNumber, customerName,orderNUmber, o.status </a:t>
            </a:r>
          </a:p>
          <a:p>
            <a:r>
              <a:rPr lang="en-US"/>
              <a:t>     </a:t>
            </a:r>
            <a:r>
              <a:rPr lang="en-US">
                <a:solidFill>
                  <a:srgbClr val="FF0000"/>
                </a:solidFill>
              </a:rPr>
              <a:t>FROM</a:t>
            </a:r>
            <a:r>
              <a:rPr lang="en-US"/>
              <a:t> customers </a:t>
            </a:r>
            <a:r>
              <a:rPr lang="en-US">
                <a:solidFill>
                  <a:srgbClr val="00B050"/>
                </a:solidFill>
              </a:rPr>
              <a:t>c</a:t>
            </a:r>
            <a:r>
              <a:rPr lang="en-US"/>
              <a:t> </a:t>
            </a:r>
          </a:p>
          <a:p>
            <a:r>
              <a:rPr lang="en-US"/>
              <a:t>     </a:t>
            </a:r>
            <a:r>
              <a:rPr lang="en-US">
                <a:solidFill>
                  <a:srgbClr val="FF0000"/>
                </a:solidFill>
              </a:rPr>
              <a:t>Right</a:t>
            </a:r>
            <a:r>
              <a:rPr lang="en-US"/>
              <a:t> </a:t>
            </a:r>
            <a:r>
              <a:rPr lang="en-US">
                <a:solidFill>
                  <a:srgbClr val="FF0000"/>
                </a:solidFill>
              </a:rPr>
              <a:t>JOIN</a:t>
            </a:r>
            <a:r>
              <a:rPr lang="en-US"/>
              <a:t> orders </a:t>
            </a:r>
            <a:r>
              <a:rPr lang="en-US">
                <a:solidFill>
                  <a:srgbClr val="00B050"/>
                </a:solidFill>
              </a:rPr>
              <a:t>o</a:t>
            </a:r>
            <a:r>
              <a:rPr lang="en-US"/>
              <a:t> </a:t>
            </a:r>
            <a:r>
              <a:rPr lang="en-US">
                <a:solidFill>
                  <a:srgbClr val="FF0000"/>
                </a:solidFill>
              </a:rPr>
              <a:t>ON</a:t>
            </a:r>
            <a:r>
              <a:rPr lang="en-US"/>
              <a:t> c.customerNumber = o.customerNumber </a:t>
            </a:r>
          </a:p>
        </p:txBody>
      </p:sp>
    </p:spTree>
    <p:extLst>
      <p:ext uri="{BB962C8B-B14F-4D97-AF65-F5344CB8AC3E}">
        <p14:creationId xmlns:p14="http://schemas.microsoft.com/office/powerpoint/2010/main" val="70636783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71803-CF0C-465E-9AB5-5E0D6889588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8DB159E-A5D1-4AD5-A27E-71B6914090B0}"/>
              </a:ext>
            </a:extLst>
          </p:cNvPr>
          <p:cNvSpPr>
            <a:spLocks noGrp="1"/>
          </p:cNvSpPr>
          <p:nvPr>
            <p:ph idx="1"/>
          </p:nvPr>
        </p:nvSpPr>
        <p:spPr/>
        <p:txBody>
          <a:bodyPr/>
          <a:lstStyle/>
          <a:p>
            <a:endParaRPr lang="en-US"/>
          </a:p>
          <a:p>
            <a:endParaRPr lang="en-US"/>
          </a:p>
          <a:p>
            <a:endParaRPr lang="en-US"/>
          </a:p>
          <a:p>
            <a:endParaRPr lang="en-US"/>
          </a:p>
          <a:p>
            <a:r>
              <a:rPr lang="en-US"/>
              <a:t>Select col1, col2 from Table1</a:t>
            </a:r>
          </a:p>
          <a:p>
            <a:r>
              <a:rPr lang="en-US"/>
              <a:t>UNION [distinct]</a:t>
            </a:r>
          </a:p>
          <a:p>
            <a:r>
              <a:rPr lang="en-US"/>
              <a:t>Select col1, col1 from Table2</a:t>
            </a:r>
          </a:p>
          <a:p>
            <a:endParaRPr lang="en-US"/>
          </a:p>
          <a:p>
            <a:r>
              <a:rPr lang="en-US"/>
              <a:t>Table3: col1 = Table1.col1 + Table2.col1</a:t>
            </a:r>
          </a:p>
          <a:p>
            <a:endParaRPr lang="en-US"/>
          </a:p>
          <a:p>
            <a:endParaRPr lang="en-US"/>
          </a:p>
          <a:p>
            <a:endParaRPr lang="en-US"/>
          </a:p>
        </p:txBody>
      </p:sp>
      <p:sp>
        <p:nvSpPr>
          <p:cNvPr id="4" name="TextBox 3">
            <a:extLst>
              <a:ext uri="{FF2B5EF4-FFF2-40B4-BE49-F238E27FC236}">
                <a16:creationId xmlns:a16="http://schemas.microsoft.com/office/drawing/2014/main" id="{34BA7CC0-9D43-4835-B3FA-042E92C1750C}"/>
              </a:ext>
            </a:extLst>
          </p:cNvPr>
          <p:cNvSpPr txBox="1"/>
          <p:nvPr/>
        </p:nvSpPr>
        <p:spPr>
          <a:xfrm>
            <a:off x="1744911" y="1270000"/>
            <a:ext cx="8036653" cy="2031325"/>
          </a:xfrm>
          <a:prstGeom prst="rect">
            <a:avLst/>
          </a:prstGeom>
          <a:noFill/>
        </p:spPr>
        <p:txBody>
          <a:bodyPr wrap="square" rtlCol="0">
            <a:spAutoFit/>
          </a:bodyPr>
          <a:lstStyle/>
          <a:p>
            <a:r>
              <a:rPr lang="en-US">
                <a:solidFill>
                  <a:srgbClr val="FF0000"/>
                </a:solidFill>
              </a:rPr>
              <a:t>SELECT</a:t>
            </a:r>
            <a:r>
              <a:rPr lang="en-US"/>
              <a:t> c.customerNumber, customerName,orderNUmber, o.status </a:t>
            </a:r>
          </a:p>
          <a:p>
            <a:r>
              <a:rPr lang="en-US"/>
              <a:t>     </a:t>
            </a:r>
            <a:r>
              <a:rPr lang="en-US">
                <a:solidFill>
                  <a:srgbClr val="FF0000"/>
                </a:solidFill>
              </a:rPr>
              <a:t>FROM</a:t>
            </a:r>
            <a:r>
              <a:rPr lang="en-US"/>
              <a:t> customers </a:t>
            </a:r>
            <a:r>
              <a:rPr lang="en-US">
                <a:solidFill>
                  <a:srgbClr val="00B050"/>
                </a:solidFill>
              </a:rPr>
              <a:t>c</a:t>
            </a:r>
            <a:r>
              <a:rPr lang="en-US"/>
              <a:t> </a:t>
            </a:r>
          </a:p>
          <a:p>
            <a:r>
              <a:rPr lang="en-US"/>
              <a:t>     </a:t>
            </a:r>
            <a:r>
              <a:rPr lang="en-US">
                <a:solidFill>
                  <a:srgbClr val="FF0000"/>
                </a:solidFill>
              </a:rPr>
              <a:t>Left JOIN</a:t>
            </a:r>
            <a:r>
              <a:rPr lang="en-US"/>
              <a:t> orders </a:t>
            </a:r>
            <a:r>
              <a:rPr lang="en-US">
                <a:solidFill>
                  <a:srgbClr val="00B050"/>
                </a:solidFill>
              </a:rPr>
              <a:t>o</a:t>
            </a:r>
            <a:r>
              <a:rPr lang="en-US"/>
              <a:t> </a:t>
            </a:r>
            <a:r>
              <a:rPr lang="en-US">
                <a:solidFill>
                  <a:srgbClr val="FF0000"/>
                </a:solidFill>
              </a:rPr>
              <a:t>ON</a:t>
            </a:r>
            <a:r>
              <a:rPr lang="en-US"/>
              <a:t> c.customerNumber = o.customerNumber </a:t>
            </a:r>
          </a:p>
          <a:p>
            <a:r>
              <a:rPr lang="en-US">
                <a:solidFill>
                  <a:srgbClr val="FF0000"/>
                </a:solidFill>
              </a:rPr>
              <a:t>Union</a:t>
            </a:r>
            <a:r>
              <a:rPr lang="en-US"/>
              <a:t> [</a:t>
            </a:r>
            <a:r>
              <a:rPr lang="en-US">
                <a:solidFill>
                  <a:srgbClr val="FF0000"/>
                </a:solidFill>
              </a:rPr>
              <a:t>distinct</a:t>
            </a:r>
            <a:r>
              <a:rPr lang="en-US"/>
              <a:t>]</a:t>
            </a:r>
          </a:p>
          <a:p>
            <a:r>
              <a:rPr lang="en-US">
                <a:solidFill>
                  <a:srgbClr val="FF0000"/>
                </a:solidFill>
              </a:rPr>
              <a:t>SELECT</a:t>
            </a:r>
            <a:r>
              <a:rPr lang="en-US"/>
              <a:t> c.customerNumber, customerName,orderNUmber, o.status </a:t>
            </a:r>
          </a:p>
          <a:p>
            <a:r>
              <a:rPr lang="en-US"/>
              <a:t>     </a:t>
            </a:r>
            <a:r>
              <a:rPr lang="en-US">
                <a:solidFill>
                  <a:srgbClr val="FF0000"/>
                </a:solidFill>
              </a:rPr>
              <a:t>FROM</a:t>
            </a:r>
            <a:r>
              <a:rPr lang="en-US"/>
              <a:t> customers </a:t>
            </a:r>
            <a:r>
              <a:rPr lang="en-US">
                <a:solidFill>
                  <a:srgbClr val="00B050"/>
                </a:solidFill>
              </a:rPr>
              <a:t>c</a:t>
            </a:r>
            <a:r>
              <a:rPr lang="en-US"/>
              <a:t> </a:t>
            </a:r>
          </a:p>
          <a:p>
            <a:r>
              <a:rPr lang="en-US"/>
              <a:t>     </a:t>
            </a:r>
            <a:r>
              <a:rPr lang="en-US">
                <a:solidFill>
                  <a:srgbClr val="FF0000"/>
                </a:solidFill>
              </a:rPr>
              <a:t>Right</a:t>
            </a:r>
            <a:r>
              <a:rPr lang="en-US"/>
              <a:t> </a:t>
            </a:r>
            <a:r>
              <a:rPr lang="en-US">
                <a:solidFill>
                  <a:srgbClr val="FF0000"/>
                </a:solidFill>
              </a:rPr>
              <a:t>JOIN</a:t>
            </a:r>
            <a:r>
              <a:rPr lang="en-US"/>
              <a:t> orders </a:t>
            </a:r>
            <a:r>
              <a:rPr lang="en-US">
                <a:solidFill>
                  <a:srgbClr val="00B050"/>
                </a:solidFill>
              </a:rPr>
              <a:t>o</a:t>
            </a:r>
            <a:r>
              <a:rPr lang="en-US"/>
              <a:t> </a:t>
            </a:r>
            <a:r>
              <a:rPr lang="en-US">
                <a:solidFill>
                  <a:srgbClr val="FF0000"/>
                </a:solidFill>
              </a:rPr>
              <a:t>ON</a:t>
            </a:r>
            <a:r>
              <a:rPr lang="en-US"/>
              <a:t> c.customerNumber = o.customerNumber </a:t>
            </a:r>
          </a:p>
        </p:txBody>
      </p:sp>
      <p:graphicFrame>
        <p:nvGraphicFramePr>
          <p:cNvPr id="5" name="Table 4">
            <a:extLst>
              <a:ext uri="{FF2B5EF4-FFF2-40B4-BE49-F238E27FC236}">
                <a16:creationId xmlns:a16="http://schemas.microsoft.com/office/drawing/2014/main" id="{D523EFF0-45A0-493C-9E60-92DD4964169E}"/>
              </a:ext>
            </a:extLst>
          </p:cNvPr>
          <p:cNvGraphicFramePr>
            <a:graphicFrameLocks noGrp="1"/>
          </p:cNvGraphicFramePr>
          <p:nvPr>
            <p:extLst>
              <p:ext uri="{D42A27DB-BD31-4B8C-83A1-F6EECF244321}">
                <p14:modId xmlns:p14="http://schemas.microsoft.com/office/powerpoint/2010/main" val="3731878432"/>
              </p:ext>
            </p:extLst>
          </p:nvPr>
        </p:nvGraphicFramePr>
        <p:xfrm>
          <a:off x="7532382" y="3961725"/>
          <a:ext cx="2249182" cy="731520"/>
        </p:xfrm>
        <a:graphic>
          <a:graphicData uri="http://schemas.openxmlformats.org/drawingml/2006/table">
            <a:tbl>
              <a:tblPr firstRow="1" bandRow="1">
                <a:tableStyleId>{5C22544A-7EE6-4342-B048-85BDC9FD1C3A}</a:tableStyleId>
              </a:tblPr>
              <a:tblGrid>
                <a:gridCol w="1124591">
                  <a:extLst>
                    <a:ext uri="{9D8B030D-6E8A-4147-A177-3AD203B41FA5}">
                      <a16:colId xmlns:a16="http://schemas.microsoft.com/office/drawing/2014/main" val="3001810350"/>
                    </a:ext>
                  </a:extLst>
                </a:gridCol>
                <a:gridCol w="1124591">
                  <a:extLst>
                    <a:ext uri="{9D8B030D-6E8A-4147-A177-3AD203B41FA5}">
                      <a16:colId xmlns:a16="http://schemas.microsoft.com/office/drawing/2014/main" val="2564356170"/>
                    </a:ext>
                  </a:extLst>
                </a:gridCol>
              </a:tblGrid>
              <a:tr h="189583">
                <a:tc>
                  <a:txBody>
                    <a:bodyPr/>
                    <a:lstStyle/>
                    <a:p>
                      <a:r>
                        <a:rPr lang="en-US"/>
                        <a:t>col1</a:t>
                      </a:r>
                    </a:p>
                  </a:txBody>
                  <a:tcPr/>
                </a:tc>
                <a:tc>
                  <a:txBody>
                    <a:bodyPr/>
                    <a:lstStyle/>
                    <a:p>
                      <a:r>
                        <a:rPr lang="en-US"/>
                        <a:t>col2</a:t>
                      </a:r>
                    </a:p>
                  </a:txBody>
                  <a:tcPr/>
                </a:tc>
                <a:extLst>
                  <a:ext uri="{0D108BD9-81ED-4DB2-BD59-A6C34878D82A}">
                    <a16:rowId xmlns:a16="http://schemas.microsoft.com/office/drawing/2014/main" val="2681040689"/>
                  </a:ext>
                </a:extLst>
              </a:tr>
              <a:tr h="189583">
                <a:tc>
                  <a:txBody>
                    <a:bodyPr/>
                    <a:lstStyle/>
                    <a:p>
                      <a:r>
                        <a:rPr lang="en-US"/>
                        <a:t>A</a:t>
                      </a:r>
                    </a:p>
                  </a:txBody>
                  <a:tcPr/>
                </a:tc>
                <a:tc>
                  <a:txBody>
                    <a:bodyPr/>
                    <a:lstStyle/>
                    <a:p>
                      <a:endParaRPr lang="en-US"/>
                    </a:p>
                  </a:txBody>
                  <a:tcPr/>
                </a:tc>
                <a:extLst>
                  <a:ext uri="{0D108BD9-81ED-4DB2-BD59-A6C34878D82A}">
                    <a16:rowId xmlns:a16="http://schemas.microsoft.com/office/drawing/2014/main" val="2345376876"/>
                  </a:ext>
                </a:extLst>
              </a:tr>
            </a:tbl>
          </a:graphicData>
        </a:graphic>
      </p:graphicFrame>
      <p:graphicFrame>
        <p:nvGraphicFramePr>
          <p:cNvPr id="6" name="Table 5">
            <a:extLst>
              <a:ext uri="{FF2B5EF4-FFF2-40B4-BE49-F238E27FC236}">
                <a16:creationId xmlns:a16="http://schemas.microsoft.com/office/drawing/2014/main" id="{80C3C98F-8032-4BE0-BAE0-56814DAC9C00}"/>
              </a:ext>
            </a:extLst>
          </p:cNvPr>
          <p:cNvGraphicFramePr>
            <a:graphicFrameLocks noGrp="1"/>
          </p:cNvGraphicFramePr>
          <p:nvPr>
            <p:extLst>
              <p:ext uri="{D42A27DB-BD31-4B8C-83A1-F6EECF244321}">
                <p14:modId xmlns:p14="http://schemas.microsoft.com/office/powerpoint/2010/main" val="1731958333"/>
              </p:ext>
            </p:extLst>
          </p:nvPr>
        </p:nvGraphicFramePr>
        <p:xfrm>
          <a:off x="7532382" y="5283434"/>
          <a:ext cx="2249182" cy="731520"/>
        </p:xfrm>
        <a:graphic>
          <a:graphicData uri="http://schemas.openxmlformats.org/drawingml/2006/table">
            <a:tbl>
              <a:tblPr firstRow="1" bandRow="1">
                <a:tableStyleId>{5C22544A-7EE6-4342-B048-85BDC9FD1C3A}</a:tableStyleId>
              </a:tblPr>
              <a:tblGrid>
                <a:gridCol w="1124591">
                  <a:extLst>
                    <a:ext uri="{9D8B030D-6E8A-4147-A177-3AD203B41FA5}">
                      <a16:colId xmlns:a16="http://schemas.microsoft.com/office/drawing/2014/main" val="3001810350"/>
                    </a:ext>
                  </a:extLst>
                </a:gridCol>
                <a:gridCol w="1124591">
                  <a:extLst>
                    <a:ext uri="{9D8B030D-6E8A-4147-A177-3AD203B41FA5}">
                      <a16:colId xmlns:a16="http://schemas.microsoft.com/office/drawing/2014/main" val="2564356170"/>
                    </a:ext>
                  </a:extLst>
                </a:gridCol>
              </a:tblGrid>
              <a:tr h="189583">
                <a:tc>
                  <a:txBody>
                    <a:bodyPr/>
                    <a:lstStyle/>
                    <a:p>
                      <a:r>
                        <a:rPr lang="en-US"/>
                        <a:t>col1</a:t>
                      </a:r>
                    </a:p>
                  </a:txBody>
                  <a:tcPr/>
                </a:tc>
                <a:tc>
                  <a:txBody>
                    <a:bodyPr/>
                    <a:lstStyle/>
                    <a:p>
                      <a:r>
                        <a:rPr lang="en-US"/>
                        <a:t>Col2</a:t>
                      </a:r>
                    </a:p>
                  </a:txBody>
                  <a:tcPr/>
                </a:tc>
                <a:extLst>
                  <a:ext uri="{0D108BD9-81ED-4DB2-BD59-A6C34878D82A}">
                    <a16:rowId xmlns:a16="http://schemas.microsoft.com/office/drawing/2014/main" val="2681040689"/>
                  </a:ext>
                </a:extLst>
              </a:tr>
              <a:tr h="189583">
                <a:tc>
                  <a:txBody>
                    <a:bodyPr/>
                    <a:lstStyle/>
                    <a:p>
                      <a:r>
                        <a:rPr lang="en-US"/>
                        <a:t>B</a:t>
                      </a:r>
                    </a:p>
                  </a:txBody>
                  <a:tcPr/>
                </a:tc>
                <a:tc>
                  <a:txBody>
                    <a:bodyPr/>
                    <a:lstStyle/>
                    <a:p>
                      <a:r>
                        <a:rPr lang="en-US"/>
                        <a:t>C</a:t>
                      </a:r>
                    </a:p>
                  </a:txBody>
                  <a:tcPr/>
                </a:tc>
                <a:extLst>
                  <a:ext uri="{0D108BD9-81ED-4DB2-BD59-A6C34878D82A}">
                    <a16:rowId xmlns:a16="http://schemas.microsoft.com/office/drawing/2014/main" val="2345376876"/>
                  </a:ext>
                </a:extLst>
              </a:tr>
            </a:tbl>
          </a:graphicData>
        </a:graphic>
      </p:graphicFrame>
      <p:graphicFrame>
        <p:nvGraphicFramePr>
          <p:cNvPr id="7" name="Table 6">
            <a:extLst>
              <a:ext uri="{FF2B5EF4-FFF2-40B4-BE49-F238E27FC236}">
                <a16:creationId xmlns:a16="http://schemas.microsoft.com/office/drawing/2014/main" id="{5C680CF9-80DA-4ED1-8C17-BCDFEDABE454}"/>
              </a:ext>
            </a:extLst>
          </p:cNvPr>
          <p:cNvGraphicFramePr>
            <a:graphicFrameLocks noGrp="1"/>
          </p:cNvGraphicFramePr>
          <p:nvPr>
            <p:extLst>
              <p:ext uri="{D42A27DB-BD31-4B8C-83A1-F6EECF244321}">
                <p14:modId xmlns:p14="http://schemas.microsoft.com/office/powerpoint/2010/main" val="1517590308"/>
              </p:ext>
            </p:extLst>
          </p:nvPr>
        </p:nvGraphicFramePr>
        <p:xfrm>
          <a:off x="4659619" y="3735215"/>
          <a:ext cx="2249182" cy="1097280"/>
        </p:xfrm>
        <a:graphic>
          <a:graphicData uri="http://schemas.openxmlformats.org/drawingml/2006/table">
            <a:tbl>
              <a:tblPr firstRow="1" bandRow="1">
                <a:tableStyleId>{5C22544A-7EE6-4342-B048-85BDC9FD1C3A}</a:tableStyleId>
              </a:tblPr>
              <a:tblGrid>
                <a:gridCol w="1124591">
                  <a:extLst>
                    <a:ext uri="{9D8B030D-6E8A-4147-A177-3AD203B41FA5}">
                      <a16:colId xmlns:a16="http://schemas.microsoft.com/office/drawing/2014/main" val="3001810350"/>
                    </a:ext>
                  </a:extLst>
                </a:gridCol>
                <a:gridCol w="1124591">
                  <a:extLst>
                    <a:ext uri="{9D8B030D-6E8A-4147-A177-3AD203B41FA5}">
                      <a16:colId xmlns:a16="http://schemas.microsoft.com/office/drawing/2014/main" val="2564356170"/>
                    </a:ext>
                  </a:extLst>
                </a:gridCol>
              </a:tblGrid>
              <a:tr h="189583">
                <a:tc>
                  <a:txBody>
                    <a:bodyPr/>
                    <a:lstStyle/>
                    <a:p>
                      <a:r>
                        <a:rPr lang="en-US"/>
                        <a:t>col1</a:t>
                      </a:r>
                    </a:p>
                  </a:txBody>
                  <a:tcPr/>
                </a:tc>
                <a:tc>
                  <a:txBody>
                    <a:bodyPr/>
                    <a:lstStyle/>
                    <a:p>
                      <a:endParaRPr lang="en-US"/>
                    </a:p>
                  </a:txBody>
                  <a:tcPr/>
                </a:tc>
                <a:extLst>
                  <a:ext uri="{0D108BD9-81ED-4DB2-BD59-A6C34878D82A}">
                    <a16:rowId xmlns:a16="http://schemas.microsoft.com/office/drawing/2014/main" val="2681040689"/>
                  </a:ext>
                </a:extLst>
              </a:tr>
              <a:tr h="189583">
                <a:tc>
                  <a:txBody>
                    <a:bodyPr/>
                    <a:lstStyle/>
                    <a:p>
                      <a:r>
                        <a:rPr lang="en-US"/>
                        <a:t>A</a:t>
                      </a:r>
                    </a:p>
                  </a:txBody>
                  <a:tcPr/>
                </a:tc>
                <a:tc>
                  <a:txBody>
                    <a:bodyPr/>
                    <a:lstStyle/>
                    <a:p>
                      <a:endParaRPr lang="en-US"/>
                    </a:p>
                  </a:txBody>
                  <a:tcPr/>
                </a:tc>
                <a:extLst>
                  <a:ext uri="{0D108BD9-81ED-4DB2-BD59-A6C34878D82A}">
                    <a16:rowId xmlns:a16="http://schemas.microsoft.com/office/drawing/2014/main" val="2345376876"/>
                  </a:ext>
                </a:extLst>
              </a:tr>
              <a:tr h="189583">
                <a:tc>
                  <a:txBody>
                    <a:bodyPr/>
                    <a:lstStyle/>
                    <a:p>
                      <a:r>
                        <a:rPr lang="en-US"/>
                        <a:t>B</a:t>
                      </a:r>
                    </a:p>
                  </a:txBody>
                  <a:tcPr/>
                </a:tc>
                <a:tc>
                  <a:txBody>
                    <a:bodyPr/>
                    <a:lstStyle/>
                    <a:p>
                      <a:endParaRPr lang="en-US"/>
                    </a:p>
                  </a:txBody>
                  <a:tcPr/>
                </a:tc>
                <a:extLst>
                  <a:ext uri="{0D108BD9-81ED-4DB2-BD59-A6C34878D82A}">
                    <a16:rowId xmlns:a16="http://schemas.microsoft.com/office/drawing/2014/main" val="2853062276"/>
                  </a:ext>
                </a:extLst>
              </a:tr>
            </a:tbl>
          </a:graphicData>
        </a:graphic>
      </p:graphicFrame>
    </p:spTree>
    <p:extLst>
      <p:ext uri="{BB962C8B-B14F-4D97-AF65-F5344CB8AC3E}">
        <p14:creationId xmlns:p14="http://schemas.microsoft.com/office/powerpoint/2010/main" val="320676962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08CF3-7FE5-4E1F-8EC4-F5D5C791E9C1}"/>
              </a:ext>
            </a:extLst>
          </p:cNvPr>
          <p:cNvSpPr>
            <a:spLocks noGrp="1"/>
          </p:cNvSpPr>
          <p:nvPr>
            <p:ph type="title"/>
          </p:nvPr>
        </p:nvSpPr>
        <p:spPr/>
        <p:txBody>
          <a:bodyPr/>
          <a:lstStyle/>
          <a:p>
            <a:r>
              <a:rPr lang="en-US"/>
              <a:t>5. PHÉP TỰ NỐI (Self Join) </a:t>
            </a:r>
          </a:p>
        </p:txBody>
      </p:sp>
      <p:sp>
        <p:nvSpPr>
          <p:cNvPr id="3" name="Content Placeholder 2">
            <a:extLst>
              <a:ext uri="{FF2B5EF4-FFF2-40B4-BE49-F238E27FC236}">
                <a16:creationId xmlns:a16="http://schemas.microsoft.com/office/drawing/2014/main" id="{AFD726E9-19BC-4825-A678-D07B539BBA43}"/>
              </a:ext>
            </a:extLst>
          </p:cNvPr>
          <p:cNvSpPr>
            <a:spLocks noGrp="1"/>
          </p:cNvSpPr>
          <p:nvPr>
            <p:ph idx="1"/>
          </p:nvPr>
        </p:nvSpPr>
        <p:spPr>
          <a:xfrm>
            <a:off x="677334" y="1526797"/>
            <a:ext cx="8596668" cy="4514566"/>
          </a:xfrm>
        </p:spPr>
        <p:txBody>
          <a:bodyPr/>
          <a:lstStyle/>
          <a:p>
            <a:r>
              <a:rPr lang="vi-VN"/>
              <a:t>Một phép tự nối là một kiểu nối trong đó một bảng được nối với chính nó, cụ thể khi một bảng có một khóa ngoài tham chiếu tới khóa chính của nó. </a:t>
            </a:r>
            <a:endParaRPr lang="en-US"/>
          </a:p>
          <a:p>
            <a:r>
              <a:rPr lang="vi-VN"/>
              <a:t>Ví dụ: Bảng employees có một khóa ngoài là reportsTo tham chiếu tới khóa chính employeeNumber của chính bảng employees. </a:t>
            </a:r>
            <a:endParaRPr lang="en-US"/>
          </a:p>
          <a:p>
            <a:endParaRPr lang="en-US"/>
          </a:p>
          <a:p>
            <a:r>
              <a:rPr lang="en-US">
                <a:solidFill>
                  <a:srgbClr val="FF0000"/>
                </a:solidFill>
              </a:rPr>
              <a:t>SELECT</a:t>
            </a:r>
            <a:r>
              <a:rPr lang="en-US"/>
              <a:t> </a:t>
            </a:r>
            <a:r>
              <a:rPr lang="en-US">
                <a:solidFill>
                  <a:srgbClr val="FF0000"/>
                </a:solidFill>
              </a:rPr>
              <a:t>concat</a:t>
            </a:r>
            <a:r>
              <a:rPr lang="en-US"/>
              <a:t> (e1.lastName ," ",e1.firstName) </a:t>
            </a:r>
            <a:r>
              <a:rPr lang="en-US">
                <a:solidFill>
                  <a:srgbClr val="FF0000"/>
                </a:solidFill>
              </a:rPr>
              <a:t>as</a:t>
            </a:r>
            <a:r>
              <a:rPr lang="en-US"/>
              <a:t> fullname, e1.email, </a:t>
            </a:r>
            <a:r>
              <a:rPr lang="en-US">
                <a:solidFill>
                  <a:srgbClr val="FF0000"/>
                </a:solidFill>
              </a:rPr>
              <a:t>concat</a:t>
            </a:r>
            <a:r>
              <a:rPr lang="en-US"/>
              <a:t> (e2.lastName ," ",e2.firstName) </a:t>
            </a:r>
            <a:r>
              <a:rPr lang="en-US">
                <a:solidFill>
                  <a:srgbClr val="FF0000"/>
                </a:solidFill>
              </a:rPr>
              <a:t>as</a:t>
            </a:r>
            <a:r>
              <a:rPr lang="en-US"/>
              <a:t> manager, e2.email</a:t>
            </a:r>
          </a:p>
          <a:p>
            <a:pPr marL="0" indent="0">
              <a:buNone/>
            </a:pPr>
            <a:r>
              <a:rPr lang="en-US"/>
              <a:t>     </a:t>
            </a:r>
            <a:r>
              <a:rPr lang="en-US">
                <a:solidFill>
                  <a:srgbClr val="FF0000"/>
                </a:solidFill>
              </a:rPr>
              <a:t>FROM</a:t>
            </a:r>
            <a:r>
              <a:rPr lang="en-US"/>
              <a:t> employees </a:t>
            </a:r>
            <a:r>
              <a:rPr lang="en-US">
                <a:solidFill>
                  <a:srgbClr val="00B050"/>
                </a:solidFill>
              </a:rPr>
              <a:t>e1</a:t>
            </a:r>
            <a:r>
              <a:rPr lang="en-US"/>
              <a:t>, employees </a:t>
            </a:r>
            <a:r>
              <a:rPr lang="en-US">
                <a:solidFill>
                  <a:srgbClr val="00B050"/>
                </a:solidFill>
              </a:rPr>
              <a:t>e2</a:t>
            </a:r>
            <a:r>
              <a:rPr lang="en-US"/>
              <a:t> </a:t>
            </a:r>
          </a:p>
          <a:p>
            <a:pPr marL="0" indent="0">
              <a:buNone/>
            </a:pPr>
            <a:r>
              <a:rPr lang="en-US"/>
              <a:t>     </a:t>
            </a:r>
            <a:r>
              <a:rPr lang="en-US">
                <a:solidFill>
                  <a:srgbClr val="FF0000"/>
                </a:solidFill>
              </a:rPr>
              <a:t>WHERE</a:t>
            </a:r>
            <a:r>
              <a:rPr lang="en-US"/>
              <a:t> e1.reportsTo = e2.employeeNumber;</a:t>
            </a:r>
          </a:p>
        </p:txBody>
      </p:sp>
      <p:pic>
        <p:nvPicPr>
          <p:cNvPr id="4" name="Picture 3">
            <a:extLst>
              <a:ext uri="{FF2B5EF4-FFF2-40B4-BE49-F238E27FC236}">
                <a16:creationId xmlns:a16="http://schemas.microsoft.com/office/drawing/2014/main" id="{0BDA553B-F558-4509-950B-827DA30DCD4D}"/>
              </a:ext>
            </a:extLst>
          </p:cNvPr>
          <p:cNvPicPr>
            <a:picLocks noChangeAspect="1"/>
          </p:cNvPicPr>
          <p:nvPr/>
        </p:nvPicPr>
        <p:blipFill>
          <a:blip r:embed="rId2"/>
          <a:stretch>
            <a:fillRect/>
          </a:stretch>
        </p:blipFill>
        <p:spPr>
          <a:xfrm>
            <a:off x="7235853" y="3657599"/>
            <a:ext cx="4493616" cy="2995744"/>
          </a:xfrm>
          <a:prstGeom prst="rect">
            <a:avLst/>
          </a:prstGeom>
        </p:spPr>
      </p:pic>
    </p:spTree>
    <p:extLst>
      <p:ext uri="{BB962C8B-B14F-4D97-AF65-F5344CB8AC3E}">
        <p14:creationId xmlns:p14="http://schemas.microsoft.com/office/powerpoint/2010/main" val="114504909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6AED2-939F-4C57-BEFD-DE5F739E28ED}"/>
              </a:ext>
            </a:extLst>
          </p:cNvPr>
          <p:cNvSpPr>
            <a:spLocks noGrp="1"/>
          </p:cNvSpPr>
          <p:nvPr>
            <p:ph type="title"/>
          </p:nvPr>
        </p:nvSpPr>
        <p:spPr>
          <a:xfrm>
            <a:off x="677334" y="396614"/>
            <a:ext cx="8596668" cy="1320800"/>
          </a:xfrm>
        </p:spPr>
        <p:txBody>
          <a:bodyPr/>
          <a:lstStyle/>
          <a:p>
            <a:r>
              <a:rPr lang="en-US"/>
              <a:t>SubQuery – Truy vấn con</a:t>
            </a:r>
            <a:br>
              <a:rPr lang="en-US"/>
            </a:br>
            <a:endParaRPr lang="en-US"/>
          </a:p>
        </p:txBody>
      </p:sp>
      <p:sp>
        <p:nvSpPr>
          <p:cNvPr id="3" name="Content Placeholder 2">
            <a:extLst>
              <a:ext uri="{FF2B5EF4-FFF2-40B4-BE49-F238E27FC236}">
                <a16:creationId xmlns:a16="http://schemas.microsoft.com/office/drawing/2014/main" id="{E9AE6105-C033-474D-A837-4ADA60BBD1AD}"/>
              </a:ext>
            </a:extLst>
          </p:cNvPr>
          <p:cNvSpPr>
            <a:spLocks noGrp="1"/>
          </p:cNvSpPr>
          <p:nvPr>
            <p:ph idx="1"/>
          </p:nvPr>
        </p:nvSpPr>
        <p:spPr>
          <a:xfrm>
            <a:off x="677334" y="1392573"/>
            <a:ext cx="8596668" cy="4648790"/>
          </a:xfrm>
        </p:spPr>
        <p:txBody>
          <a:bodyPr/>
          <a:lstStyle/>
          <a:p>
            <a:r>
              <a:rPr lang="en-US" dirty="0" err="1"/>
              <a:t>Để</a:t>
            </a:r>
            <a:r>
              <a:rPr lang="en-US" dirty="0"/>
              <a:t> </a:t>
            </a:r>
            <a:r>
              <a:rPr lang="en-US" dirty="0" err="1"/>
              <a:t>kết</a:t>
            </a:r>
            <a:r>
              <a:rPr lang="en-US" dirty="0"/>
              <a:t> </a:t>
            </a:r>
            <a:r>
              <a:rPr lang="en-US" dirty="0" err="1"/>
              <a:t>hợp</a:t>
            </a:r>
            <a:r>
              <a:rPr lang="en-US" dirty="0"/>
              <a:t> </a:t>
            </a:r>
            <a:r>
              <a:rPr lang="en-US" dirty="0" err="1"/>
              <a:t>các</a:t>
            </a:r>
            <a:r>
              <a:rPr lang="en-US" dirty="0"/>
              <a:t> </a:t>
            </a:r>
            <a:r>
              <a:rPr lang="en-US" dirty="0" err="1"/>
              <a:t>bảng</a:t>
            </a:r>
            <a:r>
              <a:rPr lang="en-US" dirty="0"/>
              <a:t> </a:t>
            </a:r>
            <a:r>
              <a:rPr lang="en-US" dirty="0" err="1"/>
              <a:t>dữ</a:t>
            </a:r>
            <a:r>
              <a:rPr lang="en-US" dirty="0"/>
              <a:t> </a:t>
            </a:r>
            <a:r>
              <a:rPr lang="en-US" dirty="0" err="1"/>
              <a:t>liệu</a:t>
            </a:r>
            <a:r>
              <a:rPr lang="en-US" dirty="0"/>
              <a:t> </a:t>
            </a:r>
            <a:r>
              <a:rPr lang="en-US" dirty="0" err="1"/>
              <a:t>với</a:t>
            </a:r>
            <a:r>
              <a:rPr lang="en-US" dirty="0"/>
              <a:t> </a:t>
            </a:r>
            <a:r>
              <a:rPr lang="en-US" dirty="0" err="1"/>
              <a:t>nhau</a:t>
            </a:r>
            <a:r>
              <a:rPr lang="en-US" dirty="0"/>
              <a:t>, </a:t>
            </a:r>
            <a:r>
              <a:rPr lang="en-US" dirty="0" err="1"/>
              <a:t>ngoài</a:t>
            </a:r>
            <a:r>
              <a:rPr lang="en-US" dirty="0"/>
              <a:t> </a:t>
            </a:r>
            <a:r>
              <a:rPr lang="en-US" dirty="0" err="1"/>
              <a:t>các</a:t>
            </a:r>
            <a:r>
              <a:rPr lang="en-US" dirty="0"/>
              <a:t> </a:t>
            </a:r>
            <a:r>
              <a:rPr lang="en-US" dirty="0" err="1"/>
              <a:t>phép</a:t>
            </a:r>
            <a:r>
              <a:rPr lang="en-US" dirty="0"/>
              <a:t> </a:t>
            </a:r>
            <a:r>
              <a:rPr lang="en-US" dirty="0" err="1"/>
              <a:t>nối</a:t>
            </a:r>
            <a:r>
              <a:rPr lang="en-US" dirty="0"/>
              <a:t> </a:t>
            </a:r>
            <a:r>
              <a:rPr lang="en-US" dirty="0" err="1"/>
              <a:t>và</a:t>
            </a:r>
            <a:r>
              <a:rPr lang="en-US" dirty="0"/>
              <a:t> </a:t>
            </a:r>
            <a:r>
              <a:rPr lang="en-US" dirty="0" err="1"/>
              <a:t>các</a:t>
            </a:r>
            <a:r>
              <a:rPr lang="en-US" dirty="0"/>
              <a:t> </a:t>
            </a:r>
            <a:r>
              <a:rPr lang="en-US" dirty="0" err="1"/>
              <a:t>toán</a:t>
            </a:r>
            <a:r>
              <a:rPr lang="en-US" dirty="0"/>
              <a:t> </a:t>
            </a:r>
            <a:r>
              <a:rPr lang="en-US" dirty="0" err="1"/>
              <a:t>tử</a:t>
            </a:r>
            <a:r>
              <a:rPr lang="en-US" dirty="0"/>
              <a:t> </a:t>
            </a:r>
            <a:r>
              <a:rPr lang="en-US" dirty="0" err="1"/>
              <a:t>tập</a:t>
            </a:r>
            <a:r>
              <a:rPr lang="en-US" dirty="0"/>
              <a:t> </a:t>
            </a:r>
            <a:r>
              <a:rPr lang="en-US" dirty="0" err="1"/>
              <a:t>hợp</a:t>
            </a:r>
            <a:r>
              <a:rPr lang="en-US" dirty="0"/>
              <a:t>, SQL </a:t>
            </a:r>
            <a:r>
              <a:rPr lang="en-US" dirty="0" err="1"/>
              <a:t>cung</a:t>
            </a:r>
            <a:r>
              <a:rPr lang="en-US" dirty="0"/>
              <a:t> </a:t>
            </a:r>
            <a:r>
              <a:rPr lang="en-US" dirty="0" err="1"/>
              <a:t>cấp</a:t>
            </a:r>
            <a:r>
              <a:rPr lang="en-US" dirty="0"/>
              <a:t> </a:t>
            </a:r>
            <a:r>
              <a:rPr lang="en-US" dirty="0" err="1"/>
              <a:t>một</a:t>
            </a:r>
            <a:r>
              <a:rPr lang="en-US" dirty="0"/>
              <a:t> </a:t>
            </a:r>
            <a:r>
              <a:rPr lang="en-US" dirty="0" err="1"/>
              <a:t>cách</a:t>
            </a:r>
            <a:r>
              <a:rPr lang="en-US" dirty="0"/>
              <a:t> </a:t>
            </a:r>
            <a:r>
              <a:rPr lang="en-US" dirty="0" err="1"/>
              <a:t>khác</a:t>
            </a:r>
            <a:r>
              <a:rPr lang="en-US" dirty="0"/>
              <a:t> </a:t>
            </a:r>
            <a:r>
              <a:rPr lang="en-US" dirty="0" err="1"/>
              <a:t>để</a:t>
            </a:r>
            <a:r>
              <a:rPr lang="en-US" dirty="0"/>
              <a:t> </a:t>
            </a:r>
            <a:r>
              <a:rPr lang="en-US" dirty="0" err="1"/>
              <a:t>trả</a:t>
            </a:r>
            <a:r>
              <a:rPr lang="en-US" dirty="0"/>
              <a:t> </a:t>
            </a:r>
            <a:r>
              <a:rPr lang="en-US" dirty="0" err="1"/>
              <a:t>lại</a:t>
            </a:r>
            <a:r>
              <a:rPr lang="en-US" dirty="0"/>
              <a:t> </a:t>
            </a:r>
            <a:r>
              <a:rPr lang="en-US" dirty="0" err="1"/>
              <a:t>dữ</a:t>
            </a:r>
            <a:r>
              <a:rPr lang="en-US" dirty="0"/>
              <a:t> </a:t>
            </a:r>
            <a:r>
              <a:rPr lang="en-US" dirty="0" err="1"/>
              <a:t>liệu</a:t>
            </a:r>
            <a:r>
              <a:rPr lang="en-US" dirty="0"/>
              <a:t> </a:t>
            </a:r>
            <a:r>
              <a:rPr lang="en-US" dirty="0" err="1"/>
              <a:t>từ</a:t>
            </a:r>
            <a:r>
              <a:rPr lang="en-US" dirty="0"/>
              <a:t> </a:t>
            </a:r>
            <a:r>
              <a:rPr lang="en-US" dirty="0" err="1"/>
              <a:t>nhiều</a:t>
            </a:r>
            <a:r>
              <a:rPr lang="en-US" dirty="0"/>
              <a:t> </a:t>
            </a:r>
            <a:r>
              <a:rPr lang="en-US" dirty="0" err="1"/>
              <a:t>bảng</a:t>
            </a:r>
            <a:r>
              <a:rPr lang="en-US" dirty="0"/>
              <a:t> </a:t>
            </a:r>
            <a:r>
              <a:rPr lang="en-US" dirty="0" err="1"/>
              <a:t>gọi</a:t>
            </a:r>
            <a:r>
              <a:rPr lang="en-US" dirty="0"/>
              <a:t> </a:t>
            </a:r>
            <a:r>
              <a:rPr lang="en-US" dirty="0" err="1"/>
              <a:t>là</a:t>
            </a:r>
            <a:r>
              <a:rPr lang="en-US" dirty="0"/>
              <a:t> </a:t>
            </a:r>
            <a:r>
              <a:rPr lang="en-US" dirty="0" err="1"/>
              <a:t>truy</a:t>
            </a:r>
            <a:r>
              <a:rPr lang="en-US" dirty="0"/>
              <a:t> </a:t>
            </a:r>
            <a:r>
              <a:rPr lang="en-US" dirty="0" err="1"/>
              <a:t>vấn</a:t>
            </a:r>
            <a:r>
              <a:rPr lang="en-US" dirty="0"/>
              <a:t> con (</a:t>
            </a:r>
            <a:r>
              <a:rPr lang="en-US" i="1" dirty="0"/>
              <a:t>subquery</a:t>
            </a:r>
            <a:r>
              <a:rPr lang="en-US" dirty="0"/>
              <a:t>). </a:t>
            </a:r>
          </a:p>
          <a:p>
            <a:r>
              <a:rPr lang="en-US" dirty="0"/>
              <a:t>Khi </a:t>
            </a:r>
            <a:r>
              <a:rPr lang="en-US" dirty="0" err="1"/>
              <a:t>một</a:t>
            </a:r>
            <a:r>
              <a:rPr lang="en-US" dirty="0"/>
              <a:t> </a:t>
            </a:r>
            <a:r>
              <a:rPr lang="en-US" dirty="0" err="1"/>
              <a:t>câu</a:t>
            </a:r>
            <a:r>
              <a:rPr lang="en-US" dirty="0"/>
              <a:t> </a:t>
            </a:r>
            <a:r>
              <a:rPr lang="en-US" dirty="0" err="1"/>
              <a:t>lệnh</a:t>
            </a:r>
            <a:r>
              <a:rPr lang="en-US" dirty="0"/>
              <a:t> SELECT </a:t>
            </a:r>
            <a:r>
              <a:rPr lang="en-US" dirty="0" err="1"/>
              <a:t>được</a:t>
            </a:r>
            <a:r>
              <a:rPr lang="en-US" dirty="0"/>
              <a:t> </a:t>
            </a:r>
            <a:r>
              <a:rPr lang="en-US" dirty="0" err="1"/>
              <a:t>sử</a:t>
            </a:r>
            <a:r>
              <a:rPr lang="en-US" dirty="0"/>
              <a:t> </a:t>
            </a:r>
            <a:r>
              <a:rPr lang="en-US" dirty="0" err="1"/>
              <a:t>dụng</a:t>
            </a:r>
            <a:r>
              <a:rPr lang="en-US" dirty="0"/>
              <a:t> </a:t>
            </a:r>
            <a:r>
              <a:rPr lang="en-US" dirty="0" err="1"/>
              <a:t>trong</a:t>
            </a:r>
            <a:r>
              <a:rPr lang="en-US" dirty="0"/>
              <a:t> </a:t>
            </a:r>
            <a:r>
              <a:rPr lang="en-US" dirty="0" err="1"/>
              <a:t>một</a:t>
            </a:r>
            <a:r>
              <a:rPr lang="en-US" dirty="0"/>
              <a:t> </a:t>
            </a:r>
            <a:r>
              <a:rPr lang="en-US" dirty="0" err="1"/>
              <a:t>câu</a:t>
            </a:r>
            <a:r>
              <a:rPr lang="en-US" dirty="0"/>
              <a:t> </a:t>
            </a:r>
            <a:r>
              <a:rPr lang="en-US" dirty="0" err="1"/>
              <a:t>lệnh</a:t>
            </a:r>
            <a:r>
              <a:rPr lang="en-US" dirty="0"/>
              <a:t> </a:t>
            </a:r>
            <a:r>
              <a:rPr lang="en-US" dirty="0" err="1"/>
              <a:t>khác</a:t>
            </a:r>
            <a:r>
              <a:rPr lang="en-US" dirty="0"/>
              <a:t>, </a:t>
            </a:r>
            <a:r>
              <a:rPr lang="en-US" dirty="0" err="1"/>
              <a:t>câu</a:t>
            </a:r>
            <a:r>
              <a:rPr lang="en-US" dirty="0"/>
              <a:t> </a:t>
            </a:r>
            <a:r>
              <a:rPr lang="en-US" dirty="0" err="1"/>
              <a:t>lệnh</a:t>
            </a:r>
            <a:r>
              <a:rPr lang="en-US" dirty="0"/>
              <a:t> SELECT </a:t>
            </a:r>
            <a:r>
              <a:rPr lang="en-US" dirty="0" err="1"/>
              <a:t>bên</a:t>
            </a:r>
            <a:r>
              <a:rPr lang="en-US" dirty="0"/>
              <a:t> </a:t>
            </a:r>
            <a:r>
              <a:rPr lang="en-US" dirty="0" err="1"/>
              <a:t>trong</a:t>
            </a:r>
            <a:r>
              <a:rPr lang="en-US" dirty="0"/>
              <a:t> </a:t>
            </a:r>
            <a:r>
              <a:rPr lang="en-US" dirty="0" err="1"/>
              <a:t>được</a:t>
            </a:r>
            <a:r>
              <a:rPr lang="en-US" dirty="0"/>
              <a:t> </a:t>
            </a:r>
            <a:r>
              <a:rPr lang="en-US" dirty="0" err="1"/>
              <a:t>gọi</a:t>
            </a:r>
            <a:r>
              <a:rPr lang="en-US" dirty="0"/>
              <a:t> </a:t>
            </a:r>
            <a:r>
              <a:rPr lang="en-US" dirty="0" err="1"/>
              <a:t>là</a:t>
            </a:r>
            <a:r>
              <a:rPr lang="en-US" dirty="0"/>
              <a:t> </a:t>
            </a:r>
            <a:r>
              <a:rPr lang="en-US" dirty="0" err="1"/>
              <a:t>truy</a:t>
            </a:r>
            <a:r>
              <a:rPr lang="en-US" dirty="0"/>
              <a:t> </a:t>
            </a:r>
            <a:r>
              <a:rPr lang="en-US" dirty="0" err="1"/>
              <a:t>vấn</a:t>
            </a:r>
            <a:r>
              <a:rPr lang="en-US" dirty="0"/>
              <a:t> con (subquery), </a:t>
            </a:r>
            <a:r>
              <a:rPr lang="en-US" dirty="0" err="1"/>
              <a:t>cách</a:t>
            </a:r>
            <a:r>
              <a:rPr lang="en-US" dirty="0"/>
              <a:t> </a:t>
            </a:r>
            <a:r>
              <a:rPr lang="en-US" dirty="0" err="1"/>
              <a:t>gọi</a:t>
            </a:r>
            <a:r>
              <a:rPr lang="en-US" dirty="0"/>
              <a:t> </a:t>
            </a:r>
            <a:r>
              <a:rPr lang="en-US" dirty="0" err="1"/>
              <a:t>khác</a:t>
            </a:r>
            <a:r>
              <a:rPr lang="en-US" dirty="0"/>
              <a:t> </a:t>
            </a:r>
            <a:r>
              <a:rPr lang="en-US" dirty="0" err="1"/>
              <a:t>là</a:t>
            </a:r>
            <a:r>
              <a:rPr lang="en-US" dirty="0"/>
              <a:t> </a:t>
            </a:r>
            <a:r>
              <a:rPr lang="en-US" dirty="0" err="1"/>
              <a:t>truy</a:t>
            </a:r>
            <a:r>
              <a:rPr lang="en-US" dirty="0"/>
              <a:t> </a:t>
            </a:r>
            <a:r>
              <a:rPr lang="en-US" dirty="0" err="1"/>
              <a:t>vấn</a:t>
            </a:r>
            <a:r>
              <a:rPr lang="en-US" dirty="0"/>
              <a:t> </a:t>
            </a:r>
            <a:r>
              <a:rPr lang="en-US" dirty="0" err="1"/>
              <a:t>lồng</a:t>
            </a:r>
            <a:r>
              <a:rPr lang="en-US" dirty="0"/>
              <a:t> (nested query), </a:t>
            </a:r>
            <a:r>
              <a:rPr lang="en-US" dirty="0" err="1"/>
              <a:t>truy</a:t>
            </a:r>
            <a:r>
              <a:rPr lang="en-US" dirty="0"/>
              <a:t> </a:t>
            </a:r>
            <a:r>
              <a:rPr lang="en-US" dirty="0" err="1"/>
              <a:t>vấn</a:t>
            </a:r>
            <a:r>
              <a:rPr lang="en-US" dirty="0"/>
              <a:t> </a:t>
            </a:r>
            <a:r>
              <a:rPr lang="en-US" dirty="0" err="1"/>
              <a:t>trong</a:t>
            </a:r>
            <a:r>
              <a:rPr lang="en-US" dirty="0"/>
              <a:t> (inner query). </a:t>
            </a:r>
          </a:p>
          <a:p>
            <a:r>
              <a:rPr lang="en-US" dirty="0" err="1"/>
              <a:t>Cơ</a:t>
            </a:r>
            <a:r>
              <a:rPr lang="en-US" dirty="0"/>
              <a:t> </a:t>
            </a:r>
            <a:r>
              <a:rPr lang="en-US" dirty="0" err="1"/>
              <a:t>bản</a:t>
            </a:r>
            <a:r>
              <a:rPr lang="en-US" dirty="0"/>
              <a:t> </a:t>
            </a:r>
            <a:r>
              <a:rPr lang="en-US" dirty="0" err="1"/>
              <a:t>một</a:t>
            </a:r>
            <a:r>
              <a:rPr lang="en-US" dirty="0"/>
              <a:t> </a:t>
            </a:r>
            <a:r>
              <a:rPr lang="en-US" dirty="0" err="1"/>
              <a:t>truy</a:t>
            </a:r>
            <a:r>
              <a:rPr lang="en-US" dirty="0"/>
              <a:t> </a:t>
            </a:r>
            <a:r>
              <a:rPr lang="en-US" dirty="0" err="1"/>
              <a:t>vấn</a:t>
            </a:r>
            <a:r>
              <a:rPr lang="en-US" dirty="0"/>
              <a:t> con </a:t>
            </a:r>
            <a:r>
              <a:rPr lang="en-US" dirty="0" err="1"/>
              <a:t>có</a:t>
            </a:r>
            <a:r>
              <a:rPr lang="en-US" dirty="0"/>
              <a:t> </a:t>
            </a:r>
            <a:r>
              <a:rPr lang="en-US" dirty="0" err="1"/>
              <a:t>thể</a:t>
            </a:r>
            <a:r>
              <a:rPr lang="en-US" dirty="0"/>
              <a:t> </a:t>
            </a:r>
            <a:r>
              <a:rPr lang="en-US" dirty="0" err="1"/>
              <a:t>được</a:t>
            </a:r>
            <a:r>
              <a:rPr lang="en-US" dirty="0"/>
              <a:t> </a:t>
            </a:r>
            <a:r>
              <a:rPr lang="en-US" dirty="0" err="1"/>
              <a:t>sử</a:t>
            </a:r>
            <a:r>
              <a:rPr lang="en-US" dirty="0"/>
              <a:t> </a:t>
            </a:r>
            <a:r>
              <a:rPr lang="en-US" dirty="0" err="1"/>
              <a:t>dụng</a:t>
            </a:r>
            <a:r>
              <a:rPr lang="en-US" dirty="0"/>
              <a:t> ở </a:t>
            </a:r>
            <a:r>
              <a:rPr lang="en-US" sz="2400" dirty="0" err="1">
                <a:solidFill>
                  <a:srgbClr val="FF0000"/>
                </a:solidFill>
              </a:rPr>
              <a:t>bất</a:t>
            </a:r>
            <a:r>
              <a:rPr lang="en-US" sz="2400" dirty="0">
                <a:solidFill>
                  <a:srgbClr val="FF0000"/>
                </a:solidFill>
              </a:rPr>
              <a:t> </a:t>
            </a:r>
            <a:r>
              <a:rPr lang="en-US" sz="2400" dirty="0" err="1">
                <a:solidFill>
                  <a:srgbClr val="FF0000"/>
                </a:solidFill>
              </a:rPr>
              <a:t>cứ</a:t>
            </a:r>
            <a:r>
              <a:rPr lang="en-US" sz="2400" dirty="0">
                <a:solidFill>
                  <a:srgbClr val="FF0000"/>
                </a:solidFill>
              </a:rPr>
              <a:t> </a:t>
            </a:r>
            <a:r>
              <a:rPr lang="en-US" sz="2400" dirty="0" err="1">
                <a:solidFill>
                  <a:srgbClr val="FF0000"/>
                </a:solidFill>
              </a:rPr>
              <a:t>nơi</a:t>
            </a:r>
            <a:r>
              <a:rPr lang="en-US" sz="2400" dirty="0">
                <a:solidFill>
                  <a:srgbClr val="FF0000"/>
                </a:solidFill>
              </a:rPr>
              <a:t> </a:t>
            </a:r>
            <a:r>
              <a:rPr lang="en-US" sz="2400" dirty="0" err="1">
                <a:solidFill>
                  <a:srgbClr val="FF0000"/>
                </a:solidFill>
              </a:rPr>
              <a:t>đâu</a:t>
            </a:r>
            <a:r>
              <a:rPr lang="en-US" sz="2400" dirty="0">
                <a:solidFill>
                  <a:srgbClr val="FF0000"/>
                </a:solidFill>
              </a:rPr>
              <a:t> </a:t>
            </a:r>
            <a:r>
              <a:rPr lang="en-US" sz="2400" dirty="0" err="1">
                <a:solidFill>
                  <a:srgbClr val="FF0000"/>
                </a:solidFill>
              </a:rPr>
              <a:t>mà</a:t>
            </a:r>
            <a:r>
              <a:rPr lang="en-US" sz="2400" dirty="0">
                <a:solidFill>
                  <a:srgbClr val="FF0000"/>
                </a:solidFill>
              </a:rPr>
              <a:t> </a:t>
            </a:r>
            <a:r>
              <a:rPr lang="en-US" sz="2400" dirty="0" err="1">
                <a:solidFill>
                  <a:srgbClr val="FF0000"/>
                </a:solidFill>
              </a:rPr>
              <a:t>một</a:t>
            </a:r>
            <a:r>
              <a:rPr lang="en-US" sz="2400" dirty="0">
                <a:solidFill>
                  <a:srgbClr val="FF0000"/>
                </a:solidFill>
              </a:rPr>
              <a:t> </a:t>
            </a:r>
            <a:r>
              <a:rPr lang="en-US" sz="2400" dirty="0" err="1">
                <a:solidFill>
                  <a:srgbClr val="FF0000"/>
                </a:solidFill>
              </a:rPr>
              <a:t>biểu</a:t>
            </a:r>
            <a:r>
              <a:rPr lang="en-US" sz="2400" dirty="0">
                <a:solidFill>
                  <a:srgbClr val="FF0000"/>
                </a:solidFill>
              </a:rPr>
              <a:t> </a:t>
            </a:r>
            <a:r>
              <a:rPr lang="en-US" sz="2400" dirty="0" err="1">
                <a:solidFill>
                  <a:srgbClr val="FF0000"/>
                </a:solidFill>
              </a:rPr>
              <a:t>thức</a:t>
            </a:r>
            <a:r>
              <a:rPr lang="en-US" sz="2400" dirty="0">
                <a:solidFill>
                  <a:srgbClr val="FF0000"/>
                </a:solidFill>
              </a:rPr>
              <a:t> </a:t>
            </a:r>
            <a:r>
              <a:rPr lang="en-US" sz="2400" dirty="0" err="1">
                <a:solidFill>
                  <a:srgbClr val="FF0000"/>
                </a:solidFill>
              </a:rPr>
              <a:t>có</a:t>
            </a:r>
            <a:r>
              <a:rPr lang="en-US" sz="2400" dirty="0">
                <a:solidFill>
                  <a:srgbClr val="FF0000"/>
                </a:solidFill>
              </a:rPr>
              <a:t> </a:t>
            </a:r>
            <a:r>
              <a:rPr lang="en-US" sz="2400" dirty="0" err="1">
                <a:solidFill>
                  <a:srgbClr val="FF0000"/>
                </a:solidFill>
              </a:rPr>
              <a:t>thể</a:t>
            </a:r>
            <a:r>
              <a:rPr lang="en-US" sz="2400" dirty="0">
                <a:solidFill>
                  <a:srgbClr val="FF0000"/>
                </a:solidFill>
              </a:rPr>
              <a:t> </a:t>
            </a:r>
            <a:r>
              <a:rPr lang="en-US" sz="2400" dirty="0" err="1">
                <a:solidFill>
                  <a:srgbClr val="FF0000"/>
                </a:solidFill>
              </a:rPr>
              <a:t>được</a:t>
            </a:r>
            <a:r>
              <a:rPr lang="en-US" sz="2400" dirty="0">
                <a:solidFill>
                  <a:srgbClr val="FF0000"/>
                </a:solidFill>
              </a:rPr>
              <a:t> </a:t>
            </a:r>
            <a:r>
              <a:rPr lang="en-US" sz="2400" dirty="0" err="1">
                <a:solidFill>
                  <a:srgbClr val="FF0000"/>
                </a:solidFill>
              </a:rPr>
              <a:t>sử</a:t>
            </a:r>
            <a:r>
              <a:rPr lang="en-US" sz="2400" dirty="0">
                <a:solidFill>
                  <a:srgbClr val="FF0000"/>
                </a:solidFill>
              </a:rPr>
              <a:t> </a:t>
            </a:r>
            <a:r>
              <a:rPr lang="en-US" sz="2400" dirty="0" err="1">
                <a:solidFill>
                  <a:srgbClr val="FF0000"/>
                </a:solidFill>
              </a:rPr>
              <a:t>dụng</a:t>
            </a:r>
            <a:r>
              <a:rPr lang="en-US" dirty="0"/>
              <a:t>.  </a:t>
            </a:r>
          </a:p>
          <a:p>
            <a:endParaRPr lang="en-US" dirty="0"/>
          </a:p>
          <a:p>
            <a:endParaRPr lang="en-US" dirty="0"/>
          </a:p>
        </p:txBody>
      </p:sp>
      <p:sp>
        <p:nvSpPr>
          <p:cNvPr id="4" name="Rectangle 3">
            <a:extLst>
              <a:ext uri="{FF2B5EF4-FFF2-40B4-BE49-F238E27FC236}">
                <a16:creationId xmlns:a16="http://schemas.microsoft.com/office/drawing/2014/main" id="{4103FA2E-1A89-45FD-A261-2C0810EEBFE2}"/>
              </a:ext>
            </a:extLst>
          </p:cNvPr>
          <p:cNvSpPr/>
          <p:nvPr/>
        </p:nvSpPr>
        <p:spPr>
          <a:xfrm>
            <a:off x="2917998" y="4345597"/>
            <a:ext cx="6096000" cy="2031325"/>
          </a:xfrm>
          <a:prstGeom prst="rect">
            <a:avLst/>
          </a:prstGeom>
          <a:ln>
            <a:solidFill>
              <a:schemeClr val="tx1"/>
            </a:solidFill>
          </a:ln>
        </p:spPr>
        <p:txBody>
          <a:bodyPr>
            <a:spAutoFit/>
          </a:bodyPr>
          <a:lstStyle/>
          <a:p>
            <a:r>
              <a:rPr lang="en-US">
                <a:solidFill>
                  <a:srgbClr val="FF0000"/>
                </a:solidFill>
              </a:rPr>
              <a:t>SELECT</a:t>
            </a:r>
            <a:r>
              <a:rPr lang="en-US"/>
              <a:t> tên cột 1, tên cột 2, ... </a:t>
            </a:r>
          </a:p>
          <a:p>
            <a:r>
              <a:rPr lang="en-US"/>
              <a:t>	</a:t>
            </a:r>
            <a:r>
              <a:rPr lang="en-US">
                <a:solidFill>
                  <a:srgbClr val="FF0000"/>
                </a:solidFill>
              </a:rPr>
              <a:t>FROM</a:t>
            </a:r>
            <a:r>
              <a:rPr lang="en-US"/>
              <a:t> các bảng </a:t>
            </a:r>
          </a:p>
          <a:p>
            <a:r>
              <a:rPr lang="en-US"/>
              <a:t>      [</a:t>
            </a:r>
            <a:r>
              <a:rPr lang="en-US">
                <a:solidFill>
                  <a:srgbClr val="FF0000"/>
                </a:solidFill>
              </a:rPr>
              <a:t>WHERE</a:t>
            </a:r>
            <a:r>
              <a:rPr lang="en-US"/>
              <a:t> điều kiện chọn] </a:t>
            </a:r>
          </a:p>
          <a:p>
            <a:r>
              <a:rPr lang="en-US"/>
              <a:t>      [</a:t>
            </a:r>
            <a:r>
              <a:rPr lang="en-US">
                <a:solidFill>
                  <a:srgbClr val="FF0000"/>
                </a:solidFill>
              </a:rPr>
              <a:t>GROUP</a:t>
            </a:r>
            <a:r>
              <a:rPr lang="en-US"/>
              <a:t> </a:t>
            </a:r>
            <a:r>
              <a:rPr lang="en-US">
                <a:solidFill>
                  <a:srgbClr val="FF0000"/>
                </a:solidFill>
              </a:rPr>
              <a:t>BY</a:t>
            </a:r>
            <a:r>
              <a:rPr lang="en-US"/>
              <a:t> nhóm] </a:t>
            </a:r>
          </a:p>
          <a:p>
            <a:r>
              <a:rPr lang="en-US"/>
              <a:t>      [</a:t>
            </a:r>
            <a:r>
              <a:rPr lang="en-US">
                <a:solidFill>
                  <a:srgbClr val="FF0000"/>
                </a:solidFill>
              </a:rPr>
              <a:t>HAVING</a:t>
            </a:r>
            <a:r>
              <a:rPr lang="en-US"/>
              <a:t> điều kiện chọn nhóm] </a:t>
            </a:r>
          </a:p>
          <a:p>
            <a:r>
              <a:rPr lang="en-US"/>
              <a:t>      [</a:t>
            </a:r>
            <a:r>
              <a:rPr lang="en-US">
                <a:solidFill>
                  <a:srgbClr val="FF0000"/>
                </a:solidFill>
              </a:rPr>
              <a:t>ORDER</a:t>
            </a:r>
            <a:r>
              <a:rPr lang="en-US"/>
              <a:t> </a:t>
            </a:r>
            <a:r>
              <a:rPr lang="en-US">
                <a:solidFill>
                  <a:srgbClr val="FF0000"/>
                </a:solidFill>
              </a:rPr>
              <a:t>BY</a:t>
            </a:r>
            <a:r>
              <a:rPr lang="en-US"/>
              <a:t> các cột sắp xếp] </a:t>
            </a:r>
          </a:p>
          <a:p>
            <a:r>
              <a:rPr lang="en-US"/>
              <a:t>      [</a:t>
            </a:r>
            <a:r>
              <a:rPr lang="en-US">
                <a:solidFill>
                  <a:srgbClr val="FF0000"/>
                </a:solidFill>
              </a:rPr>
              <a:t>LIMIT</a:t>
            </a:r>
            <a:r>
              <a:rPr lang="en-US"/>
              <a:t> giới hạn số lượng]; </a:t>
            </a:r>
            <a:endParaRPr lang="en-US" dirty="0"/>
          </a:p>
        </p:txBody>
      </p:sp>
    </p:spTree>
    <p:extLst>
      <p:ext uri="{BB962C8B-B14F-4D97-AF65-F5344CB8AC3E}">
        <p14:creationId xmlns:p14="http://schemas.microsoft.com/office/powerpoint/2010/main" val="94451872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6D63E-4AE9-45B2-A2D9-AED11429EC13}"/>
              </a:ext>
            </a:extLst>
          </p:cNvPr>
          <p:cNvSpPr>
            <a:spLocks noGrp="1"/>
          </p:cNvSpPr>
          <p:nvPr>
            <p:ph type="title"/>
          </p:nvPr>
        </p:nvSpPr>
        <p:spPr/>
        <p:txBody>
          <a:bodyPr/>
          <a:lstStyle/>
          <a:p>
            <a:r>
              <a:rPr lang="en-US"/>
              <a:t>SubQuery – Truy vấn con</a:t>
            </a:r>
            <a:br>
              <a:rPr lang="en-US"/>
            </a:br>
            <a:endParaRPr lang="en-US"/>
          </a:p>
        </p:txBody>
      </p:sp>
      <p:sp>
        <p:nvSpPr>
          <p:cNvPr id="3" name="Content Placeholder 2">
            <a:extLst>
              <a:ext uri="{FF2B5EF4-FFF2-40B4-BE49-F238E27FC236}">
                <a16:creationId xmlns:a16="http://schemas.microsoft.com/office/drawing/2014/main" id="{24D5393A-AA4B-4F2D-87E7-BDC69DC1B3D9}"/>
              </a:ext>
            </a:extLst>
          </p:cNvPr>
          <p:cNvSpPr>
            <a:spLocks noGrp="1"/>
          </p:cNvSpPr>
          <p:nvPr>
            <p:ph idx="1"/>
          </p:nvPr>
        </p:nvSpPr>
        <p:spPr>
          <a:xfrm>
            <a:off x="677334" y="1669409"/>
            <a:ext cx="8596668" cy="4371953"/>
          </a:xfrm>
        </p:spPr>
        <p:txBody>
          <a:bodyPr/>
          <a:lstStyle/>
          <a:p>
            <a:r>
              <a:rPr lang="en-US" b="1"/>
              <a:t>Tuy nhiên chúng có sự khác nhau với giá trị trả về.</a:t>
            </a:r>
          </a:p>
          <a:p>
            <a:r>
              <a:rPr lang="en-US" b="1"/>
              <a:t>Xuất hiện ở </a:t>
            </a:r>
            <a:r>
              <a:rPr lang="en-US" b="1">
                <a:solidFill>
                  <a:srgbClr val="FF0000"/>
                </a:solidFill>
              </a:rPr>
              <a:t>Select</a:t>
            </a:r>
            <a:r>
              <a:rPr lang="en-US" b="1"/>
              <a:t>: </a:t>
            </a:r>
          </a:p>
          <a:p>
            <a:r>
              <a:rPr lang="en-US" b="1"/>
              <a:t>Xuất hiện ở </a:t>
            </a:r>
            <a:r>
              <a:rPr lang="en-US" b="1">
                <a:solidFill>
                  <a:srgbClr val="FF0000"/>
                </a:solidFill>
              </a:rPr>
              <a:t>From</a:t>
            </a:r>
            <a:r>
              <a:rPr lang="en-US" b="1"/>
              <a:t>:</a:t>
            </a:r>
          </a:p>
          <a:p>
            <a:r>
              <a:rPr lang="en-US" b="1"/>
              <a:t>Xuất hiện ở </a:t>
            </a:r>
            <a:r>
              <a:rPr lang="en-US" b="1">
                <a:solidFill>
                  <a:srgbClr val="FF0000"/>
                </a:solidFill>
              </a:rPr>
              <a:t>Where:</a:t>
            </a:r>
          </a:p>
          <a:p>
            <a:r>
              <a:rPr lang="en-US" b="1">
                <a:solidFill>
                  <a:schemeClr val="tx1"/>
                </a:solidFill>
              </a:rPr>
              <a:t>Xuất hiện ở :</a:t>
            </a:r>
            <a:r>
              <a:rPr lang="en-US" b="1">
                <a:solidFill>
                  <a:srgbClr val="FF0000"/>
                </a:solidFill>
              </a:rPr>
              <a:t> …. </a:t>
            </a:r>
          </a:p>
        </p:txBody>
      </p:sp>
      <p:sp>
        <p:nvSpPr>
          <p:cNvPr id="5" name="Rectangle 13">
            <a:extLst>
              <a:ext uri="{FF2B5EF4-FFF2-40B4-BE49-F238E27FC236}">
                <a16:creationId xmlns:a16="http://schemas.microsoft.com/office/drawing/2014/main" id="{09A02ADF-F9A4-40C5-A56C-A47B00FC8A61}"/>
              </a:ext>
            </a:extLst>
          </p:cNvPr>
          <p:cNvSpPr>
            <a:spLocks noChangeArrowheads="1"/>
          </p:cNvSpPr>
          <p:nvPr/>
        </p:nvSpPr>
        <p:spPr bwMode="auto">
          <a:xfrm>
            <a:off x="4486738" y="3727564"/>
            <a:ext cx="4674039" cy="1200329"/>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l"/>
            <a:r>
              <a:rPr lang="en-US" altLang="en-US" b="1">
                <a:solidFill>
                  <a:srgbClr val="FF0000"/>
                </a:solidFill>
              </a:rPr>
              <a:t>SELECT</a:t>
            </a:r>
            <a:r>
              <a:rPr lang="en-US" altLang="en-US"/>
              <a:t> ………</a:t>
            </a:r>
          </a:p>
          <a:p>
            <a:pPr algn="l"/>
            <a:r>
              <a:rPr lang="en-US" altLang="en-US" b="1">
                <a:solidFill>
                  <a:srgbClr val="FF0000"/>
                </a:solidFill>
              </a:rPr>
              <a:t>FROM</a:t>
            </a:r>
            <a:r>
              <a:rPr lang="en-US" altLang="en-US"/>
              <a:t>  ………</a:t>
            </a:r>
          </a:p>
          <a:p>
            <a:pPr algn="l"/>
            <a:r>
              <a:rPr lang="en-US" altLang="en-US" b="1">
                <a:solidFill>
                  <a:srgbClr val="FF0000"/>
                </a:solidFill>
              </a:rPr>
              <a:t>WHERE</a:t>
            </a:r>
            <a:r>
              <a:rPr lang="en-US" altLang="en-US"/>
              <a:t> &lt;điều kiện&gt; </a:t>
            </a:r>
          </a:p>
          <a:p>
            <a:pPr algn="l"/>
            <a:r>
              <a:rPr lang="en-US" altLang="en-US"/>
              <a:t>	</a:t>
            </a:r>
          </a:p>
        </p:txBody>
      </p:sp>
    </p:spTree>
    <p:extLst>
      <p:ext uri="{BB962C8B-B14F-4D97-AF65-F5344CB8AC3E}">
        <p14:creationId xmlns:p14="http://schemas.microsoft.com/office/powerpoint/2010/main" val="319260300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BFE0C-744B-4116-B7DF-5B5E6C4D4C46}"/>
              </a:ext>
            </a:extLst>
          </p:cNvPr>
          <p:cNvSpPr>
            <a:spLocks noGrp="1"/>
          </p:cNvSpPr>
          <p:nvPr>
            <p:ph type="title"/>
          </p:nvPr>
        </p:nvSpPr>
        <p:spPr>
          <a:xfrm>
            <a:off x="677334" y="223707"/>
            <a:ext cx="8596668" cy="866862"/>
          </a:xfrm>
        </p:spPr>
        <p:txBody>
          <a:bodyPr>
            <a:normAutofit fontScale="90000"/>
          </a:bodyPr>
          <a:lstStyle/>
          <a:p>
            <a:r>
              <a:rPr lang="en-US"/>
              <a:t>SubQuery – Truy vấn con</a:t>
            </a:r>
            <a:br>
              <a:rPr lang="en-US"/>
            </a:br>
            <a:endParaRPr lang="en-US"/>
          </a:p>
        </p:txBody>
      </p:sp>
      <p:sp>
        <p:nvSpPr>
          <p:cNvPr id="3" name="Content Placeholder 2">
            <a:extLst>
              <a:ext uri="{FF2B5EF4-FFF2-40B4-BE49-F238E27FC236}">
                <a16:creationId xmlns:a16="http://schemas.microsoft.com/office/drawing/2014/main" id="{ED887705-D2C3-44F8-8D83-1DC13537F30A}"/>
              </a:ext>
            </a:extLst>
          </p:cNvPr>
          <p:cNvSpPr>
            <a:spLocks noGrp="1"/>
          </p:cNvSpPr>
          <p:nvPr>
            <p:ph idx="1"/>
          </p:nvPr>
        </p:nvSpPr>
        <p:spPr>
          <a:xfrm>
            <a:off x="677334" y="1224793"/>
            <a:ext cx="8596668" cy="4816569"/>
          </a:xfrm>
        </p:spPr>
        <p:txBody>
          <a:bodyPr/>
          <a:lstStyle/>
          <a:p>
            <a:r>
              <a:rPr lang="en-US" b="1" dirty="0"/>
              <a:t>1. Subquery ở Where</a:t>
            </a:r>
          </a:p>
          <a:p>
            <a:r>
              <a:rPr lang="en-US" dirty="0" err="1"/>
              <a:t>Giá</a:t>
            </a:r>
            <a:r>
              <a:rPr lang="en-US" dirty="0"/>
              <a:t> </a:t>
            </a:r>
            <a:r>
              <a:rPr lang="en-US" dirty="0" err="1"/>
              <a:t>trị</a:t>
            </a:r>
            <a:r>
              <a:rPr lang="en-US" dirty="0"/>
              <a:t> </a:t>
            </a:r>
            <a:r>
              <a:rPr lang="en-US" dirty="0" err="1"/>
              <a:t>trả</a:t>
            </a:r>
            <a:r>
              <a:rPr lang="en-US" dirty="0"/>
              <a:t> </a:t>
            </a:r>
            <a:r>
              <a:rPr lang="en-US" dirty="0" err="1"/>
              <a:t>về</a:t>
            </a:r>
            <a:r>
              <a:rPr lang="en-US" dirty="0"/>
              <a:t>?</a:t>
            </a:r>
          </a:p>
          <a:p>
            <a:r>
              <a:rPr lang="en-US" dirty="0" err="1"/>
              <a:t>Ví</a:t>
            </a:r>
            <a:r>
              <a:rPr lang="en-US" dirty="0"/>
              <a:t> </a:t>
            </a:r>
            <a:r>
              <a:rPr lang="en-US" dirty="0" err="1"/>
              <a:t>dụ</a:t>
            </a:r>
            <a:r>
              <a:rPr lang="en-US" dirty="0"/>
              <a:t>: </a:t>
            </a:r>
            <a:r>
              <a:rPr lang="en-US" dirty="0" err="1"/>
              <a:t>Đưa</a:t>
            </a:r>
            <a:r>
              <a:rPr lang="en-US" dirty="0"/>
              <a:t> </a:t>
            </a:r>
            <a:r>
              <a:rPr lang="en-US" dirty="0" err="1"/>
              <a:t>ra</a:t>
            </a:r>
            <a:r>
              <a:rPr lang="en-US" dirty="0"/>
              <a:t> </a:t>
            </a:r>
            <a:r>
              <a:rPr lang="en-US" dirty="0" err="1"/>
              <a:t>các</a:t>
            </a:r>
            <a:r>
              <a:rPr lang="en-US" dirty="0"/>
              <a:t> </a:t>
            </a:r>
            <a:r>
              <a:rPr lang="en-US" dirty="0" err="1"/>
              <a:t>đơn</a:t>
            </a:r>
            <a:r>
              <a:rPr lang="en-US" dirty="0"/>
              <a:t> </a:t>
            </a:r>
            <a:r>
              <a:rPr lang="en-US" dirty="0" err="1"/>
              <a:t>hàng</a:t>
            </a:r>
            <a:r>
              <a:rPr lang="en-US" dirty="0"/>
              <a:t> </a:t>
            </a:r>
            <a:r>
              <a:rPr lang="en-US" dirty="0" err="1"/>
              <a:t>gần</a:t>
            </a:r>
            <a:r>
              <a:rPr lang="en-US" dirty="0"/>
              <a:t> </a:t>
            </a:r>
            <a:r>
              <a:rPr lang="en-US" dirty="0" err="1"/>
              <a:t>đây</a:t>
            </a:r>
            <a:r>
              <a:rPr lang="en-US" dirty="0"/>
              <a:t> </a:t>
            </a:r>
            <a:r>
              <a:rPr lang="en-US" dirty="0" err="1"/>
              <a:t>nhất</a:t>
            </a:r>
            <a:r>
              <a:rPr lang="en-US" dirty="0"/>
              <a:t> </a:t>
            </a:r>
            <a:r>
              <a:rPr lang="en-US" dirty="0" err="1"/>
              <a:t>trong</a:t>
            </a:r>
            <a:r>
              <a:rPr lang="en-US" dirty="0"/>
              <a:t> </a:t>
            </a:r>
            <a:r>
              <a:rPr lang="en-US" dirty="0" err="1"/>
              <a:t>bảng</a:t>
            </a:r>
            <a:r>
              <a:rPr lang="en-US" dirty="0"/>
              <a:t> </a:t>
            </a:r>
            <a:r>
              <a:rPr lang="en-US" b="1" dirty="0">
                <a:solidFill>
                  <a:srgbClr val="7030A0"/>
                </a:solidFill>
              </a:rPr>
              <a:t>orders</a:t>
            </a:r>
            <a:r>
              <a:rPr lang="en-US" dirty="0"/>
              <a:t> </a:t>
            </a:r>
          </a:p>
          <a:p>
            <a:r>
              <a:rPr lang="en-US" dirty="0" err="1"/>
              <a:t>Câu</a:t>
            </a:r>
            <a:r>
              <a:rPr lang="en-US" dirty="0"/>
              <a:t> </a:t>
            </a:r>
            <a:r>
              <a:rPr lang="en-US" dirty="0" err="1"/>
              <a:t>lệnh</a:t>
            </a:r>
            <a:r>
              <a:rPr lang="en-US" dirty="0"/>
              <a:t> </a:t>
            </a:r>
            <a:r>
              <a:rPr lang="en-US" dirty="0" err="1"/>
              <a:t>nào</a:t>
            </a:r>
            <a:r>
              <a:rPr lang="en-US" dirty="0"/>
              <a:t> </a:t>
            </a:r>
            <a:r>
              <a:rPr lang="en-US" dirty="0" err="1"/>
              <a:t>đúng</a:t>
            </a:r>
            <a:r>
              <a:rPr lang="en-US" dirty="0"/>
              <a:t>??</a:t>
            </a:r>
          </a:p>
          <a:p>
            <a:endParaRPr lang="en-US" dirty="0"/>
          </a:p>
        </p:txBody>
      </p:sp>
      <p:sp>
        <p:nvSpPr>
          <p:cNvPr id="4" name="Rectangle 13">
            <a:extLst>
              <a:ext uri="{FF2B5EF4-FFF2-40B4-BE49-F238E27FC236}">
                <a16:creationId xmlns:a16="http://schemas.microsoft.com/office/drawing/2014/main" id="{073C0443-A091-4CBF-A244-719EBE4CCA19}"/>
              </a:ext>
            </a:extLst>
          </p:cNvPr>
          <p:cNvSpPr>
            <a:spLocks noChangeArrowheads="1"/>
          </p:cNvSpPr>
          <p:nvPr/>
        </p:nvSpPr>
        <p:spPr bwMode="auto">
          <a:xfrm>
            <a:off x="7221549" y="598005"/>
            <a:ext cx="4674039" cy="1200329"/>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l"/>
            <a:r>
              <a:rPr lang="en-US" altLang="en-US" b="1">
                <a:solidFill>
                  <a:srgbClr val="FF0000"/>
                </a:solidFill>
              </a:rPr>
              <a:t>SELECT</a:t>
            </a:r>
            <a:r>
              <a:rPr lang="en-US" altLang="en-US"/>
              <a:t> ………</a:t>
            </a:r>
          </a:p>
          <a:p>
            <a:pPr algn="l"/>
            <a:r>
              <a:rPr lang="en-US" altLang="en-US" b="1">
                <a:solidFill>
                  <a:srgbClr val="FF0000"/>
                </a:solidFill>
              </a:rPr>
              <a:t>FROM</a:t>
            </a:r>
            <a:r>
              <a:rPr lang="en-US" altLang="en-US"/>
              <a:t>  ………</a:t>
            </a:r>
          </a:p>
          <a:p>
            <a:pPr algn="l"/>
            <a:r>
              <a:rPr lang="en-US" altLang="en-US" b="1">
                <a:solidFill>
                  <a:srgbClr val="FF0000"/>
                </a:solidFill>
              </a:rPr>
              <a:t>WHERE</a:t>
            </a:r>
            <a:r>
              <a:rPr lang="en-US" altLang="en-US"/>
              <a:t> &lt;Select ….&gt; </a:t>
            </a:r>
          </a:p>
          <a:p>
            <a:pPr algn="l"/>
            <a:r>
              <a:rPr lang="en-US" altLang="en-US"/>
              <a:t>	</a:t>
            </a:r>
          </a:p>
        </p:txBody>
      </p:sp>
      <p:sp>
        <p:nvSpPr>
          <p:cNvPr id="5" name="Rectangle 4">
            <a:extLst>
              <a:ext uri="{FF2B5EF4-FFF2-40B4-BE49-F238E27FC236}">
                <a16:creationId xmlns:a16="http://schemas.microsoft.com/office/drawing/2014/main" id="{42238451-057B-42FC-ACF5-10817C9B413A}"/>
              </a:ext>
            </a:extLst>
          </p:cNvPr>
          <p:cNvSpPr/>
          <p:nvPr/>
        </p:nvSpPr>
        <p:spPr>
          <a:xfrm>
            <a:off x="3274129" y="3315797"/>
            <a:ext cx="8403346" cy="736484"/>
          </a:xfrm>
          <a:prstGeom prst="rect">
            <a:avLst/>
          </a:prstGeom>
          <a:ln>
            <a:solidFill>
              <a:schemeClr val="tx1"/>
            </a:solidFill>
          </a:ln>
        </p:spPr>
        <p:txBody>
          <a:bodyPr wrap="square">
            <a:spAutoFit/>
          </a:bodyPr>
          <a:lstStyle/>
          <a:p>
            <a:pPr marL="6350" marR="529590" indent="-6350">
              <a:lnSpc>
                <a:spcPct val="108000"/>
              </a:lnSpc>
              <a:spcAft>
                <a:spcPts val="430"/>
              </a:spcAft>
            </a:pPr>
            <a:r>
              <a:rPr lang="en-US" b="1" dirty="0">
                <a:solidFill>
                  <a:srgbClr val="FF0000"/>
                </a:solidFill>
                <a:latin typeface="Courier New" panose="02070309020205020404" pitchFamily="49" charset="0"/>
                <a:ea typeface="Courier New" panose="02070309020205020404" pitchFamily="49" charset="0"/>
              </a:rPr>
              <a:t>SELECT</a:t>
            </a:r>
            <a:r>
              <a:rPr lang="en-US" dirty="0">
                <a:solidFill>
                  <a:srgbClr val="000000"/>
                </a:solidFill>
                <a:latin typeface="Courier New" panose="02070309020205020404" pitchFamily="49" charset="0"/>
                <a:ea typeface="Courier New" panose="02070309020205020404" pitchFamily="49" charset="0"/>
              </a:rPr>
              <a:t> * </a:t>
            </a:r>
            <a:r>
              <a:rPr lang="en-US" b="1" dirty="0">
                <a:solidFill>
                  <a:srgbClr val="FF0000"/>
                </a:solidFill>
                <a:latin typeface="Courier New" panose="02070309020205020404" pitchFamily="49" charset="0"/>
                <a:ea typeface="Courier New" panose="02070309020205020404" pitchFamily="49" charset="0"/>
              </a:rPr>
              <a:t>FROM</a:t>
            </a:r>
            <a:r>
              <a:rPr lang="en-US" dirty="0">
                <a:solidFill>
                  <a:srgbClr val="000000"/>
                </a:solidFill>
                <a:latin typeface="Courier New" panose="02070309020205020404" pitchFamily="49" charset="0"/>
                <a:ea typeface="Courier New" panose="02070309020205020404" pitchFamily="49" charset="0"/>
              </a:rPr>
              <a:t> </a:t>
            </a:r>
            <a:r>
              <a:rPr lang="en-US" b="1" dirty="0">
                <a:solidFill>
                  <a:srgbClr val="7030A0"/>
                </a:solidFill>
                <a:latin typeface="Courier New" panose="02070309020205020404" pitchFamily="49" charset="0"/>
                <a:ea typeface="Courier New" panose="02070309020205020404" pitchFamily="49" charset="0"/>
              </a:rPr>
              <a:t>orders</a:t>
            </a:r>
            <a:r>
              <a:rPr lang="en-US" dirty="0">
                <a:solidFill>
                  <a:srgbClr val="000000"/>
                </a:solidFill>
                <a:latin typeface="Courier New" panose="02070309020205020404" pitchFamily="49" charset="0"/>
                <a:ea typeface="Courier New" panose="02070309020205020404" pitchFamily="49" charset="0"/>
              </a:rPr>
              <a:t> </a:t>
            </a:r>
            <a:endParaRPr lang="en-US" sz="1600" dirty="0">
              <a:solidFill>
                <a:srgbClr val="000000"/>
              </a:solidFill>
              <a:latin typeface="Calibri" panose="020F0502020204030204" pitchFamily="34" charset="0"/>
              <a:ea typeface="Calibri" panose="020F0502020204030204" pitchFamily="34" charset="0"/>
            </a:endParaRPr>
          </a:p>
          <a:p>
            <a:pPr marL="6350" marR="529590" indent="-6350">
              <a:lnSpc>
                <a:spcPct val="108000"/>
              </a:lnSpc>
              <a:spcAft>
                <a:spcPts val="1900"/>
              </a:spcAft>
            </a:pPr>
            <a:r>
              <a:rPr lang="en-US" b="1" dirty="0">
                <a:solidFill>
                  <a:srgbClr val="FF0000"/>
                </a:solidFill>
                <a:latin typeface="Courier New" panose="02070309020205020404" pitchFamily="49" charset="0"/>
                <a:ea typeface="Courier New" panose="02070309020205020404" pitchFamily="49" charset="0"/>
              </a:rPr>
              <a:t>WHERE</a:t>
            </a:r>
            <a:r>
              <a:rPr lang="en-US" dirty="0">
                <a:solidFill>
                  <a:srgbClr val="000000"/>
                </a:solidFill>
                <a:latin typeface="Courier New" panose="02070309020205020404" pitchFamily="49" charset="0"/>
                <a:ea typeface="Courier New" panose="02070309020205020404" pitchFamily="49" charset="0"/>
              </a:rPr>
              <a:t> </a:t>
            </a:r>
            <a:r>
              <a:rPr lang="en-US" dirty="0" err="1">
                <a:solidFill>
                  <a:srgbClr val="000000"/>
                </a:solidFill>
                <a:latin typeface="Courier New" panose="02070309020205020404" pitchFamily="49" charset="0"/>
                <a:ea typeface="Courier New" panose="02070309020205020404" pitchFamily="49" charset="0"/>
              </a:rPr>
              <a:t>orderDate</a:t>
            </a:r>
            <a:r>
              <a:rPr lang="en-US" dirty="0">
                <a:solidFill>
                  <a:srgbClr val="000000"/>
                </a:solidFill>
                <a:latin typeface="Courier New" panose="02070309020205020404" pitchFamily="49" charset="0"/>
                <a:ea typeface="Courier New" panose="02070309020205020404" pitchFamily="49" charset="0"/>
              </a:rPr>
              <a:t> = (</a:t>
            </a:r>
            <a:r>
              <a:rPr lang="en-US" dirty="0">
                <a:solidFill>
                  <a:srgbClr val="FF0000"/>
                </a:solidFill>
                <a:latin typeface="Courier New" panose="02070309020205020404" pitchFamily="49" charset="0"/>
                <a:ea typeface="Courier New" panose="02070309020205020404" pitchFamily="49" charset="0"/>
              </a:rPr>
              <a:t>SELECT</a:t>
            </a:r>
            <a:r>
              <a:rPr lang="en-US" dirty="0">
                <a:solidFill>
                  <a:srgbClr val="000000"/>
                </a:solidFill>
                <a:latin typeface="Courier New" panose="02070309020205020404" pitchFamily="49" charset="0"/>
                <a:ea typeface="Courier New" panose="02070309020205020404" pitchFamily="49" charset="0"/>
              </a:rPr>
              <a:t>   MAX(</a:t>
            </a:r>
            <a:r>
              <a:rPr lang="en-US" dirty="0" err="1">
                <a:solidFill>
                  <a:srgbClr val="000000"/>
                </a:solidFill>
                <a:latin typeface="Courier New" panose="02070309020205020404" pitchFamily="49" charset="0"/>
                <a:ea typeface="Courier New" panose="02070309020205020404" pitchFamily="49" charset="0"/>
              </a:rPr>
              <a:t>orderDate</a:t>
            </a:r>
            <a:r>
              <a:rPr lang="en-US" dirty="0">
                <a:solidFill>
                  <a:srgbClr val="000000"/>
                </a:solidFill>
                <a:latin typeface="Courier New" panose="02070309020205020404" pitchFamily="49" charset="0"/>
                <a:ea typeface="Courier New" panose="02070309020205020404" pitchFamily="49" charset="0"/>
              </a:rPr>
              <a:t>) FROM </a:t>
            </a:r>
            <a:r>
              <a:rPr lang="en-US" b="1" dirty="0">
                <a:solidFill>
                  <a:srgbClr val="7030A0"/>
                </a:solidFill>
                <a:latin typeface="Courier New" panose="02070309020205020404" pitchFamily="49" charset="0"/>
                <a:ea typeface="Courier New" panose="02070309020205020404" pitchFamily="49" charset="0"/>
              </a:rPr>
              <a:t>orders)</a:t>
            </a:r>
            <a:endParaRPr lang="en-US" sz="1600" dirty="0">
              <a:solidFill>
                <a:srgbClr val="000000"/>
              </a:solidFill>
              <a:effectLst/>
              <a:latin typeface="Calibri" panose="020F0502020204030204" pitchFamily="34" charset="0"/>
              <a:ea typeface="Calibri" panose="020F0502020204030204" pitchFamily="34" charset="0"/>
            </a:endParaRPr>
          </a:p>
        </p:txBody>
      </p:sp>
      <p:sp>
        <p:nvSpPr>
          <p:cNvPr id="6" name="Rectangle 5">
            <a:extLst>
              <a:ext uri="{FF2B5EF4-FFF2-40B4-BE49-F238E27FC236}">
                <a16:creationId xmlns:a16="http://schemas.microsoft.com/office/drawing/2014/main" id="{A8CDF67A-8AFB-4D9C-9CF4-04540BE33828}"/>
              </a:ext>
            </a:extLst>
          </p:cNvPr>
          <p:cNvSpPr/>
          <p:nvPr/>
        </p:nvSpPr>
        <p:spPr>
          <a:xfrm>
            <a:off x="5665365" y="4539535"/>
            <a:ext cx="4493702" cy="646331"/>
          </a:xfrm>
          <a:prstGeom prst="rect">
            <a:avLst/>
          </a:prstGeom>
          <a:ln>
            <a:solidFill>
              <a:schemeClr val="tx1"/>
            </a:solidFill>
          </a:ln>
        </p:spPr>
        <p:txBody>
          <a:bodyPr wrap="square">
            <a:spAutoFit/>
          </a:bodyPr>
          <a:lstStyle/>
          <a:p>
            <a:r>
              <a:rPr lang="en-US" dirty="0">
                <a:solidFill>
                  <a:srgbClr val="FF0000"/>
                </a:solidFill>
              </a:rPr>
              <a:t>Select</a:t>
            </a:r>
            <a:r>
              <a:rPr lang="en-US" dirty="0"/>
              <a:t> * </a:t>
            </a:r>
            <a:r>
              <a:rPr lang="en-US" dirty="0">
                <a:solidFill>
                  <a:srgbClr val="FF0000"/>
                </a:solidFill>
              </a:rPr>
              <a:t>from</a:t>
            </a:r>
            <a:r>
              <a:rPr lang="en-US" dirty="0"/>
              <a:t> orders</a:t>
            </a:r>
          </a:p>
          <a:p>
            <a:r>
              <a:rPr lang="en-US" dirty="0">
                <a:solidFill>
                  <a:srgbClr val="FF0000"/>
                </a:solidFill>
              </a:rPr>
              <a:t>where</a:t>
            </a:r>
            <a:r>
              <a:rPr lang="en-US" dirty="0"/>
              <a:t> </a:t>
            </a:r>
            <a:r>
              <a:rPr lang="en-US" dirty="0" err="1"/>
              <a:t>orderdate</a:t>
            </a:r>
            <a:r>
              <a:rPr lang="en-US" dirty="0"/>
              <a:t> = </a:t>
            </a:r>
            <a:r>
              <a:rPr lang="en-US" dirty="0">
                <a:solidFill>
                  <a:srgbClr val="FF0000"/>
                </a:solidFill>
              </a:rPr>
              <a:t>max</a:t>
            </a:r>
            <a:r>
              <a:rPr lang="en-US" dirty="0"/>
              <a:t>(</a:t>
            </a:r>
            <a:r>
              <a:rPr lang="en-US" dirty="0" err="1"/>
              <a:t>orderdate</a:t>
            </a:r>
            <a:r>
              <a:rPr lang="en-US" dirty="0"/>
              <a:t>)</a:t>
            </a:r>
          </a:p>
        </p:txBody>
      </p:sp>
      <p:cxnSp>
        <p:nvCxnSpPr>
          <p:cNvPr id="8" name="Straight Arrow Connector 7">
            <a:extLst>
              <a:ext uri="{FF2B5EF4-FFF2-40B4-BE49-F238E27FC236}">
                <a16:creationId xmlns:a16="http://schemas.microsoft.com/office/drawing/2014/main" id="{8DD1D14E-E2C9-4F91-9CF4-1FCFC69C288A}"/>
              </a:ext>
            </a:extLst>
          </p:cNvPr>
          <p:cNvCxnSpPr>
            <a:cxnSpLocks/>
          </p:cNvCxnSpPr>
          <p:nvPr/>
        </p:nvCxnSpPr>
        <p:spPr>
          <a:xfrm flipH="1">
            <a:off x="6291743" y="816638"/>
            <a:ext cx="939567" cy="2739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D5B7C81B-E68D-4A96-84D9-33DE1EF00781}"/>
              </a:ext>
            </a:extLst>
          </p:cNvPr>
          <p:cNvSpPr txBox="1"/>
          <p:nvPr/>
        </p:nvSpPr>
        <p:spPr>
          <a:xfrm>
            <a:off x="5251508" y="1003550"/>
            <a:ext cx="1084976" cy="646331"/>
          </a:xfrm>
          <a:prstGeom prst="rect">
            <a:avLst/>
          </a:prstGeom>
          <a:noFill/>
          <a:ln>
            <a:solidFill>
              <a:schemeClr val="tx1"/>
            </a:solidFill>
          </a:ln>
        </p:spPr>
        <p:txBody>
          <a:bodyPr wrap="square" rtlCol="0">
            <a:spAutoFit/>
          </a:bodyPr>
          <a:lstStyle/>
          <a:p>
            <a:r>
              <a:rPr lang="en-US"/>
              <a:t>Outer Query</a:t>
            </a:r>
          </a:p>
        </p:txBody>
      </p:sp>
      <p:sp>
        <p:nvSpPr>
          <p:cNvPr id="11" name="TextBox 10">
            <a:extLst>
              <a:ext uri="{FF2B5EF4-FFF2-40B4-BE49-F238E27FC236}">
                <a16:creationId xmlns:a16="http://schemas.microsoft.com/office/drawing/2014/main" id="{B78BE49D-EBD0-4C95-91C5-5F4A7AFA429B}"/>
              </a:ext>
            </a:extLst>
          </p:cNvPr>
          <p:cNvSpPr txBox="1"/>
          <p:nvPr/>
        </p:nvSpPr>
        <p:spPr>
          <a:xfrm>
            <a:off x="9122313" y="2238700"/>
            <a:ext cx="1462481" cy="369332"/>
          </a:xfrm>
          <a:prstGeom prst="rect">
            <a:avLst/>
          </a:prstGeom>
          <a:noFill/>
          <a:ln>
            <a:solidFill>
              <a:schemeClr val="tx1"/>
            </a:solidFill>
          </a:ln>
        </p:spPr>
        <p:txBody>
          <a:bodyPr wrap="square" rtlCol="0">
            <a:spAutoFit/>
          </a:bodyPr>
          <a:lstStyle/>
          <a:p>
            <a:r>
              <a:rPr lang="en-US"/>
              <a:t>sub Query</a:t>
            </a:r>
          </a:p>
        </p:txBody>
      </p:sp>
      <p:cxnSp>
        <p:nvCxnSpPr>
          <p:cNvPr id="13" name="Straight Arrow Connector 12">
            <a:extLst>
              <a:ext uri="{FF2B5EF4-FFF2-40B4-BE49-F238E27FC236}">
                <a16:creationId xmlns:a16="http://schemas.microsoft.com/office/drawing/2014/main" id="{529E082F-F870-4F6F-8FC5-C5A12C08551D}"/>
              </a:ext>
            </a:extLst>
          </p:cNvPr>
          <p:cNvCxnSpPr/>
          <p:nvPr/>
        </p:nvCxnSpPr>
        <p:spPr>
          <a:xfrm>
            <a:off x="8800051" y="1464867"/>
            <a:ext cx="679509" cy="6207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Freeform: Shape 16">
            <a:extLst>
              <a:ext uri="{FF2B5EF4-FFF2-40B4-BE49-F238E27FC236}">
                <a16:creationId xmlns:a16="http://schemas.microsoft.com/office/drawing/2014/main" id="{1B89C732-27A7-4334-998E-27B866DB4A23}"/>
              </a:ext>
            </a:extLst>
          </p:cNvPr>
          <p:cNvSpPr/>
          <p:nvPr/>
        </p:nvSpPr>
        <p:spPr>
          <a:xfrm>
            <a:off x="3104769" y="4510088"/>
            <a:ext cx="1324356" cy="1062037"/>
          </a:xfrm>
          <a:custGeom>
            <a:avLst/>
            <a:gdLst>
              <a:gd name="connsiteX0" fmla="*/ 386144 w 1324356"/>
              <a:gd name="connsiteY0" fmla="*/ 80962 h 1062037"/>
              <a:gd name="connsiteX1" fmla="*/ 267081 w 1324356"/>
              <a:gd name="connsiteY1" fmla="*/ 80962 h 1062037"/>
              <a:gd name="connsiteX2" fmla="*/ 243269 w 1324356"/>
              <a:gd name="connsiteY2" fmla="*/ 90487 h 1062037"/>
              <a:gd name="connsiteX3" fmla="*/ 171831 w 1324356"/>
              <a:gd name="connsiteY3" fmla="*/ 123825 h 1062037"/>
              <a:gd name="connsiteX4" fmla="*/ 57531 w 1324356"/>
              <a:gd name="connsiteY4" fmla="*/ 228600 h 1062037"/>
              <a:gd name="connsiteX5" fmla="*/ 28956 w 1324356"/>
              <a:gd name="connsiteY5" fmla="*/ 266700 h 1062037"/>
              <a:gd name="connsiteX6" fmla="*/ 14669 w 1324356"/>
              <a:gd name="connsiteY6" fmla="*/ 300037 h 1062037"/>
              <a:gd name="connsiteX7" fmla="*/ 9906 w 1324356"/>
              <a:gd name="connsiteY7" fmla="*/ 495300 h 1062037"/>
              <a:gd name="connsiteX8" fmla="*/ 148019 w 1324356"/>
              <a:gd name="connsiteY8" fmla="*/ 704850 h 1062037"/>
              <a:gd name="connsiteX9" fmla="*/ 205169 w 1324356"/>
              <a:gd name="connsiteY9" fmla="*/ 752475 h 1062037"/>
              <a:gd name="connsiteX10" fmla="*/ 538544 w 1324356"/>
              <a:gd name="connsiteY10" fmla="*/ 957262 h 1062037"/>
              <a:gd name="connsiteX11" fmla="*/ 624269 w 1324356"/>
              <a:gd name="connsiteY11" fmla="*/ 1000125 h 1062037"/>
              <a:gd name="connsiteX12" fmla="*/ 690944 w 1324356"/>
              <a:gd name="connsiteY12" fmla="*/ 1019175 h 1062037"/>
              <a:gd name="connsiteX13" fmla="*/ 924306 w 1324356"/>
              <a:gd name="connsiteY13" fmla="*/ 1062037 h 1062037"/>
              <a:gd name="connsiteX14" fmla="*/ 1191006 w 1324356"/>
              <a:gd name="connsiteY14" fmla="*/ 985837 h 1062037"/>
              <a:gd name="connsiteX15" fmla="*/ 1210056 w 1324356"/>
              <a:gd name="connsiteY15" fmla="*/ 962025 h 1062037"/>
              <a:gd name="connsiteX16" fmla="*/ 1243394 w 1324356"/>
              <a:gd name="connsiteY16" fmla="*/ 928687 h 1062037"/>
              <a:gd name="connsiteX17" fmla="*/ 1291019 w 1324356"/>
              <a:gd name="connsiteY17" fmla="*/ 823912 h 1062037"/>
              <a:gd name="connsiteX18" fmla="*/ 1324356 w 1324356"/>
              <a:gd name="connsiteY18" fmla="*/ 690562 h 1062037"/>
              <a:gd name="connsiteX19" fmla="*/ 1310069 w 1324356"/>
              <a:gd name="connsiteY19" fmla="*/ 519112 h 1062037"/>
              <a:gd name="connsiteX20" fmla="*/ 1271969 w 1324356"/>
              <a:gd name="connsiteY20" fmla="*/ 457200 h 1062037"/>
              <a:gd name="connsiteX21" fmla="*/ 1200531 w 1324356"/>
              <a:gd name="connsiteY21" fmla="*/ 366712 h 1062037"/>
              <a:gd name="connsiteX22" fmla="*/ 924306 w 1324356"/>
              <a:gd name="connsiteY22" fmla="*/ 152400 h 1062037"/>
              <a:gd name="connsiteX23" fmla="*/ 824294 w 1324356"/>
              <a:gd name="connsiteY23" fmla="*/ 80962 h 1062037"/>
              <a:gd name="connsiteX24" fmla="*/ 705231 w 1324356"/>
              <a:gd name="connsiteY24" fmla="*/ 14287 h 1062037"/>
              <a:gd name="connsiteX25" fmla="*/ 600456 w 1324356"/>
              <a:gd name="connsiteY25" fmla="*/ 0 h 1062037"/>
              <a:gd name="connsiteX26" fmla="*/ 457581 w 1324356"/>
              <a:gd name="connsiteY26" fmla="*/ 33337 h 1062037"/>
              <a:gd name="connsiteX27" fmla="*/ 409956 w 1324356"/>
              <a:gd name="connsiteY27" fmla="*/ 57150 h 1062037"/>
              <a:gd name="connsiteX28" fmla="*/ 281369 w 1324356"/>
              <a:gd name="connsiteY28" fmla="*/ 133350 h 1062037"/>
              <a:gd name="connsiteX29" fmla="*/ 252794 w 1324356"/>
              <a:gd name="connsiteY29" fmla="*/ 152400 h 1062037"/>
              <a:gd name="connsiteX30" fmla="*/ 233744 w 1324356"/>
              <a:gd name="connsiteY30" fmla="*/ 171450 h 1062037"/>
              <a:gd name="connsiteX31" fmla="*/ 195644 w 1324356"/>
              <a:gd name="connsiteY31" fmla="*/ 195262 h 1062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24356" h="1062037">
                <a:moveTo>
                  <a:pt x="386144" y="80962"/>
                </a:moveTo>
                <a:cubicBezTo>
                  <a:pt x="334893" y="73641"/>
                  <a:pt x="337453" y="71783"/>
                  <a:pt x="267081" y="80962"/>
                </a:cubicBezTo>
                <a:cubicBezTo>
                  <a:pt x="258604" y="82068"/>
                  <a:pt x="251303" y="87565"/>
                  <a:pt x="243269" y="90487"/>
                </a:cubicBezTo>
                <a:cubicBezTo>
                  <a:pt x="199501" y="106403"/>
                  <a:pt x="222962" y="93146"/>
                  <a:pt x="171831" y="123825"/>
                </a:cubicBezTo>
                <a:cubicBezTo>
                  <a:pt x="127367" y="150504"/>
                  <a:pt x="88745" y="186981"/>
                  <a:pt x="57531" y="228600"/>
                </a:cubicBezTo>
                <a:cubicBezTo>
                  <a:pt x="48006" y="241300"/>
                  <a:pt x="37124" y="253087"/>
                  <a:pt x="28956" y="266700"/>
                </a:cubicBezTo>
                <a:cubicBezTo>
                  <a:pt x="22736" y="277067"/>
                  <a:pt x="19431" y="288925"/>
                  <a:pt x="14669" y="300037"/>
                </a:cubicBezTo>
                <a:cubicBezTo>
                  <a:pt x="10688" y="333211"/>
                  <a:pt x="-13130" y="450713"/>
                  <a:pt x="9906" y="495300"/>
                </a:cubicBezTo>
                <a:cubicBezTo>
                  <a:pt x="48306" y="569623"/>
                  <a:pt x="97431" y="638222"/>
                  <a:pt x="148019" y="704850"/>
                </a:cubicBezTo>
                <a:cubicBezTo>
                  <a:pt x="163014" y="724600"/>
                  <a:pt x="184343" y="739014"/>
                  <a:pt x="205169" y="752475"/>
                </a:cubicBezTo>
                <a:cubicBezTo>
                  <a:pt x="314699" y="823269"/>
                  <a:pt x="426265" y="890915"/>
                  <a:pt x="538544" y="957262"/>
                </a:cubicBezTo>
                <a:cubicBezTo>
                  <a:pt x="566049" y="973515"/>
                  <a:pt x="594670" y="988100"/>
                  <a:pt x="624269" y="1000125"/>
                </a:cubicBezTo>
                <a:cubicBezTo>
                  <a:pt x="645684" y="1008825"/>
                  <a:pt x="668307" y="1014504"/>
                  <a:pt x="690944" y="1019175"/>
                </a:cubicBezTo>
                <a:cubicBezTo>
                  <a:pt x="768401" y="1035158"/>
                  <a:pt x="846519" y="1047750"/>
                  <a:pt x="924306" y="1062037"/>
                </a:cubicBezTo>
                <a:cubicBezTo>
                  <a:pt x="1067614" y="1050095"/>
                  <a:pt x="1041649" y="1064664"/>
                  <a:pt x="1191006" y="985837"/>
                </a:cubicBezTo>
                <a:cubicBezTo>
                  <a:pt x="1199996" y="981092"/>
                  <a:pt x="1203187" y="969518"/>
                  <a:pt x="1210056" y="962025"/>
                </a:cubicBezTo>
                <a:cubicBezTo>
                  <a:pt x="1220676" y="950440"/>
                  <a:pt x="1232281" y="939800"/>
                  <a:pt x="1243394" y="928687"/>
                </a:cubicBezTo>
                <a:cubicBezTo>
                  <a:pt x="1259269" y="893762"/>
                  <a:pt x="1275907" y="859174"/>
                  <a:pt x="1291019" y="823912"/>
                </a:cubicBezTo>
                <a:cubicBezTo>
                  <a:pt x="1305144" y="790953"/>
                  <a:pt x="1322311" y="699559"/>
                  <a:pt x="1324356" y="690562"/>
                </a:cubicBezTo>
                <a:cubicBezTo>
                  <a:pt x="1319594" y="633412"/>
                  <a:pt x="1318884" y="575779"/>
                  <a:pt x="1310069" y="519112"/>
                </a:cubicBezTo>
                <a:cubicBezTo>
                  <a:pt x="1303433" y="476452"/>
                  <a:pt x="1292849" y="482476"/>
                  <a:pt x="1271969" y="457200"/>
                </a:cubicBezTo>
                <a:cubicBezTo>
                  <a:pt x="1247494" y="427572"/>
                  <a:pt x="1225541" y="395890"/>
                  <a:pt x="1200531" y="366712"/>
                </a:cubicBezTo>
                <a:cubicBezTo>
                  <a:pt x="1132040" y="286806"/>
                  <a:pt x="970328" y="186721"/>
                  <a:pt x="924306" y="152400"/>
                </a:cubicBezTo>
                <a:cubicBezTo>
                  <a:pt x="861522" y="105578"/>
                  <a:pt x="892810" y="120930"/>
                  <a:pt x="824294" y="80962"/>
                </a:cubicBezTo>
                <a:cubicBezTo>
                  <a:pt x="785003" y="58042"/>
                  <a:pt x="749360" y="25319"/>
                  <a:pt x="705231" y="14287"/>
                </a:cubicBezTo>
                <a:cubicBezTo>
                  <a:pt x="645515" y="-642"/>
                  <a:pt x="680189" y="5695"/>
                  <a:pt x="600456" y="0"/>
                </a:cubicBezTo>
                <a:cubicBezTo>
                  <a:pt x="552831" y="11112"/>
                  <a:pt x="504423" y="19284"/>
                  <a:pt x="457581" y="33337"/>
                </a:cubicBezTo>
                <a:cubicBezTo>
                  <a:pt x="440581" y="38437"/>
                  <a:pt x="425392" y="48389"/>
                  <a:pt x="409956" y="57150"/>
                </a:cubicBezTo>
                <a:cubicBezTo>
                  <a:pt x="366626" y="81743"/>
                  <a:pt x="322824" y="105713"/>
                  <a:pt x="281369" y="133350"/>
                </a:cubicBezTo>
                <a:cubicBezTo>
                  <a:pt x="271844" y="139700"/>
                  <a:pt x="261733" y="145249"/>
                  <a:pt x="252794" y="152400"/>
                </a:cubicBezTo>
                <a:cubicBezTo>
                  <a:pt x="245782" y="158010"/>
                  <a:pt x="241320" y="166629"/>
                  <a:pt x="233744" y="171450"/>
                </a:cubicBezTo>
                <a:cubicBezTo>
                  <a:pt x="191567" y="198289"/>
                  <a:pt x="207450" y="171648"/>
                  <a:pt x="195644" y="19526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1203117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4A1C3-CF36-40E9-9B36-494605828352}"/>
              </a:ext>
            </a:extLst>
          </p:cNvPr>
          <p:cNvSpPr>
            <a:spLocks noGrp="1"/>
          </p:cNvSpPr>
          <p:nvPr>
            <p:ph type="title"/>
          </p:nvPr>
        </p:nvSpPr>
        <p:spPr>
          <a:xfrm>
            <a:off x="677334" y="609600"/>
            <a:ext cx="8596668" cy="833306"/>
          </a:xfrm>
        </p:spPr>
        <p:txBody>
          <a:bodyPr>
            <a:normAutofit fontScale="90000"/>
          </a:bodyPr>
          <a:lstStyle/>
          <a:p>
            <a:r>
              <a:rPr lang="en-US"/>
              <a:t>SubQuery – Truy vấn con</a:t>
            </a:r>
            <a:br>
              <a:rPr lang="en-US"/>
            </a:br>
            <a:endParaRPr lang="en-US"/>
          </a:p>
        </p:txBody>
      </p:sp>
      <p:sp>
        <p:nvSpPr>
          <p:cNvPr id="3" name="Content Placeholder 2">
            <a:extLst>
              <a:ext uri="{FF2B5EF4-FFF2-40B4-BE49-F238E27FC236}">
                <a16:creationId xmlns:a16="http://schemas.microsoft.com/office/drawing/2014/main" id="{24A57746-E11F-42E0-B4F3-1109F79C5528}"/>
              </a:ext>
            </a:extLst>
          </p:cNvPr>
          <p:cNvSpPr>
            <a:spLocks noGrp="1"/>
          </p:cNvSpPr>
          <p:nvPr>
            <p:ph idx="1"/>
          </p:nvPr>
        </p:nvSpPr>
        <p:spPr>
          <a:xfrm>
            <a:off x="677334" y="1577131"/>
            <a:ext cx="8886116" cy="4966282"/>
          </a:xfrm>
        </p:spPr>
        <p:txBody>
          <a:bodyPr>
            <a:normAutofit lnSpcReduction="10000"/>
          </a:bodyPr>
          <a:lstStyle/>
          <a:p>
            <a:pPr>
              <a:lnSpc>
                <a:spcPct val="90000"/>
              </a:lnSpc>
            </a:pPr>
            <a:r>
              <a:rPr lang="en-US" b="1"/>
              <a:t>1. Subquery ở Where</a:t>
            </a:r>
          </a:p>
          <a:p>
            <a:pPr>
              <a:lnSpc>
                <a:spcPct val="90000"/>
              </a:lnSpc>
            </a:pPr>
            <a:endParaRPr lang="en-US" altLang="en-US"/>
          </a:p>
          <a:p>
            <a:pPr>
              <a:lnSpc>
                <a:spcPct val="90000"/>
              </a:lnSpc>
            </a:pPr>
            <a:r>
              <a:rPr lang="en-US" altLang="en-US"/>
              <a:t>Các câu lệnh SELECT có thể lồng nhau ở nhiều mức</a:t>
            </a:r>
          </a:p>
          <a:p>
            <a:pPr>
              <a:lnSpc>
                <a:spcPct val="90000"/>
              </a:lnSpc>
            </a:pPr>
            <a:r>
              <a:rPr lang="en-US" altLang="en-US"/>
              <a:t>Các câu truy vấn con trong cùng một mệnh đề WHERE được kết hợp bằng phép nối logic</a:t>
            </a:r>
          </a:p>
          <a:p>
            <a:pPr>
              <a:lnSpc>
                <a:spcPct val="90000"/>
              </a:lnSpc>
            </a:pPr>
            <a:r>
              <a:rPr lang="en-US" altLang="en-US"/>
              <a:t>Câu truy vấn con thường trả về một tập các giá trị</a:t>
            </a:r>
          </a:p>
          <a:p>
            <a:pPr>
              <a:lnSpc>
                <a:spcPct val="90000"/>
              </a:lnSpc>
            </a:pPr>
            <a:r>
              <a:rPr lang="en-US" altLang="en-US"/>
              <a:t>Mệnh đề WHERE của câu truy vấn outer (bên ngoài)</a:t>
            </a:r>
          </a:p>
          <a:p>
            <a:pPr lvl="1">
              <a:lnSpc>
                <a:spcPct val="90000"/>
              </a:lnSpc>
            </a:pPr>
            <a:r>
              <a:rPr lang="en-US" altLang="en-US"/>
              <a:t>&lt;biểu thức&gt; &lt;so sánh tập hợp&gt; &lt;truy vấn con&gt;</a:t>
            </a:r>
          </a:p>
          <a:p>
            <a:pPr lvl="1">
              <a:lnSpc>
                <a:spcPct val="90000"/>
              </a:lnSpc>
            </a:pPr>
            <a:r>
              <a:rPr lang="en-US" altLang="en-US"/>
              <a:t>So sánh tập hợp thường đi cùng với một số toán tử</a:t>
            </a:r>
          </a:p>
          <a:p>
            <a:pPr lvl="2">
              <a:lnSpc>
                <a:spcPct val="90000"/>
              </a:lnSpc>
            </a:pPr>
            <a:r>
              <a:rPr lang="en-US" altLang="en-US"/>
              <a:t>IN, NOT IN</a:t>
            </a:r>
          </a:p>
          <a:p>
            <a:pPr lvl="2">
              <a:lnSpc>
                <a:spcPct val="90000"/>
              </a:lnSpc>
            </a:pPr>
            <a:r>
              <a:rPr lang="en-US" altLang="en-US"/>
              <a:t>ALL</a:t>
            </a:r>
          </a:p>
          <a:p>
            <a:pPr lvl="2">
              <a:lnSpc>
                <a:spcPct val="90000"/>
              </a:lnSpc>
            </a:pPr>
            <a:r>
              <a:rPr lang="en-US" altLang="en-US"/>
              <a:t>ANY hoặc SOME</a:t>
            </a:r>
          </a:p>
          <a:p>
            <a:pPr lvl="1">
              <a:lnSpc>
                <a:spcPct val="90000"/>
              </a:lnSpc>
            </a:pPr>
            <a:r>
              <a:rPr lang="en-US" altLang="en-US"/>
              <a:t>Kiểm tra sự tồn tại</a:t>
            </a:r>
          </a:p>
          <a:p>
            <a:pPr lvl="2">
              <a:lnSpc>
                <a:spcPct val="90000"/>
              </a:lnSpc>
            </a:pPr>
            <a:r>
              <a:rPr lang="en-US" altLang="en-US"/>
              <a:t>EXISTS</a:t>
            </a:r>
          </a:p>
          <a:p>
            <a:pPr lvl="2">
              <a:lnSpc>
                <a:spcPct val="90000"/>
              </a:lnSpc>
            </a:pPr>
            <a:r>
              <a:rPr lang="en-US" altLang="en-US"/>
              <a:t>NOT EXISTS</a:t>
            </a:r>
            <a:endParaRPr lang="en-US"/>
          </a:p>
        </p:txBody>
      </p:sp>
    </p:spTree>
    <p:extLst>
      <p:ext uri="{BB962C8B-B14F-4D97-AF65-F5344CB8AC3E}">
        <p14:creationId xmlns:p14="http://schemas.microsoft.com/office/powerpoint/2010/main" val="305453150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AAD78-779E-46DB-BDA2-92704EBB0139}"/>
              </a:ext>
            </a:extLst>
          </p:cNvPr>
          <p:cNvSpPr>
            <a:spLocks noGrp="1"/>
          </p:cNvSpPr>
          <p:nvPr>
            <p:ph type="title"/>
          </p:nvPr>
        </p:nvSpPr>
        <p:spPr>
          <a:xfrm>
            <a:off x="677334" y="609600"/>
            <a:ext cx="8596668" cy="665527"/>
          </a:xfrm>
        </p:spPr>
        <p:txBody>
          <a:bodyPr>
            <a:normAutofit fontScale="90000"/>
          </a:bodyPr>
          <a:lstStyle/>
          <a:p>
            <a:r>
              <a:rPr lang="en-US"/>
              <a:t>SubQuery – Truy vấn con</a:t>
            </a:r>
            <a:br>
              <a:rPr lang="en-US"/>
            </a:br>
            <a:endParaRPr lang="en-US"/>
          </a:p>
        </p:txBody>
      </p:sp>
      <p:sp>
        <p:nvSpPr>
          <p:cNvPr id="3" name="Content Placeholder 2">
            <a:extLst>
              <a:ext uri="{FF2B5EF4-FFF2-40B4-BE49-F238E27FC236}">
                <a16:creationId xmlns:a16="http://schemas.microsoft.com/office/drawing/2014/main" id="{D181E55E-0099-4CA9-917E-22D12DEFBB32}"/>
              </a:ext>
            </a:extLst>
          </p:cNvPr>
          <p:cNvSpPr>
            <a:spLocks noGrp="1"/>
          </p:cNvSpPr>
          <p:nvPr>
            <p:ph idx="1"/>
          </p:nvPr>
        </p:nvSpPr>
        <p:spPr>
          <a:xfrm>
            <a:off x="677334" y="1333851"/>
            <a:ext cx="8596668" cy="4707512"/>
          </a:xfrm>
        </p:spPr>
        <p:txBody>
          <a:bodyPr/>
          <a:lstStyle/>
          <a:p>
            <a:r>
              <a:rPr lang="en-US" b="1" dirty="0"/>
              <a:t>1. Subquery ở Where </a:t>
            </a:r>
          </a:p>
          <a:p>
            <a:r>
              <a:rPr lang="en-US" b="1" dirty="0"/>
              <a:t>Subquery t</a:t>
            </a:r>
            <a:r>
              <a:rPr lang="vi-VN" b="1" dirty="0"/>
              <a:t>ư</a:t>
            </a:r>
            <a:r>
              <a:rPr lang="en-US" b="1" dirty="0" err="1"/>
              <a:t>ơng</a:t>
            </a:r>
            <a:r>
              <a:rPr lang="en-US" b="1" dirty="0"/>
              <a:t> </a:t>
            </a:r>
            <a:r>
              <a:rPr lang="en-US" b="1" dirty="0" err="1"/>
              <a:t>quan</a:t>
            </a:r>
            <a:r>
              <a:rPr lang="en-US" b="1" dirty="0"/>
              <a:t>: </a:t>
            </a:r>
            <a:r>
              <a:rPr lang="en-US" dirty="0" err="1"/>
              <a:t>Truy</a:t>
            </a:r>
            <a:r>
              <a:rPr lang="en-US" dirty="0"/>
              <a:t> </a:t>
            </a:r>
            <a:r>
              <a:rPr lang="en-US" dirty="0" err="1"/>
              <a:t>vấn</a:t>
            </a:r>
            <a:r>
              <a:rPr lang="en-US" dirty="0"/>
              <a:t> con </a:t>
            </a:r>
            <a:r>
              <a:rPr lang="en-US" dirty="0" err="1"/>
              <a:t>tương</a:t>
            </a:r>
            <a:r>
              <a:rPr lang="en-US" dirty="0"/>
              <a:t> </a:t>
            </a:r>
            <a:r>
              <a:rPr lang="en-US" dirty="0" err="1"/>
              <a:t>quan</a:t>
            </a:r>
            <a:r>
              <a:rPr lang="en-US" dirty="0"/>
              <a:t> </a:t>
            </a:r>
            <a:r>
              <a:rPr lang="en-US" dirty="0" err="1">
                <a:solidFill>
                  <a:srgbClr val="FF0000"/>
                </a:solidFill>
              </a:rPr>
              <a:t>không</a:t>
            </a:r>
            <a:r>
              <a:rPr lang="en-US" dirty="0">
                <a:solidFill>
                  <a:srgbClr val="FF0000"/>
                </a:solidFill>
              </a:rPr>
              <a:t> </a:t>
            </a:r>
            <a:r>
              <a:rPr lang="en-US" dirty="0" err="1">
                <a:solidFill>
                  <a:srgbClr val="FF0000"/>
                </a:solidFill>
              </a:rPr>
              <a:t>độc</a:t>
            </a:r>
            <a:r>
              <a:rPr lang="en-US" dirty="0">
                <a:solidFill>
                  <a:srgbClr val="FF0000"/>
                </a:solidFill>
              </a:rPr>
              <a:t> </a:t>
            </a:r>
            <a:r>
              <a:rPr lang="en-US" dirty="0" err="1">
                <a:solidFill>
                  <a:srgbClr val="FF0000"/>
                </a:solidFill>
              </a:rPr>
              <a:t>lập</a:t>
            </a:r>
            <a:r>
              <a:rPr lang="en-US" dirty="0">
                <a:solidFill>
                  <a:srgbClr val="FF0000"/>
                </a:solidFill>
              </a:rPr>
              <a:t> </a:t>
            </a:r>
            <a:r>
              <a:rPr lang="en-US" dirty="0" err="1"/>
              <a:t>với</a:t>
            </a:r>
            <a:r>
              <a:rPr lang="en-US" dirty="0"/>
              <a:t> </a:t>
            </a:r>
            <a:r>
              <a:rPr lang="en-US" dirty="0" err="1"/>
              <a:t>truy</a:t>
            </a:r>
            <a:r>
              <a:rPr lang="en-US" dirty="0"/>
              <a:t> </a:t>
            </a:r>
            <a:r>
              <a:rPr lang="en-US" dirty="0" err="1"/>
              <a:t>vấn</a:t>
            </a:r>
            <a:r>
              <a:rPr lang="en-US" dirty="0"/>
              <a:t> </a:t>
            </a:r>
            <a:r>
              <a:rPr lang="en-US" dirty="0" err="1"/>
              <a:t>bên</a:t>
            </a:r>
            <a:r>
              <a:rPr lang="en-US" dirty="0"/>
              <a:t> </a:t>
            </a:r>
            <a:r>
              <a:rPr lang="en-US" dirty="0" err="1"/>
              <a:t>ngoài</a:t>
            </a:r>
            <a:r>
              <a:rPr lang="en-US" dirty="0"/>
              <a:t>. </a:t>
            </a:r>
            <a:r>
              <a:rPr lang="en-US" dirty="0" err="1"/>
              <a:t>Một</a:t>
            </a:r>
            <a:r>
              <a:rPr lang="en-US" dirty="0"/>
              <a:t> </a:t>
            </a:r>
            <a:r>
              <a:rPr lang="en-US" dirty="0" err="1"/>
              <a:t>truy</a:t>
            </a:r>
            <a:r>
              <a:rPr lang="en-US" dirty="0"/>
              <a:t> </a:t>
            </a:r>
            <a:r>
              <a:rPr lang="en-US" dirty="0" err="1"/>
              <a:t>vấn</a:t>
            </a:r>
            <a:r>
              <a:rPr lang="en-US" dirty="0"/>
              <a:t> con </a:t>
            </a:r>
            <a:r>
              <a:rPr lang="en-US" dirty="0" err="1"/>
              <a:t>tương</a:t>
            </a:r>
            <a:r>
              <a:rPr lang="en-US" dirty="0"/>
              <a:t> </a:t>
            </a:r>
            <a:r>
              <a:rPr lang="en-US" dirty="0" err="1"/>
              <a:t>quan</a:t>
            </a:r>
            <a:r>
              <a:rPr lang="en-US" dirty="0"/>
              <a:t> </a:t>
            </a:r>
            <a:r>
              <a:rPr lang="en-US" dirty="0" err="1"/>
              <a:t>là</a:t>
            </a:r>
            <a:r>
              <a:rPr lang="en-US" dirty="0"/>
              <a:t> </a:t>
            </a:r>
            <a:r>
              <a:rPr lang="en-US" dirty="0" err="1"/>
              <a:t>một</a:t>
            </a:r>
            <a:r>
              <a:rPr lang="en-US" dirty="0"/>
              <a:t> </a:t>
            </a:r>
            <a:r>
              <a:rPr lang="en-US" dirty="0" err="1"/>
              <a:t>truy</a:t>
            </a:r>
            <a:r>
              <a:rPr lang="en-US" dirty="0"/>
              <a:t> </a:t>
            </a:r>
            <a:r>
              <a:rPr lang="en-US" dirty="0" err="1"/>
              <a:t>vấn</a:t>
            </a:r>
            <a:r>
              <a:rPr lang="en-US" dirty="0"/>
              <a:t> con </a:t>
            </a:r>
            <a:r>
              <a:rPr lang="en-US" dirty="0" err="1">
                <a:solidFill>
                  <a:srgbClr val="FF0000"/>
                </a:solidFill>
              </a:rPr>
              <a:t>sử</a:t>
            </a:r>
            <a:r>
              <a:rPr lang="en-US" dirty="0">
                <a:solidFill>
                  <a:srgbClr val="FF0000"/>
                </a:solidFill>
              </a:rPr>
              <a:t> </a:t>
            </a:r>
            <a:r>
              <a:rPr lang="en-US" dirty="0" err="1">
                <a:solidFill>
                  <a:srgbClr val="FF0000"/>
                </a:solidFill>
              </a:rPr>
              <a:t>dụng</a:t>
            </a:r>
            <a:r>
              <a:rPr lang="en-US" dirty="0">
                <a:solidFill>
                  <a:srgbClr val="FF0000"/>
                </a:solidFill>
              </a:rPr>
              <a:t> </a:t>
            </a:r>
            <a:r>
              <a:rPr lang="en-US" dirty="0" err="1">
                <a:solidFill>
                  <a:srgbClr val="FF0000"/>
                </a:solidFill>
              </a:rPr>
              <a:t>các</a:t>
            </a:r>
            <a:r>
              <a:rPr lang="en-US" dirty="0">
                <a:solidFill>
                  <a:srgbClr val="FF0000"/>
                </a:solidFill>
              </a:rPr>
              <a:t> </a:t>
            </a:r>
            <a:r>
              <a:rPr lang="en-US" dirty="0" err="1">
                <a:solidFill>
                  <a:srgbClr val="FF0000"/>
                </a:solidFill>
              </a:rPr>
              <a:t>giá</a:t>
            </a:r>
            <a:r>
              <a:rPr lang="en-US" dirty="0">
                <a:solidFill>
                  <a:srgbClr val="FF0000"/>
                </a:solidFill>
              </a:rPr>
              <a:t> </a:t>
            </a:r>
            <a:r>
              <a:rPr lang="en-US" dirty="0" err="1">
                <a:solidFill>
                  <a:srgbClr val="FF0000"/>
                </a:solidFill>
              </a:rPr>
              <a:t>trị</a:t>
            </a:r>
            <a:r>
              <a:rPr lang="en-US" dirty="0">
                <a:solidFill>
                  <a:srgbClr val="FF0000"/>
                </a:solidFill>
              </a:rPr>
              <a:t> </a:t>
            </a:r>
            <a:r>
              <a:rPr lang="en-US" dirty="0" err="1">
                <a:solidFill>
                  <a:srgbClr val="FF0000"/>
                </a:solidFill>
              </a:rPr>
              <a:t>từ</a:t>
            </a:r>
            <a:r>
              <a:rPr lang="en-US" dirty="0">
                <a:solidFill>
                  <a:srgbClr val="FF0000"/>
                </a:solidFill>
              </a:rPr>
              <a:t> </a:t>
            </a:r>
            <a:r>
              <a:rPr lang="en-US" dirty="0" err="1">
                <a:solidFill>
                  <a:srgbClr val="FF0000"/>
                </a:solidFill>
              </a:rPr>
              <a:t>truy</a:t>
            </a:r>
            <a:r>
              <a:rPr lang="en-US" dirty="0">
                <a:solidFill>
                  <a:srgbClr val="FF0000"/>
                </a:solidFill>
              </a:rPr>
              <a:t> </a:t>
            </a:r>
            <a:r>
              <a:rPr lang="en-US" dirty="0" err="1">
                <a:solidFill>
                  <a:srgbClr val="FF0000"/>
                </a:solidFill>
              </a:rPr>
              <a:t>vấn</a:t>
            </a:r>
            <a:r>
              <a:rPr lang="en-US" dirty="0">
                <a:solidFill>
                  <a:srgbClr val="FF0000"/>
                </a:solidFill>
              </a:rPr>
              <a:t> </a:t>
            </a:r>
            <a:r>
              <a:rPr lang="en-US" dirty="0" err="1">
                <a:solidFill>
                  <a:srgbClr val="FF0000"/>
                </a:solidFill>
              </a:rPr>
              <a:t>bên</a:t>
            </a:r>
            <a:r>
              <a:rPr lang="en-US" dirty="0">
                <a:solidFill>
                  <a:srgbClr val="FF0000"/>
                </a:solidFill>
              </a:rPr>
              <a:t> </a:t>
            </a:r>
            <a:r>
              <a:rPr lang="en-US" dirty="0" err="1">
                <a:solidFill>
                  <a:srgbClr val="FF0000"/>
                </a:solidFill>
              </a:rPr>
              <a:t>ngoài</a:t>
            </a:r>
            <a:r>
              <a:rPr lang="en-US" dirty="0">
                <a:solidFill>
                  <a:srgbClr val="FF0000"/>
                </a:solidFill>
              </a:rPr>
              <a:t> </a:t>
            </a:r>
            <a:r>
              <a:rPr lang="en-US" dirty="0" err="1"/>
              <a:t>trong</a:t>
            </a:r>
            <a:r>
              <a:rPr lang="en-US" dirty="0"/>
              <a:t> </a:t>
            </a:r>
            <a:r>
              <a:rPr lang="en-US" dirty="0" err="1"/>
              <a:t>mệnh</a:t>
            </a:r>
            <a:r>
              <a:rPr lang="en-US" dirty="0"/>
              <a:t> </a:t>
            </a:r>
            <a:r>
              <a:rPr lang="en-US" dirty="0" err="1"/>
              <a:t>đề</a:t>
            </a:r>
            <a:r>
              <a:rPr lang="en-US" dirty="0"/>
              <a:t> WHERE </a:t>
            </a:r>
            <a:r>
              <a:rPr lang="en-US" dirty="0" err="1"/>
              <a:t>của</a:t>
            </a:r>
            <a:r>
              <a:rPr lang="en-US" dirty="0"/>
              <a:t> </a:t>
            </a:r>
            <a:r>
              <a:rPr lang="en-US" dirty="0" err="1"/>
              <a:t>nó</a:t>
            </a:r>
            <a:r>
              <a:rPr lang="en-US" dirty="0"/>
              <a:t>. </a:t>
            </a:r>
            <a:endParaRPr lang="en-US" b="1" dirty="0"/>
          </a:p>
          <a:p>
            <a:endParaRPr lang="en-US" b="1" dirty="0"/>
          </a:p>
          <a:p>
            <a:endParaRPr lang="en-US" b="1" dirty="0"/>
          </a:p>
          <a:p>
            <a:endParaRPr lang="en-US" dirty="0"/>
          </a:p>
        </p:txBody>
      </p:sp>
      <p:sp>
        <p:nvSpPr>
          <p:cNvPr id="4" name="Rectangle 3">
            <a:extLst>
              <a:ext uri="{FF2B5EF4-FFF2-40B4-BE49-F238E27FC236}">
                <a16:creationId xmlns:a16="http://schemas.microsoft.com/office/drawing/2014/main" id="{68C80A14-7050-45B8-8DAA-3347CC821558}"/>
              </a:ext>
            </a:extLst>
          </p:cNvPr>
          <p:cNvSpPr/>
          <p:nvPr/>
        </p:nvSpPr>
        <p:spPr>
          <a:xfrm>
            <a:off x="2480628" y="3448794"/>
            <a:ext cx="6096000" cy="2977610"/>
          </a:xfrm>
          <a:prstGeom prst="rect">
            <a:avLst/>
          </a:prstGeom>
          <a:ln>
            <a:solidFill>
              <a:schemeClr val="tx1"/>
            </a:solidFill>
          </a:ln>
        </p:spPr>
        <p:txBody>
          <a:bodyPr>
            <a:spAutoFit/>
          </a:bodyPr>
          <a:lstStyle/>
          <a:p>
            <a:pPr marL="6350" marR="3230245" indent="-6350">
              <a:lnSpc>
                <a:spcPct val="139000"/>
              </a:lnSpc>
              <a:spcAft>
                <a:spcPts val="15"/>
              </a:spcAft>
            </a:pPr>
            <a:r>
              <a:rPr lang="en-US" b="1">
                <a:solidFill>
                  <a:srgbClr val="FF0000"/>
                </a:solidFill>
                <a:latin typeface="Courier New" panose="02070309020205020404" pitchFamily="49" charset="0"/>
                <a:ea typeface="Courier New" panose="02070309020205020404" pitchFamily="49" charset="0"/>
              </a:rPr>
              <a:t>SELECT</a:t>
            </a:r>
            <a:r>
              <a:rPr lang="en-US">
                <a:solidFill>
                  <a:srgbClr val="000000"/>
                </a:solidFill>
                <a:latin typeface="Courier New" panose="02070309020205020404" pitchFamily="49" charset="0"/>
                <a:ea typeface="Courier New" panose="02070309020205020404" pitchFamily="49" charset="0"/>
              </a:rPr>
              <a:t> * </a:t>
            </a:r>
            <a:r>
              <a:rPr lang="en-US" b="1">
                <a:solidFill>
                  <a:srgbClr val="FF0000"/>
                </a:solidFill>
                <a:latin typeface="Courier New" panose="02070309020205020404" pitchFamily="49" charset="0"/>
                <a:ea typeface="Courier New" panose="02070309020205020404" pitchFamily="49" charset="0"/>
              </a:rPr>
              <a:t>FROM</a:t>
            </a:r>
            <a:r>
              <a:rPr lang="en-US">
                <a:solidFill>
                  <a:srgbClr val="FF0000"/>
                </a:solidFill>
                <a:latin typeface="Courier New" panose="02070309020205020404" pitchFamily="49" charset="0"/>
                <a:ea typeface="Courier New" panose="02070309020205020404" pitchFamily="49" charset="0"/>
              </a:rPr>
              <a:t> </a:t>
            </a:r>
            <a:r>
              <a:rPr lang="en-US" b="1">
                <a:solidFill>
                  <a:srgbClr val="7030A0"/>
                </a:solidFill>
                <a:latin typeface="Courier New" panose="02070309020205020404" pitchFamily="49" charset="0"/>
                <a:ea typeface="Courier New" panose="02070309020205020404" pitchFamily="49" charset="0"/>
              </a:rPr>
              <a:t>products</a:t>
            </a:r>
            <a:r>
              <a:rPr lang="en-US">
                <a:solidFill>
                  <a:srgbClr val="000000"/>
                </a:solidFill>
                <a:latin typeface="Courier New" panose="02070309020205020404" pitchFamily="49" charset="0"/>
                <a:ea typeface="Courier New" panose="02070309020205020404" pitchFamily="49" charset="0"/>
              </a:rPr>
              <a:t> p </a:t>
            </a:r>
          </a:p>
          <a:p>
            <a:pPr marL="6350" marR="3230245" indent="-6350">
              <a:lnSpc>
                <a:spcPct val="139000"/>
              </a:lnSpc>
              <a:spcAft>
                <a:spcPts val="15"/>
              </a:spcAft>
            </a:pPr>
            <a:r>
              <a:rPr lang="en-US" b="1">
                <a:solidFill>
                  <a:srgbClr val="FF0000"/>
                </a:solidFill>
                <a:latin typeface="Courier New" panose="02070309020205020404" pitchFamily="49" charset="0"/>
                <a:ea typeface="Courier New" panose="02070309020205020404" pitchFamily="49" charset="0"/>
              </a:rPr>
              <a:t>WHERE</a:t>
            </a:r>
            <a:r>
              <a:rPr lang="en-US">
                <a:solidFill>
                  <a:srgbClr val="000000"/>
                </a:solidFill>
                <a:latin typeface="Courier New" panose="02070309020205020404" pitchFamily="49" charset="0"/>
                <a:ea typeface="Courier New" panose="02070309020205020404" pitchFamily="49" charset="0"/>
              </a:rPr>
              <a:t> quantityInStock &gt; </a:t>
            </a:r>
            <a:endParaRPr lang="en-US" sz="1600">
              <a:solidFill>
                <a:srgbClr val="000000"/>
              </a:solidFill>
              <a:latin typeface="Calibri" panose="020F0502020204030204" pitchFamily="34" charset="0"/>
              <a:ea typeface="Calibri" panose="020F0502020204030204" pitchFamily="34" charset="0"/>
            </a:endParaRPr>
          </a:p>
          <a:p>
            <a:pPr marL="436245" marR="529590" indent="-6350">
              <a:lnSpc>
                <a:spcPct val="108000"/>
              </a:lnSpc>
              <a:spcAft>
                <a:spcPts val="430"/>
              </a:spcAft>
            </a:pPr>
            <a:r>
              <a:rPr lang="en-US">
                <a:solidFill>
                  <a:srgbClr val="000000"/>
                </a:solidFill>
                <a:latin typeface="Courier New" panose="02070309020205020404" pitchFamily="49" charset="0"/>
                <a:ea typeface="Courier New" panose="02070309020205020404" pitchFamily="49" charset="0"/>
              </a:rPr>
              <a:t>(</a:t>
            </a:r>
            <a:r>
              <a:rPr lang="en-US">
                <a:solidFill>
                  <a:srgbClr val="FF0000"/>
                </a:solidFill>
                <a:latin typeface="Courier New" panose="02070309020205020404" pitchFamily="49" charset="0"/>
                <a:ea typeface="Courier New" panose="02070309020205020404" pitchFamily="49" charset="0"/>
              </a:rPr>
              <a:t>SELECt</a:t>
            </a:r>
            <a:r>
              <a:rPr lang="en-US">
                <a:solidFill>
                  <a:srgbClr val="000000"/>
                </a:solidFill>
                <a:latin typeface="Courier New" panose="02070309020205020404" pitchFamily="49" charset="0"/>
                <a:ea typeface="Courier New" panose="02070309020205020404" pitchFamily="49" charset="0"/>
              </a:rPr>
              <a:t> </a:t>
            </a:r>
            <a:r>
              <a:rPr lang="en-US">
                <a:solidFill>
                  <a:srgbClr val="FF0000"/>
                </a:solidFill>
                <a:latin typeface="Courier New" panose="02070309020205020404" pitchFamily="49" charset="0"/>
                <a:ea typeface="Courier New" panose="02070309020205020404" pitchFamily="49" charset="0"/>
              </a:rPr>
              <a:t>avg</a:t>
            </a:r>
            <a:r>
              <a:rPr lang="en-US">
                <a:solidFill>
                  <a:srgbClr val="000000"/>
                </a:solidFill>
                <a:latin typeface="Courier New" panose="02070309020205020404" pitchFamily="49" charset="0"/>
                <a:ea typeface="Courier New" panose="02070309020205020404" pitchFamily="49" charset="0"/>
              </a:rPr>
              <a:t>(quantityInStock)  </a:t>
            </a:r>
            <a:endParaRPr lang="en-US" sz="1600">
              <a:solidFill>
                <a:srgbClr val="000000"/>
              </a:solidFill>
              <a:latin typeface="Calibri" panose="020F0502020204030204" pitchFamily="34" charset="0"/>
              <a:ea typeface="Calibri" panose="020F0502020204030204" pitchFamily="34" charset="0"/>
            </a:endParaRPr>
          </a:p>
          <a:p>
            <a:pPr marL="436245" marR="529590" indent="-6350">
              <a:lnSpc>
                <a:spcPct val="108000"/>
              </a:lnSpc>
              <a:spcAft>
                <a:spcPts val="430"/>
              </a:spcAft>
            </a:pPr>
            <a:r>
              <a:rPr lang="en-US">
                <a:solidFill>
                  <a:srgbClr val="000000"/>
                </a:solidFill>
                <a:latin typeface="Courier New" panose="02070309020205020404" pitchFamily="49" charset="0"/>
                <a:ea typeface="Courier New" panose="02070309020205020404" pitchFamily="49" charset="0"/>
              </a:rPr>
              <a:t> </a:t>
            </a:r>
            <a:r>
              <a:rPr lang="en-US">
                <a:solidFill>
                  <a:srgbClr val="FF0000"/>
                </a:solidFill>
                <a:latin typeface="Courier New" panose="02070309020205020404" pitchFamily="49" charset="0"/>
                <a:ea typeface="Courier New" panose="02070309020205020404" pitchFamily="49" charset="0"/>
              </a:rPr>
              <a:t>FROM</a:t>
            </a:r>
            <a:r>
              <a:rPr lang="en-US">
                <a:solidFill>
                  <a:srgbClr val="000000"/>
                </a:solidFill>
                <a:latin typeface="Courier New" panose="02070309020205020404" pitchFamily="49" charset="0"/>
                <a:ea typeface="Courier New" panose="02070309020205020404" pitchFamily="49" charset="0"/>
              </a:rPr>
              <a:t> </a:t>
            </a:r>
            <a:r>
              <a:rPr lang="en-US" b="1">
                <a:solidFill>
                  <a:srgbClr val="7030A0"/>
                </a:solidFill>
                <a:latin typeface="Courier New" panose="02070309020205020404" pitchFamily="49" charset="0"/>
                <a:ea typeface="Courier New" panose="02070309020205020404" pitchFamily="49" charset="0"/>
              </a:rPr>
              <a:t>products</a:t>
            </a:r>
            <a:r>
              <a:rPr lang="en-US">
                <a:solidFill>
                  <a:srgbClr val="000000"/>
                </a:solidFill>
                <a:latin typeface="Courier New" panose="02070309020205020404" pitchFamily="49" charset="0"/>
                <a:ea typeface="Courier New" panose="02070309020205020404" pitchFamily="49" charset="0"/>
              </a:rPr>
              <a:t> </a:t>
            </a:r>
            <a:endParaRPr lang="en-US" sz="1600">
              <a:solidFill>
                <a:srgbClr val="000000"/>
              </a:solidFill>
              <a:latin typeface="Calibri" panose="020F0502020204030204" pitchFamily="34" charset="0"/>
              <a:ea typeface="Calibri" panose="020F0502020204030204" pitchFamily="34" charset="0"/>
            </a:endParaRPr>
          </a:p>
          <a:p>
            <a:pPr marL="436245" marR="529590" indent="-6350">
              <a:lnSpc>
                <a:spcPct val="108000"/>
              </a:lnSpc>
              <a:spcAft>
                <a:spcPts val="430"/>
              </a:spcAft>
            </a:pPr>
            <a:r>
              <a:rPr lang="en-US">
                <a:solidFill>
                  <a:srgbClr val="000000"/>
                </a:solidFill>
                <a:latin typeface="Courier New" panose="02070309020205020404" pitchFamily="49" charset="0"/>
                <a:ea typeface="Courier New" panose="02070309020205020404" pitchFamily="49" charset="0"/>
              </a:rPr>
              <a:t> </a:t>
            </a:r>
            <a:r>
              <a:rPr lang="en-US">
                <a:solidFill>
                  <a:srgbClr val="FF0000"/>
                </a:solidFill>
                <a:latin typeface="Courier New" panose="02070309020205020404" pitchFamily="49" charset="0"/>
                <a:ea typeface="Courier New" panose="02070309020205020404" pitchFamily="49" charset="0"/>
              </a:rPr>
              <a:t>WHERE</a:t>
            </a:r>
            <a:r>
              <a:rPr lang="en-US">
                <a:solidFill>
                  <a:srgbClr val="000000"/>
                </a:solidFill>
                <a:latin typeface="Courier New" panose="02070309020205020404" pitchFamily="49" charset="0"/>
                <a:ea typeface="Courier New" panose="02070309020205020404" pitchFamily="49" charset="0"/>
              </a:rPr>
              <a:t> productLine = </a:t>
            </a:r>
            <a:r>
              <a:rPr lang="en-US">
                <a:solidFill>
                  <a:srgbClr val="7030A0"/>
                </a:solidFill>
                <a:latin typeface="Courier New" panose="02070309020205020404" pitchFamily="49" charset="0"/>
                <a:ea typeface="Courier New" panose="02070309020205020404" pitchFamily="49" charset="0"/>
              </a:rPr>
              <a:t>p.productLine </a:t>
            </a:r>
            <a:endParaRPr lang="en-US" sz="1600">
              <a:solidFill>
                <a:srgbClr val="7030A0"/>
              </a:solidFill>
              <a:latin typeface="Calibri" panose="020F0502020204030204" pitchFamily="34" charset="0"/>
              <a:ea typeface="Calibri" panose="020F0502020204030204" pitchFamily="34" charset="0"/>
            </a:endParaRPr>
          </a:p>
          <a:p>
            <a:pPr marL="436245" marR="529590" indent="-6350">
              <a:lnSpc>
                <a:spcPct val="108000"/>
              </a:lnSpc>
              <a:spcAft>
                <a:spcPts val="1765"/>
              </a:spcAft>
            </a:pPr>
            <a:r>
              <a:rPr lang="en-US">
                <a:solidFill>
                  <a:srgbClr val="000000"/>
                </a:solidFill>
                <a:latin typeface="Courier New" panose="02070309020205020404" pitchFamily="49" charset="0"/>
                <a:ea typeface="Courier New" panose="02070309020205020404" pitchFamily="49" charset="0"/>
              </a:rPr>
              <a:t>) </a:t>
            </a:r>
            <a:endParaRPr lang="en-US" sz="1600">
              <a:solidFill>
                <a:srgbClr val="000000"/>
              </a:solidFill>
              <a:effectLst/>
              <a:latin typeface="Calibri" panose="020F0502020204030204" pitchFamily="34" charset="0"/>
              <a:ea typeface="Calibri" panose="020F0502020204030204" pitchFamily="34" charset="0"/>
            </a:endParaRPr>
          </a:p>
        </p:txBody>
      </p:sp>
      <p:sp>
        <p:nvSpPr>
          <p:cNvPr id="5" name="Freeform: Shape 4">
            <a:extLst>
              <a:ext uri="{FF2B5EF4-FFF2-40B4-BE49-F238E27FC236}">
                <a16:creationId xmlns:a16="http://schemas.microsoft.com/office/drawing/2014/main" id="{2A0EFBA7-7B36-4AD7-9C39-F293C15CD4E2}"/>
              </a:ext>
            </a:extLst>
          </p:cNvPr>
          <p:cNvSpPr/>
          <p:nvPr/>
        </p:nvSpPr>
        <p:spPr>
          <a:xfrm>
            <a:off x="2480628" y="3914775"/>
            <a:ext cx="1150826" cy="419100"/>
          </a:xfrm>
          <a:custGeom>
            <a:avLst/>
            <a:gdLst>
              <a:gd name="connsiteX0" fmla="*/ 830786 w 1150826"/>
              <a:gd name="connsiteY0" fmla="*/ 320040 h 419100"/>
              <a:gd name="connsiteX1" fmla="*/ 1013666 w 1150826"/>
              <a:gd name="connsiteY1" fmla="*/ 297180 h 419100"/>
              <a:gd name="connsiteX2" fmla="*/ 1044146 w 1150826"/>
              <a:gd name="connsiteY2" fmla="*/ 281940 h 419100"/>
              <a:gd name="connsiteX3" fmla="*/ 1112726 w 1150826"/>
              <a:gd name="connsiteY3" fmla="*/ 236220 h 419100"/>
              <a:gd name="connsiteX4" fmla="*/ 1150826 w 1150826"/>
              <a:gd name="connsiteY4" fmla="*/ 160020 h 419100"/>
              <a:gd name="connsiteX5" fmla="*/ 1127966 w 1150826"/>
              <a:gd name="connsiteY5" fmla="*/ 106680 h 419100"/>
              <a:gd name="connsiteX6" fmla="*/ 1105106 w 1150826"/>
              <a:gd name="connsiteY6" fmla="*/ 83820 h 419100"/>
              <a:gd name="connsiteX7" fmla="*/ 1051766 w 1150826"/>
              <a:gd name="connsiteY7" fmla="*/ 76200 h 419100"/>
              <a:gd name="connsiteX8" fmla="*/ 937466 w 1150826"/>
              <a:gd name="connsiteY8" fmla="*/ 53340 h 419100"/>
              <a:gd name="connsiteX9" fmla="*/ 914606 w 1150826"/>
              <a:gd name="connsiteY9" fmla="*/ 45720 h 419100"/>
              <a:gd name="connsiteX10" fmla="*/ 838406 w 1150826"/>
              <a:gd name="connsiteY10" fmla="*/ 38100 h 419100"/>
              <a:gd name="connsiteX11" fmla="*/ 731726 w 1150826"/>
              <a:gd name="connsiteY11" fmla="*/ 15240 h 419100"/>
              <a:gd name="connsiteX12" fmla="*/ 419306 w 1150826"/>
              <a:gd name="connsiteY12" fmla="*/ 0 h 419100"/>
              <a:gd name="connsiteX13" fmla="*/ 68786 w 1150826"/>
              <a:gd name="connsiteY13" fmla="*/ 22860 h 419100"/>
              <a:gd name="connsiteX14" fmla="*/ 30686 w 1150826"/>
              <a:gd name="connsiteY14" fmla="*/ 30480 h 419100"/>
              <a:gd name="connsiteX15" fmla="*/ 7826 w 1150826"/>
              <a:gd name="connsiteY15" fmla="*/ 53340 h 419100"/>
              <a:gd name="connsiteX16" fmla="*/ 68786 w 1150826"/>
              <a:gd name="connsiteY16" fmla="*/ 281940 h 419100"/>
              <a:gd name="connsiteX17" fmla="*/ 297386 w 1150826"/>
              <a:gd name="connsiteY17" fmla="*/ 381000 h 419100"/>
              <a:gd name="connsiteX18" fmla="*/ 335486 w 1150826"/>
              <a:gd name="connsiteY18" fmla="*/ 388620 h 419100"/>
              <a:gd name="connsiteX19" fmla="*/ 465026 w 1150826"/>
              <a:gd name="connsiteY19" fmla="*/ 403860 h 419100"/>
              <a:gd name="connsiteX20" fmla="*/ 617426 w 1150826"/>
              <a:gd name="connsiteY20" fmla="*/ 419100 h 419100"/>
              <a:gd name="connsiteX21" fmla="*/ 724106 w 1150826"/>
              <a:gd name="connsiteY21" fmla="*/ 411480 h 419100"/>
              <a:gd name="connsiteX22" fmla="*/ 800306 w 1150826"/>
              <a:gd name="connsiteY22" fmla="*/ 388620 h 419100"/>
              <a:gd name="connsiteX23" fmla="*/ 853646 w 1150826"/>
              <a:gd name="connsiteY23" fmla="*/ 373380 h 419100"/>
              <a:gd name="connsiteX24" fmla="*/ 876506 w 1150826"/>
              <a:gd name="connsiteY24" fmla="*/ 342900 h 419100"/>
              <a:gd name="connsiteX25" fmla="*/ 899366 w 1150826"/>
              <a:gd name="connsiteY25" fmla="*/ 320040 h 419100"/>
              <a:gd name="connsiteX26" fmla="*/ 906986 w 1150826"/>
              <a:gd name="connsiteY26" fmla="*/ 289560 h 419100"/>
              <a:gd name="connsiteX27" fmla="*/ 929846 w 1150826"/>
              <a:gd name="connsiteY27" fmla="*/ 266700 h 419100"/>
              <a:gd name="connsiteX28" fmla="*/ 937466 w 1150826"/>
              <a:gd name="connsiteY28" fmla="*/ 259080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50826" h="419100">
                <a:moveTo>
                  <a:pt x="830786" y="320040"/>
                </a:moveTo>
                <a:cubicBezTo>
                  <a:pt x="962934" y="282283"/>
                  <a:pt x="778608" y="330760"/>
                  <a:pt x="1013666" y="297180"/>
                </a:cubicBezTo>
                <a:cubicBezTo>
                  <a:pt x="1024911" y="295574"/>
                  <a:pt x="1034472" y="287893"/>
                  <a:pt x="1044146" y="281940"/>
                </a:cubicBezTo>
                <a:cubicBezTo>
                  <a:pt x="1067545" y="267541"/>
                  <a:pt x="1112726" y="236220"/>
                  <a:pt x="1112726" y="236220"/>
                </a:cubicBezTo>
                <a:cubicBezTo>
                  <a:pt x="1149015" y="181786"/>
                  <a:pt x="1138764" y="208269"/>
                  <a:pt x="1150826" y="160020"/>
                </a:cubicBezTo>
                <a:cubicBezTo>
                  <a:pt x="1143564" y="130971"/>
                  <a:pt x="1146760" y="129233"/>
                  <a:pt x="1127966" y="106680"/>
                </a:cubicBezTo>
                <a:cubicBezTo>
                  <a:pt x="1121067" y="98401"/>
                  <a:pt x="1115112" y="87822"/>
                  <a:pt x="1105106" y="83820"/>
                </a:cubicBezTo>
                <a:cubicBezTo>
                  <a:pt x="1088430" y="77150"/>
                  <a:pt x="1069437" y="79413"/>
                  <a:pt x="1051766" y="76200"/>
                </a:cubicBezTo>
                <a:cubicBezTo>
                  <a:pt x="1013538" y="69249"/>
                  <a:pt x="975395" y="61769"/>
                  <a:pt x="937466" y="53340"/>
                </a:cubicBezTo>
                <a:cubicBezTo>
                  <a:pt x="929625" y="51598"/>
                  <a:pt x="922545" y="46941"/>
                  <a:pt x="914606" y="45720"/>
                </a:cubicBezTo>
                <a:cubicBezTo>
                  <a:pt x="889376" y="41838"/>
                  <a:pt x="863806" y="40640"/>
                  <a:pt x="838406" y="38100"/>
                </a:cubicBezTo>
                <a:cubicBezTo>
                  <a:pt x="802846" y="30480"/>
                  <a:pt x="767982" y="18084"/>
                  <a:pt x="731726" y="15240"/>
                </a:cubicBezTo>
                <a:cubicBezTo>
                  <a:pt x="351707" y="-14565"/>
                  <a:pt x="550753" y="32862"/>
                  <a:pt x="419306" y="0"/>
                </a:cubicBezTo>
                <a:cubicBezTo>
                  <a:pt x="320307" y="5210"/>
                  <a:pt x="180946" y="5605"/>
                  <a:pt x="68786" y="22860"/>
                </a:cubicBezTo>
                <a:cubicBezTo>
                  <a:pt x="55985" y="24829"/>
                  <a:pt x="43386" y="27940"/>
                  <a:pt x="30686" y="30480"/>
                </a:cubicBezTo>
                <a:cubicBezTo>
                  <a:pt x="23066" y="38100"/>
                  <a:pt x="8653" y="42595"/>
                  <a:pt x="7826" y="53340"/>
                </a:cubicBezTo>
                <a:cubicBezTo>
                  <a:pt x="-1744" y="177748"/>
                  <a:pt x="-18041" y="219921"/>
                  <a:pt x="68786" y="281940"/>
                </a:cubicBezTo>
                <a:cubicBezTo>
                  <a:pt x="154872" y="343430"/>
                  <a:pt x="196216" y="352094"/>
                  <a:pt x="297386" y="381000"/>
                </a:cubicBezTo>
                <a:cubicBezTo>
                  <a:pt x="309839" y="384558"/>
                  <a:pt x="322653" y="386870"/>
                  <a:pt x="335486" y="388620"/>
                </a:cubicBezTo>
                <a:cubicBezTo>
                  <a:pt x="378565" y="394494"/>
                  <a:pt x="421779" y="399386"/>
                  <a:pt x="465026" y="403860"/>
                </a:cubicBezTo>
                <a:cubicBezTo>
                  <a:pt x="681264" y="426229"/>
                  <a:pt x="456223" y="398950"/>
                  <a:pt x="617426" y="419100"/>
                </a:cubicBezTo>
                <a:cubicBezTo>
                  <a:pt x="652986" y="416560"/>
                  <a:pt x="688673" y="415417"/>
                  <a:pt x="724106" y="411480"/>
                </a:cubicBezTo>
                <a:cubicBezTo>
                  <a:pt x="742358" y="409452"/>
                  <a:pt x="787314" y="392617"/>
                  <a:pt x="800306" y="388620"/>
                </a:cubicBezTo>
                <a:cubicBezTo>
                  <a:pt x="817980" y="383182"/>
                  <a:pt x="835866" y="378460"/>
                  <a:pt x="853646" y="373380"/>
                </a:cubicBezTo>
                <a:cubicBezTo>
                  <a:pt x="861266" y="363220"/>
                  <a:pt x="868241" y="352543"/>
                  <a:pt x="876506" y="342900"/>
                </a:cubicBezTo>
                <a:cubicBezTo>
                  <a:pt x="883519" y="334718"/>
                  <a:pt x="894019" y="329396"/>
                  <a:pt x="899366" y="320040"/>
                </a:cubicBezTo>
                <a:cubicBezTo>
                  <a:pt x="904562" y="310947"/>
                  <a:pt x="901790" y="298653"/>
                  <a:pt x="906986" y="289560"/>
                </a:cubicBezTo>
                <a:cubicBezTo>
                  <a:pt x="912333" y="280204"/>
                  <a:pt x="922226" y="274320"/>
                  <a:pt x="929846" y="266700"/>
                </a:cubicBezTo>
                <a:lnTo>
                  <a:pt x="937466" y="25908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5">
            <a:extLst>
              <a:ext uri="{FF2B5EF4-FFF2-40B4-BE49-F238E27FC236}">
                <a16:creationId xmlns:a16="http://schemas.microsoft.com/office/drawing/2014/main" id="{F9C021B3-9653-439F-BD05-103547F8F309}"/>
              </a:ext>
            </a:extLst>
          </p:cNvPr>
          <p:cNvSpPr/>
          <p:nvPr/>
        </p:nvSpPr>
        <p:spPr>
          <a:xfrm>
            <a:off x="5684520" y="5570220"/>
            <a:ext cx="2278451" cy="518160"/>
          </a:xfrm>
          <a:custGeom>
            <a:avLst/>
            <a:gdLst>
              <a:gd name="connsiteX0" fmla="*/ 411480 w 2278451"/>
              <a:gd name="connsiteY0" fmla="*/ 106680 h 518160"/>
              <a:gd name="connsiteX1" fmla="*/ 53340 w 2278451"/>
              <a:gd name="connsiteY1" fmla="*/ 137160 h 518160"/>
              <a:gd name="connsiteX2" fmla="*/ 30480 w 2278451"/>
              <a:gd name="connsiteY2" fmla="*/ 160020 h 518160"/>
              <a:gd name="connsiteX3" fmla="*/ 0 w 2278451"/>
              <a:gd name="connsiteY3" fmla="*/ 243840 h 518160"/>
              <a:gd name="connsiteX4" fmla="*/ 15240 w 2278451"/>
              <a:gd name="connsiteY4" fmla="*/ 358140 h 518160"/>
              <a:gd name="connsiteX5" fmla="*/ 167640 w 2278451"/>
              <a:gd name="connsiteY5" fmla="*/ 449580 h 518160"/>
              <a:gd name="connsiteX6" fmla="*/ 480060 w 2278451"/>
              <a:gd name="connsiteY6" fmla="*/ 480060 h 518160"/>
              <a:gd name="connsiteX7" fmla="*/ 1112520 w 2278451"/>
              <a:gd name="connsiteY7" fmla="*/ 518160 h 518160"/>
              <a:gd name="connsiteX8" fmla="*/ 1775460 w 2278451"/>
              <a:gd name="connsiteY8" fmla="*/ 502920 h 518160"/>
              <a:gd name="connsiteX9" fmla="*/ 2004060 w 2278451"/>
              <a:gd name="connsiteY9" fmla="*/ 449580 h 518160"/>
              <a:gd name="connsiteX10" fmla="*/ 2087880 w 2278451"/>
              <a:gd name="connsiteY10" fmla="*/ 434340 h 518160"/>
              <a:gd name="connsiteX11" fmla="*/ 2225040 w 2278451"/>
              <a:gd name="connsiteY11" fmla="*/ 396240 h 518160"/>
              <a:gd name="connsiteX12" fmla="*/ 2247900 w 2278451"/>
              <a:gd name="connsiteY12" fmla="*/ 388620 h 518160"/>
              <a:gd name="connsiteX13" fmla="*/ 2278380 w 2278451"/>
              <a:gd name="connsiteY13" fmla="*/ 381000 h 518160"/>
              <a:gd name="connsiteX14" fmla="*/ 2240280 w 2278451"/>
              <a:gd name="connsiteY14" fmla="*/ 335280 h 518160"/>
              <a:gd name="connsiteX15" fmla="*/ 2095500 w 2278451"/>
              <a:gd name="connsiteY15" fmla="*/ 228600 h 518160"/>
              <a:gd name="connsiteX16" fmla="*/ 1905000 w 2278451"/>
              <a:gd name="connsiteY16" fmla="*/ 114300 h 518160"/>
              <a:gd name="connsiteX17" fmla="*/ 1714500 w 2278451"/>
              <a:gd name="connsiteY17" fmla="*/ 45720 h 518160"/>
              <a:gd name="connsiteX18" fmla="*/ 1562100 w 2278451"/>
              <a:gd name="connsiteY18" fmla="*/ 7620 h 518160"/>
              <a:gd name="connsiteX19" fmla="*/ 1478280 w 2278451"/>
              <a:gd name="connsiteY19" fmla="*/ 0 h 518160"/>
              <a:gd name="connsiteX20" fmla="*/ 952500 w 2278451"/>
              <a:gd name="connsiteY20" fmla="*/ 15240 h 518160"/>
              <a:gd name="connsiteX21" fmla="*/ 914400 w 2278451"/>
              <a:gd name="connsiteY21" fmla="*/ 22860 h 518160"/>
              <a:gd name="connsiteX22" fmla="*/ 838200 w 2278451"/>
              <a:gd name="connsiteY22" fmla="*/ 30480 h 518160"/>
              <a:gd name="connsiteX23" fmla="*/ 381000 w 2278451"/>
              <a:gd name="connsiteY23" fmla="*/ 30480 h 518160"/>
              <a:gd name="connsiteX24" fmla="*/ 358140 w 2278451"/>
              <a:gd name="connsiteY24" fmla="*/ 45720 h 518160"/>
              <a:gd name="connsiteX25" fmla="*/ 342900 w 2278451"/>
              <a:gd name="connsiteY25" fmla="*/ 68580 h 518160"/>
              <a:gd name="connsiteX26" fmla="*/ 327660 w 2278451"/>
              <a:gd name="connsiteY26" fmla="*/ 99060 h 518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278451" h="518160">
                <a:moveTo>
                  <a:pt x="411480" y="106680"/>
                </a:moveTo>
                <a:cubicBezTo>
                  <a:pt x="292100" y="116840"/>
                  <a:pt x="171994" y="120548"/>
                  <a:pt x="53340" y="137160"/>
                </a:cubicBezTo>
                <a:cubicBezTo>
                  <a:pt x="42668" y="138654"/>
                  <a:pt x="35299" y="150381"/>
                  <a:pt x="30480" y="160020"/>
                </a:cubicBezTo>
                <a:cubicBezTo>
                  <a:pt x="17184" y="186611"/>
                  <a:pt x="10160" y="215900"/>
                  <a:pt x="0" y="243840"/>
                </a:cubicBezTo>
                <a:cubicBezTo>
                  <a:pt x="5080" y="281940"/>
                  <a:pt x="-5795" y="325969"/>
                  <a:pt x="15240" y="358140"/>
                </a:cubicBezTo>
                <a:cubicBezTo>
                  <a:pt x="74402" y="448623"/>
                  <a:pt x="101188" y="432967"/>
                  <a:pt x="167640" y="449580"/>
                </a:cubicBezTo>
                <a:cubicBezTo>
                  <a:pt x="331946" y="490656"/>
                  <a:pt x="72533" y="454048"/>
                  <a:pt x="480060" y="480060"/>
                </a:cubicBezTo>
                <a:cubicBezTo>
                  <a:pt x="1067470" y="517554"/>
                  <a:pt x="757153" y="502709"/>
                  <a:pt x="1112520" y="518160"/>
                </a:cubicBezTo>
                <a:lnTo>
                  <a:pt x="1775460" y="502920"/>
                </a:lnTo>
                <a:cubicBezTo>
                  <a:pt x="1844832" y="500117"/>
                  <a:pt x="1942890" y="464873"/>
                  <a:pt x="2004060" y="449580"/>
                </a:cubicBezTo>
                <a:cubicBezTo>
                  <a:pt x="2019413" y="445742"/>
                  <a:pt x="2070795" y="440035"/>
                  <a:pt x="2087880" y="434340"/>
                </a:cubicBezTo>
                <a:cubicBezTo>
                  <a:pt x="2213562" y="392446"/>
                  <a:pt x="2114127" y="410104"/>
                  <a:pt x="2225040" y="396240"/>
                </a:cubicBezTo>
                <a:cubicBezTo>
                  <a:pt x="2232660" y="393700"/>
                  <a:pt x="2240177" y="390827"/>
                  <a:pt x="2247900" y="388620"/>
                </a:cubicBezTo>
                <a:cubicBezTo>
                  <a:pt x="2257970" y="385743"/>
                  <a:pt x="2279861" y="391367"/>
                  <a:pt x="2278380" y="381000"/>
                </a:cubicBezTo>
                <a:cubicBezTo>
                  <a:pt x="2275574" y="361361"/>
                  <a:pt x="2253625" y="349959"/>
                  <a:pt x="2240280" y="335280"/>
                </a:cubicBezTo>
                <a:cubicBezTo>
                  <a:pt x="2189251" y="279148"/>
                  <a:pt x="2177361" y="278976"/>
                  <a:pt x="2095500" y="228600"/>
                </a:cubicBezTo>
                <a:cubicBezTo>
                  <a:pt x="2032432" y="189789"/>
                  <a:pt x="1974338" y="140302"/>
                  <a:pt x="1905000" y="114300"/>
                </a:cubicBezTo>
                <a:cubicBezTo>
                  <a:pt x="1859712" y="97317"/>
                  <a:pt x="1740971" y="52338"/>
                  <a:pt x="1714500" y="45720"/>
                </a:cubicBezTo>
                <a:cubicBezTo>
                  <a:pt x="1663700" y="33020"/>
                  <a:pt x="1614248" y="12361"/>
                  <a:pt x="1562100" y="7620"/>
                </a:cubicBezTo>
                <a:lnTo>
                  <a:pt x="1478280" y="0"/>
                </a:lnTo>
                <a:lnTo>
                  <a:pt x="952500" y="15240"/>
                </a:lnTo>
                <a:cubicBezTo>
                  <a:pt x="939559" y="15765"/>
                  <a:pt x="927238" y="21148"/>
                  <a:pt x="914400" y="22860"/>
                </a:cubicBezTo>
                <a:cubicBezTo>
                  <a:pt x="889097" y="26234"/>
                  <a:pt x="863600" y="27940"/>
                  <a:pt x="838200" y="30480"/>
                </a:cubicBezTo>
                <a:cubicBezTo>
                  <a:pt x="683800" y="25655"/>
                  <a:pt x="535108" y="15566"/>
                  <a:pt x="381000" y="30480"/>
                </a:cubicBezTo>
                <a:cubicBezTo>
                  <a:pt x="371884" y="31362"/>
                  <a:pt x="365760" y="40640"/>
                  <a:pt x="358140" y="45720"/>
                </a:cubicBezTo>
                <a:cubicBezTo>
                  <a:pt x="353060" y="53340"/>
                  <a:pt x="346996" y="60389"/>
                  <a:pt x="342900" y="68580"/>
                </a:cubicBezTo>
                <a:cubicBezTo>
                  <a:pt x="325388" y="103604"/>
                  <a:pt x="344875" y="81845"/>
                  <a:pt x="327660" y="9906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3260259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B1DC6-E6CA-4F6E-8766-45FF10328D8F}"/>
              </a:ext>
            </a:extLst>
          </p:cNvPr>
          <p:cNvSpPr>
            <a:spLocks noGrp="1"/>
          </p:cNvSpPr>
          <p:nvPr>
            <p:ph type="title"/>
          </p:nvPr>
        </p:nvSpPr>
        <p:spPr>
          <a:xfrm>
            <a:off x="677334" y="609600"/>
            <a:ext cx="8596668" cy="726552"/>
          </a:xfrm>
        </p:spPr>
        <p:txBody>
          <a:bodyPr>
            <a:normAutofit fontScale="90000"/>
          </a:bodyPr>
          <a:lstStyle/>
          <a:p>
            <a:r>
              <a:rPr lang="en-US"/>
              <a:t>SubQuery – Truy vấn con</a:t>
            </a:r>
            <a:br>
              <a:rPr lang="en-US"/>
            </a:br>
            <a:endParaRPr lang="en-US"/>
          </a:p>
        </p:txBody>
      </p:sp>
      <p:sp>
        <p:nvSpPr>
          <p:cNvPr id="3" name="Content Placeholder 2">
            <a:extLst>
              <a:ext uri="{FF2B5EF4-FFF2-40B4-BE49-F238E27FC236}">
                <a16:creationId xmlns:a16="http://schemas.microsoft.com/office/drawing/2014/main" id="{51550B06-6271-4370-AF1D-EF15D5AC17A0}"/>
              </a:ext>
            </a:extLst>
          </p:cNvPr>
          <p:cNvSpPr>
            <a:spLocks noGrp="1"/>
          </p:cNvSpPr>
          <p:nvPr>
            <p:ph idx="1"/>
          </p:nvPr>
        </p:nvSpPr>
        <p:spPr>
          <a:xfrm>
            <a:off x="677334" y="1336153"/>
            <a:ext cx="8596668" cy="4705210"/>
          </a:xfrm>
        </p:spPr>
        <p:txBody>
          <a:bodyPr/>
          <a:lstStyle/>
          <a:p>
            <a:r>
              <a:rPr lang="en-US" b="1"/>
              <a:t>1. Subquery ở Where </a:t>
            </a:r>
          </a:p>
          <a:p>
            <a:r>
              <a:rPr lang="en-US" b="1"/>
              <a:t>Ví dụ: </a:t>
            </a:r>
            <a:r>
              <a:rPr lang="en-US"/>
              <a:t>Đưa ra các sản phẩm có mặt trong các đơn hàng</a:t>
            </a:r>
            <a:endParaRPr lang="en-US" b="1"/>
          </a:p>
          <a:p>
            <a:endParaRPr lang="en-US"/>
          </a:p>
        </p:txBody>
      </p:sp>
      <p:sp>
        <p:nvSpPr>
          <p:cNvPr id="4" name="Rectangle 3">
            <a:extLst>
              <a:ext uri="{FF2B5EF4-FFF2-40B4-BE49-F238E27FC236}">
                <a16:creationId xmlns:a16="http://schemas.microsoft.com/office/drawing/2014/main" id="{04F0B26B-35DA-4EFE-8948-C2A57008F664}"/>
              </a:ext>
            </a:extLst>
          </p:cNvPr>
          <p:cNvSpPr/>
          <p:nvPr/>
        </p:nvSpPr>
        <p:spPr>
          <a:xfrm>
            <a:off x="5782810" y="2455877"/>
            <a:ext cx="6096000" cy="2087110"/>
          </a:xfrm>
          <a:prstGeom prst="rect">
            <a:avLst/>
          </a:prstGeom>
          <a:ln>
            <a:solidFill>
              <a:schemeClr val="tx1"/>
            </a:solidFill>
          </a:ln>
        </p:spPr>
        <p:txBody>
          <a:bodyPr>
            <a:spAutoFit/>
          </a:bodyPr>
          <a:lstStyle/>
          <a:p>
            <a:pPr marL="6350" marR="529590" indent="-6350">
              <a:lnSpc>
                <a:spcPct val="108000"/>
              </a:lnSpc>
              <a:spcAft>
                <a:spcPts val="430"/>
              </a:spcAft>
            </a:pPr>
            <a:r>
              <a:rPr lang="en-US" b="1">
                <a:solidFill>
                  <a:srgbClr val="FF0000"/>
                </a:solidFill>
                <a:latin typeface="Courier New" panose="02070309020205020404" pitchFamily="49" charset="0"/>
                <a:ea typeface="Courier New" panose="02070309020205020404" pitchFamily="49" charset="0"/>
              </a:rPr>
              <a:t>SELECT</a:t>
            </a:r>
            <a:r>
              <a:rPr lang="en-US">
                <a:solidFill>
                  <a:srgbClr val="000000"/>
                </a:solidFill>
                <a:latin typeface="Courier New" panose="02070309020205020404" pitchFamily="49" charset="0"/>
                <a:ea typeface="Courier New" panose="02070309020205020404" pitchFamily="49" charset="0"/>
              </a:rPr>
              <a:t> * </a:t>
            </a:r>
            <a:r>
              <a:rPr lang="en-US" b="1">
                <a:solidFill>
                  <a:srgbClr val="FF0000"/>
                </a:solidFill>
                <a:latin typeface="Courier New" panose="02070309020205020404" pitchFamily="49" charset="0"/>
                <a:ea typeface="Courier New" panose="02070309020205020404" pitchFamily="49" charset="0"/>
              </a:rPr>
              <a:t>FROM</a:t>
            </a:r>
            <a:r>
              <a:rPr lang="en-US">
                <a:solidFill>
                  <a:srgbClr val="000000"/>
                </a:solidFill>
                <a:latin typeface="Courier New" panose="02070309020205020404" pitchFamily="49" charset="0"/>
                <a:ea typeface="Courier New" panose="02070309020205020404" pitchFamily="49" charset="0"/>
              </a:rPr>
              <a:t> </a:t>
            </a:r>
            <a:r>
              <a:rPr lang="en-US">
                <a:solidFill>
                  <a:srgbClr val="7030A0"/>
                </a:solidFill>
                <a:latin typeface="Courier New" panose="02070309020205020404" pitchFamily="49" charset="0"/>
                <a:ea typeface="Courier New" panose="02070309020205020404" pitchFamily="49" charset="0"/>
              </a:rPr>
              <a:t>products</a:t>
            </a:r>
            <a:r>
              <a:rPr lang="en-US">
                <a:solidFill>
                  <a:srgbClr val="000000"/>
                </a:solidFill>
                <a:latin typeface="Courier New" panose="02070309020205020404" pitchFamily="49" charset="0"/>
                <a:ea typeface="Courier New" panose="02070309020205020404" pitchFamily="49" charset="0"/>
              </a:rPr>
              <a:t> </a:t>
            </a:r>
            <a:r>
              <a:rPr lang="en-US">
                <a:solidFill>
                  <a:srgbClr val="FF0000"/>
                </a:solidFill>
                <a:latin typeface="Courier New" panose="02070309020205020404" pitchFamily="49" charset="0"/>
                <a:ea typeface="Courier New" panose="02070309020205020404" pitchFamily="49" charset="0"/>
              </a:rPr>
              <a:t>as</a:t>
            </a:r>
            <a:r>
              <a:rPr lang="en-US">
                <a:solidFill>
                  <a:srgbClr val="000000"/>
                </a:solidFill>
                <a:latin typeface="Courier New" panose="02070309020205020404" pitchFamily="49" charset="0"/>
                <a:ea typeface="Courier New" panose="02070309020205020404" pitchFamily="49" charset="0"/>
              </a:rPr>
              <a:t> p </a:t>
            </a:r>
            <a:endParaRPr lang="en-US" sz="1600">
              <a:solidFill>
                <a:srgbClr val="000000"/>
              </a:solidFill>
              <a:latin typeface="Calibri" panose="020F0502020204030204" pitchFamily="34" charset="0"/>
              <a:ea typeface="Calibri" panose="020F0502020204030204" pitchFamily="34" charset="0"/>
            </a:endParaRPr>
          </a:p>
          <a:p>
            <a:pPr marL="6350" marR="529590" indent="-6350">
              <a:lnSpc>
                <a:spcPct val="108000"/>
              </a:lnSpc>
              <a:spcAft>
                <a:spcPts val="430"/>
              </a:spcAft>
            </a:pPr>
            <a:r>
              <a:rPr lang="en-US" b="1">
                <a:solidFill>
                  <a:srgbClr val="FF0000"/>
                </a:solidFill>
                <a:latin typeface="Courier New" panose="02070309020205020404" pitchFamily="49" charset="0"/>
                <a:ea typeface="Courier New" panose="02070309020205020404" pitchFamily="49" charset="0"/>
              </a:rPr>
              <a:t>WHERE</a:t>
            </a:r>
            <a:r>
              <a:rPr lang="en-US">
                <a:solidFill>
                  <a:srgbClr val="000000"/>
                </a:solidFill>
                <a:latin typeface="Courier New" panose="02070309020205020404" pitchFamily="49" charset="0"/>
                <a:ea typeface="Courier New" panose="02070309020205020404" pitchFamily="49" charset="0"/>
              </a:rPr>
              <a:t> </a:t>
            </a:r>
            <a:r>
              <a:rPr lang="en-US">
                <a:solidFill>
                  <a:srgbClr val="FF0000"/>
                </a:solidFill>
                <a:latin typeface="Courier New" panose="02070309020205020404" pitchFamily="49" charset="0"/>
                <a:ea typeface="Courier New" panose="02070309020205020404" pitchFamily="49" charset="0"/>
              </a:rPr>
              <a:t>exists</a:t>
            </a:r>
            <a:r>
              <a:rPr lang="en-US">
                <a:solidFill>
                  <a:srgbClr val="000000"/>
                </a:solidFill>
                <a:latin typeface="Courier New" panose="02070309020205020404" pitchFamily="49" charset="0"/>
                <a:ea typeface="Courier New" panose="02070309020205020404" pitchFamily="49" charset="0"/>
              </a:rPr>
              <a:t> </a:t>
            </a:r>
            <a:endParaRPr lang="en-US" sz="1600">
              <a:solidFill>
                <a:srgbClr val="000000"/>
              </a:solidFill>
              <a:latin typeface="Calibri" panose="020F0502020204030204" pitchFamily="34" charset="0"/>
              <a:ea typeface="Calibri" panose="020F0502020204030204" pitchFamily="34" charset="0"/>
            </a:endParaRPr>
          </a:p>
          <a:p>
            <a:pPr marL="6350" marR="529590" indent="-6350">
              <a:lnSpc>
                <a:spcPct val="108000"/>
              </a:lnSpc>
              <a:spcAft>
                <a:spcPts val="430"/>
              </a:spcAft>
            </a:pPr>
            <a:r>
              <a:rPr lang="en-US">
                <a:solidFill>
                  <a:srgbClr val="000000"/>
                </a:solidFill>
                <a:latin typeface="Courier New" panose="02070309020205020404" pitchFamily="49" charset="0"/>
                <a:ea typeface="Courier New" panose="02070309020205020404" pitchFamily="49" charset="0"/>
              </a:rPr>
              <a:t>(</a:t>
            </a:r>
            <a:r>
              <a:rPr lang="en-US">
                <a:solidFill>
                  <a:srgbClr val="FF0000"/>
                </a:solidFill>
                <a:latin typeface="Courier New" panose="02070309020205020404" pitchFamily="49" charset="0"/>
                <a:ea typeface="Courier New" panose="02070309020205020404" pitchFamily="49" charset="0"/>
              </a:rPr>
              <a:t>SELECT</a:t>
            </a:r>
            <a:r>
              <a:rPr lang="en-US">
                <a:solidFill>
                  <a:srgbClr val="000000"/>
                </a:solidFill>
                <a:latin typeface="Courier New" panose="02070309020205020404" pitchFamily="49" charset="0"/>
                <a:ea typeface="Courier New" panose="02070309020205020404" pitchFamily="49" charset="0"/>
              </a:rPr>
              <a:t> productCode  </a:t>
            </a:r>
            <a:endParaRPr lang="en-US" sz="1600">
              <a:solidFill>
                <a:srgbClr val="000000"/>
              </a:solidFill>
              <a:latin typeface="Calibri" panose="020F0502020204030204" pitchFamily="34" charset="0"/>
              <a:ea typeface="Calibri" panose="020F0502020204030204" pitchFamily="34" charset="0"/>
            </a:endParaRPr>
          </a:p>
          <a:p>
            <a:pPr marL="6350" marR="529590" indent="-6350">
              <a:lnSpc>
                <a:spcPct val="108000"/>
              </a:lnSpc>
              <a:spcAft>
                <a:spcPts val="430"/>
              </a:spcAft>
            </a:pPr>
            <a:r>
              <a:rPr lang="en-US">
                <a:solidFill>
                  <a:srgbClr val="FF0000"/>
                </a:solidFill>
                <a:latin typeface="Courier New" panose="02070309020205020404" pitchFamily="49" charset="0"/>
                <a:ea typeface="Courier New" panose="02070309020205020404" pitchFamily="49" charset="0"/>
              </a:rPr>
              <a:t>FROM</a:t>
            </a:r>
            <a:r>
              <a:rPr lang="en-US">
                <a:solidFill>
                  <a:srgbClr val="000000"/>
                </a:solidFill>
                <a:latin typeface="Courier New" panose="02070309020205020404" pitchFamily="49" charset="0"/>
                <a:ea typeface="Courier New" panose="02070309020205020404" pitchFamily="49" charset="0"/>
              </a:rPr>
              <a:t> orderdetails  </a:t>
            </a:r>
            <a:endParaRPr lang="en-US" sz="1600">
              <a:solidFill>
                <a:srgbClr val="000000"/>
              </a:solidFill>
              <a:latin typeface="Calibri" panose="020F0502020204030204" pitchFamily="34" charset="0"/>
              <a:ea typeface="Calibri" panose="020F0502020204030204" pitchFamily="34" charset="0"/>
            </a:endParaRPr>
          </a:p>
          <a:p>
            <a:pPr marL="6350" marR="529590" indent="-6350">
              <a:lnSpc>
                <a:spcPct val="108000"/>
              </a:lnSpc>
              <a:spcAft>
                <a:spcPts val="1405"/>
              </a:spcAft>
            </a:pPr>
            <a:r>
              <a:rPr lang="en-US">
                <a:solidFill>
                  <a:srgbClr val="FF0000"/>
                </a:solidFill>
                <a:latin typeface="Courier New" panose="02070309020205020404" pitchFamily="49" charset="0"/>
                <a:ea typeface="Courier New" panose="02070309020205020404" pitchFamily="49" charset="0"/>
              </a:rPr>
              <a:t>WHERE</a:t>
            </a:r>
            <a:r>
              <a:rPr lang="en-US">
                <a:solidFill>
                  <a:srgbClr val="000000"/>
                </a:solidFill>
                <a:latin typeface="Courier New" panose="02070309020205020404" pitchFamily="49" charset="0"/>
                <a:ea typeface="Courier New" panose="02070309020205020404" pitchFamily="49" charset="0"/>
              </a:rPr>
              <a:t> orderdetails.productCode </a:t>
            </a:r>
            <a:r>
              <a:rPr lang="en-US">
                <a:solidFill>
                  <a:srgbClr val="FF0000"/>
                </a:solidFill>
                <a:latin typeface="Courier New" panose="02070309020205020404" pitchFamily="49" charset="0"/>
                <a:ea typeface="Courier New" panose="02070309020205020404" pitchFamily="49" charset="0"/>
              </a:rPr>
              <a:t>=</a:t>
            </a:r>
            <a:r>
              <a:rPr lang="en-US">
                <a:solidFill>
                  <a:srgbClr val="000000"/>
                </a:solidFill>
                <a:latin typeface="Courier New" panose="02070309020205020404" pitchFamily="49" charset="0"/>
                <a:ea typeface="Courier New" panose="02070309020205020404" pitchFamily="49" charset="0"/>
              </a:rPr>
              <a:t> 					</a:t>
            </a:r>
            <a:r>
              <a:rPr lang="en-US">
                <a:solidFill>
                  <a:srgbClr val="7030A0"/>
                </a:solidFill>
                <a:latin typeface="Courier New" panose="02070309020205020404" pitchFamily="49" charset="0"/>
                <a:ea typeface="Courier New" panose="02070309020205020404" pitchFamily="49" charset="0"/>
              </a:rPr>
              <a:t>p.productCode</a:t>
            </a:r>
            <a:r>
              <a:rPr lang="en-US">
                <a:solidFill>
                  <a:srgbClr val="000000"/>
                </a:solidFill>
                <a:latin typeface="Courier New" panose="02070309020205020404" pitchFamily="49" charset="0"/>
                <a:ea typeface="Courier New" panose="02070309020205020404" pitchFamily="49" charset="0"/>
              </a:rPr>
              <a:t>) </a:t>
            </a:r>
            <a:endParaRPr lang="en-US" sz="1600">
              <a:solidFill>
                <a:srgbClr val="000000"/>
              </a:solidFill>
              <a:effectLst/>
              <a:latin typeface="Calibri" panose="020F0502020204030204" pitchFamily="34" charset="0"/>
              <a:ea typeface="Calibri" panose="020F0502020204030204" pitchFamily="34" charset="0"/>
            </a:endParaRPr>
          </a:p>
        </p:txBody>
      </p:sp>
      <p:sp>
        <p:nvSpPr>
          <p:cNvPr id="5" name="Freeform: Shape 4">
            <a:extLst>
              <a:ext uri="{FF2B5EF4-FFF2-40B4-BE49-F238E27FC236}">
                <a16:creationId xmlns:a16="http://schemas.microsoft.com/office/drawing/2014/main" id="{975E1734-2EF3-4C14-AC0B-87EEF075A204}"/>
              </a:ext>
            </a:extLst>
          </p:cNvPr>
          <p:cNvSpPr/>
          <p:nvPr/>
        </p:nvSpPr>
        <p:spPr>
          <a:xfrm>
            <a:off x="7094220" y="4190923"/>
            <a:ext cx="2011680" cy="510617"/>
          </a:xfrm>
          <a:custGeom>
            <a:avLst/>
            <a:gdLst>
              <a:gd name="connsiteX0" fmla="*/ 76200 w 2011680"/>
              <a:gd name="connsiteY0" fmla="*/ 68657 h 510617"/>
              <a:gd name="connsiteX1" fmla="*/ 251460 w 2011680"/>
              <a:gd name="connsiteY1" fmla="*/ 53417 h 510617"/>
              <a:gd name="connsiteX2" fmla="*/ 419100 w 2011680"/>
              <a:gd name="connsiteY2" fmla="*/ 22937 h 510617"/>
              <a:gd name="connsiteX3" fmla="*/ 457200 w 2011680"/>
              <a:gd name="connsiteY3" fmla="*/ 15317 h 510617"/>
              <a:gd name="connsiteX4" fmla="*/ 876300 w 2011680"/>
              <a:gd name="connsiteY4" fmla="*/ 7697 h 510617"/>
              <a:gd name="connsiteX5" fmla="*/ 914400 w 2011680"/>
              <a:gd name="connsiteY5" fmla="*/ 77 h 510617"/>
              <a:gd name="connsiteX6" fmla="*/ 1211580 w 2011680"/>
              <a:gd name="connsiteY6" fmla="*/ 15317 h 510617"/>
              <a:gd name="connsiteX7" fmla="*/ 1348740 w 2011680"/>
              <a:gd name="connsiteY7" fmla="*/ 38177 h 510617"/>
              <a:gd name="connsiteX8" fmla="*/ 1744980 w 2011680"/>
              <a:gd name="connsiteY8" fmla="*/ 45797 h 510617"/>
              <a:gd name="connsiteX9" fmla="*/ 1790700 w 2011680"/>
              <a:gd name="connsiteY9" fmla="*/ 53417 h 510617"/>
              <a:gd name="connsiteX10" fmla="*/ 1821180 w 2011680"/>
              <a:gd name="connsiteY10" fmla="*/ 61037 h 510617"/>
              <a:gd name="connsiteX11" fmla="*/ 1874520 w 2011680"/>
              <a:gd name="connsiteY11" fmla="*/ 68657 h 510617"/>
              <a:gd name="connsiteX12" fmla="*/ 1897380 w 2011680"/>
              <a:gd name="connsiteY12" fmla="*/ 76277 h 510617"/>
              <a:gd name="connsiteX13" fmla="*/ 1973580 w 2011680"/>
              <a:gd name="connsiteY13" fmla="*/ 129617 h 510617"/>
              <a:gd name="connsiteX14" fmla="*/ 1988820 w 2011680"/>
              <a:gd name="connsiteY14" fmla="*/ 152477 h 510617"/>
              <a:gd name="connsiteX15" fmla="*/ 1996440 w 2011680"/>
              <a:gd name="connsiteY15" fmla="*/ 175337 h 510617"/>
              <a:gd name="connsiteX16" fmla="*/ 2011680 w 2011680"/>
              <a:gd name="connsiteY16" fmla="*/ 213437 h 510617"/>
              <a:gd name="connsiteX17" fmla="*/ 2004060 w 2011680"/>
              <a:gd name="connsiteY17" fmla="*/ 266777 h 510617"/>
              <a:gd name="connsiteX18" fmla="*/ 1981200 w 2011680"/>
              <a:gd name="connsiteY18" fmla="*/ 289637 h 510617"/>
              <a:gd name="connsiteX19" fmla="*/ 1889760 w 2011680"/>
              <a:gd name="connsiteY19" fmla="*/ 342977 h 510617"/>
              <a:gd name="connsiteX20" fmla="*/ 1866900 w 2011680"/>
              <a:gd name="connsiteY20" fmla="*/ 350597 h 510617"/>
              <a:gd name="connsiteX21" fmla="*/ 1844040 w 2011680"/>
              <a:gd name="connsiteY21" fmla="*/ 365837 h 510617"/>
              <a:gd name="connsiteX22" fmla="*/ 1760220 w 2011680"/>
              <a:gd name="connsiteY22" fmla="*/ 388697 h 510617"/>
              <a:gd name="connsiteX23" fmla="*/ 1607820 w 2011680"/>
              <a:gd name="connsiteY23" fmla="*/ 434417 h 510617"/>
              <a:gd name="connsiteX24" fmla="*/ 1440180 w 2011680"/>
              <a:gd name="connsiteY24" fmla="*/ 449657 h 510617"/>
              <a:gd name="connsiteX25" fmla="*/ 1173480 w 2011680"/>
              <a:gd name="connsiteY25" fmla="*/ 480137 h 510617"/>
              <a:gd name="connsiteX26" fmla="*/ 1097280 w 2011680"/>
              <a:gd name="connsiteY26" fmla="*/ 487757 h 510617"/>
              <a:gd name="connsiteX27" fmla="*/ 1028700 w 2011680"/>
              <a:gd name="connsiteY27" fmla="*/ 495377 h 510617"/>
              <a:gd name="connsiteX28" fmla="*/ 784860 w 2011680"/>
              <a:gd name="connsiteY28" fmla="*/ 510617 h 510617"/>
              <a:gd name="connsiteX29" fmla="*/ 449580 w 2011680"/>
              <a:gd name="connsiteY29" fmla="*/ 502997 h 510617"/>
              <a:gd name="connsiteX30" fmla="*/ 396240 w 2011680"/>
              <a:gd name="connsiteY30" fmla="*/ 495377 h 510617"/>
              <a:gd name="connsiteX31" fmla="*/ 251460 w 2011680"/>
              <a:gd name="connsiteY31" fmla="*/ 457277 h 510617"/>
              <a:gd name="connsiteX32" fmla="*/ 144780 w 2011680"/>
              <a:gd name="connsiteY32" fmla="*/ 434417 h 510617"/>
              <a:gd name="connsiteX33" fmla="*/ 45720 w 2011680"/>
              <a:gd name="connsiteY33" fmla="*/ 381077 h 510617"/>
              <a:gd name="connsiteX34" fmla="*/ 0 w 2011680"/>
              <a:gd name="connsiteY34" fmla="*/ 358217 h 510617"/>
              <a:gd name="connsiteX35" fmla="*/ 7620 w 2011680"/>
              <a:gd name="connsiteY35" fmla="*/ 274397 h 510617"/>
              <a:gd name="connsiteX36" fmla="*/ 30480 w 2011680"/>
              <a:gd name="connsiteY36" fmla="*/ 167717 h 510617"/>
              <a:gd name="connsiteX37" fmla="*/ 45720 w 2011680"/>
              <a:gd name="connsiteY37" fmla="*/ 144857 h 510617"/>
              <a:gd name="connsiteX38" fmla="*/ 53340 w 2011680"/>
              <a:gd name="connsiteY38" fmla="*/ 106757 h 510617"/>
              <a:gd name="connsiteX39" fmla="*/ 68580 w 2011680"/>
              <a:gd name="connsiteY39" fmla="*/ 83897 h 510617"/>
              <a:gd name="connsiteX40" fmla="*/ 129540 w 2011680"/>
              <a:gd name="connsiteY40" fmla="*/ 61037 h 510617"/>
              <a:gd name="connsiteX41" fmla="*/ 175260 w 2011680"/>
              <a:gd name="connsiteY41" fmla="*/ 68657 h 510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011680" h="510617">
                <a:moveTo>
                  <a:pt x="76200" y="68657"/>
                </a:moveTo>
                <a:cubicBezTo>
                  <a:pt x="113302" y="66475"/>
                  <a:pt x="201601" y="65882"/>
                  <a:pt x="251460" y="53417"/>
                </a:cubicBezTo>
                <a:cubicBezTo>
                  <a:pt x="410827" y="13575"/>
                  <a:pt x="90556" y="69872"/>
                  <a:pt x="419100" y="22937"/>
                </a:cubicBezTo>
                <a:cubicBezTo>
                  <a:pt x="431921" y="21105"/>
                  <a:pt x="444256" y="15748"/>
                  <a:pt x="457200" y="15317"/>
                </a:cubicBezTo>
                <a:cubicBezTo>
                  <a:pt x="596846" y="10662"/>
                  <a:pt x="736600" y="10237"/>
                  <a:pt x="876300" y="7697"/>
                </a:cubicBezTo>
                <a:cubicBezTo>
                  <a:pt x="889000" y="5157"/>
                  <a:pt x="901448" y="77"/>
                  <a:pt x="914400" y="77"/>
                </a:cubicBezTo>
                <a:cubicBezTo>
                  <a:pt x="1060132" y="77"/>
                  <a:pt x="1103371" y="-1996"/>
                  <a:pt x="1211580" y="15317"/>
                </a:cubicBezTo>
                <a:cubicBezTo>
                  <a:pt x="1257349" y="22640"/>
                  <a:pt x="1302465" y="35533"/>
                  <a:pt x="1348740" y="38177"/>
                </a:cubicBezTo>
                <a:cubicBezTo>
                  <a:pt x="1480629" y="45714"/>
                  <a:pt x="1612900" y="43257"/>
                  <a:pt x="1744980" y="45797"/>
                </a:cubicBezTo>
                <a:cubicBezTo>
                  <a:pt x="1760220" y="48337"/>
                  <a:pt x="1775550" y="50387"/>
                  <a:pt x="1790700" y="53417"/>
                </a:cubicBezTo>
                <a:cubicBezTo>
                  <a:pt x="1800969" y="55471"/>
                  <a:pt x="1810876" y="59164"/>
                  <a:pt x="1821180" y="61037"/>
                </a:cubicBezTo>
                <a:cubicBezTo>
                  <a:pt x="1838851" y="64250"/>
                  <a:pt x="1856740" y="66117"/>
                  <a:pt x="1874520" y="68657"/>
                </a:cubicBezTo>
                <a:cubicBezTo>
                  <a:pt x="1882140" y="71197"/>
                  <a:pt x="1890359" y="72376"/>
                  <a:pt x="1897380" y="76277"/>
                </a:cubicBezTo>
                <a:cubicBezTo>
                  <a:pt x="1902981" y="79389"/>
                  <a:pt x="1963591" y="119628"/>
                  <a:pt x="1973580" y="129617"/>
                </a:cubicBezTo>
                <a:cubicBezTo>
                  <a:pt x="1980056" y="136093"/>
                  <a:pt x="1984724" y="144286"/>
                  <a:pt x="1988820" y="152477"/>
                </a:cubicBezTo>
                <a:cubicBezTo>
                  <a:pt x="1992412" y="159661"/>
                  <a:pt x="1993620" y="167816"/>
                  <a:pt x="1996440" y="175337"/>
                </a:cubicBezTo>
                <a:cubicBezTo>
                  <a:pt x="2001243" y="188144"/>
                  <a:pt x="2006600" y="200737"/>
                  <a:pt x="2011680" y="213437"/>
                </a:cubicBezTo>
                <a:cubicBezTo>
                  <a:pt x="2009140" y="231217"/>
                  <a:pt x="2010730" y="250101"/>
                  <a:pt x="2004060" y="266777"/>
                </a:cubicBezTo>
                <a:cubicBezTo>
                  <a:pt x="2000058" y="276783"/>
                  <a:pt x="1990166" y="283659"/>
                  <a:pt x="1981200" y="289637"/>
                </a:cubicBezTo>
                <a:cubicBezTo>
                  <a:pt x="1951840" y="309211"/>
                  <a:pt x="1920895" y="326371"/>
                  <a:pt x="1889760" y="342977"/>
                </a:cubicBezTo>
                <a:cubicBezTo>
                  <a:pt x="1882673" y="346757"/>
                  <a:pt x="1874084" y="347005"/>
                  <a:pt x="1866900" y="350597"/>
                </a:cubicBezTo>
                <a:cubicBezTo>
                  <a:pt x="1858709" y="354693"/>
                  <a:pt x="1852665" y="362757"/>
                  <a:pt x="1844040" y="365837"/>
                </a:cubicBezTo>
                <a:cubicBezTo>
                  <a:pt x="1816767" y="375577"/>
                  <a:pt x="1788160" y="381077"/>
                  <a:pt x="1760220" y="388697"/>
                </a:cubicBezTo>
                <a:cubicBezTo>
                  <a:pt x="1700264" y="428668"/>
                  <a:pt x="1747180" y="401236"/>
                  <a:pt x="1607820" y="434417"/>
                </a:cubicBezTo>
                <a:cubicBezTo>
                  <a:pt x="1528032" y="453414"/>
                  <a:pt x="1609156" y="440269"/>
                  <a:pt x="1440180" y="449657"/>
                </a:cubicBezTo>
                <a:cubicBezTo>
                  <a:pt x="1297116" y="478270"/>
                  <a:pt x="1400617" y="460668"/>
                  <a:pt x="1173480" y="480137"/>
                </a:cubicBezTo>
                <a:cubicBezTo>
                  <a:pt x="1148047" y="482317"/>
                  <a:pt x="1122666" y="485085"/>
                  <a:pt x="1097280" y="487757"/>
                </a:cubicBezTo>
                <a:cubicBezTo>
                  <a:pt x="1074406" y="490165"/>
                  <a:pt x="1051639" y="493699"/>
                  <a:pt x="1028700" y="495377"/>
                </a:cubicBezTo>
                <a:cubicBezTo>
                  <a:pt x="947479" y="501320"/>
                  <a:pt x="866140" y="505537"/>
                  <a:pt x="784860" y="510617"/>
                </a:cubicBezTo>
                <a:lnTo>
                  <a:pt x="449580" y="502997"/>
                </a:lnTo>
                <a:cubicBezTo>
                  <a:pt x="431633" y="502293"/>
                  <a:pt x="413815" y="499077"/>
                  <a:pt x="396240" y="495377"/>
                </a:cubicBezTo>
                <a:cubicBezTo>
                  <a:pt x="198277" y="453701"/>
                  <a:pt x="387146" y="489583"/>
                  <a:pt x="251460" y="457277"/>
                </a:cubicBezTo>
                <a:cubicBezTo>
                  <a:pt x="216082" y="448854"/>
                  <a:pt x="180340" y="442037"/>
                  <a:pt x="144780" y="434417"/>
                </a:cubicBezTo>
                <a:cubicBezTo>
                  <a:pt x="103394" y="406827"/>
                  <a:pt x="114288" y="412724"/>
                  <a:pt x="45720" y="381077"/>
                </a:cubicBezTo>
                <a:cubicBezTo>
                  <a:pt x="-5546" y="357416"/>
                  <a:pt x="52025" y="392900"/>
                  <a:pt x="0" y="358217"/>
                </a:cubicBezTo>
                <a:cubicBezTo>
                  <a:pt x="2540" y="330277"/>
                  <a:pt x="4522" y="302281"/>
                  <a:pt x="7620" y="274397"/>
                </a:cubicBezTo>
                <a:cubicBezTo>
                  <a:pt x="11691" y="237756"/>
                  <a:pt x="16652" y="202287"/>
                  <a:pt x="30480" y="167717"/>
                </a:cubicBezTo>
                <a:cubicBezTo>
                  <a:pt x="33881" y="159214"/>
                  <a:pt x="40640" y="152477"/>
                  <a:pt x="45720" y="144857"/>
                </a:cubicBezTo>
                <a:cubicBezTo>
                  <a:pt x="48260" y="132157"/>
                  <a:pt x="48792" y="118884"/>
                  <a:pt x="53340" y="106757"/>
                </a:cubicBezTo>
                <a:cubicBezTo>
                  <a:pt x="56556" y="98182"/>
                  <a:pt x="61128" y="89220"/>
                  <a:pt x="68580" y="83897"/>
                </a:cubicBezTo>
                <a:cubicBezTo>
                  <a:pt x="76553" y="78202"/>
                  <a:pt x="115774" y="65626"/>
                  <a:pt x="129540" y="61037"/>
                </a:cubicBezTo>
                <a:lnTo>
                  <a:pt x="175260" y="68657"/>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FDF178E1-C41C-4DC0-953E-D90224A935D4}"/>
              </a:ext>
            </a:extLst>
          </p:cNvPr>
          <p:cNvCxnSpPr/>
          <p:nvPr/>
        </p:nvCxnSpPr>
        <p:spPr>
          <a:xfrm flipH="1" flipV="1">
            <a:off x="8397240" y="2695575"/>
            <a:ext cx="487680" cy="145732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664234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1A291-66A2-43CF-9884-CBA3C3728965}"/>
              </a:ext>
            </a:extLst>
          </p:cNvPr>
          <p:cNvSpPr>
            <a:spLocks noGrp="1"/>
          </p:cNvSpPr>
          <p:nvPr>
            <p:ph type="title"/>
          </p:nvPr>
        </p:nvSpPr>
        <p:spPr>
          <a:xfrm>
            <a:off x="677334" y="306665"/>
            <a:ext cx="8596668" cy="934906"/>
          </a:xfrm>
        </p:spPr>
        <p:txBody>
          <a:bodyPr>
            <a:normAutofit fontScale="90000"/>
          </a:bodyPr>
          <a:lstStyle/>
          <a:p>
            <a:r>
              <a:rPr lang="en-US"/>
              <a:t>SubQuery – Truy vấn con</a:t>
            </a:r>
            <a:br>
              <a:rPr lang="en-US"/>
            </a:br>
            <a:endParaRPr lang="en-US"/>
          </a:p>
        </p:txBody>
      </p:sp>
      <p:sp>
        <p:nvSpPr>
          <p:cNvPr id="3" name="Content Placeholder 2">
            <a:extLst>
              <a:ext uri="{FF2B5EF4-FFF2-40B4-BE49-F238E27FC236}">
                <a16:creationId xmlns:a16="http://schemas.microsoft.com/office/drawing/2014/main" id="{8F530999-CFA3-4A5E-9C57-B10B3151D6E2}"/>
              </a:ext>
            </a:extLst>
          </p:cNvPr>
          <p:cNvSpPr>
            <a:spLocks noGrp="1"/>
          </p:cNvSpPr>
          <p:nvPr>
            <p:ph idx="1"/>
          </p:nvPr>
        </p:nvSpPr>
        <p:spPr>
          <a:xfrm>
            <a:off x="677334" y="1627465"/>
            <a:ext cx="8596668" cy="4413898"/>
          </a:xfrm>
        </p:spPr>
        <p:txBody>
          <a:bodyPr/>
          <a:lstStyle/>
          <a:p>
            <a:r>
              <a:rPr lang="en-US" b="1"/>
              <a:t>1. Subquery ở Where </a:t>
            </a:r>
          </a:p>
          <a:p>
            <a:r>
              <a:rPr lang="en-US" b="1"/>
              <a:t>Subquery không t</a:t>
            </a:r>
            <a:r>
              <a:rPr lang="vi-VN" b="1"/>
              <a:t>ư</a:t>
            </a:r>
            <a:r>
              <a:rPr lang="en-US" b="1"/>
              <a:t>ơng quan: </a:t>
            </a:r>
          </a:p>
          <a:p>
            <a:r>
              <a:rPr lang="en-US"/>
              <a:t>Một truy vấn con không tương quan là truy vấn con </a:t>
            </a:r>
            <a:r>
              <a:rPr lang="en-US">
                <a:solidFill>
                  <a:srgbClr val="FF0000"/>
                </a:solidFill>
              </a:rPr>
              <a:t>độc lập </a:t>
            </a:r>
            <a:r>
              <a:rPr lang="en-US"/>
              <a:t>với truy vấn bên ngoài. Truy vấn con không tương quan được thi hành đầu tiên và một lần duy nhất cho toàn bộ câu lệnh. Kết quả của truy vấn con được điền vào truy vấn bên ngoài, và cuối cùng thi hành truy vấn bên ngoài. </a:t>
            </a:r>
          </a:p>
          <a:p>
            <a:endParaRPr lang="en-US"/>
          </a:p>
          <a:p>
            <a:r>
              <a:rPr lang="en-US"/>
              <a:t>Ví dụ: Lấy các sản phẩm (product) không nằm trong bảng orderdetails</a:t>
            </a:r>
          </a:p>
          <a:p>
            <a:endParaRPr lang="en-US" b="1"/>
          </a:p>
          <a:p>
            <a:endParaRPr lang="en-US"/>
          </a:p>
        </p:txBody>
      </p:sp>
      <p:sp>
        <p:nvSpPr>
          <p:cNvPr id="4" name="Rectangle 3">
            <a:extLst>
              <a:ext uri="{FF2B5EF4-FFF2-40B4-BE49-F238E27FC236}">
                <a16:creationId xmlns:a16="http://schemas.microsoft.com/office/drawing/2014/main" id="{5259B3CC-2922-4448-9287-86726CD0D36D}"/>
              </a:ext>
            </a:extLst>
          </p:cNvPr>
          <p:cNvSpPr/>
          <p:nvPr/>
        </p:nvSpPr>
        <p:spPr>
          <a:xfrm>
            <a:off x="5799589" y="4415005"/>
            <a:ext cx="6096000" cy="2138406"/>
          </a:xfrm>
          <a:prstGeom prst="rect">
            <a:avLst/>
          </a:prstGeom>
          <a:ln>
            <a:solidFill>
              <a:schemeClr val="tx1"/>
            </a:solidFill>
          </a:ln>
        </p:spPr>
        <p:txBody>
          <a:bodyPr>
            <a:spAutoFit/>
          </a:bodyPr>
          <a:lstStyle/>
          <a:p>
            <a:pPr marL="6350" marR="529590" indent="-6350">
              <a:lnSpc>
                <a:spcPct val="108000"/>
              </a:lnSpc>
              <a:spcAft>
                <a:spcPts val="430"/>
              </a:spcAft>
            </a:pPr>
            <a:r>
              <a:rPr lang="en-US">
                <a:solidFill>
                  <a:srgbClr val="FF0000"/>
                </a:solidFill>
                <a:latin typeface="Courier New" panose="02070309020205020404" pitchFamily="49" charset="0"/>
                <a:ea typeface="Courier New" panose="02070309020205020404" pitchFamily="49" charset="0"/>
              </a:rPr>
              <a:t>SELECT</a:t>
            </a:r>
            <a:r>
              <a:rPr lang="en-US">
                <a:solidFill>
                  <a:srgbClr val="000000"/>
                </a:solidFill>
                <a:latin typeface="Courier New" panose="02070309020205020404" pitchFamily="49" charset="0"/>
                <a:ea typeface="Courier New" panose="02070309020205020404" pitchFamily="49" charset="0"/>
              </a:rPr>
              <a:t> *  </a:t>
            </a:r>
            <a:endParaRPr lang="en-US" sz="1600">
              <a:solidFill>
                <a:srgbClr val="000000"/>
              </a:solidFill>
              <a:latin typeface="Calibri" panose="020F0502020204030204" pitchFamily="34" charset="0"/>
              <a:ea typeface="Calibri" panose="020F0502020204030204" pitchFamily="34" charset="0"/>
            </a:endParaRPr>
          </a:p>
          <a:p>
            <a:pPr marL="6350" marR="529590" indent="-6350">
              <a:lnSpc>
                <a:spcPct val="108000"/>
              </a:lnSpc>
              <a:spcAft>
                <a:spcPts val="430"/>
              </a:spcAft>
            </a:pPr>
            <a:r>
              <a:rPr lang="en-US">
                <a:solidFill>
                  <a:srgbClr val="FF0000"/>
                </a:solidFill>
                <a:latin typeface="Courier New" panose="02070309020205020404" pitchFamily="49" charset="0"/>
                <a:ea typeface="Courier New" panose="02070309020205020404" pitchFamily="49" charset="0"/>
              </a:rPr>
              <a:t>FROM</a:t>
            </a:r>
            <a:r>
              <a:rPr lang="en-US">
                <a:solidFill>
                  <a:srgbClr val="000000"/>
                </a:solidFill>
                <a:latin typeface="Courier New" panose="02070309020205020404" pitchFamily="49" charset="0"/>
                <a:ea typeface="Courier New" panose="02070309020205020404" pitchFamily="49" charset="0"/>
              </a:rPr>
              <a:t>  products  </a:t>
            </a:r>
            <a:endParaRPr lang="en-US" sz="1600">
              <a:solidFill>
                <a:srgbClr val="000000"/>
              </a:solidFill>
              <a:latin typeface="Calibri" panose="020F0502020204030204" pitchFamily="34" charset="0"/>
              <a:ea typeface="Calibri" panose="020F0502020204030204" pitchFamily="34" charset="0"/>
            </a:endParaRPr>
          </a:p>
          <a:p>
            <a:pPr marL="6350" marR="529590" indent="-6350">
              <a:lnSpc>
                <a:spcPct val="108000"/>
              </a:lnSpc>
              <a:spcAft>
                <a:spcPts val="430"/>
              </a:spcAft>
            </a:pPr>
            <a:r>
              <a:rPr lang="en-US">
                <a:solidFill>
                  <a:srgbClr val="FF0000"/>
                </a:solidFill>
                <a:latin typeface="Courier New" panose="02070309020205020404" pitchFamily="49" charset="0"/>
                <a:ea typeface="Courier New" panose="02070309020205020404" pitchFamily="49" charset="0"/>
              </a:rPr>
              <a:t>WHERE</a:t>
            </a:r>
            <a:r>
              <a:rPr lang="en-US">
                <a:solidFill>
                  <a:srgbClr val="000000"/>
                </a:solidFill>
                <a:latin typeface="Courier New" panose="02070309020205020404" pitchFamily="49" charset="0"/>
                <a:ea typeface="Courier New" panose="02070309020205020404" pitchFamily="49" charset="0"/>
              </a:rPr>
              <a:t> productCode </a:t>
            </a:r>
            <a:r>
              <a:rPr lang="en-US">
                <a:solidFill>
                  <a:srgbClr val="FF0000"/>
                </a:solidFill>
                <a:latin typeface="Courier New" panose="02070309020205020404" pitchFamily="49" charset="0"/>
                <a:ea typeface="Courier New" panose="02070309020205020404" pitchFamily="49" charset="0"/>
              </a:rPr>
              <a:t>not in </a:t>
            </a:r>
            <a:endParaRPr lang="en-US" sz="1600">
              <a:solidFill>
                <a:srgbClr val="FF0000"/>
              </a:solidFill>
              <a:latin typeface="Calibri" panose="020F0502020204030204" pitchFamily="34" charset="0"/>
              <a:ea typeface="Calibri" panose="020F0502020204030204" pitchFamily="34" charset="0"/>
            </a:endParaRPr>
          </a:p>
          <a:p>
            <a:pPr marL="436245" marR="529590" indent="-6350">
              <a:lnSpc>
                <a:spcPct val="108000"/>
              </a:lnSpc>
              <a:spcAft>
                <a:spcPts val="430"/>
              </a:spcAft>
            </a:pPr>
            <a:r>
              <a:rPr lang="en-US">
                <a:solidFill>
                  <a:srgbClr val="000000"/>
                </a:solidFill>
                <a:latin typeface="Courier New" panose="02070309020205020404" pitchFamily="49" charset="0"/>
                <a:ea typeface="Courier New" panose="02070309020205020404" pitchFamily="49" charset="0"/>
              </a:rPr>
              <a:t>(</a:t>
            </a:r>
            <a:r>
              <a:rPr lang="en-US">
                <a:solidFill>
                  <a:srgbClr val="FF0000"/>
                </a:solidFill>
                <a:latin typeface="Courier New" panose="02070309020205020404" pitchFamily="49" charset="0"/>
                <a:ea typeface="Courier New" panose="02070309020205020404" pitchFamily="49" charset="0"/>
              </a:rPr>
              <a:t>SELECT</a:t>
            </a:r>
            <a:r>
              <a:rPr lang="en-US">
                <a:solidFill>
                  <a:srgbClr val="000000"/>
                </a:solidFill>
                <a:latin typeface="Courier New" panose="02070309020205020404" pitchFamily="49" charset="0"/>
                <a:ea typeface="Courier New" panose="02070309020205020404" pitchFamily="49" charset="0"/>
              </a:rPr>
              <a:t> productCode  </a:t>
            </a:r>
            <a:endParaRPr lang="en-US" sz="1600">
              <a:solidFill>
                <a:srgbClr val="000000"/>
              </a:solidFill>
              <a:latin typeface="Calibri" panose="020F0502020204030204" pitchFamily="34" charset="0"/>
              <a:ea typeface="Calibri" panose="020F0502020204030204" pitchFamily="34" charset="0"/>
            </a:endParaRPr>
          </a:p>
          <a:p>
            <a:pPr marL="436245" marR="529590" indent="-6350">
              <a:lnSpc>
                <a:spcPct val="108000"/>
              </a:lnSpc>
              <a:spcAft>
                <a:spcPts val="430"/>
              </a:spcAft>
            </a:pPr>
            <a:r>
              <a:rPr lang="en-US">
                <a:solidFill>
                  <a:srgbClr val="FF0000"/>
                </a:solidFill>
                <a:latin typeface="Courier New" panose="02070309020205020404" pitchFamily="49" charset="0"/>
                <a:ea typeface="Courier New" panose="02070309020205020404" pitchFamily="49" charset="0"/>
              </a:rPr>
              <a:t>FROM</a:t>
            </a:r>
            <a:r>
              <a:rPr lang="en-US">
                <a:solidFill>
                  <a:srgbClr val="000000"/>
                </a:solidFill>
                <a:latin typeface="Courier New" panose="02070309020205020404" pitchFamily="49" charset="0"/>
                <a:ea typeface="Courier New" panose="02070309020205020404" pitchFamily="49" charset="0"/>
              </a:rPr>
              <a:t> orderdetails </a:t>
            </a:r>
            <a:endParaRPr lang="en-US" sz="1600">
              <a:solidFill>
                <a:srgbClr val="000000"/>
              </a:solidFill>
              <a:latin typeface="Calibri" panose="020F0502020204030204" pitchFamily="34" charset="0"/>
              <a:ea typeface="Calibri" panose="020F0502020204030204" pitchFamily="34" charset="0"/>
            </a:endParaRPr>
          </a:p>
          <a:p>
            <a:pPr marL="436245" marR="529590" indent="-6350">
              <a:lnSpc>
                <a:spcPct val="108000"/>
              </a:lnSpc>
              <a:spcAft>
                <a:spcPts val="1790"/>
              </a:spcAft>
            </a:pPr>
            <a:r>
              <a:rPr lang="en-US">
                <a:solidFill>
                  <a:srgbClr val="000000"/>
                </a:solidFill>
                <a:latin typeface="Courier New" panose="02070309020205020404" pitchFamily="49" charset="0"/>
                <a:ea typeface="Courier New" panose="02070309020205020404" pitchFamily="49" charset="0"/>
              </a:rPr>
              <a:t>) </a:t>
            </a:r>
            <a:endParaRPr lang="en-US" sz="1600">
              <a:solidFill>
                <a:srgbClr val="000000"/>
              </a:solidFill>
              <a:effectLst/>
              <a:latin typeface="Calibri" panose="020F0502020204030204" pitchFamily="34" charset="0"/>
              <a:ea typeface="Calibri" panose="020F0502020204030204" pitchFamily="34" charset="0"/>
            </a:endParaRPr>
          </a:p>
        </p:txBody>
      </p:sp>
      <p:sp>
        <p:nvSpPr>
          <p:cNvPr id="5" name="Freeform: Shape 4">
            <a:extLst>
              <a:ext uri="{FF2B5EF4-FFF2-40B4-BE49-F238E27FC236}">
                <a16:creationId xmlns:a16="http://schemas.microsoft.com/office/drawing/2014/main" id="{781A900F-C627-4CC9-A1B8-0C9C24B40FC7}"/>
              </a:ext>
            </a:extLst>
          </p:cNvPr>
          <p:cNvSpPr/>
          <p:nvPr/>
        </p:nvSpPr>
        <p:spPr>
          <a:xfrm>
            <a:off x="6000750" y="5373751"/>
            <a:ext cx="2822745" cy="1154049"/>
          </a:xfrm>
          <a:custGeom>
            <a:avLst/>
            <a:gdLst>
              <a:gd name="connsiteX0" fmla="*/ 273050 w 2822745"/>
              <a:gd name="connsiteY0" fmla="*/ 131699 h 1154049"/>
              <a:gd name="connsiteX1" fmla="*/ 317500 w 2822745"/>
              <a:gd name="connsiteY1" fmla="*/ 99949 h 1154049"/>
              <a:gd name="connsiteX2" fmla="*/ 387350 w 2822745"/>
              <a:gd name="connsiteY2" fmla="*/ 87249 h 1154049"/>
              <a:gd name="connsiteX3" fmla="*/ 704850 w 2822745"/>
              <a:gd name="connsiteY3" fmla="*/ 93599 h 1154049"/>
              <a:gd name="connsiteX4" fmla="*/ 939800 w 2822745"/>
              <a:gd name="connsiteY4" fmla="*/ 125349 h 1154049"/>
              <a:gd name="connsiteX5" fmla="*/ 1384300 w 2822745"/>
              <a:gd name="connsiteY5" fmla="*/ 169799 h 1154049"/>
              <a:gd name="connsiteX6" fmla="*/ 2038350 w 2822745"/>
              <a:gd name="connsiteY6" fmla="*/ 188849 h 1154049"/>
              <a:gd name="connsiteX7" fmla="*/ 2108200 w 2822745"/>
              <a:gd name="connsiteY7" fmla="*/ 195199 h 1154049"/>
              <a:gd name="connsiteX8" fmla="*/ 2432050 w 2822745"/>
              <a:gd name="connsiteY8" fmla="*/ 296799 h 1154049"/>
              <a:gd name="connsiteX9" fmla="*/ 2565400 w 2822745"/>
              <a:gd name="connsiteY9" fmla="*/ 347599 h 1154049"/>
              <a:gd name="connsiteX10" fmla="*/ 2705100 w 2822745"/>
              <a:gd name="connsiteY10" fmla="*/ 468249 h 1154049"/>
              <a:gd name="connsiteX11" fmla="*/ 2794000 w 2822745"/>
              <a:gd name="connsiteY11" fmla="*/ 588899 h 1154049"/>
              <a:gd name="connsiteX12" fmla="*/ 2819400 w 2822745"/>
              <a:gd name="connsiteY12" fmla="*/ 836549 h 1154049"/>
              <a:gd name="connsiteX13" fmla="*/ 2692400 w 2822745"/>
              <a:gd name="connsiteY13" fmla="*/ 1001649 h 1154049"/>
              <a:gd name="connsiteX14" fmla="*/ 2495550 w 2822745"/>
              <a:gd name="connsiteY14" fmla="*/ 1090549 h 1154049"/>
              <a:gd name="connsiteX15" fmla="*/ 2463800 w 2822745"/>
              <a:gd name="connsiteY15" fmla="*/ 1096899 h 1154049"/>
              <a:gd name="connsiteX16" fmla="*/ 2266950 w 2822745"/>
              <a:gd name="connsiteY16" fmla="*/ 1141349 h 1154049"/>
              <a:gd name="connsiteX17" fmla="*/ 2216150 w 2822745"/>
              <a:gd name="connsiteY17" fmla="*/ 1147699 h 1154049"/>
              <a:gd name="connsiteX18" fmla="*/ 1987550 w 2822745"/>
              <a:gd name="connsiteY18" fmla="*/ 1154049 h 1154049"/>
              <a:gd name="connsiteX19" fmla="*/ 1276350 w 2822745"/>
              <a:gd name="connsiteY19" fmla="*/ 1115949 h 1154049"/>
              <a:gd name="connsiteX20" fmla="*/ 1238250 w 2822745"/>
              <a:gd name="connsiteY20" fmla="*/ 1109599 h 1154049"/>
              <a:gd name="connsiteX21" fmla="*/ 1066800 w 2822745"/>
              <a:gd name="connsiteY21" fmla="*/ 1090549 h 1154049"/>
              <a:gd name="connsiteX22" fmla="*/ 641350 w 2822745"/>
              <a:gd name="connsiteY22" fmla="*/ 1109599 h 1154049"/>
              <a:gd name="connsiteX23" fmla="*/ 393700 w 2822745"/>
              <a:gd name="connsiteY23" fmla="*/ 1096899 h 1154049"/>
              <a:gd name="connsiteX24" fmla="*/ 254000 w 2822745"/>
              <a:gd name="connsiteY24" fmla="*/ 1046099 h 1154049"/>
              <a:gd name="connsiteX25" fmla="*/ 228600 w 2822745"/>
              <a:gd name="connsiteY25" fmla="*/ 1033399 h 1154049"/>
              <a:gd name="connsiteX26" fmla="*/ 101600 w 2822745"/>
              <a:gd name="connsiteY26" fmla="*/ 957199 h 1154049"/>
              <a:gd name="connsiteX27" fmla="*/ 31750 w 2822745"/>
              <a:gd name="connsiteY27" fmla="*/ 842899 h 1154049"/>
              <a:gd name="connsiteX28" fmla="*/ 6350 w 2822745"/>
              <a:gd name="connsiteY28" fmla="*/ 671449 h 1154049"/>
              <a:gd name="connsiteX29" fmla="*/ 0 w 2822745"/>
              <a:gd name="connsiteY29" fmla="*/ 303149 h 1154049"/>
              <a:gd name="connsiteX30" fmla="*/ 19050 w 2822745"/>
              <a:gd name="connsiteY30" fmla="*/ 157099 h 1154049"/>
              <a:gd name="connsiteX31" fmla="*/ 57150 w 2822745"/>
              <a:gd name="connsiteY31" fmla="*/ 99949 h 1154049"/>
              <a:gd name="connsiteX32" fmla="*/ 120650 w 2822745"/>
              <a:gd name="connsiteY32" fmla="*/ 42799 h 1154049"/>
              <a:gd name="connsiteX33" fmla="*/ 234950 w 2822745"/>
              <a:gd name="connsiteY33" fmla="*/ 17399 h 1154049"/>
              <a:gd name="connsiteX34" fmla="*/ 260350 w 2822745"/>
              <a:gd name="connsiteY34" fmla="*/ 11049 h 1154049"/>
              <a:gd name="connsiteX35" fmla="*/ 412750 w 2822745"/>
              <a:gd name="connsiteY35" fmla="*/ 36449 h 1154049"/>
              <a:gd name="connsiteX36" fmla="*/ 412750 w 2822745"/>
              <a:gd name="connsiteY36" fmla="*/ 68199 h 1154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822745" h="1154049">
                <a:moveTo>
                  <a:pt x="273050" y="131699"/>
                </a:moveTo>
                <a:cubicBezTo>
                  <a:pt x="287867" y="121116"/>
                  <a:pt x="301214" y="108092"/>
                  <a:pt x="317500" y="99949"/>
                </a:cubicBezTo>
                <a:cubicBezTo>
                  <a:pt x="321938" y="97730"/>
                  <a:pt x="386247" y="87433"/>
                  <a:pt x="387350" y="87249"/>
                </a:cubicBezTo>
                <a:cubicBezTo>
                  <a:pt x="493183" y="89366"/>
                  <a:pt x="599246" y="86316"/>
                  <a:pt x="704850" y="93599"/>
                </a:cubicBezTo>
                <a:cubicBezTo>
                  <a:pt x="783691" y="99036"/>
                  <a:pt x="861164" y="117485"/>
                  <a:pt x="939800" y="125349"/>
                </a:cubicBezTo>
                <a:cubicBezTo>
                  <a:pt x="1087967" y="140166"/>
                  <a:pt x="1235761" y="159355"/>
                  <a:pt x="1384300" y="169799"/>
                </a:cubicBezTo>
                <a:cubicBezTo>
                  <a:pt x="1502473" y="178108"/>
                  <a:pt x="1897637" y="185722"/>
                  <a:pt x="2038350" y="188849"/>
                </a:cubicBezTo>
                <a:cubicBezTo>
                  <a:pt x="2061633" y="190966"/>
                  <a:pt x="2085456" y="189784"/>
                  <a:pt x="2108200" y="195199"/>
                </a:cubicBezTo>
                <a:cubicBezTo>
                  <a:pt x="2189794" y="214626"/>
                  <a:pt x="2344492" y="262749"/>
                  <a:pt x="2432050" y="296799"/>
                </a:cubicBezTo>
                <a:cubicBezTo>
                  <a:pt x="2552588" y="343675"/>
                  <a:pt x="2507568" y="328322"/>
                  <a:pt x="2565400" y="347599"/>
                </a:cubicBezTo>
                <a:cubicBezTo>
                  <a:pt x="2611967" y="387816"/>
                  <a:pt x="2667325" y="419681"/>
                  <a:pt x="2705100" y="468249"/>
                </a:cubicBezTo>
                <a:cubicBezTo>
                  <a:pt x="2765413" y="545794"/>
                  <a:pt x="2735710" y="505628"/>
                  <a:pt x="2794000" y="588899"/>
                </a:cubicBezTo>
                <a:cubicBezTo>
                  <a:pt x="2801509" y="633951"/>
                  <a:pt x="2832938" y="794968"/>
                  <a:pt x="2819400" y="836549"/>
                </a:cubicBezTo>
                <a:cubicBezTo>
                  <a:pt x="2817478" y="842452"/>
                  <a:pt x="2743881" y="975908"/>
                  <a:pt x="2692400" y="1001649"/>
                </a:cubicBezTo>
                <a:cubicBezTo>
                  <a:pt x="2628003" y="1033847"/>
                  <a:pt x="2562009" y="1062858"/>
                  <a:pt x="2495550" y="1090549"/>
                </a:cubicBezTo>
                <a:cubicBezTo>
                  <a:pt x="2485587" y="1094700"/>
                  <a:pt x="2474336" y="1094558"/>
                  <a:pt x="2463800" y="1096899"/>
                </a:cubicBezTo>
                <a:cubicBezTo>
                  <a:pt x="2398133" y="1111492"/>
                  <a:pt x="2332847" y="1127832"/>
                  <a:pt x="2266950" y="1141349"/>
                </a:cubicBezTo>
                <a:cubicBezTo>
                  <a:pt x="2250233" y="1144778"/>
                  <a:pt x="2233198" y="1146924"/>
                  <a:pt x="2216150" y="1147699"/>
                </a:cubicBezTo>
                <a:cubicBezTo>
                  <a:pt x="2139999" y="1151160"/>
                  <a:pt x="2063750" y="1151932"/>
                  <a:pt x="1987550" y="1154049"/>
                </a:cubicBezTo>
                <a:lnTo>
                  <a:pt x="1276350" y="1115949"/>
                </a:lnTo>
                <a:cubicBezTo>
                  <a:pt x="1263497" y="1115187"/>
                  <a:pt x="1251032" y="1111148"/>
                  <a:pt x="1238250" y="1109599"/>
                </a:cubicBezTo>
                <a:cubicBezTo>
                  <a:pt x="1181166" y="1102680"/>
                  <a:pt x="1123950" y="1096899"/>
                  <a:pt x="1066800" y="1090549"/>
                </a:cubicBezTo>
                <a:cubicBezTo>
                  <a:pt x="1037533" y="1092050"/>
                  <a:pt x="702581" y="1110513"/>
                  <a:pt x="641350" y="1109599"/>
                </a:cubicBezTo>
                <a:cubicBezTo>
                  <a:pt x="558701" y="1108365"/>
                  <a:pt x="476250" y="1101132"/>
                  <a:pt x="393700" y="1096899"/>
                </a:cubicBezTo>
                <a:cubicBezTo>
                  <a:pt x="325922" y="1063010"/>
                  <a:pt x="404676" y="1100890"/>
                  <a:pt x="254000" y="1046099"/>
                </a:cubicBezTo>
                <a:cubicBezTo>
                  <a:pt x="245104" y="1042864"/>
                  <a:pt x="236819" y="1038095"/>
                  <a:pt x="228600" y="1033399"/>
                </a:cubicBezTo>
                <a:cubicBezTo>
                  <a:pt x="134283" y="979503"/>
                  <a:pt x="151691" y="990593"/>
                  <a:pt x="101600" y="957199"/>
                </a:cubicBezTo>
                <a:cubicBezTo>
                  <a:pt x="93003" y="944781"/>
                  <a:pt x="38133" y="878645"/>
                  <a:pt x="31750" y="842899"/>
                </a:cubicBezTo>
                <a:cubicBezTo>
                  <a:pt x="-14493" y="583938"/>
                  <a:pt x="29241" y="763012"/>
                  <a:pt x="6350" y="671449"/>
                </a:cubicBezTo>
                <a:cubicBezTo>
                  <a:pt x="4233" y="548682"/>
                  <a:pt x="0" y="425934"/>
                  <a:pt x="0" y="303149"/>
                </a:cubicBezTo>
                <a:cubicBezTo>
                  <a:pt x="0" y="278877"/>
                  <a:pt x="7199" y="185245"/>
                  <a:pt x="19050" y="157099"/>
                </a:cubicBezTo>
                <a:cubicBezTo>
                  <a:pt x="27935" y="135998"/>
                  <a:pt x="41939" y="117061"/>
                  <a:pt x="57150" y="99949"/>
                </a:cubicBezTo>
                <a:cubicBezTo>
                  <a:pt x="76069" y="78665"/>
                  <a:pt x="94821" y="54791"/>
                  <a:pt x="120650" y="42799"/>
                </a:cubicBezTo>
                <a:cubicBezTo>
                  <a:pt x="156050" y="26363"/>
                  <a:pt x="196891" y="26049"/>
                  <a:pt x="234950" y="17399"/>
                </a:cubicBezTo>
                <a:cubicBezTo>
                  <a:pt x="243460" y="15465"/>
                  <a:pt x="251883" y="13166"/>
                  <a:pt x="260350" y="11049"/>
                </a:cubicBezTo>
                <a:cubicBezTo>
                  <a:pt x="313539" y="13362"/>
                  <a:pt x="404664" y="-28235"/>
                  <a:pt x="412750" y="36449"/>
                </a:cubicBezTo>
                <a:cubicBezTo>
                  <a:pt x="414063" y="46951"/>
                  <a:pt x="412750" y="57616"/>
                  <a:pt x="412750" y="6819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785AA64-7557-4DCE-8D12-82BD41F09493}"/>
              </a:ext>
            </a:extLst>
          </p:cNvPr>
          <p:cNvSpPr/>
          <p:nvPr/>
        </p:nvSpPr>
        <p:spPr>
          <a:xfrm>
            <a:off x="190462" y="4479788"/>
            <a:ext cx="5421773" cy="1787925"/>
          </a:xfrm>
          <a:prstGeom prst="rect">
            <a:avLst/>
          </a:prstGeom>
          <a:ln>
            <a:solidFill>
              <a:schemeClr val="tx1"/>
            </a:solidFill>
          </a:ln>
        </p:spPr>
        <p:txBody>
          <a:bodyPr wrap="square">
            <a:spAutoFit/>
          </a:bodyPr>
          <a:lstStyle/>
          <a:p>
            <a:pPr marL="6350" marR="529590" indent="-6350">
              <a:lnSpc>
                <a:spcPct val="108000"/>
              </a:lnSpc>
              <a:spcAft>
                <a:spcPts val="430"/>
              </a:spcAft>
            </a:pPr>
            <a:r>
              <a:rPr lang="en-US">
                <a:solidFill>
                  <a:srgbClr val="FF0000"/>
                </a:solidFill>
                <a:latin typeface="Courier New" panose="02070309020205020404" pitchFamily="49" charset="0"/>
                <a:ea typeface="Courier New" panose="02070309020205020404" pitchFamily="49" charset="0"/>
              </a:rPr>
              <a:t>SELECT</a:t>
            </a:r>
            <a:r>
              <a:rPr lang="en-US">
                <a:solidFill>
                  <a:srgbClr val="000000"/>
                </a:solidFill>
                <a:latin typeface="Courier New" panose="02070309020205020404" pitchFamily="49" charset="0"/>
                <a:ea typeface="Courier New" panose="02070309020205020404" pitchFamily="49" charset="0"/>
              </a:rPr>
              <a:t> * </a:t>
            </a:r>
            <a:r>
              <a:rPr lang="en-US">
                <a:solidFill>
                  <a:srgbClr val="FF0000"/>
                </a:solidFill>
                <a:latin typeface="Courier New" panose="02070309020205020404" pitchFamily="49" charset="0"/>
                <a:ea typeface="Courier New" panose="02070309020205020404" pitchFamily="49" charset="0"/>
              </a:rPr>
              <a:t>FROM</a:t>
            </a:r>
            <a:r>
              <a:rPr lang="en-US">
                <a:solidFill>
                  <a:srgbClr val="000000"/>
                </a:solidFill>
                <a:latin typeface="Courier New" panose="02070309020205020404" pitchFamily="49" charset="0"/>
                <a:ea typeface="Courier New" panose="02070309020205020404" pitchFamily="49" charset="0"/>
              </a:rPr>
              <a:t> </a:t>
            </a:r>
            <a:r>
              <a:rPr lang="en-US">
                <a:solidFill>
                  <a:srgbClr val="7030A0"/>
                </a:solidFill>
                <a:latin typeface="Courier New" panose="02070309020205020404" pitchFamily="49" charset="0"/>
                <a:ea typeface="Courier New" panose="02070309020205020404" pitchFamily="49" charset="0"/>
              </a:rPr>
              <a:t>products</a:t>
            </a:r>
            <a:r>
              <a:rPr lang="en-US">
                <a:solidFill>
                  <a:srgbClr val="000000"/>
                </a:solidFill>
                <a:latin typeface="Courier New" panose="02070309020205020404" pitchFamily="49" charset="0"/>
                <a:ea typeface="Courier New" panose="02070309020205020404" pitchFamily="49" charset="0"/>
              </a:rPr>
              <a:t> </a:t>
            </a:r>
            <a:r>
              <a:rPr lang="en-US">
                <a:solidFill>
                  <a:srgbClr val="FF0000"/>
                </a:solidFill>
                <a:latin typeface="Courier New" panose="02070309020205020404" pitchFamily="49" charset="0"/>
                <a:ea typeface="Courier New" panose="02070309020205020404" pitchFamily="49" charset="0"/>
              </a:rPr>
              <a:t>as</a:t>
            </a:r>
            <a:r>
              <a:rPr lang="en-US">
                <a:solidFill>
                  <a:srgbClr val="000000"/>
                </a:solidFill>
                <a:latin typeface="Courier New" panose="02070309020205020404" pitchFamily="49" charset="0"/>
                <a:ea typeface="Courier New" panose="02070309020205020404" pitchFamily="49" charset="0"/>
              </a:rPr>
              <a:t> p </a:t>
            </a:r>
            <a:endParaRPr lang="en-US" sz="1600">
              <a:solidFill>
                <a:srgbClr val="000000"/>
              </a:solidFill>
              <a:latin typeface="Calibri" panose="020F0502020204030204" pitchFamily="34" charset="0"/>
              <a:ea typeface="Calibri" panose="020F0502020204030204" pitchFamily="34" charset="0"/>
            </a:endParaRPr>
          </a:p>
          <a:p>
            <a:pPr marL="6350" marR="529590" indent="-6350">
              <a:lnSpc>
                <a:spcPct val="108000"/>
              </a:lnSpc>
              <a:spcAft>
                <a:spcPts val="430"/>
              </a:spcAft>
            </a:pPr>
            <a:r>
              <a:rPr lang="en-US">
                <a:solidFill>
                  <a:srgbClr val="FF0000"/>
                </a:solidFill>
                <a:latin typeface="Courier New" panose="02070309020205020404" pitchFamily="49" charset="0"/>
                <a:ea typeface="Courier New" panose="02070309020205020404" pitchFamily="49" charset="0"/>
              </a:rPr>
              <a:t>WHERE</a:t>
            </a:r>
            <a:r>
              <a:rPr lang="en-US">
                <a:solidFill>
                  <a:srgbClr val="000000"/>
                </a:solidFill>
                <a:latin typeface="Courier New" panose="02070309020205020404" pitchFamily="49" charset="0"/>
                <a:ea typeface="Courier New" panose="02070309020205020404" pitchFamily="49" charset="0"/>
              </a:rPr>
              <a:t> </a:t>
            </a:r>
            <a:r>
              <a:rPr lang="en-US">
                <a:solidFill>
                  <a:srgbClr val="FF0000"/>
                </a:solidFill>
                <a:latin typeface="Courier New" panose="02070309020205020404" pitchFamily="49" charset="0"/>
                <a:ea typeface="Courier New" panose="02070309020205020404" pitchFamily="49" charset="0"/>
              </a:rPr>
              <a:t>exists</a:t>
            </a:r>
            <a:r>
              <a:rPr lang="en-US">
                <a:solidFill>
                  <a:srgbClr val="000000"/>
                </a:solidFill>
                <a:latin typeface="Courier New" panose="02070309020205020404" pitchFamily="49" charset="0"/>
                <a:ea typeface="Courier New" panose="02070309020205020404" pitchFamily="49" charset="0"/>
              </a:rPr>
              <a:t> </a:t>
            </a:r>
            <a:endParaRPr lang="en-US" sz="1600">
              <a:solidFill>
                <a:srgbClr val="000000"/>
              </a:solidFill>
              <a:latin typeface="Calibri" panose="020F0502020204030204" pitchFamily="34" charset="0"/>
              <a:ea typeface="Calibri" panose="020F0502020204030204" pitchFamily="34" charset="0"/>
            </a:endParaRPr>
          </a:p>
          <a:p>
            <a:pPr marL="6350" marR="529590" indent="-6350">
              <a:lnSpc>
                <a:spcPct val="108000"/>
              </a:lnSpc>
              <a:spcAft>
                <a:spcPts val="430"/>
              </a:spcAft>
            </a:pPr>
            <a:r>
              <a:rPr lang="en-US">
                <a:solidFill>
                  <a:srgbClr val="000000"/>
                </a:solidFill>
                <a:latin typeface="Courier New" panose="02070309020205020404" pitchFamily="49" charset="0"/>
                <a:ea typeface="Courier New" panose="02070309020205020404" pitchFamily="49" charset="0"/>
              </a:rPr>
              <a:t>(</a:t>
            </a:r>
            <a:r>
              <a:rPr lang="en-US">
                <a:solidFill>
                  <a:srgbClr val="FF0000"/>
                </a:solidFill>
                <a:latin typeface="Courier New" panose="02070309020205020404" pitchFamily="49" charset="0"/>
                <a:ea typeface="Courier New" panose="02070309020205020404" pitchFamily="49" charset="0"/>
              </a:rPr>
              <a:t>SELECT</a:t>
            </a:r>
            <a:r>
              <a:rPr lang="en-US">
                <a:solidFill>
                  <a:srgbClr val="000000"/>
                </a:solidFill>
                <a:latin typeface="Courier New" panose="02070309020205020404" pitchFamily="49" charset="0"/>
                <a:ea typeface="Courier New" panose="02070309020205020404" pitchFamily="49" charset="0"/>
              </a:rPr>
              <a:t> productCode  </a:t>
            </a:r>
            <a:endParaRPr lang="en-US" sz="1600">
              <a:solidFill>
                <a:srgbClr val="000000"/>
              </a:solidFill>
              <a:latin typeface="Calibri" panose="020F0502020204030204" pitchFamily="34" charset="0"/>
              <a:ea typeface="Calibri" panose="020F0502020204030204" pitchFamily="34" charset="0"/>
            </a:endParaRPr>
          </a:p>
          <a:p>
            <a:pPr marL="6350" marR="529590" indent="-6350">
              <a:lnSpc>
                <a:spcPct val="108000"/>
              </a:lnSpc>
              <a:spcAft>
                <a:spcPts val="430"/>
              </a:spcAft>
            </a:pPr>
            <a:r>
              <a:rPr lang="en-US">
                <a:solidFill>
                  <a:srgbClr val="FF0000"/>
                </a:solidFill>
                <a:latin typeface="Courier New" panose="02070309020205020404" pitchFamily="49" charset="0"/>
                <a:ea typeface="Courier New" panose="02070309020205020404" pitchFamily="49" charset="0"/>
              </a:rPr>
              <a:t>FROM</a:t>
            </a:r>
            <a:r>
              <a:rPr lang="en-US">
                <a:solidFill>
                  <a:srgbClr val="000000"/>
                </a:solidFill>
                <a:latin typeface="Courier New" panose="02070309020205020404" pitchFamily="49" charset="0"/>
                <a:ea typeface="Courier New" panose="02070309020205020404" pitchFamily="49" charset="0"/>
              </a:rPr>
              <a:t> orderdetails  </a:t>
            </a:r>
            <a:endParaRPr lang="en-US" sz="1600">
              <a:solidFill>
                <a:srgbClr val="000000"/>
              </a:solidFill>
              <a:latin typeface="Calibri" panose="020F0502020204030204" pitchFamily="34" charset="0"/>
              <a:ea typeface="Calibri" panose="020F0502020204030204" pitchFamily="34" charset="0"/>
            </a:endParaRPr>
          </a:p>
          <a:p>
            <a:pPr marL="6350" marR="529590" indent="-6350">
              <a:lnSpc>
                <a:spcPct val="108000"/>
              </a:lnSpc>
              <a:spcAft>
                <a:spcPts val="1405"/>
              </a:spcAft>
            </a:pPr>
            <a:r>
              <a:rPr lang="en-US">
                <a:solidFill>
                  <a:srgbClr val="FF0000"/>
                </a:solidFill>
                <a:latin typeface="Courier New" panose="02070309020205020404" pitchFamily="49" charset="0"/>
                <a:ea typeface="Courier New" panose="02070309020205020404" pitchFamily="49" charset="0"/>
              </a:rPr>
              <a:t>WHERE</a:t>
            </a:r>
            <a:r>
              <a:rPr lang="en-US">
                <a:solidFill>
                  <a:srgbClr val="000000"/>
                </a:solidFill>
                <a:latin typeface="Courier New" panose="02070309020205020404" pitchFamily="49" charset="0"/>
                <a:ea typeface="Courier New" panose="02070309020205020404" pitchFamily="49" charset="0"/>
              </a:rPr>
              <a:t> productCode </a:t>
            </a:r>
            <a:r>
              <a:rPr lang="en-US">
                <a:solidFill>
                  <a:srgbClr val="FF0000"/>
                </a:solidFill>
                <a:latin typeface="Courier New" panose="02070309020205020404" pitchFamily="49" charset="0"/>
                <a:ea typeface="Courier New" panose="02070309020205020404" pitchFamily="49" charset="0"/>
              </a:rPr>
              <a:t>=</a:t>
            </a:r>
            <a:r>
              <a:rPr lang="en-US">
                <a:solidFill>
                  <a:srgbClr val="000000"/>
                </a:solidFill>
                <a:latin typeface="Courier New" panose="02070309020205020404" pitchFamily="49" charset="0"/>
                <a:ea typeface="Courier New" panose="02070309020205020404" pitchFamily="49" charset="0"/>
              </a:rPr>
              <a:t> </a:t>
            </a:r>
            <a:r>
              <a:rPr lang="en-US">
                <a:solidFill>
                  <a:srgbClr val="7030A0"/>
                </a:solidFill>
                <a:latin typeface="Courier New" panose="02070309020205020404" pitchFamily="49" charset="0"/>
                <a:ea typeface="Courier New" panose="02070309020205020404" pitchFamily="49" charset="0"/>
              </a:rPr>
              <a:t>p.productCode</a:t>
            </a:r>
            <a:r>
              <a:rPr lang="en-US">
                <a:solidFill>
                  <a:srgbClr val="000000"/>
                </a:solidFill>
                <a:latin typeface="Courier New" panose="02070309020205020404" pitchFamily="49" charset="0"/>
                <a:ea typeface="Courier New" panose="02070309020205020404" pitchFamily="49" charset="0"/>
              </a:rPr>
              <a:t>) </a:t>
            </a:r>
            <a:endParaRPr lang="en-US" sz="1600">
              <a:solidFill>
                <a:srgbClr val="000000"/>
              </a:solidFill>
              <a:effectLst/>
              <a:latin typeface="Calibri" panose="020F0502020204030204" pitchFamily="34" charset="0"/>
              <a:ea typeface="Calibri" panose="020F0502020204030204" pitchFamily="34" charset="0"/>
            </a:endParaRPr>
          </a:p>
        </p:txBody>
      </p:sp>
      <p:cxnSp>
        <p:nvCxnSpPr>
          <p:cNvPr id="8" name="Straight Connector 7">
            <a:extLst>
              <a:ext uri="{FF2B5EF4-FFF2-40B4-BE49-F238E27FC236}">
                <a16:creationId xmlns:a16="http://schemas.microsoft.com/office/drawing/2014/main" id="{55CC4ABB-85E3-4632-BBCD-D954F33F01AE}"/>
              </a:ext>
            </a:extLst>
          </p:cNvPr>
          <p:cNvCxnSpPr/>
          <p:nvPr/>
        </p:nvCxnSpPr>
        <p:spPr>
          <a:xfrm flipH="1" flipV="1">
            <a:off x="2804160" y="4754880"/>
            <a:ext cx="1104900" cy="128648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524082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285FA-EF38-4642-BE52-BFFA5E1E377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0811EE3-4FFD-4D83-B2B3-14905812E377}"/>
              </a:ext>
            </a:extLst>
          </p:cNvPr>
          <p:cNvSpPr>
            <a:spLocks noGrp="1"/>
          </p:cNvSpPr>
          <p:nvPr>
            <p:ph idx="1"/>
          </p:nvPr>
        </p:nvSpPr>
        <p:spPr/>
        <p:txBody>
          <a:bodyPr/>
          <a:lstStyle/>
          <a:p>
            <a:endParaRPr lang="en-US"/>
          </a:p>
        </p:txBody>
      </p:sp>
      <p:sp>
        <p:nvSpPr>
          <p:cNvPr id="4" name="Rectangle 3">
            <a:extLst>
              <a:ext uri="{FF2B5EF4-FFF2-40B4-BE49-F238E27FC236}">
                <a16:creationId xmlns:a16="http://schemas.microsoft.com/office/drawing/2014/main" id="{D0BEF8E8-4913-4817-9E3F-3098AD068B73}"/>
              </a:ext>
            </a:extLst>
          </p:cNvPr>
          <p:cNvSpPr/>
          <p:nvPr/>
        </p:nvSpPr>
        <p:spPr>
          <a:xfrm>
            <a:off x="3048000" y="2359797"/>
            <a:ext cx="6096000" cy="2138406"/>
          </a:xfrm>
          <a:prstGeom prst="rect">
            <a:avLst/>
          </a:prstGeom>
          <a:ln>
            <a:solidFill>
              <a:schemeClr val="tx1"/>
            </a:solidFill>
          </a:ln>
        </p:spPr>
        <p:txBody>
          <a:bodyPr>
            <a:spAutoFit/>
          </a:bodyPr>
          <a:lstStyle/>
          <a:p>
            <a:pPr marL="6350" marR="529590" indent="-6350">
              <a:lnSpc>
                <a:spcPct val="108000"/>
              </a:lnSpc>
              <a:spcAft>
                <a:spcPts val="430"/>
              </a:spcAft>
            </a:pPr>
            <a:r>
              <a:rPr lang="en-US">
                <a:solidFill>
                  <a:srgbClr val="FF0000"/>
                </a:solidFill>
                <a:latin typeface="Courier New" panose="02070309020205020404" pitchFamily="49" charset="0"/>
                <a:ea typeface="Courier New" panose="02070309020205020404" pitchFamily="49" charset="0"/>
              </a:rPr>
              <a:t>SELECT</a:t>
            </a:r>
            <a:r>
              <a:rPr lang="en-US">
                <a:solidFill>
                  <a:srgbClr val="000000"/>
                </a:solidFill>
                <a:latin typeface="Courier New" panose="02070309020205020404" pitchFamily="49" charset="0"/>
                <a:ea typeface="Courier New" panose="02070309020205020404" pitchFamily="49" charset="0"/>
              </a:rPr>
              <a:t> *  </a:t>
            </a:r>
            <a:endParaRPr lang="en-US" sz="1600">
              <a:solidFill>
                <a:srgbClr val="000000"/>
              </a:solidFill>
              <a:latin typeface="Calibri" panose="020F0502020204030204" pitchFamily="34" charset="0"/>
              <a:ea typeface="Calibri" panose="020F0502020204030204" pitchFamily="34" charset="0"/>
            </a:endParaRPr>
          </a:p>
          <a:p>
            <a:pPr marL="6350" marR="529590" indent="-6350">
              <a:lnSpc>
                <a:spcPct val="108000"/>
              </a:lnSpc>
              <a:spcAft>
                <a:spcPts val="430"/>
              </a:spcAft>
            </a:pPr>
            <a:r>
              <a:rPr lang="en-US">
                <a:solidFill>
                  <a:srgbClr val="FF0000"/>
                </a:solidFill>
                <a:latin typeface="Courier New" panose="02070309020205020404" pitchFamily="49" charset="0"/>
                <a:ea typeface="Courier New" panose="02070309020205020404" pitchFamily="49" charset="0"/>
              </a:rPr>
              <a:t>FROM</a:t>
            </a:r>
            <a:r>
              <a:rPr lang="en-US">
                <a:solidFill>
                  <a:srgbClr val="000000"/>
                </a:solidFill>
                <a:latin typeface="Courier New" panose="02070309020205020404" pitchFamily="49" charset="0"/>
                <a:ea typeface="Courier New" panose="02070309020205020404" pitchFamily="49" charset="0"/>
              </a:rPr>
              <a:t>  products  </a:t>
            </a:r>
            <a:endParaRPr lang="en-US" sz="1600">
              <a:solidFill>
                <a:srgbClr val="000000"/>
              </a:solidFill>
              <a:latin typeface="Calibri" panose="020F0502020204030204" pitchFamily="34" charset="0"/>
              <a:ea typeface="Calibri" panose="020F0502020204030204" pitchFamily="34" charset="0"/>
            </a:endParaRPr>
          </a:p>
          <a:p>
            <a:pPr marL="6350" marR="529590" indent="-6350">
              <a:lnSpc>
                <a:spcPct val="108000"/>
              </a:lnSpc>
              <a:spcAft>
                <a:spcPts val="430"/>
              </a:spcAft>
            </a:pPr>
            <a:r>
              <a:rPr lang="en-US">
                <a:solidFill>
                  <a:srgbClr val="FF0000"/>
                </a:solidFill>
                <a:latin typeface="Courier New" panose="02070309020205020404" pitchFamily="49" charset="0"/>
                <a:ea typeface="Courier New" panose="02070309020205020404" pitchFamily="49" charset="0"/>
              </a:rPr>
              <a:t>WHERE</a:t>
            </a:r>
            <a:r>
              <a:rPr lang="en-US">
                <a:solidFill>
                  <a:srgbClr val="000000"/>
                </a:solidFill>
                <a:latin typeface="Courier New" panose="02070309020205020404" pitchFamily="49" charset="0"/>
                <a:ea typeface="Courier New" panose="02070309020205020404" pitchFamily="49" charset="0"/>
              </a:rPr>
              <a:t> productCode </a:t>
            </a:r>
            <a:r>
              <a:rPr lang="en-US">
                <a:solidFill>
                  <a:srgbClr val="FF0000"/>
                </a:solidFill>
                <a:latin typeface="Courier New" panose="02070309020205020404" pitchFamily="49" charset="0"/>
                <a:ea typeface="Courier New" panose="02070309020205020404" pitchFamily="49" charset="0"/>
              </a:rPr>
              <a:t>not in </a:t>
            </a:r>
            <a:endParaRPr lang="en-US" sz="1600">
              <a:solidFill>
                <a:srgbClr val="FF0000"/>
              </a:solidFill>
              <a:latin typeface="Calibri" panose="020F0502020204030204" pitchFamily="34" charset="0"/>
              <a:ea typeface="Calibri" panose="020F0502020204030204" pitchFamily="34" charset="0"/>
            </a:endParaRPr>
          </a:p>
          <a:p>
            <a:pPr marL="436245" marR="529590" indent="-6350">
              <a:lnSpc>
                <a:spcPct val="108000"/>
              </a:lnSpc>
              <a:spcAft>
                <a:spcPts val="430"/>
              </a:spcAft>
            </a:pPr>
            <a:r>
              <a:rPr lang="en-US">
                <a:solidFill>
                  <a:srgbClr val="000000"/>
                </a:solidFill>
                <a:latin typeface="Courier New" panose="02070309020205020404" pitchFamily="49" charset="0"/>
                <a:ea typeface="Courier New" panose="02070309020205020404" pitchFamily="49" charset="0"/>
              </a:rPr>
              <a:t>(</a:t>
            </a:r>
            <a:r>
              <a:rPr lang="en-US">
                <a:solidFill>
                  <a:srgbClr val="FF0000"/>
                </a:solidFill>
                <a:latin typeface="Courier New" panose="02070309020205020404" pitchFamily="49" charset="0"/>
                <a:ea typeface="Courier New" panose="02070309020205020404" pitchFamily="49" charset="0"/>
              </a:rPr>
              <a:t>SELECT</a:t>
            </a:r>
            <a:r>
              <a:rPr lang="en-US">
                <a:solidFill>
                  <a:srgbClr val="000000"/>
                </a:solidFill>
                <a:latin typeface="Courier New" panose="02070309020205020404" pitchFamily="49" charset="0"/>
                <a:ea typeface="Courier New" panose="02070309020205020404" pitchFamily="49" charset="0"/>
              </a:rPr>
              <a:t> productCode  </a:t>
            </a:r>
            <a:endParaRPr lang="en-US" sz="1600">
              <a:solidFill>
                <a:srgbClr val="000000"/>
              </a:solidFill>
              <a:latin typeface="Calibri" panose="020F0502020204030204" pitchFamily="34" charset="0"/>
              <a:ea typeface="Calibri" panose="020F0502020204030204" pitchFamily="34" charset="0"/>
            </a:endParaRPr>
          </a:p>
          <a:p>
            <a:pPr marL="436245" marR="529590" indent="-6350">
              <a:lnSpc>
                <a:spcPct val="108000"/>
              </a:lnSpc>
              <a:spcAft>
                <a:spcPts val="430"/>
              </a:spcAft>
            </a:pPr>
            <a:r>
              <a:rPr lang="en-US">
                <a:solidFill>
                  <a:srgbClr val="FF0000"/>
                </a:solidFill>
                <a:latin typeface="Courier New" panose="02070309020205020404" pitchFamily="49" charset="0"/>
                <a:ea typeface="Courier New" panose="02070309020205020404" pitchFamily="49" charset="0"/>
              </a:rPr>
              <a:t>FROM</a:t>
            </a:r>
            <a:r>
              <a:rPr lang="en-US">
                <a:solidFill>
                  <a:srgbClr val="000000"/>
                </a:solidFill>
                <a:latin typeface="Courier New" panose="02070309020205020404" pitchFamily="49" charset="0"/>
                <a:ea typeface="Courier New" panose="02070309020205020404" pitchFamily="49" charset="0"/>
              </a:rPr>
              <a:t> orderdetails </a:t>
            </a:r>
            <a:endParaRPr lang="en-US" sz="1600">
              <a:solidFill>
                <a:srgbClr val="000000"/>
              </a:solidFill>
              <a:latin typeface="Calibri" panose="020F0502020204030204" pitchFamily="34" charset="0"/>
              <a:ea typeface="Calibri" panose="020F0502020204030204" pitchFamily="34" charset="0"/>
            </a:endParaRPr>
          </a:p>
          <a:p>
            <a:pPr marL="436245" marR="529590" indent="-6350">
              <a:lnSpc>
                <a:spcPct val="108000"/>
              </a:lnSpc>
              <a:spcAft>
                <a:spcPts val="1790"/>
              </a:spcAft>
            </a:pPr>
            <a:r>
              <a:rPr lang="en-US">
                <a:solidFill>
                  <a:srgbClr val="000000"/>
                </a:solidFill>
                <a:latin typeface="Courier New" panose="02070309020205020404" pitchFamily="49" charset="0"/>
                <a:ea typeface="Courier New" panose="02070309020205020404" pitchFamily="49" charset="0"/>
              </a:rPr>
              <a:t>) </a:t>
            </a:r>
            <a:endParaRPr lang="en-US" sz="1600">
              <a:solidFill>
                <a:srgbClr val="000000"/>
              </a:solidFill>
              <a:effectLst/>
              <a:latin typeface="Calibri" panose="020F0502020204030204" pitchFamily="34" charset="0"/>
              <a:ea typeface="Calibri" panose="020F0502020204030204" pitchFamily="34" charset="0"/>
            </a:endParaRPr>
          </a:p>
        </p:txBody>
      </p:sp>
      <p:sp>
        <p:nvSpPr>
          <p:cNvPr id="5" name="Freeform: Shape 4">
            <a:extLst>
              <a:ext uri="{FF2B5EF4-FFF2-40B4-BE49-F238E27FC236}">
                <a16:creationId xmlns:a16="http://schemas.microsoft.com/office/drawing/2014/main" id="{960CA128-FC1E-40F1-9810-0B18CDA8E7DD}"/>
              </a:ext>
            </a:extLst>
          </p:cNvPr>
          <p:cNvSpPr/>
          <p:nvPr/>
        </p:nvSpPr>
        <p:spPr>
          <a:xfrm>
            <a:off x="3506598" y="3481431"/>
            <a:ext cx="2856474" cy="1325461"/>
          </a:xfrm>
          <a:custGeom>
            <a:avLst/>
            <a:gdLst>
              <a:gd name="connsiteX0" fmla="*/ 0 w 2856474"/>
              <a:gd name="connsiteY0" fmla="*/ 109057 h 1325461"/>
              <a:gd name="connsiteX1" fmla="*/ 117446 w 2856474"/>
              <a:gd name="connsiteY1" fmla="*/ 67112 h 1325461"/>
              <a:gd name="connsiteX2" fmla="*/ 176169 w 2856474"/>
              <a:gd name="connsiteY2" fmla="*/ 58723 h 1325461"/>
              <a:gd name="connsiteX3" fmla="*/ 276837 w 2856474"/>
              <a:gd name="connsiteY3" fmla="*/ 33556 h 1325461"/>
              <a:gd name="connsiteX4" fmla="*/ 503340 w 2856474"/>
              <a:gd name="connsiteY4" fmla="*/ 16778 h 1325461"/>
              <a:gd name="connsiteX5" fmla="*/ 578841 w 2856474"/>
              <a:gd name="connsiteY5" fmla="*/ 8389 h 1325461"/>
              <a:gd name="connsiteX6" fmla="*/ 1040235 w 2856474"/>
              <a:gd name="connsiteY6" fmla="*/ 0 h 1325461"/>
              <a:gd name="connsiteX7" fmla="*/ 1459685 w 2856474"/>
              <a:gd name="connsiteY7" fmla="*/ 8389 h 1325461"/>
              <a:gd name="connsiteX8" fmla="*/ 2164360 w 2856474"/>
              <a:gd name="connsiteY8" fmla="*/ 92279 h 1325461"/>
              <a:gd name="connsiteX9" fmla="*/ 2189527 w 2856474"/>
              <a:gd name="connsiteY9" fmla="*/ 100668 h 1325461"/>
              <a:gd name="connsiteX10" fmla="*/ 2265028 w 2856474"/>
              <a:gd name="connsiteY10" fmla="*/ 117446 h 1325461"/>
              <a:gd name="connsiteX11" fmla="*/ 2407641 w 2856474"/>
              <a:gd name="connsiteY11" fmla="*/ 167780 h 1325461"/>
              <a:gd name="connsiteX12" fmla="*/ 2449585 w 2856474"/>
              <a:gd name="connsiteY12" fmla="*/ 192947 h 1325461"/>
              <a:gd name="connsiteX13" fmla="*/ 2718033 w 2856474"/>
              <a:gd name="connsiteY13" fmla="*/ 310393 h 1325461"/>
              <a:gd name="connsiteX14" fmla="*/ 2810312 w 2856474"/>
              <a:gd name="connsiteY14" fmla="*/ 377505 h 1325461"/>
              <a:gd name="connsiteX15" fmla="*/ 2852257 w 2856474"/>
              <a:gd name="connsiteY15" fmla="*/ 453006 h 1325461"/>
              <a:gd name="connsiteX16" fmla="*/ 2843868 w 2856474"/>
              <a:gd name="connsiteY16" fmla="*/ 570452 h 1325461"/>
              <a:gd name="connsiteX17" fmla="*/ 2701255 w 2856474"/>
              <a:gd name="connsiteY17" fmla="*/ 721453 h 1325461"/>
              <a:gd name="connsiteX18" fmla="*/ 2374085 w 2856474"/>
              <a:gd name="connsiteY18" fmla="*/ 931178 h 1325461"/>
              <a:gd name="connsiteX19" fmla="*/ 2290195 w 2856474"/>
              <a:gd name="connsiteY19" fmla="*/ 973123 h 1325461"/>
              <a:gd name="connsiteX20" fmla="*/ 1862356 w 2856474"/>
              <a:gd name="connsiteY20" fmla="*/ 1098958 h 1325461"/>
              <a:gd name="connsiteX21" fmla="*/ 1317072 w 2856474"/>
              <a:gd name="connsiteY21" fmla="*/ 1241571 h 1325461"/>
              <a:gd name="connsiteX22" fmla="*/ 738231 w 2856474"/>
              <a:gd name="connsiteY22" fmla="*/ 1325461 h 1325461"/>
              <a:gd name="connsiteX23" fmla="*/ 503340 w 2856474"/>
              <a:gd name="connsiteY23" fmla="*/ 1291905 h 1325461"/>
              <a:gd name="connsiteX24" fmla="*/ 260059 w 2856474"/>
              <a:gd name="connsiteY24" fmla="*/ 1174459 h 1325461"/>
              <a:gd name="connsiteX25" fmla="*/ 159391 w 2856474"/>
              <a:gd name="connsiteY25" fmla="*/ 1115736 h 1325461"/>
              <a:gd name="connsiteX26" fmla="*/ 134224 w 2856474"/>
              <a:gd name="connsiteY26" fmla="*/ 1098958 h 1325461"/>
              <a:gd name="connsiteX27" fmla="*/ 83890 w 2856474"/>
              <a:gd name="connsiteY27" fmla="*/ 1057013 h 1325461"/>
              <a:gd name="connsiteX28" fmla="*/ 67112 w 2856474"/>
              <a:gd name="connsiteY28" fmla="*/ 503340 h 1325461"/>
              <a:gd name="connsiteX29" fmla="*/ 75501 w 2856474"/>
              <a:gd name="connsiteY29" fmla="*/ 134224 h 1325461"/>
              <a:gd name="connsiteX30" fmla="*/ 92279 w 2856474"/>
              <a:gd name="connsiteY30" fmla="*/ 109057 h 1325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856474" h="1325461">
                <a:moveTo>
                  <a:pt x="0" y="109057"/>
                </a:moveTo>
                <a:cubicBezTo>
                  <a:pt x="49817" y="87707"/>
                  <a:pt x="64646" y="78426"/>
                  <a:pt x="117446" y="67112"/>
                </a:cubicBezTo>
                <a:cubicBezTo>
                  <a:pt x="136780" y="62969"/>
                  <a:pt x="156820" y="62796"/>
                  <a:pt x="176169" y="58723"/>
                </a:cubicBezTo>
                <a:cubicBezTo>
                  <a:pt x="210016" y="51597"/>
                  <a:pt x="242529" y="37954"/>
                  <a:pt x="276837" y="33556"/>
                </a:cubicBezTo>
                <a:cubicBezTo>
                  <a:pt x="351930" y="23929"/>
                  <a:pt x="427894" y="23065"/>
                  <a:pt x="503340" y="16778"/>
                </a:cubicBezTo>
                <a:cubicBezTo>
                  <a:pt x="528574" y="14675"/>
                  <a:pt x="553531" y="9180"/>
                  <a:pt x="578841" y="8389"/>
                </a:cubicBezTo>
                <a:cubicBezTo>
                  <a:pt x="732589" y="3584"/>
                  <a:pt x="886437" y="2796"/>
                  <a:pt x="1040235" y="0"/>
                </a:cubicBezTo>
                <a:lnTo>
                  <a:pt x="1459685" y="8389"/>
                </a:lnTo>
                <a:cubicBezTo>
                  <a:pt x="1695442" y="27742"/>
                  <a:pt x="2164360" y="92279"/>
                  <a:pt x="2164360" y="92279"/>
                </a:cubicBezTo>
                <a:cubicBezTo>
                  <a:pt x="2172749" y="95075"/>
                  <a:pt x="2180948" y="98523"/>
                  <a:pt x="2189527" y="100668"/>
                </a:cubicBezTo>
                <a:cubicBezTo>
                  <a:pt x="2214538" y="106921"/>
                  <a:pt x="2240387" y="109864"/>
                  <a:pt x="2265028" y="117446"/>
                </a:cubicBezTo>
                <a:cubicBezTo>
                  <a:pt x="2313210" y="132271"/>
                  <a:pt x="2360983" y="148692"/>
                  <a:pt x="2407641" y="167780"/>
                </a:cubicBezTo>
                <a:cubicBezTo>
                  <a:pt x="2422732" y="173954"/>
                  <a:pt x="2434908" y="185845"/>
                  <a:pt x="2449585" y="192947"/>
                </a:cubicBezTo>
                <a:cubicBezTo>
                  <a:pt x="2649015" y="289446"/>
                  <a:pt x="2599407" y="270851"/>
                  <a:pt x="2718033" y="310393"/>
                </a:cubicBezTo>
                <a:cubicBezTo>
                  <a:pt x="2748793" y="332764"/>
                  <a:pt x="2784245" y="349808"/>
                  <a:pt x="2810312" y="377505"/>
                </a:cubicBezTo>
                <a:cubicBezTo>
                  <a:pt x="2830044" y="398470"/>
                  <a:pt x="2847324" y="424642"/>
                  <a:pt x="2852257" y="453006"/>
                </a:cubicBezTo>
                <a:cubicBezTo>
                  <a:pt x="2858982" y="491674"/>
                  <a:pt x="2858676" y="534104"/>
                  <a:pt x="2843868" y="570452"/>
                </a:cubicBezTo>
                <a:cubicBezTo>
                  <a:pt x="2814755" y="641912"/>
                  <a:pt x="2760876" y="682570"/>
                  <a:pt x="2701255" y="721453"/>
                </a:cubicBezTo>
                <a:cubicBezTo>
                  <a:pt x="2592751" y="792216"/>
                  <a:pt x="2484563" y="863538"/>
                  <a:pt x="2374085" y="931178"/>
                </a:cubicBezTo>
                <a:cubicBezTo>
                  <a:pt x="2347422" y="947503"/>
                  <a:pt x="2319903" y="963383"/>
                  <a:pt x="2290195" y="973123"/>
                </a:cubicBezTo>
                <a:cubicBezTo>
                  <a:pt x="2148940" y="1019436"/>
                  <a:pt x="2005657" y="1059427"/>
                  <a:pt x="1862356" y="1098958"/>
                </a:cubicBezTo>
                <a:cubicBezTo>
                  <a:pt x="1681246" y="1148919"/>
                  <a:pt x="1501246" y="1204461"/>
                  <a:pt x="1317072" y="1241571"/>
                </a:cubicBezTo>
                <a:cubicBezTo>
                  <a:pt x="1125950" y="1280081"/>
                  <a:pt x="738231" y="1325461"/>
                  <a:pt x="738231" y="1325461"/>
                </a:cubicBezTo>
                <a:cubicBezTo>
                  <a:pt x="659934" y="1314276"/>
                  <a:pt x="578761" y="1315722"/>
                  <a:pt x="503340" y="1291905"/>
                </a:cubicBezTo>
                <a:cubicBezTo>
                  <a:pt x="417471" y="1264788"/>
                  <a:pt x="337841" y="1219832"/>
                  <a:pt x="260059" y="1174459"/>
                </a:cubicBezTo>
                <a:lnTo>
                  <a:pt x="159391" y="1115736"/>
                </a:lnTo>
                <a:cubicBezTo>
                  <a:pt x="150745" y="1110549"/>
                  <a:pt x="142183" y="1105148"/>
                  <a:pt x="134224" y="1098958"/>
                </a:cubicBezTo>
                <a:cubicBezTo>
                  <a:pt x="116984" y="1085549"/>
                  <a:pt x="100668" y="1070995"/>
                  <a:pt x="83890" y="1057013"/>
                </a:cubicBezTo>
                <a:cubicBezTo>
                  <a:pt x="12581" y="789605"/>
                  <a:pt x="51850" y="986621"/>
                  <a:pt x="67112" y="503340"/>
                </a:cubicBezTo>
                <a:cubicBezTo>
                  <a:pt x="70997" y="380331"/>
                  <a:pt x="67661" y="257044"/>
                  <a:pt x="75501" y="134224"/>
                </a:cubicBezTo>
                <a:cubicBezTo>
                  <a:pt x="76143" y="124162"/>
                  <a:pt x="92279" y="109057"/>
                  <a:pt x="92279" y="109057"/>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3F2D3E9D-9E13-4803-81D8-F95D466311E1}"/>
              </a:ext>
            </a:extLst>
          </p:cNvPr>
          <p:cNvCxnSpPr>
            <a:cxnSpLocks/>
            <a:stCxn id="5" idx="17"/>
          </p:cNvCxnSpPr>
          <p:nvPr/>
        </p:nvCxnSpPr>
        <p:spPr>
          <a:xfrm flipV="1">
            <a:off x="6207853" y="3657600"/>
            <a:ext cx="1333850" cy="5452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300C2DD7-1071-4573-9840-EF27A9EECC01}"/>
              </a:ext>
            </a:extLst>
          </p:cNvPr>
          <p:cNvSpPr txBox="1"/>
          <p:nvPr/>
        </p:nvSpPr>
        <p:spPr>
          <a:xfrm>
            <a:off x="6644081" y="1711354"/>
            <a:ext cx="1929468" cy="2308324"/>
          </a:xfrm>
          <a:prstGeom prst="rect">
            <a:avLst/>
          </a:prstGeom>
          <a:noFill/>
        </p:spPr>
        <p:txBody>
          <a:bodyPr wrap="square" rtlCol="0">
            <a:spAutoFit/>
          </a:bodyPr>
          <a:lstStyle/>
          <a:p>
            <a:r>
              <a:rPr lang="en-US" sz="2400"/>
              <a:t>Trả về cột giá trị Productcode</a:t>
            </a:r>
          </a:p>
          <a:p>
            <a:r>
              <a:rPr lang="en-US" sz="2400"/>
              <a:t>Nằm trong bảng orderdetails</a:t>
            </a:r>
          </a:p>
        </p:txBody>
      </p:sp>
      <p:sp>
        <p:nvSpPr>
          <p:cNvPr id="9" name="TextBox 8">
            <a:extLst>
              <a:ext uri="{FF2B5EF4-FFF2-40B4-BE49-F238E27FC236}">
                <a16:creationId xmlns:a16="http://schemas.microsoft.com/office/drawing/2014/main" id="{FD9F3C34-4887-4A72-885B-75991FEE7960}"/>
              </a:ext>
            </a:extLst>
          </p:cNvPr>
          <p:cNvSpPr txBox="1"/>
          <p:nvPr/>
        </p:nvSpPr>
        <p:spPr>
          <a:xfrm>
            <a:off x="3048000" y="5226779"/>
            <a:ext cx="6431560" cy="646331"/>
          </a:xfrm>
          <a:prstGeom prst="rect">
            <a:avLst/>
          </a:prstGeom>
          <a:noFill/>
        </p:spPr>
        <p:txBody>
          <a:bodyPr wrap="square" rtlCol="0">
            <a:spAutoFit/>
          </a:bodyPr>
          <a:lstStyle/>
          <a:p>
            <a:r>
              <a:rPr lang="en-US"/>
              <a:t>Select Products.* from Products, orderdetails</a:t>
            </a:r>
          </a:p>
          <a:p>
            <a:r>
              <a:rPr lang="en-US"/>
              <a:t>Where products.productcode = orderdetails.productcode</a:t>
            </a:r>
          </a:p>
        </p:txBody>
      </p:sp>
    </p:spTree>
    <p:extLst>
      <p:ext uri="{BB962C8B-B14F-4D97-AF65-F5344CB8AC3E}">
        <p14:creationId xmlns:p14="http://schemas.microsoft.com/office/powerpoint/2010/main" val="344496971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ED203-886C-4653-9595-68C251E97262}"/>
              </a:ext>
            </a:extLst>
          </p:cNvPr>
          <p:cNvSpPr>
            <a:spLocks noGrp="1"/>
          </p:cNvSpPr>
          <p:nvPr>
            <p:ph type="title"/>
          </p:nvPr>
        </p:nvSpPr>
        <p:spPr>
          <a:xfrm>
            <a:off x="677334" y="609600"/>
            <a:ext cx="8596668" cy="900418"/>
          </a:xfrm>
        </p:spPr>
        <p:txBody>
          <a:bodyPr>
            <a:normAutofit fontScale="90000"/>
          </a:bodyPr>
          <a:lstStyle/>
          <a:p>
            <a:r>
              <a:rPr lang="en-US"/>
              <a:t>SubQuery – Truy vấn con</a:t>
            </a:r>
            <a:br>
              <a:rPr lang="en-US"/>
            </a:br>
            <a:endParaRPr lang="en-US"/>
          </a:p>
        </p:txBody>
      </p:sp>
      <p:sp>
        <p:nvSpPr>
          <p:cNvPr id="3" name="Content Placeholder 2">
            <a:extLst>
              <a:ext uri="{FF2B5EF4-FFF2-40B4-BE49-F238E27FC236}">
                <a16:creationId xmlns:a16="http://schemas.microsoft.com/office/drawing/2014/main" id="{E63D2127-B7BB-46F7-9527-C2EF045FC621}"/>
              </a:ext>
            </a:extLst>
          </p:cNvPr>
          <p:cNvSpPr>
            <a:spLocks noGrp="1"/>
          </p:cNvSpPr>
          <p:nvPr>
            <p:ph idx="1"/>
          </p:nvPr>
        </p:nvSpPr>
        <p:spPr>
          <a:xfrm>
            <a:off x="677334" y="1510018"/>
            <a:ext cx="8596668" cy="4531345"/>
          </a:xfrm>
        </p:spPr>
        <p:txBody>
          <a:bodyPr/>
          <a:lstStyle/>
          <a:p>
            <a:r>
              <a:rPr lang="en-US"/>
              <a:t>2. </a:t>
            </a:r>
            <a:r>
              <a:rPr lang="en-US">
                <a:solidFill>
                  <a:srgbClr val="FF0000"/>
                </a:solidFill>
              </a:rPr>
              <a:t>Subquery</a:t>
            </a:r>
            <a:r>
              <a:rPr lang="en-US"/>
              <a:t> ở </a:t>
            </a:r>
            <a:r>
              <a:rPr lang="en-US">
                <a:solidFill>
                  <a:srgbClr val="FF0000"/>
                </a:solidFill>
              </a:rPr>
              <a:t>Select</a:t>
            </a:r>
            <a:endParaRPr lang="en-US" b="1">
              <a:solidFill>
                <a:srgbClr val="FF0000"/>
              </a:solidFill>
            </a:endParaRPr>
          </a:p>
          <a:p>
            <a:r>
              <a:rPr lang="en-US">
                <a:solidFill>
                  <a:schemeClr val="tx1"/>
                </a:solidFill>
              </a:rPr>
              <a:t>Giá trị trả về? </a:t>
            </a:r>
          </a:p>
          <a:p>
            <a:endParaRPr lang="en-US">
              <a:solidFill>
                <a:schemeClr val="tx1"/>
              </a:solidFill>
            </a:endParaRPr>
          </a:p>
          <a:p>
            <a:r>
              <a:rPr lang="en-US">
                <a:solidFill>
                  <a:schemeClr val="tx1"/>
                </a:solidFill>
              </a:rPr>
              <a:t>Ví dụ: Thêm vào tên sản phẩm (</a:t>
            </a:r>
            <a:r>
              <a:rPr lang="en-US">
                <a:solidFill>
                  <a:srgbClr val="FF0000"/>
                </a:solidFill>
              </a:rPr>
              <a:t>productname</a:t>
            </a:r>
            <a:r>
              <a:rPr lang="en-US">
                <a:solidFill>
                  <a:schemeClr val="tx1"/>
                </a:solidFill>
              </a:rPr>
              <a:t>) vào mỗi đ</a:t>
            </a:r>
            <a:r>
              <a:rPr lang="vi-VN">
                <a:solidFill>
                  <a:schemeClr val="tx1"/>
                </a:solidFill>
              </a:rPr>
              <a:t>ơ</a:t>
            </a:r>
            <a:r>
              <a:rPr lang="en-US">
                <a:solidFill>
                  <a:schemeClr val="tx1"/>
                </a:solidFill>
              </a:rPr>
              <a:t>n hàng trong bảng </a:t>
            </a:r>
            <a:r>
              <a:rPr lang="en-US">
                <a:solidFill>
                  <a:srgbClr val="FF0000"/>
                </a:solidFill>
              </a:rPr>
              <a:t>orderdetails</a:t>
            </a:r>
            <a:r>
              <a:rPr lang="en-US">
                <a:solidFill>
                  <a:schemeClr val="tx1"/>
                </a:solidFill>
              </a:rPr>
              <a:t> </a:t>
            </a:r>
          </a:p>
        </p:txBody>
      </p:sp>
      <p:sp>
        <p:nvSpPr>
          <p:cNvPr id="4" name="Rectangle 3">
            <a:extLst>
              <a:ext uri="{FF2B5EF4-FFF2-40B4-BE49-F238E27FC236}">
                <a16:creationId xmlns:a16="http://schemas.microsoft.com/office/drawing/2014/main" id="{5C11424B-128A-4661-BB43-FE1F8E4CB191}"/>
              </a:ext>
            </a:extLst>
          </p:cNvPr>
          <p:cNvSpPr/>
          <p:nvPr/>
        </p:nvSpPr>
        <p:spPr>
          <a:xfrm>
            <a:off x="3333226" y="3775690"/>
            <a:ext cx="6096000" cy="2158411"/>
          </a:xfrm>
          <a:prstGeom prst="rect">
            <a:avLst/>
          </a:prstGeom>
          <a:ln>
            <a:solidFill>
              <a:schemeClr val="tx1"/>
            </a:solidFill>
          </a:ln>
        </p:spPr>
        <p:txBody>
          <a:bodyPr>
            <a:spAutoFit/>
          </a:bodyPr>
          <a:lstStyle/>
          <a:p>
            <a:pPr marL="6350" marR="529590" indent="-6350">
              <a:lnSpc>
                <a:spcPct val="108000"/>
              </a:lnSpc>
              <a:spcAft>
                <a:spcPts val="430"/>
              </a:spcAft>
            </a:pPr>
            <a:r>
              <a:rPr lang="en-US" b="1">
                <a:solidFill>
                  <a:srgbClr val="FF0000"/>
                </a:solidFill>
                <a:latin typeface="Courier New" panose="02070309020205020404" pitchFamily="49" charset="0"/>
                <a:ea typeface="Courier New" panose="02070309020205020404" pitchFamily="49" charset="0"/>
              </a:rPr>
              <a:t>SELECT</a:t>
            </a:r>
            <a:r>
              <a:rPr lang="en-US">
                <a:solidFill>
                  <a:srgbClr val="000000"/>
                </a:solidFill>
                <a:latin typeface="Courier New" panose="02070309020205020404" pitchFamily="49" charset="0"/>
                <a:ea typeface="Courier New" panose="02070309020205020404" pitchFamily="49" charset="0"/>
              </a:rPr>
              <a:t> orderNumber, quantityOrdered, </a:t>
            </a:r>
          </a:p>
          <a:p>
            <a:pPr marL="6350" marR="529590" indent="-6350">
              <a:lnSpc>
                <a:spcPct val="108000"/>
              </a:lnSpc>
              <a:spcAft>
                <a:spcPts val="430"/>
              </a:spcAft>
            </a:pPr>
            <a:r>
              <a:rPr lang="en-US">
                <a:solidFill>
                  <a:srgbClr val="000000"/>
                </a:solidFill>
                <a:latin typeface="Courier New" panose="02070309020205020404" pitchFamily="49" charset="0"/>
                <a:ea typeface="Courier New" panose="02070309020205020404" pitchFamily="49" charset="0"/>
              </a:rPr>
              <a:t>    </a:t>
            </a:r>
            <a:r>
              <a:rPr lang="en-US">
                <a:solidFill>
                  <a:srgbClr val="7030A0"/>
                </a:solidFill>
                <a:latin typeface="Courier New" panose="02070309020205020404" pitchFamily="49" charset="0"/>
                <a:ea typeface="Courier New" panose="02070309020205020404" pitchFamily="49" charset="0"/>
              </a:rPr>
              <a:t>(SELECT productName </a:t>
            </a:r>
          </a:p>
          <a:p>
            <a:pPr marR="227965" lvl="1">
              <a:lnSpc>
                <a:spcPct val="107000"/>
              </a:lnSpc>
              <a:spcAft>
                <a:spcPts val="450"/>
              </a:spcAft>
            </a:pPr>
            <a:r>
              <a:rPr lang="en-US">
                <a:solidFill>
                  <a:srgbClr val="7030A0"/>
                </a:solidFill>
                <a:latin typeface="Courier New" panose="02070309020205020404" pitchFamily="49" charset="0"/>
                <a:ea typeface="Courier New" panose="02070309020205020404" pitchFamily="49" charset="0"/>
              </a:rPr>
              <a:t>   FROM products </a:t>
            </a:r>
          </a:p>
          <a:p>
            <a:pPr marR="227965" lvl="1">
              <a:lnSpc>
                <a:spcPct val="107000"/>
              </a:lnSpc>
              <a:spcAft>
                <a:spcPts val="450"/>
              </a:spcAft>
            </a:pPr>
            <a:r>
              <a:rPr lang="en-US">
                <a:solidFill>
                  <a:srgbClr val="7030A0"/>
                </a:solidFill>
                <a:latin typeface="Courier New" panose="02070309020205020404" pitchFamily="49" charset="0"/>
                <a:ea typeface="Courier New" panose="02070309020205020404" pitchFamily="49" charset="0"/>
              </a:rPr>
              <a:t>   WHERE  productCode = o.productCode)</a:t>
            </a:r>
            <a:r>
              <a:rPr lang="en-US">
                <a:solidFill>
                  <a:srgbClr val="000000"/>
                </a:solidFill>
                <a:latin typeface="Courier New" panose="02070309020205020404" pitchFamily="49" charset="0"/>
                <a:ea typeface="Courier New" panose="02070309020205020404" pitchFamily="49" charset="0"/>
              </a:rPr>
              <a:t>      	</a:t>
            </a:r>
            <a:r>
              <a:rPr lang="en-US">
                <a:solidFill>
                  <a:srgbClr val="FF0000"/>
                </a:solidFill>
                <a:latin typeface="Courier New" panose="02070309020205020404" pitchFamily="49" charset="0"/>
                <a:ea typeface="Courier New" panose="02070309020205020404" pitchFamily="49" charset="0"/>
              </a:rPr>
              <a:t>as</a:t>
            </a:r>
            <a:r>
              <a:rPr lang="en-US">
                <a:solidFill>
                  <a:srgbClr val="000000"/>
                </a:solidFill>
                <a:latin typeface="Courier New" panose="02070309020205020404" pitchFamily="49" charset="0"/>
                <a:ea typeface="Courier New" panose="02070309020205020404" pitchFamily="49" charset="0"/>
              </a:rPr>
              <a:t> productName </a:t>
            </a:r>
            <a:endParaRPr lang="en-US" sz="1600">
              <a:solidFill>
                <a:srgbClr val="000000"/>
              </a:solidFill>
              <a:latin typeface="Calibri" panose="020F0502020204030204" pitchFamily="34" charset="0"/>
              <a:ea typeface="Calibri" panose="020F0502020204030204" pitchFamily="34" charset="0"/>
            </a:endParaRPr>
          </a:p>
          <a:p>
            <a:pPr marL="6350" marR="529590" indent="-6350">
              <a:lnSpc>
                <a:spcPct val="108000"/>
              </a:lnSpc>
              <a:spcAft>
                <a:spcPts val="430"/>
              </a:spcAft>
            </a:pPr>
            <a:r>
              <a:rPr lang="en-US" b="1">
                <a:solidFill>
                  <a:srgbClr val="FF0000"/>
                </a:solidFill>
                <a:latin typeface="Courier New" panose="02070309020205020404" pitchFamily="49" charset="0"/>
                <a:ea typeface="Courier New" panose="02070309020205020404" pitchFamily="49" charset="0"/>
              </a:rPr>
              <a:t>FROM</a:t>
            </a:r>
            <a:r>
              <a:rPr lang="en-US">
                <a:solidFill>
                  <a:srgbClr val="000000"/>
                </a:solidFill>
                <a:latin typeface="Courier New" panose="02070309020205020404" pitchFamily="49" charset="0"/>
                <a:ea typeface="Courier New" panose="02070309020205020404" pitchFamily="49" charset="0"/>
              </a:rPr>
              <a:t>  orderdetails o </a:t>
            </a:r>
            <a:endParaRPr lang="en-US" sz="1600">
              <a:solidFill>
                <a:srgbClr val="000000"/>
              </a:solidFill>
              <a:effectLst/>
              <a:latin typeface="Calibri" panose="020F0502020204030204" pitchFamily="34" charset="0"/>
              <a:ea typeface="Calibri" panose="020F0502020204030204" pitchFamily="34" charset="0"/>
            </a:endParaRPr>
          </a:p>
        </p:txBody>
      </p:sp>
      <p:sp>
        <p:nvSpPr>
          <p:cNvPr id="5" name="Rectangle 4">
            <a:extLst>
              <a:ext uri="{FF2B5EF4-FFF2-40B4-BE49-F238E27FC236}">
                <a16:creationId xmlns:a16="http://schemas.microsoft.com/office/drawing/2014/main" id="{58A958AF-3DF6-44D1-AD7A-5E0B693FA609}"/>
              </a:ext>
            </a:extLst>
          </p:cNvPr>
          <p:cNvSpPr/>
          <p:nvPr/>
        </p:nvSpPr>
        <p:spPr>
          <a:xfrm>
            <a:off x="6019338" y="672757"/>
            <a:ext cx="6096000" cy="2031325"/>
          </a:xfrm>
          <a:prstGeom prst="rect">
            <a:avLst/>
          </a:prstGeom>
          <a:ln>
            <a:solidFill>
              <a:schemeClr val="tx1"/>
            </a:solidFill>
          </a:ln>
        </p:spPr>
        <p:txBody>
          <a:bodyPr>
            <a:spAutoFit/>
          </a:bodyPr>
          <a:lstStyle/>
          <a:p>
            <a:r>
              <a:rPr lang="en-US">
                <a:solidFill>
                  <a:srgbClr val="FF0000"/>
                </a:solidFill>
              </a:rPr>
              <a:t>SELECT</a:t>
            </a:r>
            <a:r>
              <a:rPr lang="en-US"/>
              <a:t> tên cột 1, tên cột 2, ... </a:t>
            </a:r>
          </a:p>
          <a:p>
            <a:r>
              <a:rPr lang="en-US"/>
              <a:t>	</a:t>
            </a:r>
            <a:r>
              <a:rPr lang="en-US">
                <a:solidFill>
                  <a:srgbClr val="FF0000"/>
                </a:solidFill>
              </a:rPr>
              <a:t>FROM</a:t>
            </a:r>
            <a:r>
              <a:rPr lang="en-US"/>
              <a:t> các bảng </a:t>
            </a:r>
          </a:p>
          <a:p>
            <a:r>
              <a:rPr lang="en-US"/>
              <a:t>      [</a:t>
            </a:r>
            <a:r>
              <a:rPr lang="en-US">
                <a:solidFill>
                  <a:srgbClr val="FF0000"/>
                </a:solidFill>
              </a:rPr>
              <a:t>WHERE</a:t>
            </a:r>
            <a:r>
              <a:rPr lang="en-US"/>
              <a:t> điều kiện chọn] </a:t>
            </a:r>
          </a:p>
          <a:p>
            <a:r>
              <a:rPr lang="en-US"/>
              <a:t>      [</a:t>
            </a:r>
            <a:r>
              <a:rPr lang="en-US">
                <a:solidFill>
                  <a:srgbClr val="FF0000"/>
                </a:solidFill>
              </a:rPr>
              <a:t>GROUP</a:t>
            </a:r>
            <a:r>
              <a:rPr lang="en-US"/>
              <a:t> </a:t>
            </a:r>
            <a:r>
              <a:rPr lang="en-US">
                <a:solidFill>
                  <a:srgbClr val="FF0000"/>
                </a:solidFill>
              </a:rPr>
              <a:t>BY</a:t>
            </a:r>
            <a:r>
              <a:rPr lang="en-US"/>
              <a:t> nhóm] </a:t>
            </a:r>
          </a:p>
          <a:p>
            <a:r>
              <a:rPr lang="en-US"/>
              <a:t>      [</a:t>
            </a:r>
            <a:r>
              <a:rPr lang="en-US">
                <a:solidFill>
                  <a:srgbClr val="FF0000"/>
                </a:solidFill>
              </a:rPr>
              <a:t>HAVING</a:t>
            </a:r>
            <a:r>
              <a:rPr lang="en-US"/>
              <a:t> điều kiện chọn nhóm] </a:t>
            </a:r>
          </a:p>
          <a:p>
            <a:r>
              <a:rPr lang="en-US"/>
              <a:t>      [</a:t>
            </a:r>
            <a:r>
              <a:rPr lang="en-US">
                <a:solidFill>
                  <a:srgbClr val="FF0000"/>
                </a:solidFill>
              </a:rPr>
              <a:t>ORDER</a:t>
            </a:r>
            <a:r>
              <a:rPr lang="en-US"/>
              <a:t> </a:t>
            </a:r>
            <a:r>
              <a:rPr lang="en-US">
                <a:solidFill>
                  <a:srgbClr val="FF0000"/>
                </a:solidFill>
              </a:rPr>
              <a:t>BY</a:t>
            </a:r>
            <a:r>
              <a:rPr lang="en-US"/>
              <a:t> các cột sắp xếp] </a:t>
            </a:r>
          </a:p>
          <a:p>
            <a:r>
              <a:rPr lang="en-US"/>
              <a:t>      [</a:t>
            </a:r>
            <a:r>
              <a:rPr lang="en-US">
                <a:solidFill>
                  <a:srgbClr val="FF0000"/>
                </a:solidFill>
              </a:rPr>
              <a:t>LIMIT</a:t>
            </a:r>
            <a:r>
              <a:rPr lang="en-US"/>
              <a:t> giới hạn số lượng]; </a:t>
            </a:r>
            <a:endParaRPr lang="en-US" dirty="0"/>
          </a:p>
        </p:txBody>
      </p:sp>
      <p:sp>
        <p:nvSpPr>
          <p:cNvPr id="7" name="Freeform: Shape 6">
            <a:extLst>
              <a:ext uri="{FF2B5EF4-FFF2-40B4-BE49-F238E27FC236}">
                <a16:creationId xmlns:a16="http://schemas.microsoft.com/office/drawing/2014/main" id="{473DCC76-2444-43DD-BA65-C37F543AA64A}"/>
              </a:ext>
            </a:extLst>
          </p:cNvPr>
          <p:cNvSpPr/>
          <p:nvPr/>
        </p:nvSpPr>
        <p:spPr>
          <a:xfrm>
            <a:off x="3898888" y="4140200"/>
            <a:ext cx="5118112" cy="1174750"/>
          </a:xfrm>
          <a:custGeom>
            <a:avLst/>
            <a:gdLst>
              <a:gd name="connsiteX0" fmla="*/ 146062 w 5118112"/>
              <a:gd name="connsiteY0" fmla="*/ 0 h 1174750"/>
              <a:gd name="connsiteX1" fmla="*/ 82562 w 5118112"/>
              <a:gd name="connsiteY1" fmla="*/ 57150 h 1174750"/>
              <a:gd name="connsiteX2" fmla="*/ 50812 w 5118112"/>
              <a:gd name="connsiteY2" fmla="*/ 101600 h 1174750"/>
              <a:gd name="connsiteX3" fmla="*/ 12 w 5118112"/>
              <a:gd name="connsiteY3" fmla="*/ 279400 h 1174750"/>
              <a:gd name="connsiteX4" fmla="*/ 25412 w 5118112"/>
              <a:gd name="connsiteY4" fmla="*/ 438150 h 1174750"/>
              <a:gd name="connsiteX5" fmla="*/ 76212 w 5118112"/>
              <a:gd name="connsiteY5" fmla="*/ 533400 h 1174750"/>
              <a:gd name="connsiteX6" fmla="*/ 88912 w 5118112"/>
              <a:gd name="connsiteY6" fmla="*/ 552450 h 1174750"/>
              <a:gd name="connsiteX7" fmla="*/ 241312 w 5118112"/>
              <a:gd name="connsiteY7" fmla="*/ 685800 h 1174750"/>
              <a:gd name="connsiteX8" fmla="*/ 355612 w 5118112"/>
              <a:gd name="connsiteY8" fmla="*/ 736600 h 1174750"/>
              <a:gd name="connsiteX9" fmla="*/ 577862 w 5118112"/>
              <a:gd name="connsiteY9" fmla="*/ 857250 h 1174750"/>
              <a:gd name="connsiteX10" fmla="*/ 673112 w 5118112"/>
              <a:gd name="connsiteY10" fmla="*/ 920750 h 1174750"/>
              <a:gd name="connsiteX11" fmla="*/ 711212 w 5118112"/>
              <a:gd name="connsiteY11" fmla="*/ 933450 h 1174750"/>
              <a:gd name="connsiteX12" fmla="*/ 800112 w 5118112"/>
              <a:gd name="connsiteY12" fmla="*/ 984250 h 1174750"/>
              <a:gd name="connsiteX13" fmla="*/ 869962 w 5118112"/>
              <a:gd name="connsiteY13" fmla="*/ 1028700 h 1174750"/>
              <a:gd name="connsiteX14" fmla="*/ 990612 w 5118112"/>
              <a:gd name="connsiteY14" fmla="*/ 1073150 h 1174750"/>
              <a:gd name="connsiteX15" fmla="*/ 1155712 w 5118112"/>
              <a:gd name="connsiteY15" fmla="*/ 1130300 h 1174750"/>
              <a:gd name="connsiteX16" fmla="*/ 1314462 w 5118112"/>
              <a:gd name="connsiteY16" fmla="*/ 1149350 h 1174750"/>
              <a:gd name="connsiteX17" fmla="*/ 1352562 w 5118112"/>
              <a:gd name="connsiteY17" fmla="*/ 1155700 h 1174750"/>
              <a:gd name="connsiteX18" fmla="*/ 1905012 w 5118112"/>
              <a:gd name="connsiteY18" fmla="*/ 1174750 h 1174750"/>
              <a:gd name="connsiteX19" fmla="*/ 2641612 w 5118112"/>
              <a:gd name="connsiteY19" fmla="*/ 1168400 h 1174750"/>
              <a:gd name="connsiteX20" fmla="*/ 3251212 w 5118112"/>
              <a:gd name="connsiteY20" fmla="*/ 1136650 h 1174750"/>
              <a:gd name="connsiteX21" fmla="*/ 3289312 w 5118112"/>
              <a:gd name="connsiteY21" fmla="*/ 1130300 h 1174750"/>
              <a:gd name="connsiteX22" fmla="*/ 3422662 w 5118112"/>
              <a:gd name="connsiteY22" fmla="*/ 1098550 h 1174750"/>
              <a:gd name="connsiteX23" fmla="*/ 3790962 w 5118112"/>
              <a:gd name="connsiteY23" fmla="*/ 1060450 h 1174750"/>
              <a:gd name="connsiteX24" fmla="*/ 4159262 w 5118112"/>
              <a:gd name="connsiteY24" fmla="*/ 1009650 h 1174750"/>
              <a:gd name="connsiteX25" fmla="*/ 4394212 w 5118112"/>
              <a:gd name="connsiteY25" fmla="*/ 990600 h 1174750"/>
              <a:gd name="connsiteX26" fmla="*/ 4597412 w 5118112"/>
              <a:gd name="connsiteY26" fmla="*/ 984250 h 1174750"/>
              <a:gd name="connsiteX27" fmla="*/ 4876812 w 5118112"/>
              <a:gd name="connsiteY27" fmla="*/ 971550 h 1174750"/>
              <a:gd name="connsiteX28" fmla="*/ 5054612 w 5118112"/>
              <a:gd name="connsiteY28" fmla="*/ 927100 h 1174750"/>
              <a:gd name="connsiteX29" fmla="*/ 5105412 w 5118112"/>
              <a:gd name="connsiteY29" fmla="*/ 901700 h 1174750"/>
              <a:gd name="connsiteX30" fmla="*/ 5118112 w 5118112"/>
              <a:gd name="connsiteY30" fmla="*/ 882650 h 1174750"/>
              <a:gd name="connsiteX31" fmla="*/ 5067312 w 5118112"/>
              <a:gd name="connsiteY31" fmla="*/ 774700 h 1174750"/>
              <a:gd name="connsiteX32" fmla="*/ 5054612 w 5118112"/>
              <a:gd name="connsiteY32" fmla="*/ 755650 h 1174750"/>
              <a:gd name="connsiteX33" fmla="*/ 4883162 w 5118112"/>
              <a:gd name="connsiteY33" fmla="*/ 654050 h 1174750"/>
              <a:gd name="connsiteX34" fmla="*/ 4845062 w 5118112"/>
              <a:gd name="connsiteY34" fmla="*/ 641350 h 1174750"/>
              <a:gd name="connsiteX35" fmla="*/ 4610112 w 5118112"/>
              <a:gd name="connsiteY35" fmla="*/ 520700 h 1174750"/>
              <a:gd name="connsiteX36" fmla="*/ 4457712 w 5118112"/>
              <a:gd name="connsiteY36" fmla="*/ 457200 h 1174750"/>
              <a:gd name="connsiteX37" fmla="*/ 4114812 w 5118112"/>
              <a:gd name="connsiteY37" fmla="*/ 361950 h 1174750"/>
              <a:gd name="connsiteX38" fmla="*/ 4032262 w 5118112"/>
              <a:gd name="connsiteY38" fmla="*/ 342900 h 1174750"/>
              <a:gd name="connsiteX39" fmla="*/ 3765562 w 5118112"/>
              <a:gd name="connsiteY39" fmla="*/ 260350 h 1174750"/>
              <a:gd name="connsiteX40" fmla="*/ 3632212 w 5118112"/>
              <a:gd name="connsiteY40" fmla="*/ 215900 h 1174750"/>
              <a:gd name="connsiteX41" fmla="*/ 3587762 w 5118112"/>
              <a:gd name="connsiteY41" fmla="*/ 196850 h 1174750"/>
              <a:gd name="connsiteX42" fmla="*/ 3352812 w 5118112"/>
              <a:gd name="connsiteY42" fmla="*/ 133350 h 1174750"/>
              <a:gd name="connsiteX43" fmla="*/ 3079762 w 5118112"/>
              <a:gd name="connsiteY43" fmla="*/ 95250 h 1174750"/>
              <a:gd name="connsiteX44" fmla="*/ 3041662 w 5118112"/>
              <a:gd name="connsiteY44" fmla="*/ 82550 h 1174750"/>
              <a:gd name="connsiteX45" fmla="*/ 2425712 w 5118112"/>
              <a:gd name="connsiteY45" fmla="*/ 38100 h 1174750"/>
              <a:gd name="connsiteX46" fmla="*/ 2216162 w 5118112"/>
              <a:gd name="connsiteY46" fmla="*/ 25400 h 1174750"/>
              <a:gd name="connsiteX47" fmla="*/ 2070112 w 5118112"/>
              <a:gd name="connsiteY47" fmla="*/ 12700 h 1174750"/>
              <a:gd name="connsiteX48" fmla="*/ 2032012 w 5118112"/>
              <a:gd name="connsiteY48" fmla="*/ 6350 h 1174750"/>
              <a:gd name="connsiteX49" fmla="*/ 1847862 w 5118112"/>
              <a:gd name="connsiteY49" fmla="*/ 0 h 1174750"/>
              <a:gd name="connsiteX50" fmla="*/ 1606562 w 5118112"/>
              <a:gd name="connsiteY50" fmla="*/ 25400 h 1174750"/>
              <a:gd name="connsiteX51" fmla="*/ 1390662 w 5118112"/>
              <a:gd name="connsiteY51" fmla="*/ 44450 h 1174750"/>
              <a:gd name="connsiteX52" fmla="*/ 1346212 w 5118112"/>
              <a:gd name="connsiteY52" fmla="*/ 50800 h 1174750"/>
              <a:gd name="connsiteX53" fmla="*/ 1028712 w 5118112"/>
              <a:gd name="connsiteY53" fmla="*/ 82550 h 1174750"/>
              <a:gd name="connsiteX54" fmla="*/ 793762 w 5118112"/>
              <a:gd name="connsiteY54" fmla="*/ 95250 h 1174750"/>
              <a:gd name="connsiteX55" fmla="*/ 584212 w 5118112"/>
              <a:gd name="connsiteY55" fmla="*/ 88900 h 1174750"/>
              <a:gd name="connsiteX56" fmla="*/ 279412 w 5118112"/>
              <a:gd name="connsiteY56" fmla="*/ 57150 h 1174750"/>
              <a:gd name="connsiteX57" fmla="*/ 209562 w 5118112"/>
              <a:gd name="connsiteY57" fmla="*/ 44450 h 1174750"/>
              <a:gd name="connsiteX58" fmla="*/ 146062 w 5118112"/>
              <a:gd name="connsiteY58" fmla="*/ 38100 h 1174750"/>
              <a:gd name="connsiteX59" fmla="*/ 38112 w 5118112"/>
              <a:gd name="connsiteY59" fmla="*/ 25400 h 1174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5118112" h="1174750">
                <a:moveTo>
                  <a:pt x="146062" y="0"/>
                </a:moveTo>
                <a:cubicBezTo>
                  <a:pt x="140219" y="5008"/>
                  <a:pt x="94507" y="42219"/>
                  <a:pt x="82562" y="57150"/>
                </a:cubicBezTo>
                <a:cubicBezTo>
                  <a:pt x="71187" y="71368"/>
                  <a:pt x="61395" y="86783"/>
                  <a:pt x="50812" y="101600"/>
                </a:cubicBezTo>
                <a:cubicBezTo>
                  <a:pt x="42651" y="126083"/>
                  <a:pt x="-852" y="246559"/>
                  <a:pt x="12" y="279400"/>
                </a:cubicBezTo>
                <a:cubicBezTo>
                  <a:pt x="1422" y="332971"/>
                  <a:pt x="10013" y="386820"/>
                  <a:pt x="25412" y="438150"/>
                </a:cubicBezTo>
                <a:cubicBezTo>
                  <a:pt x="35752" y="472616"/>
                  <a:pt x="58737" y="501945"/>
                  <a:pt x="76212" y="533400"/>
                </a:cubicBezTo>
                <a:cubicBezTo>
                  <a:pt x="79918" y="540071"/>
                  <a:pt x="83681" y="546893"/>
                  <a:pt x="88912" y="552450"/>
                </a:cubicBezTo>
                <a:cubicBezTo>
                  <a:pt x="143467" y="610415"/>
                  <a:pt x="175918" y="647653"/>
                  <a:pt x="241312" y="685800"/>
                </a:cubicBezTo>
                <a:cubicBezTo>
                  <a:pt x="313841" y="728109"/>
                  <a:pt x="304439" y="723807"/>
                  <a:pt x="355612" y="736600"/>
                </a:cubicBezTo>
                <a:cubicBezTo>
                  <a:pt x="429695" y="776817"/>
                  <a:pt x="507724" y="810491"/>
                  <a:pt x="577862" y="857250"/>
                </a:cubicBezTo>
                <a:cubicBezTo>
                  <a:pt x="609612" y="878417"/>
                  <a:pt x="639981" y="901818"/>
                  <a:pt x="673112" y="920750"/>
                </a:cubicBezTo>
                <a:cubicBezTo>
                  <a:pt x="684735" y="927392"/>
                  <a:pt x="699238" y="927463"/>
                  <a:pt x="711212" y="933450"/>
                </a:cubicBezTo>
                <a:cubicBezTo>
                  <a:pt x="741739" y="948714"/>
                  <a:pt x="770846" y="966690"/>
                  <a:pt x="800112" y="984250"/>
                </a:cubicBezTo>
                <a:cubicBezTo>
                  <a:pt x="823777" y="998449"/>
                  <a:pt x="844066" y="1019159"/>
                  <a:pt x="869962" y="1028700"/>
                </a:cubicBezTo>
                <a:cubicBezTo>
                  <a:pt x="910179" y="1043517"/>
                  <a:pt x="950700" y="1057532"/>
                  <a:pt x="990612" y="1073150"/>
                </a:cubicBezTo>
                <a:cubicBezTo>
                  <a:pt x="1084784" y="1110000"/>
                  <a:pt x="877603" y="1071128"/>
                  <a:pt x="1155712" y="1130300"/>
                </a:cubicBezTo>
                <a:cubicBezTo>
                  <a:pt x="1207841" y="1141391"/>
                  <a:pt x="1261604" y="1142530"/>
                  <a:pt x="1314462" y="1149350"/>
                </a:cubicBezTo>
                <a:cubicBezTo>
                  <a:pt x="1327231" y="1150998"/>
                  <a:pt x="1339713" y="1154880"/>
                  <a:pt x="1352562" y="1155700"/>
                </a:cubicBezTo>
                <a:cubicBezTo>
                  <a:pt x="1582319" y="1170365"/>
                  <a:pt x="1669370" y="1169627"/>
                  <a:pt x="1905012" y="1174750"/>
                </a:cubicBezTo>
                <a:lnTo>
                  <a:pt x="2641612" y="1168400"/>
                </a:lnTo>
                <a:cubicBezTo>
                  <a:pt x="2845006" y="1162644"/>
                  <a:pt x="3251212" y="1136650"/>
                  <a:pt x="3251212" y="1136650"/>
                </a:cubicBezTo>
                <a:cubicBezTo>
                  <a:pt x="3263912" y="1134533"/>
                  <a:pt x="3276743" y="1133093"/>
                  <a:pt x="3289312" y="1130300"/>
                </a:cubicBezTo>
                <a:cubicBezTo>
                  <a:pt x="3333916" y="1120388"/>
                  <a:pt x="3377127" y="1102345"/>
                  <a:pt x="3422662" y="1098550"/>
                </a:cubicBezTo>
                <a:cubicBezTo>
                  <a:pt x="3596371" y="1084074"/>
                  <a:pt x="3596795" y="1085776"/>
                  <a:pt x="3790962" y="1060450"/>
                </a:cubicBezTo>
                <a:cubicBezTo>
                  <a:pt x="3913850" y="1044421"/>
                  <a:pt x="4035948" y="1021981"/>
                  <a:pt x="4159262" y="1009650"/>
                </a:cubicBezTo>
                <a:cubicBezTo>
                  <a:pt x="4245989" y="1000977"/>
                  <a:pt x="4292590" y="995767"/>
                  <a:pt x="4394212" y="990600"/>
                </a:cubicBezTo>
                <a:cubicBezTo>
                  <a:pt x="4461891" y="987159"/>
                  <a:pt x="4529698" y="986923"/>
                  <a:pt x="4597412" y="984250"/>
                </a:cubicBezTo>
                <a:lnTo>
                  <a:pt x="4876812" y="971550"/>
                </a:lnTo>
                <a:cubicBezTo>
                  <a:pt x="4998474" y="930996"/>
                  <a:pt x="4938984" y="944889"/>
                  <a:pt x="5054612" y="927100"/>
                </a:cubicBezTo>
                <a:cubicBezTo>
                  <a:pt x="5069771" y="921036"/>
                  <a:pt x="5092730" y="914382"/>
                  <a:pt x="5105412" y="901700"/>
                </a:cubicBezTo>
                <a:cubicBezTo>
                  <a:pt x="5110808" y="896304"/>
                  <a:pt x="5113879" y="889000"/>
                  <a:pt x="5118112" y="882650"/>
                </a:cubicBezTo>
                <a:cubicBezTo>
                  <a:pt x="5101179" y="846667"/>
                  <a:pt x="5085097" y="810270"/>
                  <a:pt x="5067312" y="774700"/>
                </a:cubicBezTo>
                <a:cubicBezTo>
                  <a:pt x="5063899" y="767874"/>
                  <a:pt x="5060996" y="759832"/>
                  <a:pt x="5054612" y="755650"/>
                </a:cubicBezTo>
                <a:cubicBezTo>
                  <a:pt x="4999045" y="719244"/>
                  <a:pt x="4941481" y="685861"/>
                  <a:pt x="4883162" y="654050"/>
                </a:cubicBezTo>
                <a:cubicBezTo>
                  <a:pt x="4871410" y="647640"/>
                  <a:pt x="4857091" y="647225"/>
                  <a:pt x="4845062" y="641350"/>
                </a:cubicBezTo>
                <a:cubicBezTo>
                  <a:pt x="4765953" y="602715"/>
                  <a:pt x="4691379" y="554561"/>
                  <a:pt x="4610112" y="520700"/>
                </a:cubicBezTo>
                <a:cubicBezTo>
                  <a:pt x="4559312" y="499533"/>
                  <a:pt x="4510119" y="473997"/>
                  <a:pt x="4457712" y="457200"/>
                </a:cubicBezTo>
                <a:cubicBezTo>
                  <a:pt x="4344745" y="420993"/>
                  <a:pt x="4230402" y="388625"/>
                  <a:pt x="4114812" y="361950"/>
                </a:cubicBezTo>
                <a:cubicBezTo>
                  <a:pt x="4087295" y="355600"/>
                  <a:pt x="4059378" y="350788"/>
                  <a:pt x="4032262" y="342900"/>
                </a:cubicBezTo>
                <a:cubicBezTo>
                  <a:pt x="3942905" y="316905"/>
                  <a:pt x="3854261" y="288508"/>
                  <a:pt x="3765562" y="260350"/>
                </a:cubicBezTo>
                <a:cubicBezTo>
                  <a:pt x="3720904" y="246173"/>
                  <a:pt x="3675278" y="234357"/>
                  <a:pt x="3632212" y="215900"/>
                </a:cubicBezTo>
                <a:cubicBezTo>
                  <a:pt x="3617395" y="209550"/>
                  <a:pt x="3603221" y="201418"/>
                  <a:pt x="3587762" y="196850"/>
                </a:cubicBezTo>
                <a:cubicBezTo>
                  <a:pt x="3509960" y="173863"/>
                  <a:pt x="3431883" y="151497"/>
                  <a:pt x="3352812" y="133350"/>
                </a:cubicBezTo>
                <a:cubicBezTo>
                  <a:pt x="3257780" y="111539"/>
                  <a:pt x="3175263" y="105303"/>
                  <a:pt x="3079762" y="95250"/>
                </a:cubicBezTo>
                <a:cubicBezTo>
                  <a:pt x="3067062" y="91017"/>
                  <a:pt x="3054771" y="85262"/>
                  <a:pt x="3041662" y="82550"/>
                </a:cubicBezTo>
                <a:cubicBezTo>
                  <a:pt x="2800747" y="32706"/>
                  <a:pt x="2755976" y="51489"/>
                  <a:pt x="2425712" y="38100"/>
                </a:cubicBezTo>
                <a:cubicBezTo>
                  <a:pt x="2322268" y="20859"/>
                  <a:pt x="2440158" y="38840"/>
                  <a:pt x="2216162" y="25400"/>
                </a:cubicBezTo>
                <a:cubicBezTo>
                  <a:pt x="2167383" y="22473"/>
                  <a:pt x="2118720" y="17728"/>
                  <a:pt x="2070112" y="12700"/>
                </a:cubicBezTo>
                <a:cubicBezTo>
                  <a:pt x="2057305" y="11375"/>
                  <a:pt x="2044866" y="7085"/>
                  <a:pt x="2032012" y="6350"/>
                </a:cubicBezTo>
                <a:cubicBezTo>
                  <a:pt x="1970692" y="2846"/>
                  <a:pt x="1909245" y="2117"/>
                  <a:pt x="1847862" y="0"/>
                </a:cubicBezTo>
                <a:lnTo>
                  <a:pt x="1606562" y="25400"/>
                </a:lnTo>
                <a:lnTo>
                  <a:pt x="1390662" y="44450"/>
                </a:lnTo>
                <a:cubicBezTo>
                  <a:pt x="1375766" y="45903"/>
                  <a:pt x="1361097" y="49233"/>
                  <a:pt x="1346212" y="50800"/>
                </a:cubicBezTo>
                <a:lnTo>
                  <a:pt x="1028712" y="82550"/>
                </a:lnTo>
                <a:cubicBezTo>
                  <a:pt x="938821" y="105023"/>
                  <a:pt x="985578" y="95250"/>
                  <a:pt x="793762" y="95250"/>
                </a:cubicBezTo>
                <a:cubicBezTo>
                  <a:pt x="723880" y="95250"/>
                  <a:pt x="654062" y="91017"/>
                  <a:pt x="584212" y="88900"/>
                </a:cubicBezTo>
                <a:cubicBezTo>
                  <a:pt x="490465" y="80111"/>
                  <a:pt x="376557" y="71542"/>
                  <a:pt x="279412" y="57150"/>
                </a:cubicBezTo>
                <a:cubicBezTo>
                  <a:pt x="256002" y="53682"/>
                  <a:pt x="232989" y="47797"/>
                  <a:pt x="209562" y="44450"/>
                </a:cubicBezTo>
                <a:cubicBezTo>
                  <a:pt x="188504" y="41442"/>
                  <a:pt x="167120" y="41108"/>
                  <a:pt x="146062" y="38100"/>
                </a:cubicBezTo>
                <a:cubicBezTo>
                  <a:pt x="41259" y="23128"/>
                  <a:pt x="111929" y="25400"/>
                  <a:pt x="38112" y="2540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61D0D0B-80E7-43EA-B3B1-8C6A6EDB9CBB}"/>
              </a:ext>
            </a:extLst>
          </p:cNvPr>
          <p:cNvSpPr txBox="1"/>
          <p:nvPr/>
        </p:nvSpPr>
        <p:spPr>
          <a:xfrm>
            <a:off x="462157" y="5955294"/>
            <a:ext cx="3925146" cy="923330"/>
          </a:xfrm>
          <a:prstGeom prst="rect">
            <a:avLst/>
          </a:prstGeom>
          <a:noFill/>
        </p:spPr>
        <p:txBody>
          <a:bodyPr wrap="square" rtlCol="0">
            <a:spAutoFit/>
          </a:bodyPr>
          <a:lstStyle/>
          <a:p>
            <a:r>
              <a:rPr lang="en-US">
                <a:solidFill>
                  <a:srgbClr val="FF0000"/>
                </a:solidFill>
              </a:rPr>
              <a:t>Select</a:t>
            </a:r>
            <a:r>
              <a:rPr lang="en-US"/>
              <a:t>  - Chọn Cái gì</a:t>
            </a:r>
          </a:p>
          <a:p>
            <a:r>
              <a:rPr lang="en-US">
                <a:solidFill>
                  <a:srgbClr val="FF0000"/>
                </a:solidFill>
              </a:rPr>
              <a:t>FROM</a:t>
            </a:r>
            <a:r>
              <a:rPr lang="en-US"/>
              <a:t> – Từ Đâu</a:t>
            </a:r>
          </a:p>
          <a:p>
            <a:r>
              <a:rPr lang="en-US">
                <a:solidFill>
                  <a:srgbClr val="FF0000"/>
                </a:solidFill>
              </a:rPr>
              <a:t>WHERE</a:t>
            </a:r>
            <a:r>
              <a:rPr lang="en-US"/>
              <a:t> – Theo Điều Kiện</a:t>
            </a:r>
          </a:p>
        </p:txBody>
      </p:sp>
      <p:cxnSp>
        <p:nvCxnSpPr>
          <p:cNvPr id="9" name="Straight Arrow Connector 8">
            <a:extLst>
              <a:ext uri="{FF2B5EF4-FFF2-40B4-BE49-F238E27FC236}">
                <a16:creationId xmlns:a16="http://schemas.microsoft.com/office/drawing/2014/main" id="{D5BD6106-FE15-4F82-B8F6-EFF3281789E1}"/>
              </a:ext>
            </a:extLst>
          </p:cNvPr>
          <p:cNvCxnSpPr/>
          <p:nvPr/>
        </p:nvCxnSpPr>
        <p:spPr>
          <a:xfrm>
            <a:off x="5897461" y="511728"/>
            <a:ext cx="0" cy="21923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466621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62301-8108-4FD0-9AE3-F10B025420B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EA009AD-EEF6-4EFB-A8F5-76CE829CFB9F}"/>
              </a:ext>
            </a:extLst>
          </p:cNvPr>
          <p:cNvSpPr>
            <a:spLocks noGrp="1"/>
          </p:cNvSpPr>
          <p:nvPr>
            <p:ph idx="1"/>
          </p:nvPr>
        </p:nvSpPr>
        <p:spPr>
          <a:xfrm>
            <a:off x="677334" y="2160589"/>
            <a:ext cx="3886277" cy="3938207"/>
          </a:xfrm>
        </p:spPr>
        <p:txBody>
          <a:bodyPr/>
          <a:lstStyle/>
          <a:p>
            <a:r>
              <a:rPr lang="en-US"/>
              <a:t>Ví dụ: với mỗi sản phẩm (</a:t>
            </a:r>
            <a:r>
              <a:rPr lang="en-US">
                <a:solidFill>
                  <a:srgbClr val="FF0000"/>
                </a:solidFill>
              </a:rPr>
              <a:t>Product</a:t>
            </a:r>
            <a:r>
              <a:rPr lang="en-US"/>
              <a:t>), đưa kèm thêm tổng số lượng sản phẩm đó đã được đặt hàng (trong bảng </a:t>
            </a:r>
            <a:r>
              <a:rPr lang="en-US">
                <a:solidFill>
                  <a:srgbClr val="FF0000"/>
                </a:solidFill>
              </a:rPr>
              <a:t>orderdetails</a:t>
            </a:r>
            <a:r>
              <a:rPr lang="en-US"/>
              <a:t>)</a:t>
            </a:r>
          </a:p>
        </p:txBody>
      </p:sp>
      <p:sp>
        <p:nvSpPr>
          <p:cNvPr id="4" name="Rectangle 3">
            <a:extLst>
              <a:ext uri="{FF2B5EF4-FFF2-40B4-BE49-F238E27FC236}">
                <a16:creationId xmlns:a16="http://schemas.microsoft.com/office/drawing/2014/main" id="{AACFFEB2-BDA1-4F60-8FE2-0E9E67E4D0A2}"/>
              </a:ext>
            </a:extLst>
          </p:cNvPr>
          <p:cNvSpPr/>
          <p:nvPr/>
        </p:nvSpPr>
        <p:spPr>
          <a:xfrm>
            <a:off x="5493174" y="3602717"/>
            <a:ext cx="6096000" cy="2031325"/>
          </a:xfrm>
          <a:prstGeom prst="rect">
            <a:avLst/>
          </a:prstGeom>
          <a:ln>
            <a:solidFill>
              <a:schemeClr val="tx1"/>
            </a:solidFill>
          </a:ln>
        </p:spPr>
        <p:txBody>
          <a:bodyPr>
            <a:spAutoFit/>
          </a:bodyPr>
          <a:lstStyle/>
          <a:p>
            <a:r>
              <a:rPr lang="en-US">
                <a:solidFill>
                  <a:srgbClr val="FF0000"/>
                </a:solidFill>
              </a:rPr>
              <a:t>SELECT</a:t>
            </a:r>
            <a:r>
              <a:rPr lang="en-US"/>
              <a:t> productName, </a:t>
            </a:r>
          </a:p>
          <a:p>
            <a:r>
              <a:rPr lang="en-US"/>
              <a:t>(</a:t>
            </a:r>
            <a:r>
              <a:rPr lang="en-US">
                <a:solidFill>
                  <a:srgbClr val="7030A0"/>
                </a:solidFill>
              </a:rPr>
              <a:t>SELECT sum(quantityOrdered) FROM  orderdetails WHERE productCode = p.productCode</a:t>
            </a:r>
          </a:p>
          <a:p>
            <a:r>
              <a:rPr lang="en-US">
                <a:solidFill>
                  <a:srgbClr val="7030A0"/>
                </a:solidFill>
              </a:rPr>
              <a:t>group by productcode</a:t>
            </a:r>
          </a:p>
          <a:p>
            <a:r>
              <a:rPr lang="en-US"/>
              <a:t>) </a:t>
            </a:r>
            <a:r>
              <a:rPr lang="en-US">
                <a:solidFill>
                  <a:srgbClr val="FF0000"/>
                </a:solidFill>
              </a:rPr>
              <a:t>as</a:t>
            </a:r>
            <a:r>
              <a:rPr lang="en-US"/>
              <a:t> totalQuantityOrderd  </a:t>
            </a:r>
          </a:p>
          <a:p>
            <a:r>
              <a:rPr lang="en-US">
                <a:solidFill>
                  <a:srgbClr val="FF0000"/>
                </a:solidFill>
              </a:rPr>
              <a:t>FROM</a:t>
            </a:r>
            <a:r>
              <a:rPr lang="en-US"/>
              <a:t> products as p </a:t>
            </a:r>
          </a:p>
          <a:p>
            <a:r>
              <a:rPr lang="en-US">
                <a:solidFill>
                  <a:srgbClr val="FF0000"/>
                </a:solidFill>
              </a:rPr>
              <a:t>ORDER</a:t>
            </a:r>
            <a:r>
              <a:rPr lang="en-US"/>
              <a:t> </a:t>
            </a:r>
            <a:r>
              <a:rPr lang="en-US">
                <a:solidFill>
                  <a:srgbClr val="FF0000"/>
                </a:solidFill>
              </a:rPr>
              <a:t>BY</a:t>
            </a:r>
            <a:r>
              <a:rPr lang="en-US"/>
              <a:t> totalQuantityOrderd desc </a:t>
            </a:r>
          </a:p>
        </p:txBody>
      </p:sp>
      <p:sp>
        <p:nvSpPr>
          <p:cNvPr id="5" name="Rectangle 4">
            <a:extLst>
              <a:ext uri="{FF2B5EF4-FFF2-40B4-BE49-F238E27FC236}">
                <a16:creationId xmlns:a16="http://schemas.microsoft.com/office/drawing/2014/main" id="{73B972BC-E8DE-4251-91A1-EB08207E9C7A}"/>
              </a:ext>
            </a:extLst>
          </p:cNvPr>
          <p:cNvSpPr/>
          <p:nvPr/>
        </p:nvSpPr>
        <p:spPr>
          <a:xfrm>
            <a:off x="5352176" y="630996"/>
            <a:ext cx="6526635" cy="2250360"/>
          </a:xfrm>
          <a:prstGeom prst="rect">
            <a:avLst/>
          </a:prstGeom>
          <a:ln>
            <a:solidFill>
              <a:schemeClr val="tx1"/>
            </a:solidFill>
          </a:ln>
        </p:spPr>
        <p:txBody>
          <a:bodyPr wrap="square">
            <a:spAutoFit/>
          </a:bodyPr>
          <a:lstStyle/>
          <a:p>
            <a:pPr marL="6350" marR="529590" indent="-6350">
              <a:lnSpc>
                <a:spcPct val="108000"/>
              </a:lnSpc>
              <a:spcAft>
                <a:spcPts val="430"/>
              </a:spcAft>
            </a:pPr>
            <a:r>
              <a:rPr lang="en-US">
                <a:solidFill>
                  <a:srgbClr val="FF0000"/>
                </a:solidFill>
                <a:latin typeface="Courier New" panose="02070309020205020404" pitchFamily="49" charset="0"/>
                <a:ea typeface="Courier New" panose="02070309020205020404" pitchFamily="49" charset="0"/>
              </a:rPr>
              <a:t>SELECT</a:t>
            </a:r>
            <a:r>
              <a:rPr lang="en-US">
                <a:solidFill>
                  <a:srgbClr val="000000"/>
                </a:solidFill>
                <a:latin typeface="Courier New" panose="02070309020205020404" pitchFamily="49" charset="0"/>
                <a:ea typeface="Courier New" panose="02070309020205020404" pitchFamily="49" charset="0"/>
              </a:rPr>
              <a:t> productName, </a:t>
            </a:r>
            <a:endParaRPr lang="en-US" sz="1600">
              <a:solidFill>
                <a:srgbClr val="000000"/>
              </a:solidFill>
              <a:latin typeface="Calibri" panose="020F0502020204030204" pitchFamily="34" charset="0"/>
              <a:ea typeface="Calibri" panose="020F0502020204030204" pitchFamily="34" charset="0"/>
            </a:endParaRPr>
          </a:p>
          <a:p>
            <a:pPr marL="436245" marR="529590" indent="-6350">
              <a:lnSpc>
                <a:spcPct val="140000"/>
              </a:lnSpc>
              <a:spcAft>
                <a:spcPts val="0"/>
              </a:spcAft>
            </a:pPr>
            <a:r>
              <a:rPr lang="en-US">
                <a:solidFill>
                  <a:srgbClr val="000000"/>
                </a:solidFill>
                <a:latin typeface="Courier New" panose="02070309020205020404" pitchFamily="49" charset="0"/>
                <a:ea typeface="Courier New" panose="02070309020205020404" pitchFamily="49" charset="0"/>
              </a:rPr>
              <a:t>(</a:t>
            </a:r>
            <a:r>
              <a:rPr lang="en-US">
                <a:solidFill>
                  <a:srgbClr val="7030A0"/>
                </a:solidFill>
                <a:latin typeface="Courier New" panose="02070309020205020404" pitchFamily="49" charset="0"/>
                <a:ea typeface="Courier New" panose="02070309020205020404" pitchFamily="49" charset="0"/>
              </a:rPr>
              <a:t>SELECT sum(quantityOrdered) FROM  orderdetails WHERE productCode = p.productCode</a:t>
            </a:r>
            <a:r>
              <a:rPr lang="en-US">
                <a:solidFill>
                  <a:srgbClr val="000000"/>
                </a:solidFill>
                <a:latin typeface="Courier New" panose="02070309020205020404" pitchFamily="49" charset="0"/>
                <a:ea typeface="Courier New" panose="02070309020205020404" pitchFamily="49" charset="0"/>
              </a:rPr>
              <a:t>) as totalQuantityOrderd  </a:t>
            </a:r>
            <a:endParaRPr lang="en-US" sz="1600">
              <a:solidFill>
                <a:srgbClr val="000000"/>
              </a:solidFill>
              <a:latin typeface="Calibri" panose="020F0502020204030204" pitchFamily="34" charset="0"/>
              <a:ea typeface="Calibri" panose="020F0502020204030204" pitchFamily="34" charset="0"/>
            </a:endParaRPr>
          </a:p>
          <a:p>
            <a:pPr marL="6350" marR="529590" indent="-6350">
              <a:lnSpc>
                <a:spcPct val="108000"/>
              </a:lnSpc>
              <a:spcAft>
                <a:spcPts val="430"/>
              </a:spcAft>
            </a:pPr>
            <a:r>
              <a:rPr lang="en-US">
                <a:solidFill>
                  <a:srgbClr val="FF0000"/>
                </a:solidFill>
                <a:latin typeface="Courier New" panose="02070309020205020404" pitchFamily="49" charset="0"/>
                <a:ea typeface="Courier New" panose="02070309020205020404" pitchFamily="49" charset="0"/>
              </a:rPr>
              <a:t>FROM</a:t>
            </a:r>
            <a:r>
              <a:rPr lang="en-US">
                <a:solidFill>
                  <a:srgbClr val="000000"/>
                </a:solidFill>
                <a:latin typeface="Courier New" panose="02070309020205020404" pitchFamily="49" charset="0"/>
                <a:ea typeface="Courier New" panose="02070309020205020404" pitchFamily="49" charset="0"/>
              </a:rPr>
              <a:t> products </a:t>
            </a:r>
            <a:r>
              <a:rPr lang="en-US">
                <a:solidFill>
                  <a:srgbClr val="FF0000"/>
                </a:solidFill>
                <a:latin typeface="Courier New" panose="02070309020205020404" pitchFamily="49" charset="0"/>
                <a:ea typeface="Courier New" panose="02070309020205020404" pitchFamily="49" charset="0"/>
              </a:rPr>
              <a:t>as</a:t>
            </a:r>
            <a:r>
              <a:rPr lang="en-US">
                <a:solidFill>
                  <a:srgbClr val="000000"/>
                </a:solidFill>
                <a:latin typeface="Courier New" panose="02070309020205020404" pitchFamily="49" charset="0"/>
                <a:ea typeface="Courier New" panose="02070309020205020404" pitchFamily="49" charset="0"/>
              </a:rPr>
              <a:t> p </a:t>
            </a:r>
            <a:endParaRPr lang="en-US" sz="1600">
              <a:solidFill>
                <a:srgbClr val="000000"/>
              </a:solidFill>
              <a:latin typeface="Calibri" panose="020F0502020204030204" pitchFamily="34" charset="0"/>
              <a:ea typeface="Calibri" panose="020F0502020204030204" pitchFamily="34" charset="0"/>
            </a:endParaRPr>
          </a:p>
          <a:p>
            <a:pPr marL="6350" marR="529590" indent="-6350">
              <a:lnSpc>
                <a:spcPct val="108000"/>
              </a:lnSpc>
              <a:spcAft>
                <a:spcPts val="1440"/>
              </a:spcAft>
            </a:pPr>
            <a:r>
              <a:rPr lang="en-US">
                <a:solidFill>
                  <a:srgbClr val="FF0000"/>
                </a:solidFill>
                <a:latin typeface="Courier New" panose="02070309020205020404" pitchFamily="49" charset="0"/>
                <a:ea typeface="Courier New" panose="02070309020205020404" pitchFamily="49" charset="0"/>
              </a:rPr>
              <a:t>ORDER</a:t>
            </a:r>
            <a:r>
              <a:rPr lang="en-US">
                <a:solidFill>
                  <a:srgbClr val="000000"/>
                </a:solidFill>
                <a:latin typeface="Courier New" panose="02070309020205020404" pitchFamily="49" charset="0"/>
                <a:ea typeface="Courier New" panose="02070309020205020404" pitchFamily="49" charset="0"/>
              </a:rPr>
              <a:t> </a:t>
            </a:r>
            <a:r>
              <a:rPr lang="en-US">
                <a:solidFill>
                  <a:srgbClr val="FF0000"/>
                </a:solidFill>
                <a:latin typeface="Courier New" panose="02070309020205020404" pitchFamily="49" charset="0"/>
                <a:ea typeface="Courier New" panose="02070309020205020404" pitchFamily="49" charset="0"/>
              </a:rPr>
              <a:t>BY</a:t>
            </a:r>
            <a:r>
              <a:rPr lang="en-US">
                <a:solidFill>
                  <a:srgbClr val="000000"/>
                </a:solidFill>
                <a:latin typeface="Courier New" panose="02070309020205020404" pitchFamily="49" charset="0"/>
                <a:ea typeface="Courier New" panose="02070309020205020404" pitchFamily="49" charset="0"/>
              </a:rPr>
              <a:t> totalQuantityOrderd </a:t>
            </a:r>
            <a:r>
              <a:rPr lang="en-US">
                <a:solidFill>
                  <a:srgbClr val="FF0000"/>
                </a:solidFill>
                <a:latin typeface="Courier New" panose="02070309020205020404" pitchFamily="49" charset="0"/>
                <a:ea typeface="Courier New" panose="02070309020205020404" pitchFamily="49" charset="0"/>
              </a:rPr>
              <a:t>desc</a:t>
            </a:r>
            <a:r>
              <a:rPr lang="en-US">
                <a:solidFill>
                  <a:srgbClr val="000000"/>
                </a:solidFill>
                <a:latin typeface="Courier New" panose="02070309020205020404" pitchFamily="49" charset="0"/>
                <a:ea typeface="Courier New" panose="02070309020205020404" pitchFamily="49" charset="0"/>
              </a:rPr>
              <a:t> </a:t>
            </a:r>
            <a:endParaRPr lang="en-US" sz="1600">
              <a:solidFill>
                <a:srgbClr val="000000"/>
              </a:solidFill>
              <a:effectLst/>
              <a:latin typeface="Calibri" panose="020F0502020204030204" pitchFamily="34" charset="0"/>
              <a:ea typeface="Calibri" panose="020F0502020204030204" pitchFamily="34" charset="0"/>
            </a:endParaRPr>
          </a:p>
        </p:txBody>
      </p:sp>
      <p:sp>
        <p:nvSpPr>
          <p:cNvPr id="6" name="TextBox 5">
            <a:extLst>
              <a:ext uri="{FF2B5EF4-FFF2-40B4-BE49-F238E27FC236}">
                <a16:creationId xmlns:a16="http://schemas.microsoft.com/office/drawing/2014/main" id="{6D3528E7-22E3-4E3A-A8CD-FA34BD5F7F02}"/>
              </a:ext>
            </a:extLst>
          </p:cNvPr>
          <p:cNvSpPr txBox="1"/>
          <p:nvPr/>
        </p:nvSpPr>
        <p:spPr>
          <a:xfrm>
            <a:off x="229827" y="4244340"/>
            <a:ext cx="4815840" cy="1477328"/>
          </a:xfrm>
          <a:prstGeom prst="rect">
            <a:avLst/>
          </a:prstGeom>
          <a:noFill/>
        </p:spPr>
        <p:txBody>
          <a:bodyPr wrap="square" rtlCol="0">
            <a:spAutoFit/>
          </a:bodyPr>
          <a:lstStyle/>
          <a:p>
            <a:r>
              <a:rPr lang="en-US">
                <a:solidFill>
                  <a:srgbClr val="FF0000"/>
                </a:solidFill>
              </a:rPr>
              <a:t>SELECT</a:t>
            </a:r>
            <a:r>
              <a:rPr lang="en-US">
                <a:solidFill>
                  <a:srgbClr val="7030A0"/>
                </a:solidFill>
              </a:rPr>
              <a:t> </a:t>
            </a:r>
            <a:r>
              <a:rPr lang="en-US">
                <a:solidFill>
                  <a:srgbClr val="FF0000"/>
                </a:solidFill>
              </a:rPr>
              <a:t>sum</a:t>
            </a:r>
            <a:r>
              <a:rPr lang="en-US">
                <a:solidFill>
                  <a:srgbClr val="7030A0"/>
                </a:solidFill>
              </a:rPr>
              <a:t>(quantityOrdered) </a:t>
            </a:r>
          </a:p>
          <a:p>
            <a:r>
              <a:rPr lang="en-US">
                <a:solidFill>
                  <a:srgbClr val="FF0000"/>
                </a:solidFill>
              </a:rPr>
              <a:t>FROM</a:t>
            </a:r>
            <a:r>
              <a:rPr lang="en-US">
                <a:solidFill>
                  <a:srgbClr val="7030A0"/>
                </a:solidFill>
              </a:rPr>
              <a:t>  orderdetails </a:t>
            </a:r>
          </a:p>
          <a:p>
            <a:r>
              <a:rPr lang="en-US">
                <a:solidFill>
                  <a:srgbClr val="FF0000"/>
                </a:solidFill>
              </a:rPr>
              <a:t>WHERE</a:t>
            </a:r>
            <a:r>
              <a:rPr lang="en-US">
                <a:solidFill>
                  <a:srgbClr val="7030A0"/>
                </a:solidFill>
              </a:rPr>
              <a:t> productCode = p.productCode</a:t>
            </a:r>
          </a:p>
          <a:p>
            <a:r>
              <a:rPr lang="en-US">
                <a:solidFill>
                  <a:srgbClr val="FF0000"/>
                </a:solidFill>
              </a:rPr>
              <a:t>Group</a:t>
            </a:r>
            <a:r>
              <a:rPr lang="en-US">
                <a:solidFill>
                  <a:srgbClr val="7030A0"/>
                </a:solidFill>
              </a:rPr>
              <a:t> </a:t>
            </a:r>
            <a:r>
              <a:rPr lang="en-US">
                <a:solidFill>
                  <a:srgbClr val="FF0000"/>
                </a:solidFill>
              </a:rPr>
              <a:t>by</a:t>
            </a:r>
            <a:r>
              <a:rPr lang="en-US">
                <a:solidFill>
                  <a:srgbClr val="7030A0"/>
                </a:solidFill>
              </a:rPr>
              <a:t> productcode</a:t>
            </a:r>
          </a:p>
          <a:p>
            <a:endParaRPr lang="en-US"/>
          </a:p>
        </p:txBody>
      </p:sp>
      <p:sp>
        <p:nvSpPr>
          <p:cNvPr id="7" name="TextBox 6">
            <a:extLst>
              <a:ext uri="{FF2B5EF4-FFF2-40B4-BE49-F238E27FC236}">
                <a16:creationId xmlns:a16="http://schemas.microsoft.com/office/drawing/2014/main" id="{E56A7015-7EC3-47A6-BAB0-66D7800CB5E6}"/>
              </a:ext>
            </a:extLst>
          </p:cNvPr>
          <p:cNvSpPr txBox="1"/>
          <p:nvPr/>
        </p:nvSpPr>
        <p:spPr>
          <a:xfrm>
            <a:off x="4975668" y="4838945"/>
            <a:ext cx="184731" cy="369332"/>
          </a:xfrm>
          <a:prstGeom prst="rect">
            <a:avLst/>
          </a:prstGeom>
          <a:noFill/>
        </p:spPr>
        <p:txBody>
          <a:bodyPr wrap="none" rtlCol="0">
            <a:spAutoFit/>
          </a:bodyPr>
          <a:lstStyle/>
          <a:p>
            <a:endParaRPr lang="en-US"/>
          </a:p>
        </p:txBody>
      </p:sp>
      <p:sp>
        <p:nvSpPr>
          <p:cNvPr id="8" name="TextBox 7">
            <a:extLst>
              <a:ext uri="{FF2B5EF4-FFF2-40B4-BE49-F238E27FC236}">
                <a16:creationId xmlns:a16="http://schemas.microsoft.com/office/drawing/2014/main" id="{96B6A5E6-8F2F-4672-84F3-4970075D9491}"/>
              </a:ext>
            </a:extLst>
          </p:cNvPr>
          <p:cNvSpPr txBox="1"/>
          <p:nvPr/>
        </p:nvSpPr>
        <p:spPr>
          <a:xfrm>
            <a:off x="1885951" y="5634042"/>
            <a:ext cx="3527040" cy="923330"/>
          </a:xfrm>
          <a:prstGeom prst="rect">
            <a:avLst/>
          </a:prstGeom>
          <a:noFill/>
        </p:spPr>
        <p:txBody>
          <a:bodyPr wrap="square" rtlCol="0">
            <a:spAutoFit/>
          </a:bodyPr>
          <a:lstStyle/>
          <a:p>
            <a:r>
              <a:rPr lang="en-US"/>
              <a:t>Tổng số các đ</a:t>
            </a:r>
            <a:r>
              <a:rPr lang="vi-VN"/>
              <a:t>ơ</a:t>
            </a:r>
            <a:r>
              <a:rPr lang="en-US"/>
              <a:t>n đặt hàng của từng mã sản phẩm (productcode)</a:t>
            </a:r>
          </a:p>
        </p:txBody>
      </p:sp>
      <p:sp>
        <p:nvSpPr>
          <p:cNvPr id="10" name="Freeform: Shape 9">
            <a:extLst>
              <a:ext uri="{FF2B5EF4-FFF2-40B4-BE49-F238E27FC236}">
                <a16:creationId xmlns:a16="http://schemas.microsoft.com/office/drawing/2014/main" id="{8380A723-991D-4428-AA4B-E47E1AA7A618}"/>
              </a:ext>
            </a:extLst>
          </p:cNvPr>
          <p:cNvSpPr/>
          <p:nvPr/>
        </p:nvSpPr>
        <p:spPr>
          <a:xfrm>
            <a:off x="6410325" y="3895240"/>
            <a:ext cx="533400" cy="329098"/>
          </a:xfrm>
          <a:custGeom>
            <a:avLst/>
            <a:gdLst>
              <a:gd name="connsiteX0" fmla="*/ 400050 w 533400"/>
              <a:gd name="connsiteY0" fmla="*/ 314810 h 329098"/>
              <a:gd name="connsiteX1" fmla="*/ 466725 w 533400"/>
              <a:gd name="connsiteY1" fmla="*/ 310048 h 329098"/>
              <a:gd name="connsiteX2" fmla="*/ 481013 w 533400"/>
              <a:gd name="connsiteY2" fmla="*/ 300523 h 329098"/>
              <a:gd name="connsiteX3" fmla="*/ 495300 w 533400"/>
              <a:gd name="connsiteY3" fmla="*/ 295760 h 329098"/>
              <a:gd name="connsiteX4" fmla="*/ 528638 w 533400"/>
              <a:gd name="connsiteY4" fmla="*/ 262423 h 329098"/>
              <a:gd name="connsiteX5" fmla="*/ 533400 w 533400"/>
              <a:gd name="connsiteY5" fmla="*/ 243373 h 329098"/>
              <a:gd name="connsiteX6" fmla="*/ 528638 w 533400"/>
              <a:gd name="connsiteY6" fmla="*/ 152885 h 329098"/>
              <a:gd name="connsiteX7" fmla="*/ 523875 w 533400"/>
              <a:gd name="connsiteY7" fmla="*/ 133835 h 329098"/>
              <a:gd name="connsiteX8" fmla="*/ 509588 w 533400"/>
              <a:gd name="connsiteY8" fmla="*/ 114785 h 329098"/>
              <a:gd name="connsiteX9" fmla="*/ 500063 w 533400"/>
              <a:gd name="connsiteY9" fmla="*/ 100498 h 329098"/>
              <a:gd name="connsiteX10" fmla="*/ 481013 w 533400"/>
              <a:gd name="connsiteY10" fmla="*/ 86210 h 329098"/>
              <a:gd name="connsiteX11" fmla="*/ 466725 w 533400"/>
              <a:gd name="connsiteY11" fmla="*/ 67160 h 329098"/>
              <a:gd name="connsiteX12" fmla="*/ 423863 w 533400"/>
              <a:gd name="connsiteY12" fmla="*/ 48110 h 329098"/>
              <a:gd name="connsiteX13" fmla="*/ 333375 w 533400"/>
              <a:gd name="connsiteY13" fmla="*/ 19535 h 329098"/>
              <a:gd name="connsiteX14" fmla="*/ 280988 w 533400"/>
              <a:gd name="connsiteY14" fmla="*/ 5248 h 329098"/>
              <a:gd name="connsiteX15" fmla="*/ 238125 w 533400"/>
              <a:gd name="connsiteY15" fmla="*/ 485 h 329098"/>
              <a:gd name="connsiteX16" fmla="*/ 76200 w 533400"/>
              <a:gd name="connsiteY16" fmla="*/ 24298 h 329098"/>
              <a:gd name="connsiteX17" fmla="*/ 57150 w 533400"/>
              <a:gd name="connsiteY17" fmla="*/ 43348 h 329098"/>
              <a:gd name="connsiteX18" fmla="*/ 52388 w 533400"/>
              <a:gd name="connsiteY18" fmla="*/ 57635 h 329098"/>
              <a:gd name="connsiteX19" fmla="*/ 19050 w 533400"/>
              <a:gd name="connsiteY19" fmla="*/ 105260 h 329098"/>
              <a:gd name="connsiteX20" fmla="*/ 9525 w 533400"/>
              <a:gd name="connsiteY20" fmla="*/ 138598 h 329098"/>
              <a:gd name="connsiteX21" fmla="*/ 0 w 533400"/>
              <a:gd name="connsiteY21" fmla="*/ 167173 h 329098"/>
              <a:gd name="connsiteX22" fmla="*/ 4763 w 533400"/>
              <a:gd name="connsiteY22" fmla="*/ 229085 h 329098"/>
              <a:gd name="connsiteX23" fmla="*/ 42863 w 533400"/>
              <a:gd name="connsiteY23" fmla="*/ 252898 h 329098"/>
              <a:gd name="connsiteX24" fmla="*/ 61913 w 533400"/>
              <a:gd name="connsiteY24" fmla="*/ 262423 h 329098"/>
              <a:gd name="connsiteX25" fmla="*/ 119063 w 533400"/>
              <a:gd name="connsiteY25" fmla="*/ 276710 h 329098"/>
              <a:gd name="connsiteX26" fmla="*/ 176213 w 533400"/>
              <a:gd name="connsiteY26" fmla="*/ 300523 h 329098"/>
              <a:gd name="connsiteX27" fmla="*/ 200025 w 533400"/>
              <a:gd name="connsiteY27" fmla="*/ 305285 h 329098"/>
              <a:gd name="connsiteX28" fmla="*/ 247650 w 533400"/>
              <a:gd name="connsiteY28" fmla="*/ 319573 h 329098"/>
              <a:gd name="connsiteX29" fmla="*/ 290513 w 533400"/>
              <a:gd name="connsiteY29" fmla="*/ 329098 h 329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33400" h="329098">
                <a:moveTo>
                  <a:pt x="400050" y="314810"/>
                </a:moveTo>
                <a:cubicBezTo>
                  <a:pt x="422275" y="313223"/>
                  <a:pt x="444782" y="313920"/>
                  <a:pt x="466725" y="310048"/>
                </a:cubicBezTo>
                <a:cubicBezTo>
                  <a:pt x="472362" y="309053"/>
                  <a:pt x="475893" y="303083"/>
                  <a:pt x="481013" y="300523"/>
                </a:cubicBezTo>
                <a:cubicBezTo>
                  <a:pt x="485503" y="298278"/>
                  <a:pt x="490538" y="297348"/>
                  <a:pt x="495300" y="295760"/>
                </a:cubicBezTo>
                <a:cubicBezTo>
                  <a:pt x="508945" y="284844"/>
                  <a:pt x="521716" y="278574"/>
                  <a:pt x="528638" y="262423"/>
                </a:cubicBezTo>
                <a:cubicBezTo>
                  <a:pt x="531216" y="256407"/>
                  <a:pt x="531813" y="249723"/>
                  <a:pt x="533400" y="243373"/>
                </a:cubicBezTo>
                <a:cubicBezTo>
                  <a:pt x="531813" y="213210"/>
                  <a:pt x="531255" y="182976"/>
                  <a:pt x="528638" y="152885"/>
                </a:cubicBezTo>
                <a:cubicBezTo>
                  <a:pt x="528071" y="146364"/>
                  <a:pt x="526802" y="139689"/>
                  <a:pt x="523875" y="133835"/>
                </a:cubicBezTo>
                <a:cubicBezTo>
                  <a:pt x="520325" y="126736"/>
                  <a:pt x="514202" y="121244"/>
                  <a:pt x="509588" y="114785"/>
                </a:cubicBezTo>
                <a:cubicBezTo>
                  <a:pt x="506261" y="110127"/>
                  <a:pt x="504110" y="104545"/>
                  <a:pt x="500063" y="100498"/>
                </a:cubicBezTo>
                <a:cubicBezTo>
                  <a:pt x="494450" y="94885"/>
                  <a:pt x="486626" y="91823"/>
                  <a:pt x="481013" y="86210"/>
                </a:cubicBezTo>
                <a:cubicBezTo>
                  <a:pt x="475400" y="80597"/>
                  <a:pt x="473329" y="71563"/>
                  <a:pt x="466725" y="67160"/>
                </a:cubicBezTo>
                <a:cubicBezTo>
                  <a:pt x="453716" y="58487"/>
                  <a:pt x="438380" y="53917"/>
                  <a:pt x="423863" y="48110"/>
                </a:cubicBezTo>
                <a:cubicBezTo>
                  <a:pt x="366858" y="25308"/>
                  <a:pt x="384087" y="33058"/>
                  <a:pt x="333375" y="19535"/>
                </a:cubicBezTo>
                <a:cubicBezTo>
                  <a:pt x="332579" y="19323"/>
                  <a:pt x="289256" y="6520"/>
                  <a:pt x="280988" y="5248"/>
                </a:cubicBezTo>
                <a:cubicBezTo>
                  <a:pt x="266780" y="3062"/>
                  <a:pt x="252413" y="2073"/>
                  <a:pt x="238125" y="485"/>
                </a:cubicBezTo>
                <a:cubicBezTo>
                  <a:pt x="204733" y="3717"/>
                  <a:pt x="117741" y="-11308"/>
                  <a:pt x="76200" y="24298"/>
                </a:cubicBezTo>
                <a:cubicBezTo>
                  <a:pt x="69382" y="30142"/>
                  <a:pt x="63500" y="36998"/>
                  <a:pt x="57150" y="43348"/>
                </a:cubicBezTo>
                <a:cubicBezTo>
                  <a:pt x="55563" y="48110"/>
                  <a:pt x="55173" y="53458"/>
                  <a:pt x="52388" y="57635"/>
                </a:cubicBezTo>
                <a:cubicBezTo>
                  <a:pt x="33015" y="86694"/>
                  <a:pt x="28975" y="77966"/>
                  <a:pt x="19050" y="105260"/>
                </a:cubicBezTo>
                <a:cubicBezTo>
                  <a:pt x="15100" y="116122"/>
                  <a:pt x="12924" y="127552"/>
                  <a:pt x="9525" y="138598"/>
                </a:cubicBezTo>
                <a:cubicBezTo>
                  <a:pt x="6572" y="148194"/>
                  <a:pt x="0" y="167173"/>
                  <a:pt x="0" y="167173"/>
                </a:cubicBezTo>
                <a:cubicBezTo>
                  <a:pt x="1588" y="187810"/>
                  <a:pt x="-2126" y="209567"/>
                  <a:pt x="4763" y="229085"/>
                </a:cubicBezTo>
                <a:cubicBezTo>
                  <a:pt x="10965" y="246658"/>
                  <a:pt x="29565" y="247199"/>
                  <a:pt x="42863" y="252898"/>
                </a:cubicBezTo>
                <a:cubicBezTo>
                  <a:pt x="49388" y="255695"/>
                  <a:pt x="55137" y="260305"/>
                  <a:pt x="61913" y="262423"/>
                </a:cubicBezTo>
                <a:cubicBezTo>
                  <a:pt x="80655" y="268280"/>
                  <a:pt x="101500" y="267928"/>
                  <a:pt x="119063" y="276710"/>
                </a:cubicBezTo>
                <a:cubicBezTo>
                  <a:pt x="142046" y="288201"/>
                  <a:pt x="147130" y="291574"/>
                  <a:pt x="176213" y="300523"/>
                </a:cubicBezTo>
                <a:cubicBezTo>
                  <a:pt x="183950" y="302903"/>
                  <a:pt x="192088" y="303698"/>
                  <a:pt x="200025" y="305285"/>
                </a:cubicBezTo>
                <a:cubicBezTo>
                  <a:pt x="224975" y="315265"/>
                  <a:pt x="221495" y="315549"/>
                  <a:pt x="247650" y="319573"/>
                </a:cubicBezTo>
                <a:cubicBezTo>
                  <a:pt x="289353" y="325989"/>
                  <a:pt x="276459" y="315044"/>
                  <a:pt x="290513" y="32909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891C7773-D9A8-4A77-A968-92F1D67B2827}"/>
              </a:ext>
            </a:extLst>
          </p:cNvPr>
          <p:cNvCxnSpPr/>
          <p:nvPr/>
        </p:nvCxnSpPr>
        <p:spPr>
          <a:xfrm flipV="1">
            <a:off x="6819900" y="3319463"/>
            <a:ext cx="700088" cy="6524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BD6D62E4-338B-4043-A19E-E1B18E74028C}"/>
              </a:ext>
            </a:extLst>
          </p:cNvPr>
          <p:cNvSpPr txBox="1"/>
          <p:nvPr/>
        </p:nvSpPr>
        <p:spPr>
          <a:xfrm>
            <a:off x="7610755" y="2971910"/>
            <a:ext cx="4662208" cy="646331"/>
          </a:xfrm>
          <a:prstGeom prst="rect">
            <a:avLst/>
          </a:prstGeom>
          <a:noFill/>
        </p:spPr>
        <p:txBody>
          <a:bodyPr wrap="square" rtlCol="0">
            <a:spAutoFit/>
          </a:bodyPr>
          <a:lstStyle/>
          <a:p>
            <a:r>
              <a:rPr lang="en-US"/>
              <a:t>Tổng giá trị- Cột</a:t>
            </a:r>
          </a:p>
          <a:p>
            <a:r>
              <a:rPr lang="en-US"/>
              <a:t>Tổng giá tri – theo các mã hàng riêng biệt</a:t>
            </a:r>
          </a:p>
        </p:txBody>
      </p:sp>
    </p:spTree>
    <p:extLst>
      <p:ext uri="{BB962C8B-B14F-4D97-AF65-F5344CB8AC3E}">
        <p14:creationId xmlns:p14="http://schemas.microsoft.com/office/powerpoint/2010/main" val="421285430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99DBA-E860-4F57-B3AB-A0309A3E6559}"/>
              </a:ext>
            </a:extLst>
          </p:cNvPr>
          <p:cNvSpPr>
            <a:spLocks noGrp="1"/>
          </p:cNvSpPr>
          <p:nvPr>
            <p:ph type="title"/>
          </p:nvPr>
        </p:nvSpPr>
        <p:spPr>
          <a:xfrm>
            <a:off x="677334" y="400432"/>
            <a:ext cx="8596668" cy="1320800"/>
          </a:xfrm>
        </p:spPr>
        <p:txBody>
          <a:bodyPr/>
          <a:lstStyle/>
          <a:p>
            <a:r>
              <a:rPr lang="en-US" dirty="0" err="1"/>
              <a:t>SubQuery</a:t>
            </a:r>
            <a:r>
              <a:rPr lang="en-US" dirty="0"/>
              <a:t> – </a:t>
            </a:r>
            <a:r>
              <a:rPr lang="en-US" dirty="0" err="1"/>
              <a:t>Truy</a:t>
            </a:r>
            <a:r>
              <a:rPr lang="en-US" dirty="0"/>
              <a:t> </a:t>
            </a:r>
            <a:r>
              <a:rPr lang="en-US" dirty="0" err="1"/>
              <a:t>vấn</a:t>
            </a:r>
            <a:r>
              <a:rPr lang="en-US" dirty="0"/>
              <a:t> con</a:t>
            </a:r>
            <a:br>
              <a:rPr lang="en-US" dirty="0"/>
            </a:br>
            <a:endParaRPr lang="en-US" dirty="0"/>
          </a:p>
        </p:txBody>
      </p:sp>
      <p:sp>
        <p:nvSpPr>
          <p:cNvPr id="3" name="Content Placeholder 2">
            <a:extLst>
              <a:ext uri="{FF2B5EF4-FFF2-40B4-BE49-F238E27FC236}">
                <a16:creationId xmlns:a16="http://schemas.microsoft.com/office/drawing/2014/main" id="{755EFCF8-CAC6-4051-A8A2-2ED6D152AB9A}"/>
              </a:ext>
            </a:extLst>
          </p:cNvPr>
          <p:cNvSpPr>
            <a:spLocks noGrp="1"/>
          </p:cNvSpPr>
          <p:nvPr>
            <p:ph idx="1"/>
          </p:nvPr>
        </p:nvSpPr>
        <p:spPr>
          <a:xfrm>
            <a:off x="677334" y="1409351"/>
            <a:ext cx="8596668" cy="4632012"/>
          </a:xfrm>
        </p:spPr>
        <p:txBody>
          <a:bodyPr/>
          <a:lstStyle/>
          <a:p>
            <a:r>
              <a:rPr lang="en-US" dirty="0"/>
              <a:t>3. </a:t>
            </a:r>
            <a:r>
              <a:rPr lang="en-US" dirty="0">
                <a:solidFill>
                  <a:srgbClr val="FF0000"/>
                </a:solidFill>
              </a:rPr>
              <a:t>Subquery</a:t>
            </a:r>
            <a:r>
              <a:rPr lang="en-US" dirty="0"/>
              <a:t> ở </a:t>
            </a:r>
            <a:r>
              <a:rPr lang="en-US" dirty="0">
                <a:solidFill>
                  <a:srgbClr val="FF0000"/>
                </a:solidFill>
              </a:rPr>
              <a:t>FROM</a:t>
            </a:r>
            <a:endParaRPr lang="en-US" b="1" dirty="0">
              <a:solidFill>
                <a:srgbClr val="FF0000"/>
              </a:solidFill>
            </a:endParaRPr>
          </a:p>
          <a:p>
            <a:r>
              <a:rPr lang="en-US" b="1" dirty="0" err="1">
                <a:solidFill>
                  <a:schemeClr val="tx1"/>
                </a:solidFill>
              </a:rPr>
              <a:t>Ví</a:t>
            </a:r>
            <a:r>
              <a:rPr lang="en-US" b="1" dirty="0">
                <a:solidFill>
                  <a:schemeClr val="tx1"/>
                </a:solidFill>
              </a:rPr>
              <a:t> </a:t>
            </a:r>
            <a:r>
              <a:rPr lang="en-US" b="1" dirty="0" err="1">
                <a:solidFill>
                  <a:schemeClr val="tx1"/>
                </a:solidFill>
              </a:rPr>
              <a:t>dụ</a:t>
            </a:r>
            <a:r>
              <a:rPr lang="en-US" b="1" dirty="0">
                <a:solidFill>
                  <a:schemeClr val="tx1"/>
                </a:solidFill>
              </a:rPr>
              <a:t>: </a:t>
            </a:r>
            <a:r>
              <a:rPr lang="en-US" dirty="0" err="1"/>
              <a:t>Đưa</a:t>
            </a:r>
            <a:r>
              <a:rPr lang="en-US" dirty="0"/>
              <a:t> </a:t>
            </a:r>
            <a:r>
              <a:rPr lang="en-US" dirty="0" err="1"/>
              <a:t>ra</a:t>
            </a:r>
            <a:r>
              <a:rPr lang="en-US" dirty="0"/>
              <a:t> </a:t>
            </a:r>
            <a:r>
              <a:rPr lang="en-US" dirty="0" err="1"/>
              <a:t>số</a:t>
            </a:r>
            <a:r>
              <a:rPr lang="en-US" dirty="0"/>
              <a:t> </a:t>
            </a:r>
            <a:r>
              <a:rPr lang="en-US" dirty="0" err="1"/>
              <a:t>lượng</a:t>
            </a:r>
            <a:r>
              <a:rPr lang="en-US" dirty="0"/>
              <a:t> </a:t>
            </a:r>
            <a:r>
              <a:rPr lang="en-US" dirty="0" err="1"/>
              <a:t>các</a:t>
            </a:r>
            <a:r>
              <a:rPr lang="en-US" dirty="0"/>
              <a:t> </a:t>
            </a:r>
            <a:r>
              <a:rPr lang="en-US" dirty="0" err="1"/>
              <a:t>đơn</a:t>
            </a:r>
            <a:r>
              <a:rPr lang="en-US" dirty="0"/>
              <a:t> </a:t>
            </a:r>
            <a:r>
              <a:rPr lang="en-US" dirty="0" err="1"/>
              <a:t>đặt</a:t>
            </a:r>
            <a:r>
              <a:rPr lang="en-US" dirty="0"/>
              <a:t> </a:t>
            </a:r>
            <a:r>
              <a:rPr lang="en-US" dirty="0" err="1"/>
              <a:t>hàng</a:t>
            </a:r>
            <a:r>
              <a:rPr lang="en-US" dirty="0"/>
              <a:t> </a:t>
            </a:r>
            <a:r>
              <a:rPr lang="en-US" dirty="0" err="1"/>
              <a:t>trong</a:t>
            </a:r>
            <a:r>
              <a:rPr lang="en-US" dirty="0"/>
              <a:t> </a:t>
            </a:r>
            <a:r>
              <a:rPr lang="en-US" dirty="0" err="1"/>
              <a:t>từng</a:t>
            </a:r>
            <a:r>
              <a:rPr lang="en-US" dirty="0"/>
              <a:t> </a:t>
            </a:r>
            <a:r>
              <a:rPr lang="en-US" dirty="0" err="1"/>
              <a:t>tháng</a:t>
            </a:r>
            <a:r>
              <a:rPr lang="en-US" dirty="0"/>
              <a:t> </a:t>
            </a:r>
            <a:r>
              <a:rPr lang="en-US" dirty="0" err="1"/>
              <a:t>của</a:t>
            </a:r>
            <a:r>
              <a:rPr lang="en-US" dirty="0"/>
              <a:t> </a:t>
            </a:r>
            <a:r>
              <a:rPr lang="en-US" dirty="0" err="1"/>
              <a:t>năm</a:t>
            </a:r>
            <a:r>
              <a:rPr lang="en-US" dirty="0"/>
              <a:t> 2005 </a:t>
            </a:r>
            <a:endParaRPr lang="en-US" b="1" dirty="0">
              <a:solidFill>
                <a:srgbClr val="FF0000"/>
              </a:solidFill>
            </a:endParaRPr>
          </a:p>
          <a:p>
            <a:r>
              <a:rPr lang="en-US" dirty="0" err="1"/>
              <a:t>Giá</a:t>
            </a:r>
            <a:r>
              <a:rPr lang="en-US" dirty="0"/>
              <a:t> </a:t>
            </a:r>
            <a:r>
              <a:rPr lang="en-US" dirty="0" err="1"/>
              <a:t>trị</a:t>
            </a:r>
            <a:r>
              <a:rPr lang="en-US" dirty="0"/>
              <a:t> </a:t>
            </a:r>
            <a:r>
              <a:rPr lang="en-US" dirty="0" err="1"/>
              <a:t>trả</a:t>
            </a:r>
            <a:r>
              <a:rPr lang="en-US" dirty="0"/>
              <a:t> </a:t>
            </a:r>
            <a:r>
              <a:rPr lang="en-US" dirty="0" err="1"/>
              <a:t>về</a:t>
            </a:r>
            <a:r>
              <a:rPr lang="en-US" dirty="0"/>
              <a:t>?</a:t>
            </a:r>
          </a:p>
        </p:txBody>
      </p:sp>
      <p:sp>
        <p:nvSpPr>
          <p:cNvPr id="4" name="Rectangle 3">
            <a:extLst>
              <a:ext uri="{FF2B5EF4-FFF2-40B4-BE49-F238E27FC236}">
                <a16:creationId xmlns:a16="http://schemas.microsoft.com/office/drawing/2014/main" id="{5FFA4EDC-E05C-43A5-8108-372250B3EC3C}"/>
              </a:ext>
            </a:extLst>
          </p:cNvPr>
          <p:cNvSpPr/>
          <p:nvPr/>
        </p:nvSpPr>
        <p:spPr>
          <a:xfrm>
            <a:off x="3048000" y="2391816"/>
            <a:ext cx="6096000" cy="1661993"/>
          </a:xfrm>
          <a:prstGeom prst="rect">
            <a:avLst/>
          </a:prstGeom>
          <a:ln>
            <a:solidFill>
              <a:schemeClr val="tx1"/>
            </a:solidFill>
          </a:ln>
        </p:spPr>
        <p:txBody>
          <a:bodyPr>
            <a:spAutoFit/>
          </a:bodyPr>
          <a:lstStyle/>
          <a:p>
            <a:r>
              <a:rPr lang="en-US" dirty="0">
                <a:solidFill>
                  <a:srgbClr val="FF0000"/>
                </a:solidFill>
              </a:rPr>
              <a:t>Select</a:t>
            </a:r>
            <a:r>
              <a:rPr lang="en-US" dirty="0"/>
              <a:t> </a:t>
            </a:r>
            <a:r>
              <a:rPr lang="en-US" dirty="0" err="1"/>
              <a:t>T.nam_thang</a:t>
            </a:r>
            <a:r>
              <a:rPr lang="en-US" dirty="0"/>
              <a:t>, count(</a:t>
            </a:r>
            <a:r>
              <a:rPr lang="en-US" dirty="0" err="1"/>
              <a:t>T.nam_thang</a:t>
            </a:r>
            <a:r>
              <a:rPr lang="en-US" dirty="0"/>
              <a:t>) </a:t>
            </a:r>
          </a:p>
          <a:p>
            <a:r>
              <a:rPr lang="en-US" dirty="0">
                <a:solidFill>
                  <a:srgbClr val="FF0000"/>
                </a:solidFill>
              </a:rPr>
              <a:t>FROM</a:t>
            </a:r>
            <a:r>
              <a:rPr lang="en-US" dirty="0"/>
              <a:t> (</a:t>
            </a:r>
            <a:r>
              <a:rPr lang="en-US" sz="1200" dirty="0">
                <a:solidFill>
                  <a:srgbClr val="FF0000"/>
                </a:solidFill>
              </a:rPr>
              <a:t>SELECT</a:t>
            </a:r>
            <a:r>
              <a:rPr lang="en-US" sz="1200" dirty="0">
                <a:solidFill>
                  <a:srgbClr val="7030A0"/>
                </a:solidFill>
              </a:rPr>
              <a:t> </a:t>
            </a:r>
            <a:r>
              <a:rPr lang="en-US" sz="1200" dirty="0" err="1">
                <a:solidFill>
                  <a:srgbClr val="7030A0"/>
                </a:solidFill>
              </a:rPr>
              <a:t>orderNumber</a:t>
            </a:r>
            <a:r>
              <a:rPr lang="en-US" sz="1200" dirty="0">
                <a:solidFill>
                  <a:srgbClr val="7030A0"/>
                </a:solidFill>
              </a:rPr>
              <a:t>, </a:t>
            </a:r>
            <a:r>
              <a:rPr lang="en-US" sz="1200" dirty="0" err="1">
                <a:solidFill>
                  <a:srgbClr val="FF0000"/>
                </a:solidFill>
              </a:rPr>
              <a:t>substr</a:t>
            </a:r>
            <a:r>
              <a:rPr lang="en-US" sz="1200" dirty="0">
                <a:solidFill>
                  <a:srgbClr val="7030A0"/>
                </a:solidFill>
              </a:rPr>
              <a:t>(orderdate,1,7) </a:t>
            </a:r>
            <a:r>
              <a:rPr lang="en-US" sz="1200" dirty="0">
                <a:solidFill>
                  <a:srgbClr val="FF0000"/>
                </a:solidFill>
              </a:rPr>
              <a:t>as</a:t>
            </a:r>
            <a:r>
              <a:rPr lang="en-US" sz="1200" dirty="0">
                <a:solidFill>
                  <a:srgbClr val="7030A0"/>
                </a:solidFill>
              </a:rPr>
              <a:t> </a:t>
            </a:r>
            <a:r>
              <a:rPr lang="en-US" sz="1200" dirty="0" err="1">
                <a:solidFill>
                  <a:srgbClr val="7030A0"/>
                </a:solidFill>
              </a:rPr>
              <a:t>nam_thang</a:t>
            </a:r>
            <a:r>
              <a:rPr lang="en-US" sz="1200" dirty="0">
                <a:solidFill>
                  <a:srgbClr val="7030A0"/>
                </a:solidFill>
              </a:rPr>
              <a:t> </a:t>
            </a:r>
            <a:r>
              <a:rPr lang="en-US" sz="1200" dirty="0">
                <a:solidFill>
                  <a:srgbClr val="FF0000"/>
                </a:solidFill>
              </a:rPr>
              <a:t>FROM</a:t>
            </a:r>
            <a:r>
              <a:rPr lang="en-US" sz="1200" dirty="0">
                <a:solidFill>
                  <a:srgbClr val="7030A0"/>
                </a:solidFill>
              </a:rPr>
              <a:t> 			</a:t>
            </a:r>
            <a:r>
              <a:rPr lang="en-US" sz="1200" dirty="0" err="1">
                <a:solidFill>
                  <a:srgbClr val="7030A0"/>
                </a:solidFill>
              </a:rPr>
              <a:t>classicmodels.orders</a:t>
            </a:r>
            <a:endParaRPr lang="en-US" sz="1200" dirty="0">
              <a:solidFill>
                <a:srgbClr val="7030A0"/>
              </a:solidFill>
            </a:endParaRPr>
          </a:p>
          <a:p>
            <a:r>
              <a:rPr lang="en-US" sz="1200" dirty="0">
                <a:solidFill>
                  <a:srgbClr val="FF0000"/>
                </a:solidFill>
              </a:rPr>
              <a:t>			WHERE</a:t>
            </a:r>
            <a:r>
              <a:rPr lang="en-US" sz="1200" dirty="0">
                <a:solidFill>
                  <a:srgbClr val="7030A0"/>
                </a:solidFill>
              </a:rPr>
              <a:t> </a:t>
            </a:r>
            <a:r>
              <a:rPr lang="en-US" sz="1200" dirty="0" err="1">
                <a:solidFill>
                  <a:srgbClr val="7030A0"/>
                </a:solidFill>
              </a:rPr>
              <a:t>orderdate</a:t>
            </a:r>
            <a:r>
              <a:rPr lang="en-US" sz="1200" dirty="0">
                <a:solidFill>
                  <a:srgbClr val="7030A0"/>
                </a:solidFill>
              </a:rPr>
              <a:t> </a:t>
            </a:r>
            <a:r>
              <a:rPr lang="en-US" sz="1200" dirty="0">
                <a:solidFill>
                  <a:srgbClr val="FF0000"/>
                </a:solidFill>
              </a:rPr>
              <a:t>like</a:t>
            </a:r>
            <a:r>
              <a:rPr lang="en-US" sz="1200" dirty="0">
                <a:solidFill>
                  <a:srgbClr val="7030A0"/>
                </a:solidFill>
              </a:rPr>
              <a:t> "2005%"</a:t>
            </a:r>
            <a:r>
              <a:rPr lang="en-US" dirty="0">
                <a:solidFill>
                  <a:srgbClr val="7030A0"/>
                </a:solidFill>
              </a:rPr>
              <a:t>) as T</a:t>
            </a:r>
            <a:endParaRPr lang="en-US" dirty="0"/>
          </a:p>
          <a:p>
            <a:endParaRPr lang="en-US" dirty="0"/>
          </a:p>
          <a:p>
            <a:r>
              <a:rPr lang="en-US" dirty="0">
                <a:solidFill>
                  <a:srgbClr val="FF0000"/>
                </a:solidFill>
              </a:rPr>
              <a:t>GROUP</a:t>
            </a:r>
            <a:r>
              <a:rPr lang="en-US" dirty="0"/>
              <a:t> </a:t>
            </a:r>
            <a:r>
              <a:rPr lang="en-US" dirty="0">
                <a:solidFill>
                  <a:srgbClr val="FF0000"/>
                </a:solidFill>
              </a:rPr>
              <a:t>BY</a:t>
            </a:r>
            <a:r>
              <a:rPr lang="en-US" dirty="0"/>
              <a:t> </a:t>
            </a:r>
            <a:r>
              <a:rPr lang="en-US" dirty="0" err="1"/>
              <a:t>T.nam_thang</a:t>
            </a:r>
            <a:endParaRPr lang="en-US" dirty="0"/>
          </a:p>
        </p:txBody>
      </p:sp>
      <p:sp>
        <p:nvSpPr>
          <p:cNvPr id="5" name="TextBox 4">
            <a:extLst>
              <a:ext uri="{FF2B5EF4-FFF2-40B4-BE49-F238E27FC236}">
                <a16:creationId xmlns:a16="http://schemas.microsoft.com/office/drawing/2014/main" id="{BF7CCFA3-DC9D-4652-8AA9-F6F1B8270D21}"/>
              </a:ext>
            </a:extLst>
          </p:cNvPr>
          <p:cNvSpPr txBox="1"/>
          <p:nvPr/>
        </p:nvSpPr>
        <p:spPr>
          <a:xfrm>
            <a:off x="1676400" y="4927601"/>
            <a:ext cx="5238750" cy="646331"/>
          </a:xfrm>
          <a:prstGeom prst="rect">
            <a:avLst/>
          </a:prstGeom>
          <a:noFill/>
        </p:spPr>
        <p:txBody>
          <a:bodyPr wrap="square" rtlCol="0">
            <a:spAutoFit/>
          </a:bodyPr>
          <a:lstStyle/>
          <a:p>
            <a:r>
              <a:rPr lang="en-US">
                <a:solidFill>
                  <a:srgbClr val="FF0000"/>
                </a:solidFill>
              </a:rPr>
              <a:t>Select</a:t>
            </a:r>
            <a:r>
              <a:rPr lang="en-US"/>
              <a:t>  ten_cot, tencot</a:t>
            </a:r>
          </a:p>
          <a:p>
            <a:r>
              <a:rPr lang="en-US">
                <a:solidFill>
                  <a:srgbClr val="FF0000"/>
                </a:solidFill>
              </a:rPr>
              <a:t>From</a:t>
            </a:r>
            <a:r>
              <a:rPr lang="en-US"/>
              <a:t> (Subquery)</a:t>
            </a:r>
          </a:p>
        </p:txBody>
      </p:sp>
      <p:sp>
        <p:nvSpPr>
          <p:cNvPr id="6" name="TextBox 5">
            <a:extLst>
              <a:ext uri="{FF2B5EF4-FFF2-40B4-BE49-F238E27FC236}">
                <a16:creationId xmlns:a16="http://schemas.microsoft.com/office/drawing/2014/main" id="{4BDC70C3-4D4B-47C3-B804-9EDCC09DBF49}"/>
              </a:ext>
            </a:extLst>
          </p:cNvPr>
          <p:cNvSpPr txBox="1"/>
          <p:nvPr/>
        </p:nvSpPr>
        <p:spPr>
          <a:xfrm>
            <a:off x="3644900" y="5829502"/>
            <a:ext cx="711200" cy="369332"/>
          </a:xfrm>
          <a:prstGeom prst="rect">
            <a:avLst/>
          </a:prstGeom>
          <a:noFill/>
        </p:spPr>
        <p:txBody>
          <a:bodyPr wrap="square" rtlCol="0">
            <a:spAutoFit/>
          </a:bodyPr>
          <a:lstStyle/>
          <a:p>
            <a:r>
              <a:rPr lang="en-US"/>
              <a:t>Bảng</a:t>
            </a:r>
          </a:p>
        </p:txBody>
      </p:sp>
      <p:cxnSp>
        <p:nvCxnSpPr>
          <p:cNvPr id="8" name="Straight Arrow Connector 7">
            <a:extLst>
              <a:ext uri="{FF2B5EF4-FFF2-40B4-BE49-F238E27FC236}">
                <a16:creationId xmlns:a16="http://schemas.microsoft.com/office/drawing/2014/main" id="{51063B43-9F81-4821-9DFA-331E7E315172}"/>
              </a:ext>
            </a:extLst>
          </p:cNvPr>
          <p:cNvCxnSpPr>
            <a:cxnSpLocks/>
          </p:cNvCxnSpPr>
          <p:nvPr/>
        </p:nvCxnSpPr>
        <p:spPr>
          <a:xfrm>
            <a:off x="3352800" y="5506618"/>
            <a:ext cx="508000" cy="2401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37DBADF-02DB-4CD4-94CD-DE0B22852F86}"/>
              </a:ext>
            </a:extLst>
          </p:cNvPr>
          <p:cNvSpPr txBox="1"/>
          <p:nvPr/>
        </p:nvSpPr>
        <p:spPr>
          <a:xfrm>
            <a:off x="5475201" y="4634262"/>
            <a:ext cx="5238750" cy="2031325"/>
          </a:xfrm>
          <a:prstGeom prst="rect">
            <a:avLst/>
          </a:prstGeom>
          <a:noFill/>
        </p:spPr>
        <p:txBody>
          <a:bodyPr wrap="square" rtlCol="0">
            <a:spAutoFit/>
          </a:bodyPr>
          <a:lstStyle/>
          <a:p>
            <a:r>
              <a:rPr lang="en-US">
                <a:solidFill>
                  <a:srgbClr val="FF0000"/>
                </a:solidFill>
              </a:rPr>
              <a:t>Create Table</a:t>
            </a:r>
            <a:r>
              <a:rPr lang="en-US">
                <a:solidFill>
                  <a:srgbClr val="7030A0"/>
                </a:solidFill>
              </a:rPr>
              <a:t> T as (</a:t>
            </a:r>
            <a:r>
              <a:rPr lang="en-US">
                <a:solidFill>
                  <a:srgbClr val="FF0000"/>
                </a:solidFill>
              </a:rPr>
              <a:t>SELECT</a:t>
            </a:r>
            <a:r>
              <a:rPr lang="en-US">
                <a:solidFill>
                  <a:srgbClr val="7030A0"/>
                </a:solidFill>
              </a:rPr>
              <a:t> orderNumber, </a:t>
            </a:r>
            <a:r>
              <a:rPr lang="en-US">
                <a:solidFill>
                  <a:srgbClr val="FF0000"/>
                </a:solidFill>
              </a:rPr>
              <a:t>substr</a:t>
            </a:r>
            <a:r>
              <a:rPr lang="en-US">
                <a:solidFill>
                  <a:srgbClr val="7030A0"/>
                </a:solidFill>
              </a:rPr>
              <a:t>(orderdate,1,7) </a:t>
            </a:r>
            <a:r>
              <a:rPr lang="en-US">
                <a:solidFill>
                  <a:srgbClr val="FF0000"/>
                </a:solidFill>
              </a:rPr>
              <a:t>as</a:t>
            </a:r>
            <a:r>
              <a:rPr lang="en-US">
                <a:solidFill>
                  <a:srgbClr val="7030A0"/>
                </a:solidFill>
              </a:rPr>
              <a:t> nam_thang </a:t>
            </a:r>
            <a:r>
              <a:rPr lang="en-US">
                <a:solidFill>
                  <a:srgbClr val="FF0000"/>
                </a:solidFill>
              </a:rPr>
              <a:t>FROM</a:t>
            </a:r>
            <a:r>
              <a:rPr lang="en-US">
                <a:solidFill>
                  <a:srgbClr val="7030A0"/>
                </a:solidFill>
              </a:rPr>
              <a:t> classicmodels.orders</a:t>
            </a:r>
          </a:p>
          <a:p>
            <a:r>
              <a:rPr lang="en-US">
                <a:solidFill>
                  <a:srgbClr val="FF0000"/>
                </a:solidFill>
              </a:rPr>
              <a:t>WHERE</a:t>
            </a:r>
            <a:r>
              <a:rPr lang="en-US">
                <a:solidFill>
                  <a:srgbClr val="7030A0"/>
                </a:solidFill>
              </a:rPr>
              <a:t> orderdate </a:t>
            </a:r>
            <a:r>
              <a:rPr lang="en-US">
                <a:solidFill>
                  <a:srgbClr val="FF0000"/>
                </a:solidFill>
              </a:rPr>
              <a:t>like</a:t>
            </a:r>
            <a:r>
              <a:rPr lang="en-US">
                <a:solidFill>
                  <a:srgbClr val="7030A0"/>
                </a:solidFill>
              </a:rPr>
              <a:t> "2005%"));</a:t>
            </a:r>
          </a:p>
          <a:p>
            <a:endParaRPr lang="en-US">
              <a:solidFill>
                <a:srgbClr val="7030A0"/>
              </a:solidFill>
            </a:endParaRPr>
          </a:p>
          <a:p>
            <a:r>
              <a:rPr lang="en-US">
                <a:solidFill>
                  <a:srgbClr val="FF0000"/>
                </a:solidFill>
              </a:rPr>
              <a:t>Select</a:t>
            </a:r>
            <a:r>
              <a:rPr lang="en-US">
                <a:solidFill>
                  <a:srgbClr val="7030A0"/>
                </a:solidFill>
              </a:rPr>
              <a:t> T.nam_thang, </a:t>
            </a:r>
            <a:r>
              <a:rPr lang="en-US">
                <a:solidFill>
                  <a:srgbClr val="FF0000"/>
                </a:solidFill>
              </a:rPr>
              <a:t>count</a:t>
            </a:r>
            <a:r>
              <a:rPr lang="en-US">
                <a:solidFill>
                  <a:srgbClr val="7030A0"/>
                </a:solidFill>
              </a:rPr>
              <a:t>(T.nam_thang) </a:t>
            </a:r>
            <a:r>
              <a:rPr lang="en-US">
                <a:solidFill>
                  <a:srgbClr val="FF0000"/>
                </a:solidFill>
              </a:rPr>
              <a:t>from</a:t>
            </a:r>
            <a:r>
              <a:rPr lang="en-US">
                <a:solidFill>
                  <a:srgbClr val="7030A0"/>
                </a:solidFill>
              </a:rPr>
              <a:t> T</a:t>
            </a:r>
          </a:p>
          <a:p>
            <a:r>
              <a:rPr lang="en-US">
                <a:solidFill>
                  <a:srgbClr val="FF0000"/>
                </a:solidFill>
              </a:rPr>
              <a:t>Group</a:t>
            </a:r>
            <a:r>
              <a:rPr lang="en-US">
                <a:solidFill>
                  <a:srgbClr val="7030A0"/>
                </a:solidFill>
              </a:rPr>
              <a:t> </a:t>
            </a:r>
            <a:r>
              <a:rPr lang="en-US">
                <a:solidFill>
                  <a:srgbClr val="FF0000"/>
                </a:solidFill>
              </a:rPr>
              <a:t>by</a:t>
            </a:r>
            <a:r>
              <a:rPr lang="en-US">
                <a:solidFill>
                  <a:srgbClr val="7030A0"/>
                </a:solidFill>
              </a:rPr>
              <a:t> T.nam_thang</a:t>
            </a:r>
            <a:endParaRPr lang="en-US"/>
          </a:p>
        </p:txBody>
      </p:sp>
      <p:sp>
        <p:nvSpPr>
          <p:cNvPr id="12" name="TextBox 11">
            <a:extLst>
              <a:ext uri="{FF2B5EF4-FFF2-40B4-BE49-F238E27FC236}">
                <a16:creationId xmlns:a16="http://schemas.microsoft.com/office/drawing/2014/main" id="{8A512F44-7E49-4129-AE40-2FCEF4D89AD0}"/>
              </a:ext>
            </a:extLst>
          </p:cNvPr>
          <p:cNvSpPr txBox="1"/>
          <p:nvPr/>
        </p:nvSpPr>
        <p:spPr>
          <a:xfrm>
            <a:off x="7007737" y="648349"/>
            <a:ext cx="3925146" cy="923330"/>
          </a:xfrm>
          <a:prstGeom prst="rect">
            <a:avLst/>
          </a:prstGeom>
          <a:noFill/>
          <a:ln>
            <a:solidFill>
              <a:schemeClr val="tx1"/>
            </a:solidFill>
          </a:ln>
        </p:spPr>
        <p:txBody>
          <a:bodyPr wrap="square" rtlCol="0">
            <a:spAutoFit/>
          </a:bodyPr>
          <a:lstStyle/>
          <a:p>
            <a:r>
              <a:rPr lang="en-US">
                <a:solidFill>
                  <a:srgbClr val="FF0000"/>
                </a:solidFill>
              </a:rPr>
              <a:t>Select</a:t>
            </a:r>
            <a:r>
              <a:rPr lang="en-US"/>
              <a:t>  - Chọn Cái gì</a:t>
            </a:r>
          </a:p>
          <a:p>
            <a:r>
              <a:rPr lang="en-US">
                <a:solidFill>
                  <a:srgbClr val="FF0000"/>
                </a:solidFill>
              </a:rPr>
              <a:t>FROM</a:t>
            </a:r>
            <a:r>
              <a:rPr lang="en-US"/>
              <a:t> – Từ Đâu</a:t>
            </a:r>
          </a:p>
          <a:p>
            <a:r>
              <a:rPr lang="en-US">
                <a:solidFill>
                  <a:srgbClr val="FF0000"/>
                </a:solidFill>
              </a:rPr>
              <a:t>WHERE</a:t>
            </a:r>
            <a:r>
              <a:rPr lang="en-US"/>
              <a:t> – Theo Điều Kiện</a:t>
            </a:r>
          </a:p>
        </p:txBody>
      </p:sp>
    </p:spTree>
    <p:extLst>
      <p:ext uri="{BB962C8B-B14F-4D97-AF65-F5344CB8AC3E}">
        <p14:creationId xmlns:p14="http://schemas.microsoft.com/office/powerpoint/2010/main" val="332311508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3FC5B-3468-4CAC-ADB1-B97D58E60EC5}"/>
              </a:ext>
            </a:extLst>
          </p:cNvPr>
          <p:cNvSpPr>
            <a:spLocks noGrp="1"/>
          </p:cNvSpPr>
          <p:nvPr>
            <p:ph type="title"/>
          </p:nvPr>
        </p:nvSpPr>
        <p:spPr/>
        <p:txBody>
          <a:bodyPr/>
          <a:lstStyle/>
          <a:p>
            <a:r>
              <a:rPr lang="en-US"/>
              <a:t>Nhóm câu lệnh Update- Insert - Delete</a:t>
            </a:r>
          </a:p>
        </p:txBody>
      </p:sp>
      <p:sp>
        <p:nvSpPr>
          <p:cNvPr id="3" name="Content Placeholder 2">
            <a:extLst>
              <a:ext uri="{FF2B5EF4-FFF2-40B4-BE49-F238E27FC236}">
                <a16:creationId xmlns:a16="http://schemas.microsoft.com/office/drawing/2014/main" id="{3F56FEE8-D28E-4837-AD9B-A46044C55302}"/>
              </a:ext>
            </a:extLst>
          </p:cNvPr>
          <p:cNvSpPr>
            <a:spLocks noGrp="1"/>
          </p:cNvSpPr>
          <p:nvPr>
            <p:ph idx="1"/>
          </p:nvPr>
        </p:nvSpPr>
        <p:spPr/>
        <p:txBody>
          <a:bodyPr/>
          <a:lstStyle/>
          <a:p>
            <a:r>
              <a:rPr lang="en-US"/>
              <a:t>Insert</a:t>
            </a:r>
          </a:p>
          <a:p>
            <a:r>
              <a:rPr lang="en-US"/>
              <a:t>Update </a:t>
            </a:r>
          </a:p>
          <a:p>
            <a:r>
              <a:rPr lang="en-US"/>
              <a:t>Delete</a:t>
            </a:r>
          </a:p>
        </p:txBody>
      </p:sp>
    </p:spTree>
    <p:extLst>
      <p:ext uri="{BB962C8B-B14F-4D97-AF65-F5344CB8AC3E}">
        <p14:creationId xmlns:p14="http://schemas.microsoft.com/office/powerpoint/2010/main" val="60948519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0A26A-2A95-40C5-92C5-D7527AB54DD5}"/>
              </a:ext>
            </a:extLst>
          </p:cNvPr>
          <p:cNvSpPr>
            <a:spLocks noGrp="1"/>
          </p:cNvSpPr>
          <p:nvPr>
            <p:ph type="title"/>
          </p:nvPr>
        </p:nvSpPr>
        <p:spPr/>
        <p:txBody>
          <a:bodyPr/>
          <a:lstStyle/>
          <a:p>
            <a:r>
              <a:rPr lang="en-US"/>
              <a:t>Insert</a:t>
            </a:r>
          </a:p>
        </p:txBody>
      </p:sp>
      <p:sp>
        <p:nvSpPr>
          <p:cNvPr id="3" name="Content Placeholder 2">
            <a:extLst>
              <a:ext uri="{FF2B5EF4-FFF2-40B4-BE49-F238E27FC236}">
                <a16:creationId xmlns:a16="http://schemas.microsoft.com/office/drawing/2014/main" id="{93618938-89A4-415B-8D03-D4B407802652}"/>
              </a:ext>
            </a:extLst>
          </p:cNvPr>
          <p:cNvSpPr>
            <a:spLocks noGrp="1"/>
          </p:cNvSpPr>
          <p:nvPr>
            <p:ph idx="1"/>
          </p:nvPr>
        </p:nvSpPr>
        <p:spPr>
          <a:xfrm>
            <a:off x="677334" y="1778467"/>
            <a:ext cx="8596668" cy="4262896"/>
          </a:xfrm>
        </p:spPr>
        <p:txBody>
          <a:bodyPr/>
          <a:lstStyle/>
          <a:p>
            <a:r>
              <a:rPr lang="en-US" b="1"/>
              <a:t>1. Câu lệnh INSERT </a:t>
            </a:r>
          </a:p>
          <a:p>
            <a:r>
              <a:rPr lang="en-US"/>
              <a:t>Câu lệnh INSERT cho phép thêm các dòng dữ liệu vào một bảng xác định. Có hai biến thể của lệnh INSERT: cách thứ nhất là thêm một/nhiều dòng giá trị, cách thứ hai là thêm một tập các dòng trả về từ một câu lệnh SELECT. </a:t>
            </a:r>
          </a:p>
          <a:p>
            <a:endParaRPr lang="en-US"/>
          </a:p>
          <a:p>
            <a:r>
              <a:rPr lang="en-US" b="1" i="1"/>
              <a:t>Thêm các dòng giá trị  </a:t>
            </a:r>
          </a:p>
          <a:p>
            <a:r>
              <a:rPr lang="en-US"/>
              <a:t>  </a:t>
            </a:r>
          </a:p>
          <a:p>
            <a:endParaRPr lang="en-US"/>
          </a:p>
        </p:txBody>
      </p:sp>
      <p:sp>
        <p:nvSpPr>
          <p:cNvPr id="5" name="Rectangle 4">
            <a:extLst>
              <a:ext uri="{FF2B5EF4-FFF2-40B4-BE49-F238E27FC236}">
                <a16:creationId xmlns:a16="http://schemas.microsoft.com/office/drawing/2014/main" id="{D35B0C1A-408E-4592-8F8D-A1A5A1ABE2FB}"/>
              </a:ext>
            </a:extLst>
          </p:cNvPr>
          <p:cNvSpPr/>
          <p:nvPr/>
        </p:nvSpPr>
        <p:spPr>
          <a:xfrm>
            <a:off x="2360103" y="4146069"/>
            <a:ext cx="6096000" cy="646331"/>
          </a:xfrm>
          <a:prstGeom prst="rect">
            <a:avLst/>
          </a:prstGeom>
          <a:ln>
            <a:solidFill>
              <a:schemeClr val="tx1"/>
            </a:solidFill>
          </a:ln>
        </p:spPr>
        <p:txBody>
          <a:bodyPr>
            <a:spAutoFit/>
          </a:bodyPr>
          <a:lstStyle/>
          <a:p>
            <a:r>
              <a:rPr lang="en-US">
                <a:solidFill>
                  <a:srgbClr val="FF0000"/>
                </a:solidFill>
              </a:rPr>
              <a:t>INSERT INTO </a:t>
            </a:r>
            <a:r>
              <a:rPr lang="en-US"/>
              <a:t>table_name [(column_name,...)] </a:t>
            </a:r>
          </a:p>
          <a:p>
            <a:r>
              <a:rPr lang="en-US"/>
              <a:t>       </a:t>
            </a:r>
            <a:r>
              <a:rPr lang="en-US">
                <a:solidFill>
                  <a:srgbClr val="FF0000"/>
                </a:solidFill>
              </a:rPr>
              <a:t>VALUES</a:t>
            </a:r>
            <a:r>
              <a:rPr lang="en-US"/>
              <a:t>(  (expression | DEFAULT),...),  (...)  ,... </a:t>
            </a:r>
          </a:p>
        </p:txBody>
      </p:sp>
    </p:spTree>
    <p:extLst>
      <p:ext uri="{BB962C8B-B14F-4D97-AF65-F5344CB8AC3E}">
        <p14:creationId xmlns:p14="http://schemas.microsoft.com/office/powerpoint/2010/main" val="329022400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D288F-CBB6-4AD4-985A-0B2A06AA0D5C}"/>
              </a:ext>
            </a:extLst>
          </p:cNvPr>
          <p:cNvSpPr>
            <a:spLocks noGrp="1"/>
          </p:cNvSpPr>
          <p:nvPr>
            <p:ph type="title"/>
          </p:nvPr>
        </p:nvSpPr>
        <p:spPr>
          <a:xfrm>
            <a:off x="618611" y="55602"/>
            <a:ext cx="8596668" cy="623906"/>
          </a:xfrm>
        </p:spPr>
        <p:txBody>
          <a:bodyPr>
            <a:normAutofit fontScale="90000"/>
          </a:bodyPr>
          <a:lstStyle/>
          <a:p>
            <a:r>
              <a:rPr lang="en-US"/>
              <a:t>Insert</a:t>
            </a:r>
          </a:p>
        </p:txBody>
      </p:sp>
      <p:sp>
        <p:nvSpPr>
          <p:cNvPr id="5" name="Rectangle 4">
            <a:extLst>
              <a:ext uri="{FF2B5EF4-FFF2-40B4-BE49-F238E27FC236}">
                <a16:creationId xmlns:a16="http://schemas.microsoft.com/office/drawing/2014/main" id="{9405D726-94FE-44F6-9FE4-C2E1BE911859}"/>
              </a:ext>
            </a:extLst>
          </p:cNvPr>
          <p:cNvSpPr/>
          <p:nvPr/>
        </p:nvSpPr>
        <p:spPr>
          <a:xfrm>
            <a:off x="1040233" y="1675268"/>
            <a:ext cx="10679185" cy="1477328"/>
          </a:xfrm>
          <a:prstGeom prst="rect">
            <a:avLst/>
          </a:prstGeom>
          <a:ln>
            <a:solidFill>
              <a:schemeClr val="tx1"/>
            </a:solidFill>
          </a:ln>
        </p:spPr>
        <p:txBody>
          <a:bodyPr wrap="square">
            <a:spAutoFit/>
          </a:bodyPr>
          <a:lstStyle/>
          <a:p>
            <a:r>
              <a:rPr lang="en-US"/>
              <a:t> </a:t>
            </a:r>
            <a:r>
              <a:rPr lang="en-US">
                <a:solidFill>
                  <a:srgbClr val="FF0000"/>
                </a:solidFill>
              </a:rPr>
              <a:t>INSERT INTO </a:t>
            </a:r>
            <a:r>
              <a:rPr lang="en-US"/>
              <a:t>classicmodels.offices </a:t>
            </a:r>
          </a:p>
          <a:p>
            <a:r>
              <a:rPr lang="en-US"/>
              <a:t> (officeCode, city, phone, addressLine1, addressLine2, state,  country,  postalCode, territory) </a:t>
            </a:r>
          </a:p>
          <a:p>
            <a:r>
              <a:rPr lang="en-US"/>
              <a:t>   </a:t>
            </a:r>
          </a:p>
          <a:p>
            <a:r>
              <a:rPr lang="en-US">
                <a:solidFill>
                  <a:srgbClr val="FF0000"/>
                </a:solidFill>
              </a:rPr>
              <a:t> VALUES</a:t>
            </a:r>
            <a:r>
              <a:rPr lang="en-US"/>
              <a:t> ('8','Boston', '+1 215 837 0825','1550 dummy street', NULL,'MA', 'USA','02107','NA'),</a:t>
            </a:r>
          </a:p>
          <a:p>
            <a:r>
              <a:rPr lang="en-US"/>
              <a:t>             ('9','Boston', '+1 215 837 0825','1550 dummy street', NULL,'MA','USA','02107','NA' );</a:t>
            </a:r>
          </a:p>
        </p:txBody>
      </p:sp>
      <p:sp>
        <p:nvSpPr>
          <p:cNvPr id="6" name="Rectangle 5">
            <a:extLst>
              <a:ext uri="{FF2B5EF4-FFF2-40B4-BE49-F238E27FC236}">
                <a16:creationId xmlns:a16="http://schemas.microsoft.com/office/drawing/2014/main" id="{240FDF3C-0EE3-4A67-94AC-6AD08F2C3280}"/>
              </a:ext>
            </a:extLst>
          </p:cNvPr>
          <p:cNvSpPr/>
          <p:nvPr/>
        </p:nvSpPr>
        <p:spPr>
          <a:xfrm>
            <a:off x="1040232" y="3429000"/>
            <a:ext cx="10679185" cy="923330"/>
          </a:xfrm>
          <a:prstGeom prst="rect">
            <a:avLst/>
          </a:prstGeom>
          <a:ln>
            <a:solidFill>
              <a:schemeClr val="tx1"/>
            </a:solidFill>
          </a:ln>
        </p:spPr>
        <p:txBody>
          <a:bodyPr wrap="square">
            <a:spAutoFit/>
          </a:bodyPr>
          <a:lstStyle/>
          <a:p>
            <a:r>
              <a:rPr lang="en-US">
                <a:solidFill>
                  <a:srgbClr val="FF0000"/>
                </a:solidFill>
              </a:rPr>
              <a:t>INSERT INTO</a:t>
            </a:r>
            <a:r>
              <a:rPr lang="en-US"/>
              <a:t> classicmodels.offices </a:t>
            </a:r>
          </a:p>
          <a:p>
            <a:r>
              <a:rPr lang="en-US"/>
              <a:t>     </a:t>
            </a:r>
            <a:r>
              <a:rPr lang="en-US">
                <a:solidFill>
                  <a:srgbClr val="FF0000"/>
                </a:solidFill>
              </a:rPr>
              <a:t>VALUES</a:t>
            </a:r>
            <a:r>
              <a:rPr lang="en-US"/>
              <a:t> ('8','Boston', '+1 215 837 0825','1550 dummy street', NULL,'MA', 'USA','02107','NA'),</a:t>
            </a:r>
          </a:p>
          <a:p>
            <a:r>
              <a:rPr lang="en-US"/>
              <a:t>                 ('9','Boston', '+1 215 837 0825','1550 dummy street', NULL,'MA','USA','02107','NA' );</a:t>
            </a:r>
          </a:p>
        </p:txBody>
      </p:sp>
      <p:sp>
        <p:nvSpPr>
          <p:cNvPr id="7" name="Rectangle 6">
            <a:extLst>
              <a:ext uri="{FF2B5EF4-FFF2-40B4-BE49-F238E27FC236}">
                <a16:creationId xmlns:a16="http://schemas.microsoft.com/office/drawing/2014/main" id="{8EC0CF10-BB63-48AB-9419-4616CB85A407}"/>
              </a:ext>
            </a:extLst>
          </p:cNvPr>
          <p:cNvSpPr/>
          <p:nvPr/>
        </p:nvSpPr>
        <p:spPr>
          <a:xfrm>
            <a:off x="1040232" y="4651196"/>
            <a:ext cx="10679184" cy="1200329"/>
          </a:xfrm>
          <a:prstGeom prst="rect">
            <a:avLst/>
          </a:prstGeom>
        </p:spPr>
        <p:txBody>
          <a:bodyPr wrap="square">
            <a:spAutoFit/>
          </a:bodyPr>
          <a:lstStyle/>
          <a:p>
            <a:r>
              <a:rPr lang="en-US"/>
              <a:t> </a:t>
            </a:r>
            <a:r>
              <a:rPr lang="en-US">
                <a:solidFill>
                  <a:srgbClr val="FF0000"/>
                </a:solidFill>
              </a:rPr>
              <a:t>INSERT INTO</a:t>
            </a:r>
            <a:r>
              <a:rPr lang="en-US"/>
              <a:t> classicmodels.offices </a:t>
            </a:r>
          </a:p>
          <a:p>
            <a:r>
              <a:rPr lang="en-US"/>
              <a:t>     (officeCode, city, phone,addressLine1, country,postalcode, territory )</a:t>
            </a:r>
          </a:p>
          <a:p>
            <a:r>
              <a:rPr lang="en-US"/>
              <a:t> </a:t>
            </a:r>
          </a:p>
          <a:p>
            <a:r>
              <a:rPr lang="en-US"/>
              <a:t>     </a:t>
            </a:r>
            <a:r>
              <a:rPr lang="en-US">
                <a:solidFill>
                  <a:srgbClr val="FF0000"/>
                </a:solidFill>
              </a:rPr>
              <a:t>VALUES</a:t>
            </a:r>
            <a:r>
              <a:rPr lang="en-US"/>
              <a:t> ('10','HN','084333333', '454 234', 'VN', '010','NA')</a:t>
            </a:r>
          </a:p>
        </p:txBody>
      </p:sp>
      <p:pic>
        <p:nvPicPr>
          <p:cNvPr id="3" name="Picture 2">
            <a:extLst>
              <a:ext uri="{FF2B5EF4-FFF2-40B4-BE49-F238E27FC236}">
                <a16:creationId xmlns:a16="http://schemas.microsoft.com/office/drawing/2014/main" id="{147AC903-9FA4-473C-8B0A-255F22F690A8}"/>
              </a:ext>
            </a:extLst>
          </p:cNvPr>
          <p:cNvPicPr>
            <a:picLocks noChangeAspect="1"/>
          </p:cNvPicPr>
          <p:nvPr/>
        </p:nvPicPr>
        <p:blipFill>
          <a:blip r:embed="rId2"/>
          <a:stretch>
            <a:fillRect/>
          </a:stretch>
        </p:blipFill>
        <p:spPr>
          <a:xfrm>
            <a:off x="1178954" y="823781"/>
            <a:ext cx="9517417" cy="707213"/>
          </a:xfrm>
          <a:prstGeom prst="rect">
            <a:avLst/>
          </a:prstGeom>
        </p:spPr>
      </p:pic>
      <p:cxnSp>
        <p:nvCxnSpPr>
          <p:cNvPr id="8" name="Straight Arrow Connector 7">
            <a:extLst>
              <a:ext uri="{FF2B5EF4-FFF2-40B4-BE49-F238E27FC236}">
                <a16:creationId xmlns:a16="http://schemas.microsoft.com/office/drawing/2014/main" id="{06A76641-1DEF-4BE3-AEB5-A37214891874}"/>
              </a:ext>
            </a:extLst>
          </p:cNvPr>
          <p:cNvCxnSpPr/>
          <p:nvPr/>
        </p:nvCxnSpPr>
        <p:spPr>
          <a:xfrm flipH="1">
            <a:off x="1635853" y="1183460"/>
            <a:ext cx="159391" cy="8298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65130381-6DC5-490E-9760-3033DCF99FF2}"/>
              </a:ext>
            </a:extLst>
          </p:cNvPr>
          <p:cNvCxnSpPr/>
          <p:nvPr/>
        </p:nvCxnSpPr>
        <p:spPr>
          <a:xfrm>
            <a:off x="2684477" y="1188182"/>
            <a:ext cx="0" cy="8335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8EFDC5DC-C4AD-49FF-B446-A68FBACF4649}"/>
              </a:ext>
            </a:extLst>
          </p:cNvPr>
          <p:cNvCxnSpPr/>
          <p:nvPr/>
        </p:nvCxnSpPr>
        <p:spPr>
          <a:xfrm flipH="1">
            <a:off x="3431097" y="1177387"/>
            <a:ext cx="335560" cy="8359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CCCCC1AF-FA57-43C3-8950-6CD94522A83A}"/>
              </a:ext>
            </a:extLst>
          </p:cNvPr>
          <p:cNvCxnSpPr/>
          <p:nvPr/>
        </p:nvCxnSpPr>
        <p:spPr>
          <a:xfrm flipH="1">
            <a:off x="4681057" y="1185146"/>
            <a:ext cx="235888" cy="8282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29DD2AE7-86C6-477E-BC03-FC65B8F440D2}"/>
              </a:ext>
            </a:extLst>
          </p:cNvPr>
          <p:cNvCxnSpPr/>
          <p:nvPr/>
        </p:nvCxnSpPr>
        <p:spPr>
          <a:xfrm flipH="1">
            <a:off x="6031391" y="1177387"/>
            <a:ext cx="444910" cy="8359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48E62C78-14EB-48A8-B58B-EA58259F7168}"/>
              </a:ext>
            </a:extLst>
          </p:cNvPr>
          <p:cNvCxnSpPr/>
          <p:nvPr/>
        </p:nvCxnSpPr>
        <p:spPr>
          <a:xfrm flipH="1">
            <a:off x="7009059" y="1119081"/>
            <a:ext cx="265998" cy="8942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03734D59-D654-4420-94D7-F0BF252B0D5D}"/>
              </a:ext>
            </a:extLst>
          </p:cNvPr>
          <p:cNvCxnSpPr/>
          <p:nvPr/>
        </p:nvCxnSpPr>
        <p:spPr>
          <a:xfrm flipH="1">
            <a:off x="7894040" y="1089928"/>
            <a:ext cx="335560" cy="9234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59B73F43-0551-4B6F-951E-482527FA210E}"/>
              </a:ext>
            </a:extLst>
          </p:cNvPr>
          <p:cNvCxnSpPr/>
          <p:nvPr/>
        </p:nvCxnSpPr>
        <p:spPr>
          <a:xfrm flipH="1">
            <a:off x="8900719" y="1141416"/>
            <a:ext cx="79753" cy="8719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73033861-D349-404A-AF43-260F82A3D2D5}"/>
              </a:ext>
            </a:extLst>
          </p:cNvPr>
          <p:cNvCxnSpPr/>
          <p:nvPr/>
        </p:nvCxnSpPr>
        <p:spPr>
          <a:xfrm>
            <a:off x="9718703" y="1119081"/>
            <a:ext cx="412057" cy="8103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49F45EC-CBD5-4B1B-9001-F5944A9399D4}"/>
              </a:ext>
            </a:extLst>
          </p:cNvPr>
          <p:cNvCxnSpPr/>
          <p:nvPr/>
        </p:nvCxnSpPr>
        <p:spPr>
          <a:xfrm flipH="1" flipV="1">
            <a:off x="2239861" y="5259897"/>
            <a:ext cx="302003" cy="3103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BF887E5D-F665-4CBD-ACBE-4D7B2BE18E7B}"/>
              </a:ext>
            </a:extLst>
          </p:cNvPr>
          <p:cNvCxnSpPr/>
          <p:nvPr/>
        </p:nvCxnSpPr>
        <p:spPr>
          <a:xfrm flipH="1" flipV="1">
            <a:off x="2961314" y="5182732"/>
            <a:ext cx="67112" cy="3204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1C0A1690-B8A5-45A0-AAD3-411F53F4AC73}"/>
              </a:ext>
            </a:extLst>
          </p:cNvPr>
          <p:cNvCxnSpPr/>
          <p:nvPr/>
        </p:nvCxnSpPr>
        <p:spPr>
          <a:xfrm flipH="1" flipV="1">
            <a:off x="3657600" y="5251360"/>
            <a:ext cx="83893" cy="3189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327CB98F-690A-4112-BA65-411BD1895F9F}"/>
              </a:ext>
            </a:extLst>
          </p:cNvPr>
          <p:cNvCxnSpPr/>
          <p:nvPr/>
        </p:nvCxnSpPr>
        <p:spPr>
          <a:xfrm flipH="1" flipV="1">
            <a:off x="4681057" y="5259897"/>
            <a:ext cx="117944" cy="3103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7631955E-822A-442C-81FE-657194834756}"/>
              </a:ext>
            </a:extLst>
          </p:cNvPr>
          <p:cNvCxnSpPr/>
          <p:nvPr/>
        </p:nvCxnSpPr>
        <p:spPr>
          <a:xfrm flipV="1">
            <a:off x="5763237" y="5251360"/>
            <a:ext cx="0" cy="2518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2D890657-4DB4-4A54-B674-BC46592535E0}"/>
              </a:ext>
            </a:extLst>
          </p:cNvPr>
          <p:cNvCxnSpPr/>
          <p:nvPr/>
        </p:nvCxnSpPr>
        <p:spPr>
          <a:xfrm flipV="1">
            <a:off x="6379824" y="5251360"/>
            <a:ext cx="381703" cy="3189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A8439628-3130-4091-AEF3-B979C2FD79E0}"/>
              </a:ext>
            </a:extLst>
          </p:cNvPr>
          <p:cNvCxnSpPr/>
          <p:nvPr/>
        </p:nvCxnSpPr>
        <p:spPr>
          <a:xfrm flipV="1">
            <a:off x="6820745" y="5182732"/>
            <a:ext cx="1073295" cy="3204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257975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4C671-BCB3-4275-A335-A8D7017F0A40}"/>
              </a:ext>
            </a:extLst>
          </p:cNvPr>
          <p:cNvSpPr>
            <a:spLocks noGrp="1"/>
          </p:cNvSpPr>
          <p:nvPr>
            <p:ph type="title"/>
          </p:nvPr>
        </p:nvSpPr>
        <p:spPr/>
        <p:txBody>
          <a:bodyPr/>
          <a:lstStyle/>
          <a:p>
            <a:r>
              <a:rPr lang="en-US"/>
              <a:t>Insert</a:t>
            </a:r>
          </a:p>
        </p:txBody>
      </p:sp>
      <p:sp>
        <p:nvSpPr>
          <p:cNvPr id="3" name="Content Placeholder 2">
            <a:extLst>
              <a:ext uri="{FF2B5EF4-FFF2-40B4-BE49-F238E27FC236}">
                <a16:creationId xmlns:a16="http://schemas.microsoft.com/office/drawing/2014/main" id="{C7D8AF00-322F-4217-B0E3-125BA6FC5EB8}"/>
              </a:ext>
            </a:extLst>
          </p:cNvPr>
          <p:cNvSpPr>
            <a:spLocks noGrp="1"/>
          </p:cNvSpPr>
          <p:nvPr>
            <p:ph idx="1"/>
          </p:nvPr>
        </p:nvSpPr>
        <p:spPr>
          <a:xfrm>
            <a:off x="677334" y="1640471"/>
            <a:ext cx="8596668" cy="3880773"/>
          </a:xfrm>
        </p:spPr>
        <p:txBody>
          <a:bodyPr/>
          <a:lstStyle/>
          <a:p>
            <a:r>
              <a:rPr lang="en-US"/>
              <a:t>Thêm vào bảng từ câu lệnh </a:t>
            </a:r>
            <a:r>
              <a:rPr lang="en-US">
                <a:solidFill>
                  <a:srgbClr val="FF0000"/>
                </a:solidFill>
              </a:rPr>
              <a:t>Select</a:t>
            </a:r>
            <a:r>
              <a:rPr lang="en-US"/>
              <a:t> từ bảng khác</a:t>
            </a:r>
          </a:p>
        </p:txBody>
      </p:sp>
      <p:sp>
        <p:nvSpPr>
          <p:cNvPr id="4" name="Rectangle 3">
            <a:extLst>
              <a:ext uri="{FF2B5EF4-FFF2-40B4-BE49-F238E27FC236}">
                <a16:creationId xmlns:a16="http://schemas.microsoft.com/office/drawing/2014/main" id="{68C3563E-AC1F-43D2-8459-69CC9B0B087E}"/>
              </a:ext>
            </a:extLst>
          </p:cNvPr>
          <p:cNvSpPr/>
          <p:nvPr/>
        </p:nvSpPr>
        <p:spPr>
          <a:xfrm>
            <a:off x="2368493" y="2674262"/>
            <a:ext cx="6096000" cy="923330"/>
          </a:xfrm>
          <a:prstGeom prst="rect">
            <a:avLst/>
          </a:prstGeom>
          <a:ln>
            <a:solidFill>
              <a:schemeClr val="tx1"/>
            </a:solidFill>
          </a:ln>
        </p:spPr>
        <p:txBody>
          <a:bodyPr>
            <a:spAutoFit/>
          </a:bodyPr>
          <a:lstStyle/>
          <a:p>
            <a:r>
              <a:rPr lang="en-US">
                <a:solidFill>
                  <a:srgbClr val="FF0000"/>
                </a:solidFill>
              </a:rPr>
              <a:t>INSERT INTO </a:t>
            </a:r>
            <a:r>
              <a:rPr lang="en-US"/>
              <a:t>table_name  </a:t>
            </a:r>
          </a:p>
          <a:p>
            <a:r>
              <a:rPr lang="en-US"/>
              <a:t>       [(column_name,...)] </a:t>
            </a:r>
          </a:p>
          <a:p>
            <a:r>
              <a:rPr lang="en-US"/>
              <a:t> &lt;</a:t>
            </a:r>
            <a:r>
              <a:rPr lang="en-US">
                <a:solidFill>
                  <a:srgbClr val="FF0000"/>
                </a:solidFill>
              </a:rPr>
              <a:t>SELECT</a:t>
            </a:r>
            <a:r>
              <a:rPr lang="en-US"/>
              <a:t> statement&gt;; </a:t>
            </a:r>
          </a:p>
        </p:txBody>
      </p:sp>
    </p:spTree>
    <p:extLst>
      <p:ext uri="{BB962C8B-B14F-4D97-AF65-F5344CB8AC3E}">
        <p14:creationId xmlns:p14="http://schemas.microsoft.com/office/powerpoint/2010/main" val="321590112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6102E4B-8BE9-4D8C-A0AD-77F48E6F127A}"/>
              </a:ext>
            </a:extLst>
          </p:cNvPr>
          <p:cNvSpPr/>
          <p:nvPr/>
        </p:nvSpPr>
        <p:spPr>
          <a:xfrm>
            <a:off x="2793784" y="1397947"/>
            <a:ext cx="4611306" cy="1200329"/>
          </a:xfrm>
          <a:prstGeom prst="rect">
            <a:avLst/>
          </a:prstGeom>
          <a:ln>
            <a:solidFill>
              <a:schemeClr val="tx1"/>
            </a:solidFill>
          </a:ln>
        </p:spPr>
        <p:txBody>
          <a:bodyPr wrap="square">
            <a:spAutoFit/>
          </a:bodyPr>
          <a:lstStyle/>
          <a:p>
            <a:r>
              <a:rPr lang="en-US">
                <a:solidFill>
                  <a:srgbClr val="FF0000"/>
                </a:solidFill>
              </a:rPr>
              <a:t>Create table </a:t>
            </a:r>
            <a:r>
              <a:rPr lang="en-US"/>
              <a:t>temp_offices </a:t>
            </a:r>
            <a:r>
              <a:rPr lang="en-US">
                <a:solidFill>
                  <a:srgbClr val="FF0000"/>
                </a:solidFill>
              </a:rPr>
              <a:t>like</a:t>
            </a:r>
            <a:r>
              <a:rPr lang="en-US"/>
              <a:t> offices;</a:t>
            </a:r>
          </a:p>
          <a:p>
            <a:endParaRPr lang="en-US"/>
          </a:p>
          <a:p>
            <a:r>
              <a:rPr lang="en-US">
                <a:solidFill>
                  <a:srgbClr val="FF0000"/>
                </a:solidFill>
              </a:rPr>
              <a:t>Create table </a:t>
            </a:r>
            <a:r>
              <a:rPr lang="en-US"/>
              <a:t>temp_office </a:t>
            </a:r>
            <a:r>
              <a:rPr lang="en-US">
                <a:solidFill>
                  <a:srgbClr val="FF0000"/>
                </a:solidFill>
              </a:rPr>
              <a:t>as</a:t>
            </a:r>
            <a:r>
              <a:rPr lang="en-US"/>
              <a:t> (</a:t>
            </a:r>
            <a:r>
              <a:rPr lang="en-US">
                <a:solidFill>
                  <a:srgbClr val="FF0000"/>
                </a:solidFill>
              </a:rPr>
              <a:t>Select</a:t>
            </a:r>
            <a:r>
              <a:rPr lang="en-US"/>
              <a:t> * </a:t>
            </a:r>
            <a:r>
              <a:rPr lang="en-US">
                <a:solidFill>
                  <a:srgbClr val="FF0000"/>
                </a:solidFill>
              </a:rPr>
              <a:t>from</a:t>
            </a:r>
            <a:r>
              <a:rPr lang="en-US"/>
              <a:t> offices)</a:t>
            </a:r>
          </a:p>
        </p:txBody>
      </p:sp>
      <p:sp>
        <p:nvSpPr>
          <p:cNvPr id="5" name="Rectangle 4">
            <a:extLst>
              <a:ext uri="{FF2B5EF4-FFF2-40B4-BE49-F238E27FC236}">
                <a16:creationId xmlns:a16="http://schemas.microsoft.com/office/drawing/2014/main" id="{4F4C47C4-117C-4870-8DC5-6F1CC7746F81}"/>
              </a:ext>
            </a:extLst>
          </p:cNvPr>
          <p:cNvSpPr/>
          <p:nvPr/>
        </p:nvSpPr>
        <p:spPr>
          <a:xfrm>
            <a:off x="1802382" y="3443681"/>
            <a:ext cx="4099098" cy="923330"/>
          </a:xfrm>
          <a:prstGeom prst="rect">
            <a:avLst/>
          </a:prstGeom>
          <a:ln>
            <a:solidFill>
              <a:schemeClr val="tx1"/>
            </a:solidFill>
          </a:ln>
        </p:spPr>
        <p:txBody>
          <a:bodyPr wrap="square">
            <a:spAutoFit/>
          </a:bodyPr>
          <a:lstStyle/>
          <a:p>
            <a:r>
              <a:rPr lang="en-US">
                <a:solidFill>
                  <a:srgbClr val="FF0000"/>
                </a:solidFill>
              </a:rPr>
              <a:t>INSERT INTO</a:t>
            </a:r>
            <a:r>
              <a:rPr lang="en-US"/>
              <a:t> temp_offices  </a:t>
            </a:r>
          </a:p>
          <a:p>
            <a:r>
              <a:rPr lang="en-US">
                <a:solidFill>
                  <a:srgbClr val="FF0000"/>
                </a:solidFill>
              </a:rPr>
              <a:t>SELECT</a:t>
            </a:r>
            <a:r>
              <a:rPr lang="en-US"/>
              <a:t> *  </a:t>
            </a:r>
          </a:p>
          <a:p>
            <a:r>
              <a:rPr lang="en-US">
                <a:solidFill>
                  <a:srgbClr val="FF0000"/>
                </a:solidFill>
              </a:rPr>
              <a:t>FROM </a:t>
            </a:r>
            <a:r>
              <a:rPr lang="en-US"/>
              <a:t>offices </a:t>
            </a:r>
            <a:r>
              <a:rPr lang="en-US">
                <a:solidFill>
                  <a:srgbClr val="FF0000"/>
                </a:solidFill>
              </a:rPr>
              <a:t>WHERE</a:t>
            </a:r>
            <a:r>
              <a:rPr lang="en-US"/>
              <a:t> country = 'USA' </a:t>
            </a:r>
          </a:p>
        </p:txBody>
      </p:sp>
      <p:sp>
        <p:nvSpPr>
          <p:cNvPr id="3" name="TextBox 2">
            <a:extLst>
              <a:ext uri="{FF2B5EF4-FFF2-40B4-BE49-F238E27FC236}">
                <a16:creationId xmlns:a16="http://schemas.microsoft.com/office/drawing/2014/main" id="{116B59A7-BC14-415F-A5A6-DBC1E2846C07}"/>
              </a:ext>
            </a:extLst>
          </p:cNvPr>
          <p:cNvSpPr txBox="1"/>
          <p:nvPr/>
        </p:nvSpPr>
        <p:spPr>
          <a:xfrm>
            <a:off x="117259" y="1295401"/>
            <a:ext cx="2225891" cy="923330"/>
          </a:xfrm>
          <a:prstGeom prst="rect">
            <a:avLst/>
          </a:prstGeom>
          <a:noFill/>
        </p:spPr>
        <p:txBody>
          <a:bodyPr wrap="square" rtlCol="0">
            <a:spAutoFit/>
          </a:bodyPr>
          <a:lstStyle/>
          <a:p>
            <a:r>
              <a:rPr lang="en-US"/>
              <a:t>Gồm đầy đủ các cột thuộc tính, nh</a:t>
            </a:r>
            <a:r>
              <a:rPr lang="vi-VN"/>
              <a:t>ư</a:t>
            </a:r>
            <a:r>
              <a:rPr lang="en-US"/>
              <a:t>ng không có dữ liệu</a:t>
            </a:r>
          </a:p>
        </p:txBody>
      </p:sp>
      <p:cxnSp>
        <p:nvCxnSpPr>
          <p:cNvPr id="10" name="Straight Arrow Connector 9">
            <a:extLst>
              <a:ext uri="{FF2B5EF4-FFF2-40B4-BE49-F238E27FC236}">
                <a16:creationId xmlns:a16="http://schemas.microsoft.com/office/drawing/2014/main" id="{5497409A-A184-4607-95B8-A542340F62E8}"/>
              </a:ext>
            </a:extLst>
          </p:cNvPr>
          <p:cNvCxnSpPr>
            <a:stCxn id="3" idx="3"/>
          </p:cNvCxnSpPr>
          <p:nvPr/>
        </p:nvCxnSpPr>
        <p:spPr>
          <a:xfrm flipV="1">
            <a:off x="2343150" y="1600200"/>
            <a:ext cx="552450" cy="1568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7FB315E-4ADD-4907-A326-04E5C13AA265}"/>
              </a:ext>
            </a:extLst>
          </p:cNvPr>
          <p:cNvSpPr txBox="1"/>
          <p:nvPr/>
        </p:nvSpPr>
        <p:spPr>
          <a:xfrm>
            <a:off x="76199" y="2447925"/>
            <a:ext cx="2105025" cy="923330"/>
          </a:xfrm>
          <a:prstGeom prst="rect">
            <a:avLst/>
          </a:prstGeom>
          <a:noFill/>
        </p:spPr>
        <p:txBody>
          <a:bodyPr wrap="square" rtlCol="0">
            <a:spAutoFit/>
          </a:bodyPr>
          <a:lstStyle/>
          <a:p>
            <a:r>
              <a:rPr lang="en-US"/>
              <a:t>Tạo bảng giống hệt bảng offices, với đầy đủ dữ liệu</a:t>
            </a:r>
          </a:p>
        </p:txBody>
      </p:sp>
      <p:cxnSp>
        <p:nvCxnSpPr>
          <p:cNvPr id="13" name="Straight Arrow Connector 12">
            <a:extLst>
              <a:ext uri="{FF2B5EF4-FFF2-40B4-BE49-F238E27FC236}">
                <a16:creationId xmlns:a16="http://schemas.microsoft.com/office/drawing/2014/main" id="{5A4E2334-783A-4783-8EC2-50EE99B28812}"/>
              </a:ext>
            </a:extLst>
          </p:cNvPr>
          <p:cNvCxnSpPr/>
          <p:nvPr/>
        </p:nvCxnSpPr>
        <p:spPr>
          <a:xfrm flipV="1">
            <a:off x="2343150" y="2218731"/>
            <a:ext cx="514350" cy="7244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439924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B3B89-A228-491E-B495-0DA5D591FD48}"/>
              </a:ext>
            </a:extLst>
          </p:cNvPr>
          <p:cNvSpPr>
            <a:spLocks noGrp="1"/>
          </p:cNvSpPr>
          <p:nvPr>
            <p:ph type="title"/>
          </p:nvPr>
        </p:nvSpPr>
        <p:spPr/>
        <p:txBody>
          <a:bodyPr/>
          <a:lstStyle/>
          <a:p>
            <a:endParaRPr lang="en-US"/>
          </a:p>
        </p:txBody>
      </p:sp>
      <p:sp>
        <p:nvSpPr>
          <p:cNvPr id="4" name="Rectangle 3">
            <a:extLst>
              <a:ext uri="{FF2B5EF4-FFF2-40B4-BE49-F238E27FC236}">
                <a16:creationId xmlns:a16="http://schemas.microsoft.com/office/drawing/2014/main" id="{9C39B918-668B-401E-BA1C-97ED1DEB6738}"/>
              </a:ext>
            </a:extLst>
          </p:cNvPr>
          <p:cNvSpPr/>
          <p:nvPr/>
        </p:nvSpPr>
        <p:spPr>
          <a:xfrm>
            <a:off x="2248563" y="2355983"/>
            <a:ext cx="6096000" cy="1477328"/>
          </a:xfrm>
          <a:prstGeom prst="rect">
            <a:avLst/>
          </a:prstGeom>
          <a:ln>
            <a:solidFill>
              <a:schemeClr val="tx1"/>
            </a:solidFill>
          </a:ln>
        </p:spPr>
        <p:txBody>
          <a:bodyPr>
            <a:spAutoFit/>
          </a:bodyPr>
          <a:lstStyle/>
          <a:p>
            <a:r>
              <a:rPr lang="en-US">
                <a:solidFill>
                  <a:srgbClr val="FF0000"/>
                </a:solidFill>
              </a:rPr>
              <a:t>create</a:t>
            </a:r>
            <a:r>
              <a:rPr lang="en-US"/>
              <a:t> </a:t>
            </a:r>
            <a:r>
              <a:rPr lang="en-US">
                <a:solidFill>
                  <a:srgbClr val="FF0000"/>
                </a:solidFill>
              </a:rPr>
              <a:t>table</a:t>
            </a:r>
            <a:r>
              <a:rPr lang="en-US"/>
              <a:t> temp_offices1 </a:t>
            </a:r>
            <a:r>
              <a:rPr lang="en-US">
                <a:solidFill>
                  <a:srgbClr val="FF0000"/>
                </a:solidFill>
              </a:rPr>
              <a:t>like</a:t>
            </a:r>
            <a:r>
              <a:rPr lang="en-US"/>
              <a:t> offices;</a:t>
            </a:r>
          </a:p>
          <a:p>
            <a:endParaRPr lang="en-US"/>
          </a:p>
          <a:p>
            <a:r>
              <a:rPr lang="en-US">
                <a:solidFill>
                  <a:srgbClr val="FF0000"/>
                </a:solidFill>
              </a:rPr>
              <a:t>INSERT</a:t>
            </a:r>
            <a:r>
              <a:rPr lang="en-US"/>
              <a:t> </a:t>
            </a:r>
            <a:r>
              <a:rPr lang="en-US">
                <a:solidFill>
                  <a:srgbClr val="FF0000"/>
                </a:solidFill>
              </a:rPr>
              <a:t>INTO</a:t>
            </a:r>
            <a:r>
              <a:rPr lang="en-US"/>
              <a:t> temp_offices1  </a:t>
            </a:r>
          </a:p>
          <a:p>
            <a:r>
              <a:rPr lang="en-US">
                <a:solidFill>
                  <a:srgbClr val="FF0000"/>
                </a:solidFill>
              </a:rPr>
              <a:t>SELECT</a:t>
            </a:r>
            <a:r>
              <a:rPr lang="en-US"/>
              <a:t> *  </a:t>
            </a:r>
          </a:p>
          <a:p>
            <a:r>
              <a:rPr lang="en-US">
                <a:solidFill>
                  <a:srgbClr val="FF0000"/>
                </a:solidFill>
              </a:rPr>
              <a:t>FROM</a:t>
            </a:r>
            <a:r>
              <a:rPr lang="en-US"/>
              <a:t> offices;</a:t>
            </a:r>
          </a:p>
        </p:txBody>
      </p:sp>
      <p:sp>
        <p:nvSpPr>
          <p:cNvPr id="5" name="Rectangle 4">
            <a:extLst>
              <a:ext uri="{FF2B5EF4-FFF2-40B4-BE49-F238E27FC236}">
                <a16:creationId xmlns:a16="http://schemas.microsoft.com/office/drawing/2014/main" id="{2186DE2C-9FFA-4AA0-BEA6-574F2DAFF2EE}"/>
              </a:ext>
            </a:extLst>
          </p:cNvPr>
          <p:cNvSpPr/>
          <p:nvPr/>
        </p:nvSpPr>
        <p:spPr>
          <a:xfrm>
            <a:off x="2331272" y="4687069"/>
            <a:ext cx="5703806" cy="369332"/>
          </a:xfrm>
          <a:prstGeom prst="rect">
            <a:avLst/>
          </a:prstGeom>
          <a:ln>
            <a:solidFill>
              <a:schemeClr val="tx1"/>
            </a:solidFill>
          </a:ln>
        </p:spPr>
        <p:txBody>
          <a:bodyPr wrap="none">
            <a:spAutoFit/>
          </a:bodyPr>
          <a:lstStyle/>
          <a:p>
            <a:r>
              <a:rPr lang="en-US">
                <a:solidFill>
                  <a:srgbClr val="FF0000"/>
                </a:solidFill>
              </a:rPr>
              <a:t>create</a:t>
            </a:r>
            <a:r>
              <a:rPr lang="en-US"/>
              <a:t> </a:t>
            </a:r>
            <a:r>
              <a:rPr lang="en-US">
                <a:solidFill>
                  <a:srgbClr val="FF0000"/>
                </a:solidFill>
              </a:rPr>
              <a:t>table</a:t>
            </a:r>
            <a:r>
              <a:rPr lang="en-US"/>
              <a:t> temp_offices2 </a:t>
            </a:r>
            <a:r>
              <a:rPr lang="en-US">
                <a:solidFill>
                  <a:srgbClr val="FF0000"/>
                </a:solidFill>
              </a:rPr>
              <a:t>as</a:t>
            </a:r>
            <a:r>
              <a:rPr lang="en-US"/>
              <a:t> (</a:t>
            </a:r>
            <a:r>
              <a:rPr lang="en-US">
                <a:solidFill>
                  <a:srgbClr val="FF0000"/>
                </a:solidFill>
              </a:rPr>
              <a:t>select</a:t>
            </a:r>
            <a:r>
              <a:rPr lang="en-US"/>
              <a:t> * </a:t>
            </a:r>
            <a:r>
              <a:rPr lang="en-US">
                <a:solidFill>
                  <a:srgbClr val="FF0000"/>
                </a:solidFill>
              </a:rPr>
              <a:t>from</a:t>
            </a:r>
            <a:r>
              <a:rPr lang="en-US"/>
              <a:t> offices);</a:t>
            </a:r>
          </a:p>
        </p:txBody>
      </p:sp>
      <p:cxnSp>
        <p:nvCxnSpPr>
          <p:cNvPr id="6" name="Straight Connector 5">
            <a:extLst>
              <a:ext uri="{FF2B5EF4-FFF2-40B4-BE49-F238E27FC236}">
                <a16:creationId xmlns:a16="http://schemas.microsoft.com/office/drawing/2014/main" id="{11C1240B-AD9F-43DC-87DC-9CBE1B43D623}"/>
              </a:ext>
            </a:extLst>
          </p:cNvPr>
          <p:cNvCxnSpPr/>
          <p:nvPr/>
        </p:nvCxnSpPr>
        <p:spPr>
          <a:xfrm>
            <a:off x="4805983" y="3879349"/>
            <a:ext cx="0" cy="80772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371628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2CE42-9024-48F5-A105-2E26CF7A4281}"/>
              </a:ext>
            </a:extLst>
          </p:cNvPr>
          <p:cNvSpPr>
            <a:spLocks noGrp="1"/>
          </p:cNvSpPr>
          <p:nvPr>
            <p:ph type="title"/>
          </p:nvPr>
        </p:nvSpPr>
        <p:spPr/>
        <p:txBody>
          <a:bodyPr/>
          <a:lstStyle/>
          <a:p>
            <a:r>
              <a:rPr lang="en-US"/>
              <a:t>Update</a:t>
            </a:r>
          </a:p>
        </p:txBody>
      </p:sp>
      <p:sp>
        <p:nvSpPr>
          <p:cNvPr id="3" name="Content Placeholder 2">
            <a:extLst>
              <a:ext uri="{FF2B5EF4-FFF2-40B4-BE49-F238E27FC236}">
                <a16:creationId xmlns:a16="http://schemas.microsoft.com/office/drawing/2014/main" id="{B872E51B-AEE9-42E2-A89E-B4B1DE6D3F0B}"/>
              </a:ext>
            </a:extLst>
          </p:cNvPr>
          <p:cNvSpPr>
            <a:spLocks noGrp="1"/>
          </p:cNvSpPr>
          <p:nvPr>
            <p:ph idx="1"/>
          </p:nvPr>
        </p:nvSpPr>
        <p:spPr>
          <a:xfrm>
            <a:off x="677334" y="1736521"/>
            <a:ext cx="8596668" cy="4304841"/>
          </a:xfrm>
        </p:spPr>
        <p:txBody>
          <a:bodyPr/>
          <a:lstStyle/>
          <a:p>
            <a:r>
              <a:rPr lang="en-US" b="1"/>
              <a:t>2. Câu lệnh UPDATE </a:t>
            </a:r>
          </a:p>
          <a:p>
            <a:r>
              <a:rPr lang="en-US"/>
              <a:t>Câu lệnh UPDATE được sử dụng để cập nhật dữ liệu đã tồn tại trong các bảng của CSDL. Câu lệnh có thể dùng để thay đổi các giá trị của một dòng, một nhóm các dòng hoặc thậm chí tất cả các dòng trong một bảng. Cấu trúc của câu lệnh UPDATE như sau: </a:t>
            </a:r>
          </a:p>
          <a:p>
            <a:endParaRPr lang="en-US" b="1"/>
          </a:p>
          <a:p>
            <a:endParaRPr lang="en-US"/>
          </a:p>
        </p:txBody>
      </p:sp>
      <p:sp>
        <p:nvSpPr>
          <p:cNvPr id="4" name="Rectangle 3">
            <a:extLst>
              <a:ext uri="{FF2B5EF4-FFF2-40B4-BE49-F238E27FC236}">
                <a16:creationId xmlns:a16="http://schemas.microsoft.com/office/drawing/2014/main" id="{B89F3DFF-FC85-4532-A31E-5D47F365C38F}"/>
              </a:ext>
            </a:extLst>
          </p:cNvPr>
          <p:cNvSpPr/>
          <p:nvPr/>
        </p:nvSpPr>
        <p:spPr>
          <a:xfrm>
            <a:off x="2326547" y="3429000"/>
            <a:ext cx="6096000" cy="1603516"/>
          </a:xfrm>
          <a:prstGeom prst="rect">
            <a:avLst/>
          </a:prstGeom>
          <a:ln>
            <a:solidFill>
              <a:schemeClr val="tx1"/>
            </a:solidFill>
          </a:ln>
        </p:spPr>
        <p:txBody>
          <a:bodyPr>
            <a:spAutoFit/>
          </a:bodyPr>
          <a:lstStyle/>
          <a:p>
            <a:pPr marL="6350" marR="529590" indent="-6350">
              <a:lnSpc>
                <a:spcPct val="108000"/>
              </a:lnSpc>
              <a:spcAft>
                <a:spcPts val="775"/>
              </a:spcAft>
            </a:pPr>
            <a:r>
              <a:rPr lang="en-US">
                <a:solidFill>
                  <a:srgbClr val="FF0000"/>
                </a:solidFill>
                <a:latin typeface="Courier New" panose="02070309020205020404" pitchFamily="49" charset="0"/>
                <a:ea typeface="Courier New" panose="02070309020205020404" pitchFamily="49" charset="0"/>
              </a:rPr>
              <a:t>UPDATE</a:t>
            </a:r>
            <a:r>
              <a:rPr lang="en-US">
                <a:solidFill>
                  <a:srgbClr val="000000"/>
                </a:solidFill>
                <a:latin typeface="Courier New" panose="02070309020205020404" pitchFamily="49" charset="0"/>
                <a:ea typeface="Courier New" panose="02070309020205020404" pitchFamily="49" charset="0"/>
              </a:rPr>
              <a:t> table_name [, table_name...] </a:t>
            </a:r>
            <a:endParaRPr lang="en-US" sz="1600">
              <a:solidFill>
                <a:srgbClr val="000000"/>
              </a:solidFill>
              <a:latin typeface="Calibri" panose="020F0502020204030204" pitchFamily="34" charset="0"/>
              <a:ea typeface="Calibri" panose="020F0502020204030204" pitchFamily="34" charset="0"/>
            </a:endParaRPr>
          </a:p>
          <a:p>
            <a:pPr marL="6350" marR="529590" indent="-6350">
              <a:lnSpc>
                <a:spcPct val="108000"/>
              </a:lnSpc>
              <a:spcAft>
                <a:spcPts val="880"/>
              </a:spcAft>
            </a:pPr>
            <a:r>
              <a:rPr lang="en-US">
                <a:solidFill>
                  <a:srgbClr val="000000"/>
                </a:solidFill>
                <a:latin typeface="Times New Roman" panose="02020603050405020304" pitchFamily="18" charset="0"/>
                <a:ea typeface="Times New Roman" panose="02020603050405020304" pitchFamily="18" charset="0"/>
              </a:rPr>
              <a:t> </a:t>
            </a:r>
            <a:r>
              <a:rPr lang="en-US">
                <a:solidFill>
                  <a:srgbClr val="000000"/>
                </a:solidFill>
                <a:latin typeface="Courier New" panose="02070309020205020404" pitchFamily="49" charset="0"/>
                <a:ea typeface="Courier New" panose="02070309020205020404" pitchFamily="49" charset="0"/>
              </a:rPr>
              <a:t> </a:t>
            </a:r>
            <a:r>
              <a:rPr lang="en-US">
                <a:solidFill>
                  <a:srgbClr val="FF0000"/>
                </a:solidFill>
                <a:latin typeface="Courier New" panose="02070309020205020404" pitchFamily="49" charset="0"/>
                <a:ea typeface="Courier New" panose="02070309020205020404" pitchFamily="49" charset="0"/>
              </a:rPr>
              <a:t>SET</a:t>
            </a:r>
            <a:r>
              <a:rPr lang="en-US">
                <a:solidFill>
                  <a:srgbClr val="000000"/>
                </a:solidFill>
                <a:latin typeface="Courier New" panose="02070309020205020404" pitchFamily="49" charset="0"/>
                <a:ea typeface="Courier New" panose="02070309020205020404" pitchFamily="49" charset="0"/>
              </a:rPr>
              <a:t> column_name1=expr1 </a:t>
            </a:r>
            <a:r>
              <a:rPr lang="en-US">
                <a:solidFill>
                  <a:srgbClr val="000000"/>
                </a:solidFill>
                <a:latin typeface="Times New Roman" panose="02020603050405020304" pitchFamily="18" charset="0"/>
                <a:ea typeface="Times New Roman" panose="02020603050405020304" pitchFamily="18" charset="0"/>
              </a:rPr>
              <a:t> </a:t>
            </a:r>
            <a:endParaRPr lang="en-US" sz="1600">
              <a:solidFill>
                <a:srgbClr val="000000"/>
              </a:solidFill>
              <a:latin typeface="Calibri" panose="020F0502020204030204" pitchFamily="34" charset="0"/>
              <a:ea typeface="Calibri" panose="020F0502020204030204" pitchFamily="34" charset="0"/>
            </a:endParaRPr>
          </a:p>
          <a:p>
            <a:pPr marL="6350" marR="529590" indent="-6350">
              <a:lnSpc>
                <a:spcPct val="108000"/>
              </a:lnSpc>
              <a:spcAft>
                <a:spcPts val="790"/>
              </a:spcAft>
            </a:pPr>
            <a:r>
              <a:rPr lang="en-US">
                <a:solidFill>
                  <a:srgbClr val="000000"/>
                </a:solidFill>
                <a:latin typeface="Times New Roman" panose="02020603050405020304" pitchFamily="18" charset="0"/>
                <a:ea typeface="Times New Roman" panose="02020603050405020304" pitchFamily="18" charset="0"/>
              </a:rPr>
              <a:t> </a:t>
            </a:r>
            <a:r>
              <a:rPr lang="en-US">
                <a:solidFill>
                  <a:srgbClr val="000000"/>
                </a:solidFill>
                <a:latin typeface="Courier New" panose="02070309020205020404" pitchFamily="49" charset="0"/>
                <a:ea typeface="Courier New" panose="02070309020205020404" pitchFamily="49" charset="0"/>
              </a:rPr>
              <a:t>     [, column_name2=expr2 ...] </a:t>
            </a:r>
            <a:endParaRPr lang="en-US" sz="1600">
              <a:solidFill>
                <a:srgbClr val="000000"/>
              </a:solidFill>
              <a:latin typeface="Calibri" panose="020F0502020204030204" pitchFamily="34" charset="0"/>
              <a:ea typeface="Calibri" panose="020F0502020204030204" pitchFamily="34" charset="0"/>
            </a:endParaRPr>
          </a:p>
          <a:p>
            <a:pPr marL="6350" marR="529590" indent="-6350">
              <a:lnSpc>
                <a:spcPct val="108000"/>
              </a:lnSpc>
              <a:spcAft>
                <a:spcPts val="2015"/>
              </a:spcAft>
            </a:pPr>
            <a:r>
              <a:rPr lang="en-US">
                <a:solidFill>
                  <a:srgbClr val="000000"/>
                </a:solidFill>
                <a:latin typeface="Times New Roman" panose="02020603050405020304" pitchFamily="18" charset="0"/>
                <a:ea typeface="Times New Roman" panose="02020603050405020304" pitchFamily="18" charset="0"/>
              </a:rPr>
              <a:t> </a:t>
            </a:r>
            <a:r>
              <a:rPr lang="en-US">
                <a:solidFill>
                  <a:srgbClr val="000000"/>
                </a:solidFill>
                <a:latin typeface="Courier New" panose="02070309020205020404" pitchFamily="49" charset="0"/>
                <a:ea typeface="Courier New" panose="02070309020205020404" pitchFamily="49" charset="0"/>
              </a:rPr>
              <a:t>[</a:t>
            </a:r>
            <a:r>
              <a:rPr lang="en-US">
                <a:solidFill>
                  <a:srgbClr val="FF0000"/>
                </a:solidFill>
                <a:latin typeface="Courier New" panose="02070309020205020404" pitchFamily="49" charset="0"/>
                <a:ea typeface="Courier New" panose="02070309020205020404" pitchFamily="49" charset="0"/>
              </a:rPr>
              <a:t>WHERE</a:t>
            </a:r>
            <a:r>
              <a:rPr lang="en-US">
                <a:solidFill>
                  <a:srgbClr val="000000"/>
                </a:solidFill>
                <a:latin typeface="Courier New" panose="02070309020205020404" pitchFamily="49" charset="0"/>
                <a:ea typeface="Courier New" panose="02070309020205020404" pitchFamily="49" charset="0"/>
              </a:rPr>
              <a:t> condition] </a:t>
            </a:r>
            <a:r>
              <a:rPr lang="en-US">
                <a:solidFill>
                  <a:srgbClr val="000000"/>
                </a:solidFill>
                <a:latin typeface="Times New Roman" panose="02020603050405020304" pitchFamily="18" charset="0"/>
                <a:ea typeface="Times New Roman" panose="02020603050405020304" pitchFamily="18" charset="0"/>
              </a:rPr>
              <a:t> </a:t>
            </a:r>
            <a:endParaRPr lang="en-US" sz="1600">
              <a:solidFill>
                <a:srgbClr val="000000"/>
              </a:solidFill>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18759404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21B9160-C416-48A9-8E77-888DB057E07E}"/>
              </a:ext>
            </a:extLst>
          </p:cNvPr>
          <p:cNvSpPr/>
          <p:nvPr/>
        </p:nvSpPr>
        <p:spPr>
          <a:xfrm>
            <a:off x="1445703" y="1591640"/>
            <a:ext cx="6096000" cy="2031325"/>
          </a:xfrm>
          <a:prstGeom prst="rect">
            <a:avLst/>
          </a:prstGeom>
          <a:ln>
            <a:solidFill>
              <a:schemeClr val="tx1"/>
            </a:solidFill>
          </a:ln>
        </p:spPr>
        <p:txBody>
          <a:bodyPr>
            <a:spAutoFit/>
          </a:bodyPr>
          <a:lstStyle/>
          <a:p>
            <a:endParaRPr lang="en-US"/>
          </a:p>
          <a:p>
            <a:r>
              <a:rPr lang="en-US">
                <a:solidFill>
                  <a:srgbClr val="FF0000"/>
                </a:solidFill>
              </a:rPr>
              <a:t>SET SQL_SAFE_UPDATES</a:t>
            </a:r>
            <a:r>
              <a:rPr lang="en-US"/>
              <a:t> = 0;  </a:t>
            </a:r>
          </a:p>
          <a:p>
            <a:r>
              <a:rPr lang="en-US">
                <a:solidFill>
                  <a:srgbClr val="FF0000"/>
                </a:solidFill>
              </a:rPr>
              <a:t>Update</a:t>
            </a:r>
            <a:r>
              <a:rPr lang="en-US"/>
              <a:t> temp_office</a:t>
            </a:r>
          </a:p>
          <a:p>
            <a:r>
              <a:rPr lang="en-US">
                <a:solidFill>
                  <a:srgbClr val="FF0000"/>
                </a:solidFill>
              </a:rPr>
              <a:t>SET</a:t>
            </a:r>
            <a:r>
              <a:rPr lang="en-US"/>
              <a:t> city = 'Hanoi' , </a:t>
            </a:r>
          </a:p>
          <a:p>
            <a:r>
              <a:rPr lang="en-US"/>
              <a:t>      country ='Vietnam'</a:t>
            </a:r>
          </a:p>
          <a:p>
            <a:r>
              <a:rPr lang="en-US">
                <a:solidFill>
                  <a:srgbClr val="FF0000"/>
                </a:solidFill>
              </a:rPr>
              <a:t>where</a:t>
            </a:r>
            <a:r>
              <a:rPr lang="en-US"/>
              <a:t> officecode = 9</a:t>
            </a:r>
          </a:p>
          <a:p>
            <a:r>
              <a:rPr lang="en-US">
                <a:solidFill>
                  <a:srgbClr val="FF0000"/>
                </a:solidFill>
              </a:rPr>
              <a:t>SET SQL_SAFE_UPDATES</a:t>
            </a:r>
            <a:r>
              <a:rPr lang="en-US"/>
              <a:t> = 1;   (giá trị mặc định = 1)</a:t>
            </a:r>
          </a:p>
        </p:txBody>
      </p:sp>
      <p:sp>
        <p:nvSpPr>
          <p:cNvPr id="5" name="Rectangle 4">
            <a:extLst>
              <a:ext uri="{FF2B5EF4-FFF2-40B4-BE49-F238E27FC236}">
                <a16:creationId xmlns:a16="http://schemas.microsoft.com/office/drawing/2014/main" id="{769C2066-4204-420B-A094-E273D02906C0}"/>
              </a:ext>
            </a:extLst>
          </p:cNvPr>
          <p:cNvSpPr/>
          <p:nvPr/>
        </p:nvSpPr>
        <p:spPr>
          <a:xfrm>
            <a:off x="1445703" y="4057742"/>
            <a:ext cx="6096000" cy="1477328"/>
          </a:xfrm>
          <a:prstGeom prst="rect">
            <a:avLst/>
          </a:prstGeom>
          <a:ln>
            <a:solidFill>
              <a:schemeClr val="tx1"/>
            </a:solidFill>
          </a:ln>
        </p:spPr>
        <p:txBody>
          <a:bodyPr>
            <a:spAutoFit/>
          </a:bodyPr>
          <a:lstStyle/>
          <a:p>
            <a:r>
              <a:rPr lang="en-US">
                <a:solidFill>
                  <a:srgbClr val="FF0000"/>
                </a:solidFill>
              </a:rPr>
              <a:t>SET SQL_SAFE_UPDATES = 0;  </a:t>
            </a:r>
          </a:p>
          <a:p>
            <a:r>
              <a:rPr lang="en-US">
                <a:solidFill>
                  <a:srgbClr val="FF0000"/>
                </a:solidFill>
              </a:rPr>
              <a:t>UPDATE</a:t>
            </a:r>
            <a:r>
              <a:rPr lang="en-US"/>
              <a:t> temp_office</a:t>
            </a:r>
          </a:p>
          <a:p>
            <a:r>
              <a:rPr lang="en-US">
                <a:solidFill>
                  <a:srgbClr val="FF0000"/>
                </a:solidFill>
              </a:rPr>
              <a:t>SET</a:t>
            </a:r>
            <a:r>
              <a:rPr lang="en-US"/>
              <a:t> postalcode = (</a:t>
            </a:r>
            <a:r>
              <a:rPr lang="en-US">
                <a:solidFill>
                  <a:srgbClr val="FF0000"/>
                </a:solidFill>
              </a:rPr>
              <a:t>select</a:t>
            </a:r>
            <a:r>
              <a:rPr lang="en-US"/>
              <a:t> </a:t>
            </a:r>
            <a:r>
              <a:rPr lang="en-US">
                <a:solidFill>
                  <a:srgbClr val="FF0000"/>
                </a:solidFill>
              </a:rPr>
              <a:t>min</a:t>
            </a:r>
            <a:r>
              <a:rPr lang="en-US"/>
              <a:t>(postalcode) </a:t>
            </a:r>
            <a:r>
              <a:rPr lang="en-US">
                <a:solidFill>
                  <a:srgbClr val="FF0000"/>
                </a:solidFill>
              </a:rPr>
              <a:t>from</a:t>
            </a:r>
            <a:r>
              <a:rPr lang="en-US"/>
              <a:t> offices) ,</a:t>
            </a:r>
          </a:p>
          <a:p>
            <a:r>
              <a:rPr lang="en-US"/>
              <a:t>    country ='Vietnam'</a:t>
            </a:r>
          </a:p>
          <a:p>
            <a:r>
              <a:rPr lang="en-US">
                <a:solidFill>
                  <a:srgbClr val="FF0000"/>
                </a:solidFill>
              </a:rPr>
              <a:t>where</a:t>
            </a:r>
            <a:r>
              <a:rPr lang="en-US"/>
              <a:t> officecode = 10</a:t>
            </a:r>
          </a:p>
        </p:txBody>
      </p:sp>
      <p:sp>
        <p:nvSpPr>
          <p:cNvPr id="8" name="TextBox 7">
            <a:extLst>
              <a:ext uri="{FF2B5EF4-FFF2-40B4-BE49-F238E27FC236}">
                <a16:creationId xmlns:a16="http://schemas.microsoft.com/office/drawing/2014/main" id="{54CC19EF-A43A-4857-BD16-6B56A0903251}"/>
              </a:ext>
            </a:extLst>
          </p:cNvPr>
          <p:cNvSpPr txBox="1"/>
          <p:nvPr/>
        </p:nvSpPr>
        <p:spPr>
          <a:xfrm>
            <a:off x="5096953" y="1891784"/>
            <a:ext cx="1214947" cy="369332"/>
          </a:xfrm>
          <a:prstGeom prst="rect">
            <a:avLst/>
          </a:prstGeom>
          <a:noFill/>
        </p:spPr>
        <p:txBody>
          <a:bodyPr wrap="square" rtlCol="0">
            <a:spAutoFit/>
          </a:bodyPr>
          <a:lstStyle/>
          <a:p>
            <a:r>
              <a:rPr lang="en-US"/>
              <a:t>Tên bảng</a:t>
            </a:r>
          </a:p>
        </p:txBody>
      </p:sp>
      <p:sp>
        <p:nvSpPr>
          <p:cNvPr id="11" name="TextBox 10">
            <a:extLst>
              <a:ext uri="{FF2B5EF4-FFF2-40B4-BE49-F238E27FC236}">
                <a16:creationId xmlns:a16="http://schemas.microsoft.com/office/drawing/2014/main" id="{BCD0F948-7B67-48AE-8566-B2967FFCED83}"/>
              </a:ext>
            </a:extLst>
          </p:cNvPr>
          <p:cNvSpPr txBox="1"/>
          <p:nvPr/>
        </p:nvSpPr>
        <p:spPr>
          <a:xfrm>
            <a:off x="5096953" y="2336800"/>
            <a:ext cx="1454150" cy="369332"/>
          </a:xfrm>
          <a:prstGeom prst="rect">
            <a:avLst/>
          </a:prstGeom>
          <a:noFill/>
        </p:spPr>
        <p:txBody>
          <a:bodyPr wrap="square" rtlCol="0">
            <a:spAutoFit/>
          </a:bodyPr>
          <a:lstStyle/>
          <a:p>
            <a:r>
              <a:rPr lang="en-US"/>
              <a:t>Tên cột</a:t>
            </a:r>
          </a:p>
        </p:txBody>
      </p:sp>
      <p:sp>
        <p:nvSpPr>
          <p:cNvPr id="17" name="TextBox 16">
            <a:extLst>
              <a:ext uri="{FF2B5EF4-FFF2-40B4-BE49-F238E27FC236}">
                <a16:creationId xmlns:a16="http://schemas.microsoft.com/office/drawing/2014/main" id="{096663AD-4E85-430F-81CF-DAE9168C7E09}"/>
              </a:ext>
            </a:extLst>
          </p:cNvPr>
          <p:cNvSpPr txBox="1"/>
          <p:nvPr/>
        </p:nvSpPr>
        <p:spPr>
          <a:xfrm>
            <a:off x="2309813" y="838200"/>
            <a:ext cx="3643312" cy="923330"/>
          </a:xfrm>
          <a:prstGeom prst="rect">
            <a:avLst/>
          </a:prstGeom>
          <a:noFill/>
        </p:spPr>
        <p:txBody>
          <a:bodyPr wrap="square" rtlCol="0">
            <a:spAutoFit/>
          </a:bodyPr>
          <a:lstStyle/>
          <a:p>
            <a:r>
              <a:rPr lang="en-US">
                <a:solidFill>
                  <a:srgbClr val="FF0000"/>
                </a:solidFill>
              </a:rPr>
              <a:t>Set</a:t>
            </a:r>
            <a:r>
              <a:rPr lang="en-US"/>
              <a:t>  Tencot1 = ‘thuoctinh’ , </a:t>
            </a:r>
          </a:p>
          <a:p>
            <a:r>
              <a:rPr lang="en-US"/>
              <a:t>Tencot2 =‘thuoctinh2’ </a:t>
            </a:r>
          </a:p>
          <a:p>
            <a:endParaRPr lang="en-US"/>
          </a:p>
        </p:txBody>
      </p:sp>
      <p:sp>
        <p:nvSpPr>
          <p:cNvPr id="18" name="Rectangle 17">
            <a:extLst>
              <a:ext uri="{FF2B5EF4-FFF2-40B4-BE49-F238E27FC236}">
                <a16:creationId xmlns:a16="http://schemas.microsoft.com/office/drawing/2014/main" id="{DA4BE7AC-02EC-4388-99E9-73AAB52508A4}"/>
              </a:ext>
            </a:extLst>
          </p:cNvPr>
          <p:cNvSpPr/>
          <p:nvPr/>
        </p:nvSpPr>
        <p:spPr>
          <a:xfrm>
            <a:off x="8103758" y="2706132"/>
            <a:ext cx="3109184" cy="369332"/>
          </a:xfrm>
          <a:prstGeom prst="rect">
            <a:avLst/>
          </a:prstGeom>
        </p:spPr>
        <p:txBody>
          <a:bodyPr wrap="none">
            <a:spAutoFit/>
          </a:bodyPr>
          <a:lstStyle/>
          <a:p>
            <a:r>
              <a:rPr lang="en-US">
                <a:solidFill>
                  <a:srgbClr val="FF0000"/>
                </a:solidFill>
              </a:rPr>
              <a:t>SET foreign_key_checks = 1</a:t>
            </a:r>
            <a:r>
              <a:rPr lang="en-US"/>
              <a:t>;</a:t>
            </a:r>
            <a:endParaRPr lang="en-US" dirty="0"/>
          </a:p>
        </p:txBody>
      </p:sp>
      <p:cxnSp>
        <p:nvCxnSpPr>
          <p:cNvPr id="3" name="Straight Connector 2">
            <a:extLst>
              <a:ext uri="{FF2B5EF4-FFF2-40B4-BE49-F238E27FC236}">
                <a16:creationId xmlns:a16="http://schemas.microsoft.com/office/drawing/2014/main" id="{0A2807BA-56E9-489F-AAD6-227B1622DD06}"/>
              </a:ext>
            </a:extLst>
          </p:cNvPr>
          <p:cNvCxnSpPr/>
          <p:nvPr/>
        </p:nvCxnSpPr>
        <p:spPr>
          <a:xfrm>
            <a:off x="1365250" y="2032000"/>
            <a:ext cx="3187700"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ED1EB2A-6169-4FD2-9549-8751F440D3ED}"/>
              </a:ext>
            </a:extLst>
          </p:cNvPr>
          <p:cNvCxnSpPr/>
          <p:nvPr/>
        </p:nvCxnSpPr>
        <p:spPr>
          <a:xfrm>
            <a:off x="1365250" y="4248150"/>
            <a:ext cx="3187700"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8FC473E-056A-405D-B59E-11B3A7A67EF0}"/>
              </a:ext>
            </a:extLst>
          </p:cNvPr>
          <p:cNvCxnSpPr/>
          <p:nvPr/>
        </p:nvCxnSpPr>
        <p:spPr>
          <a:xfrm>
            <a:off x="1445703" y="3435350"/>
            <a:ext cx="3187700"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DB69CE58-F923-49E0-9D25-1CAED7BDD7D5}"/>
              </a:ext>
            </a:extLst>
          </p:cNvPr>
          <p:cNvCxnSpPr>
            <a:stCxn id="8" idx="1"/>
          </p:cNvCxnSpPr>
          <p:nvPr/>
        </p:nvCxnSpPr>
        <p:spPr>
          <a:xfrm flipH="1">
            <a:off x="3683000" y="2076450"/>
            <a:ext cx="1413953" cy="184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9" name="Table 8">
            <a:extLst>
              <a:ext uri="{FF2B5EF4-FFF2-40B4-BE49-F238E27FC236}">
                <a16:creationId xmlns:a16="http://schemas.microsoft.com/office/drawing/2014/main" id="{EBAF29CD-C66B-49B2-B22B-EE7316BBB1BE}"/>
              </a:ext>
            </a:extLst>
          </p:cNvPr>
          <p:cNvGraphicFramePr>
            <a:graphicFrameLocks noGrp="1"/>
          </p:cNvGraphicFramePr>
          <p:nvPr>
            <p:extLst>
              <p:ext uri="{D42A27DB-BD31-4B8C-83A1-F6EECF244321}">
                <p14:modId xmlns:p14="http://schemas.microsoft.com/office/powerpoint/2010/main" val="2150979160"/>
              </p:ext>
            </p:extLst>
          </p:nvPr>
        </p:nvGraphicFramePr>
        <p:xfrm>
          <a:off x="6688866" y="1440711"/>
          <a:ext cx="3109183" cy="3150789"/>
        </p:xfrm>
        <a:graphic>
          <a:graphicData uri="http://schemas.openxmlformats.org/drawingml/2006/table">
            <a:tbl>
              <a:tblPr firstRow="1" bandRow="1">
                <a:tableStyleId>{5C22544A-7EE6-4342-B048-85BDC9FD1C3A}</a:tableStyleId>
              </a:tblPr>
              <a:tblGrid>
                <a:gridCol w="639547">
                  <a:extLst>
                    <a:ext uri="{9D8B030D-6E8A-4147-A177-3AD203B41FA5}">
                      <a16:colId xmlns:a16="http://schemas.microsoft.com/office/drawing/2014/main" val="1285269598"/>
                    </a:ext>
                  </a:extLst>
                </a:gridCol>
                <a:gridCol w="823212">
                  <a:extLst>
                    <a:ext uri="{9D8B030D-6E8A-4147-A177-3AD203B41FA5}">
                      <a16:colId xmlns:a16="http://schemas.microsoft.com/office/drawing/2014/main" val="3269059653"/>
                    </a:ext>
                  </a:extLst>
                </a:gridCol>
                <a:gridCol w="823212">
                  <a:extLst>
                    <a:ext uri="{9D8B030D-6E8A-4147-A177-3AD203B41FA5}">
                      <a16:colId xmlns:a16="http://schemas.microsoft.com/office/drawing/2014/main" val="452611042"/>
                    </a:ext>
                  </a:extLst>
                </a:gridCol>
                <a:gridCol w="823212">
                  <a:extLst>
                    <a:ext uri="{9D8B030D-6E8A-4147-A177-3AD203B41FA5}">
                      <a16:colId xmlns:a16="http://schemas.microsoft.com/office/drawing/2014/main" val="449149656"/>
                    </a:ext>
                  </a:extLst>
                </a:gridCol>
              </a:tblGrid>
              <a:tr h="745463">
                <a:tc>
                  <a:txBody>
                    <a:bodyPr/>
                    <a:lstStyle/>
                    <a:p>
                      <a:r>
                        <a:rPr lang="en-US" sz="1200"/>
                        <a:t>officeCode</a:t>
                      </a:r>
                    </a:p>
                  </a:txBody>
                  <a:tcPr/>
                </a:tc>
                <a:tc>
                  <a:txBody>
                    <a:bodyPr/>
                    <a:lstStyle/>
                    <a:p>
                      <a:r>
                        <a:rPr lang="en-US">
                          <a:solidFill>
                            <a:schemeClr val="tx1">
                              <a:lumMod val="65000"/>
                              <a:lumOff val="35000"/>
                            </a:schemeClr>
                          </a:solidFill>
                        </a:rPr>
                        <a:t>City</a:t>
                      </a:r>
                    </a:p>
                  </a:txBody>
                  <a:tcPr>
                    <a:solidFill>
                      <a:srgbClr val="FFFF00"/>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t>Address</a:t>
                      </a:r>
                    </a:p>
                    <a:p>
                      <a:endParaRPr lang="en-US"/>
                    </a:p>
                  </a:txBody>
                  <a:tcPr/>
                </a:tc>
                <a:tc>
                  <a:txBody>
                    <a:bodyPr/>
                    <a:lstStyle/>
                    <a:p>
                      <a:r>
                        <a:rPr lang="en-US"/>
                        <a:t>country</a:t>
                      </a:r>
                    </a:p>
                  </a:txBody>
                  <a:tcPr/>
                </a:tc>
                <a:extLst>
                  <a:ext uri="{0D108BD9-81ED-4DB2-BD59-A6C34878D82A}">
                    <a16:rowId xmlns:a16="http://schemas.microsoft.com/office/drawing/2014/main" val="3779363814"/>
                  </a:ext>
                </a:extLst>
              </a:tr>
              <a:tr h="745463">
                <a:tc>
                  <a:txBody>
                    <a:bodyPr/>
                    <a:lstStyle/>
                    <a:p>
                      <a:r>
                        <a:rPr lang="en-US"/>
                        <a:t>8</a:t>
                      </a:r>
                    </a:p>
                  </a:txBody>
                  <a:tcPr/>
                </a:tc>
                <a:tc>
                  <a:txBody>
                    <a:bodyPr/>
                    <a:lstStyle/>
                    <a:p>
                      <a:r>
                        <a:rPr lang="en-US"/>
                        <a:t>X</a:t>
                      </a:r>
                    </a:p>
                  </a:txBody>
                  <a:tcPr>
                    <a:solidFill>
                      <a:srgbClr val="FF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253553320"/>
                  </a:ext>
                </a:extLst>
              </a:tr>
              <a:tr h="745463">
                <a:tc>
                  <a:txBody>
                    <a:bodyPr/>
                    <a:lstStyle/>
                    <a:p>
                      <a:r>
                        <a:rPr lang="en-US"/>
                        <a:t>9</a:t>
                      </a:r>
                    </a:p>
                  </a:txBody>
                  <a:tcPr>
                    <a:solidFill>
                      <a:srgbClr val="00B0F0"/>
                    </a:solidFill>
                  </a:tcPr>
                </a:tc>
                <a:tc>
                  <a:txBody>
                    <a:bodyPr/>
                    <a:lstStyle/>
                    <a:p>
                      <a:r>
                        <a:rPr lang="en-US"/>
                        <a:t>HN</a:t>
                      </a:r>
                    </a:p>
                  </a:txBody>
                  <a:tcPr>
                    <a:solidFill>
                      <a:srgbClr val="FF0000"/>
                    </a:solidFill>
                  </a:tcPr>
                </a:tc>
                <a:tc>
                  <a:txBody>
                    <a:bodyPr/>
                    <a:lstStyle/>
                    <a:p>
                      <a:endParaRPr lang="en-US"/>
                    </a:p>
                  </a:txBody>
                  <a:tcPr>
                    <a:solidFill>
                      <a:srgbClr val="00B0F0"/>
                    </a:solidFill>
                  </a:tcPr>
                </a:tc>
                <a:tc>
                  <a:txBody>
                    <a:bodyPr/>
                    <a:lstStyle/>
                    <a:p>
                      <a:r>
                        <a:rPr lang="en-US"/>
                        <a:t>VN</a:t>
                      </a:r>
                    </a:p>
                  </a:txBody>
                  <a:tcPr>
                    <a:solidFill>
                      <a:srgbClr val="FF0000"/>
                    </a:solidFill>
                  </a:tcPr>
                </a:tc>
                <a:extLst>
                  <a:ext uri="{0D108BD9-81ED-4DB2-BD59-A6C34878D82A}">
                    <a16:rowId xmlns:a16="http://schemas.microsoft.com/office/drawing/2014/main" val="1845518745"/>
                  </a:ext>
                </a:extLst>
              </a:tr>
              <a:tr h="745463">
                <a:tc>
                  <a:txBody>
                    <a:bodyPr/>
                    <a:lstStyle/>
                    <a:p>
                      <a:r>
                        <a:rPr lang="en-US"/>
                        <a:t>20</a:t>
                      </a:r>
                    </a:p>
                  </a:txBody>
                  <a:tcPr/>
                </a:tc>
                <a:tc>
                  <a:txBody>
                    <a:bodyPr/>
                    <a:lstStyle/>
                    <a:p>
                      <a:r>
                        <a:rPr lang="en-US"/>
                        <a:t>Z</a:t>
                      </a:r>
                    </a:p>
                  </a:txBody>
                  <a:tcPr>
                    <a:solidFill>
                      <a:srgbClr val="FF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73433816"/>
                  </a:ext>
                </a:extLst>
              </a:tr>
            </a:tbl>
          </a:graphicData>
        </a:graphic>
      </p:graphicFrame>
      <p:sp>
        <p:nvSpPr>
          <p:cNvPr id="12" name="Oval 11">
            <a:extLst>
              <a:ext uri="{FF2B5EF4-FFF2-40B4-BE49-F238E27FC236}">
                <a16:creationId xmlns:a16="http://schemas.microsoft.com/office/drawing/2014/main" id="{050E4998-E9B0-4EFC-9598-81C631223416}"/>
              </a:ext>
            </a:extLst>
          </p:cNvPr>
          <p:cNvSpPr/>
          <p:nvPr/>
        </p:nvSpPr>
        <p:spPr>
          <a:xfrm>
            <a:off x="3209925" y="2581275"/>
            <a:ext cx="252413" cy="18954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3606469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F3468-BAAC-4EEE-8382-00030D4EDFA8}"/>
              </a:ext>
            </a:extLst>
          </p:cNvPr>
          <p:cNvSpPr>
            <a:spLocks noGrp="1"/>
          </p:cNvSpPr>
          <p:nvPr>
            <p:ph type="title"/>
          </p:nvPr>
        </p:nvSpPr>
        <p:spPr/>
        <p:txBody>
          <a:bodyPr/>
          <a:lstStyle/>
          <a:p>
            <a:r>
              <a:rPr lang="en-US"/>
              <a:t>Delete</a:t>
            </a:r>
          </a:p>
        </p:txBody>
      </p:sp>
      <p:sp>
        <p:nvSpPr>
          <p:cNvPr id="3" name="Content Placeholder 2">
            <a:extLst>
              <a:ext uri="{FF2B5EF4-FFF2-40B4-BE49-F238E27FC236}">
                <a16:creationId xmlns:a16="http://schemas.microsoft.com/office/drawing/2014/main" id="{2F065728-6AB0-419B-8CA8-4D548042652F}"/>
              </a:ext>
            </a:extLst>
          </p:cNvPr>
          <p:cNvSpPr>
            <a:spLocks noGrp="1"/>
          </p:cNvSpPr>
          <p:nvPr>
            <p:ph idx="1"/>
          </p:nvPr>
        </p:nvSpPr>
        <p:spPr/>
        <p:txBody>
          <a:bodyPr/>
          <a:lstStyle/>
          <a:p>
            <a:r>
              <a:rPr lang="en-US"/>
              <a:t>Để xóa các dòng dữ liệu của một bảng CSDL, sử dụng câu lệnh </a:t>
            </a:r>
            <a:r>
              <a:rPr lang="en-US">
                <a:solidFill>
                  <a:srgbClr val="FF0000"/>
                </a:solidFill>
              </a:rPr>
              <a:t>DELETE</a:t>
            </a:r>
            <a:r>
              <a:rPr lang="en-US"/>
              <a:t>.  </a:t>
            </a:r>
          </a:p>
          <a:p>
            <a:r>
              <a:rPr lang="en-US"/>
              <a:t>Cấu trúc lệnh </a:t>
            </a:r>
            <a:r>
              <a:rPr lang="en-US">
                <a:solidFill>
                  <a:srgbClr val="FF0000"/>
                </a:solidFill>
              </a:rPr>
              <a:t>DELETE</a:t>
            </a:r>
            <a:r>
              <a:rPr lang="en-US"/>
              <a:t> như sau: </a:t>
            </a:r>
          </a:p>
          <a:p>
            <a:endParaRPr lang="en-US"/>
          </a:p>
        </p:txBody>
      </p:sp>
      <p:sp>
        <p:nvSpPr>
          <p:cNvPr id="4" name="Rectangle 3">
            <a:extLst>
              <a:ext uri="{FF2B5EF4-FFF2-40B4-BE49-F238E27FC236}">
                <a16:creationId xmlns:a16="http://schemas.microsoft.com/office/drawing/2014/main" id="{87496B48-8292-493B-8A84-7C020BB253EF}"/>
              </a:ext>
            </a:extLst>
          </p:cNvPr>
          <p:cNvSpPr/>
          <p:nvPr/>
        </p:nvSpPr>
        <p:spPr>
          <a:xfrm>
            <a:off x="2309769" y="3240058"/>
            <a:ext cx="6096000" cy="646331"/>
          </a:xfrm>
          <a:prstGeom prst="rect">
            <a:avLst/>
          </a:prstGeom>
          <a:ln>
            <a:solidFill>
              <a:schemeClr val="tx1"/>
            </a:solidFill>
          </a:ln>
        </p:spPr>
        <p:txBody>
          <a:bodyPr>
            <a:spAutoFit/>
          </a:bodyPr>
          <a:lstStyle/>
          <a:p>
            <a:r>
              <a:rPr lang="en-US"/>
              <a:t> </a:t>
            </a:r>
            <a:r>
              <a:rPr lang="en-US">
                <a:solidFill>
                  <a:srgbClr val="FF0000"/>
                </a:solidFill>
              </a:rPr>
              <a:t>DELETE FROM </a:t>
            </a:r>
            <a:r>
              <a:rPr lang="en-US"/>
              <a:t>table_name   </a:t>
            </a:r>
          </a:p>
          <a:p>
            <a:r>
              <a:rPr lang="en-US"/>
              <a:t> [WHERE conditions] </a:t>
            </a:r>
          </a:p>
        </p:txBody>
      </p:sp>
    </p:spTree>
    <p:extLst>
      <p:ext uri="{BB962C8B-B14F-4D97-AF65-F5344CB8AC3E}">
        <p14:creationId xmlns:p14="http://schemas.microsoft.com/office/powerpoint/2010/main" val="325891373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A8123-B601-4FC3-B74E-45A9BDBA8C15}"/>
              </a:ext>
            </a:extLst>
          </p:cNvPr>
          <p:cNvSpPr>
            <a:spLocks noGrp="1"/>
          </p:cNvSpPr>
          <p:nvPr>
            <p:ph type="title"/>
          </p:nvPr>
        </p:nvSpPr>
        <p:spPr>
          <a:xfrm>
            <a:off x="677334" y="276684"/>
            <a:ext cx="8596668" cy="631971"/>
          </a:xfrm>
        </p:spPr>
        <p:txBody>
          <a:bodyPr>
            <a:normAutofit fontScale="90000"/>
          </a:bodyPr>
          <a:lstStyle/>
          <a:p>
            <a:r>
              <a:rPr lang="en-US"/>
              <a:t>Delete</a:t>
            </a:r>
          </a:p>
        </p:txBody>
      </p:sp>
      <p:sp>
        <p:nvSpPr>
          <p:cNvPr id="3" name="Content Placeholder 2">
            <a:extLst>
              <a:ext uri="{FF2B5EF4-FFF2-40B4-BE49-F238E27FC236}">
                <a16:creationId xmlns:a16="http://schemas.microsoft.com/office/drawing/2014/main" id="{166FBD9F-0026-4521-9D90-8EB780B7E1A6}"/>
              </a:ext>
            </a:extLst>
          </p:cNvPr>
          <p:cNvSpPr>
            <a:spLocks noGrp="1"/>
          </p:cNvSpPr>
          <p:nvPr>
            <p:ph idx="1"/>
          </p:nvPr>
        </p:nvSpPr>
        <p:spPr>
          <a:xfrm>
            <a:off x="677334" y="838899"/>
            <a:ext cx="8596668" cy="5202463"/>
          </a:xfrm>
        </p:spPr>
        <p:txBody>
          <a:bodyPr/>
          <a:lstStyle/>
          <a:p>
            <a:endParaRPr lang="en-US" dirty="0"/>
          </a:p>
          <a:p>
            <a:r>
              <a:rPr lang="en-US" dirty="0" err="1"/>
              <a:t>Xoá</a:t>
            </a:r>
            <a:r>
              <a:rPr lang="en-US" dirty="0"/>
              <a:t> 1 </a:t>
            </a:r>
            <a:r>
              <a:rPr lang="en-US" dirty="0" err="1"/>
              <a:t>dòng</a:t>
            </a:r>
            <a:r>
              <a:rPr lang="en-US" dirty="0"/>
              <a:t> </a:t>
            </a:r>
            <a:r>
              <a:rPr lang="en-US" dirty="0" err="1"/>
              <a:t>có</a:t>
            </a:r>
            <a:r>
              <a:rPr lang="en-US" dirty="0"/>
              <a:t> </a:t>
            </a:r>
            <a:r>
              <a:rPr lang="en-US" dirty="0" err="1"/>
              <a:t>officeCode</a:t>
            </a:r>
            <a:r>
              <a:rPr lang="en-US" dirty="0"/>
              <a:t> = 10 </a:t>
            </a:r>
            <a:r>
              <a:rPr lang="en-US" dirty="0" err="1"/>
              <a:t>trong</a:t>
            </a:r>
            <a:r>
              <a:rPr lang="en-US" dirty="0"/>
              <a:t> </a:t>
            </a:r>
            <a:r>
              <a:rPr lang="en-US" dirty="0" err="1"/>
              <a:t>bảng</a:t>
            </a:r>
            <a:r>
              <a:rPr lang="en-US" dirty="0"/>
              <a:t> </a:t>
            </a:r>
            <a:r>
              <a:rPr lang="en-US" dirty="0" err="1"/>
              <a:t>temp_office</a:t>
            </a:r>
            <a:endParaRPr lang="en-US" dirty="0"/>
          </a:p>
          <a:p>
            <a:endParaRPr lang="en-US" dirty="0"/>
          </a:p>
          <a:p>
            <a:endParaRPr lang="en-US" dirty="0"/>
          </a:p>
          <a:p>
            <a:endParaRPr lang="en-US" dirty="0"/>
          </a:p>
          <a:p>
            <a:endParaRPr lang="en-US" dirty="0"/>
          </a:p>
          <a:p>
            <a:r>
              <a:rPr lang="en-US" b="1" dirty="0" err="1"/>
              <a:t>Ví</a:t>
            </a:r>
            <a:r>
              <a:rPr lang="en-US" b="1" dirty="0"/>
              <a:t> </a:t>
            </a:r>
            <a:r>
              <a:rPr lang="en-US" b="1" dirty="0" err="1"/>
              <a:t>dụ</a:t>
            </a:r>
            <a:r>
              <a:rPr lang="en-US" b="1" dirty="0"/>
              <a:t>:</a:t>
            </a:r>
            <a:r>
              <a:rPr lang="en-US" dirty="0"/>
              <a:t> </a:t>
            </a:r>
            <a:r>
              <a:rPr lang="en-US" dirty="0" err="1"/>
              <a:t>xóa</a:t>
            </a:r>
            <a:r>
              <a:rPr lang="en-US" dirty="0"/>
              <a:t> </a:t>
            </a:r>
            <a:r>
              <a:rPr lang="en-US" dirty="0" err="1"/>
              <a:t>tất</a:t>
            </a:r>
            <a:r>
              <a:rPr lang="en-US" dirty="0"/>
              <a:t> </a:t>
            </a:r>
            <a:r>
              <a:rPr lang="en-US" dirty="0" err="1"/>
              <a:t>cả</a:t>
            </a:r>
            <a:r>
              <a:rPr lang="en-US" dirty="0"/>
              <a:t> </a:t>
            </a:r>
            <a:r>
              <a:rPr lang="en-US" dirty="0" err="1"/>
              <a:t>các</a:t>
            </a:r>
            <a:r>
              <a:rPr lang="en-US" dirty="0"/>
              <a:t> </a:t>
            </a:r>
            <a:r>
              <a:rPr lang="en-US" dirty="0" err="1"/>
              <a:t>nhân</a:t>
            </a:r>
            <a:r>
              <a:rPr lang="en-US" dirty="0"/>
              <a:t> </a:t>
            </a:r>
            <a:r>
              <a:rPr lang="en-US" dirty="0" err="1"/>
              <a:t>viên</a:t>
            </a:r>
            <a:r>
              <a:rPr lang="en-US" dirty="0"/>
              <a:t> (</a:t>
            </a:r>
            <a:r>
              <a:rPr lang="en-US" dirty="0" err="1"/>
              <a:t>temp_employee</a:t>
            </a:r>
            <a:r>
              <a:rPr lang="en-US" dirty="0"/>
              <a:t>) </a:t>
            </a:r>
            <a:r>
              <a:rPr lang="en-US" dirty="0" err="1"/>
              <a:t>làm</a:t>
            </a:r>
            <a:r>
              <a:rPr lang="en-US" dirty="0"/>
              <a:t> </a:t>
            </a:r>
            <a:r>
              <a:rPr lang="en-US" dirty="0" err="1"/>
              <a:t>việc</a:t>
            </a:r>
            <a:r>
              <a:rPr lang="en-US" dirty="0"/>
              <a:t> </a:t>
            </a:r>
            <a:r>
              <a:rPr lang="en-US" dirty="0" err="1"/>
              <a:t>cho</a:t>
            </a:r>
            <a:r>
              <a:rPr lang="en-US" dirty="0"/>
              <a:t> </a:t>
            </a:r>
            <a:r>
              <a:rPr lang="en-US" dirty="0" err="1"/>
              <a:t>văn</a:t>
            </a:r>
            <a:r>
              <a:rPr lang="en-US" dirty="0"/>
              <a:t> </a:t>
            </a:r>
            <a:r>
              <a:rPr lang="en-US" dirty="0" err="1"/>
              <a:t>phòng</a:t>
            </a:r>
            <a:r>
              <a:rPr lang="en-US" dirty="0"/>
              <a:t> </a:t>
            </a:r>
            <a:r>
              <a:rPr lang="en-US" dirty="0" err="1"/>
              <a:t>có</a:t>
            </a:r>
            <a:r>
              <a:rPr lang="en-US" dirty="0"/>
              <a:t> </a:t>
            </a:r>
            <a:r>
              <a:rPr lang="en-US" dirty="0" err="1"/>
              <a:t>mã</a:t>
            </a:r>
            <a:r>
              <a:rPr lang="en-US" dirty="0"/>
              <a:t> </a:t>
            </a:r>
            <a:r>
              <a:rPr lang="en-US" i="1" dirty="0" err="1"/>
              <a:t>officecode</a:t>
            </a:r>
            <a:r>
              <a:rPr lang="en-US" dirty="0"/>
              <a:t> = 1 </a:t>
            </a:r>
            <a:r>
              <a:rPr lang="en-US" dirty="0" err="1"/>
              <a:t>và</a:t>
            </a:r>
            <a:r>
              <a:rPr lang="en-US" dirty="0"/>
              <a:t> </a:t>
            </a:r>
            <a:r>
              <a:rPr lang="en-US" dirty="0" err="1"/>
              <a:t>cũng</a:t>
            </a:r>
            <a:r>
              <a:rPr lang="en-US" dirty="0"/>
              <a:t> </a:t>
            </a:r>
            <a:r>
              <a:rPr lang="en-US" dirty="0" err="1"/>
              <a:t>xóa</a:t>
            </a:r>
            <a:r>
              <a:rPr lang="en-US" dirty="0"/>
              <a:t> </a:t>
            </a:r>
            <a:r>
              <a:rPr lang="en-US" dirty="0" err="1"/>
              <a:t>cả</a:t>
            </a:r>
            <a:r>
              <a:rPr lang="en-US" dirty="0"/>
              <a:t> </a:t>
            </a:r>
            <a:r>
              <a:rPr lang="en-US" dirty="0" err="1"/>
              <a:t>văn</a:t>
            </a:r>
            <a:r>
              <a:rPr lang="en-US" dirty="0"/>
              <a:t> </a:t>
            </a:r>
            <a:r>
              <a:rPr lang="en-US" dirty="0" err="1"/>
              <a:t>phòng</a:t>
            </a:r>
            <a:r>
              <a:rPr lang="en-US" dirty="0"/>
              <a:t> </a:t>
            </a:r>
            <a:r>
              <a:rPr lang="en-US" dirty="0" err="1"/>
              <a:t>đó</a:t>
            </a:r>
            <a:r>
              <a:rPr lang="en-US" dirty="0"/>
              <a:t> (ở </a:t>
            </a:r>
            <a:r>
              <a:rPr lang="en-US" dirty="0" err="1"/>
              <a:t>trong</a:t>
            </a:r>
            <a:r>
              <a:rPr lang="en-US" dirty="0"/>
              <a:t> </a:t>
            </a:r>
            <a:r>
              <a:rPr lang="en-US" dirty="0" err="1"/>
              <a:t>temp_office</a:t>
            </a:r>
            <a:r>
              <a:rPr lang="en-US" dirty="0"/>
              <a:t>).  </a:t>
            </a:r>
          </a:p>
          <a:p>
            <a:endParaRPr lang="en-US" dirty="0"/>
          </a:p>
        </p:txBody>
      </p:sp>
      <p:sp>
        <p:nvSpPr>
          <p:cNvPr id="4" name="Rectangle 3">
            <a:extLst>
              <a:ext uri="{FF2B5EF4-FFF2-40B4-BE49-F238E27FC236}">
                <a16:creationId xmlns:a16="http://schemas.microsoft.com/office/drawing/2014/main" id="{91577169-C9CC-4AD4-8B24-195B563BF1A7}"/>
              </a:ext>
            </a:extLst>
          </p:cNvPr>
          <p:cNvSpPr/>
          <p:nvPr/>
        </p:nvSpPr>
        <p:spPr>
          <a:xfrm>
            <a:off x="1571538" y="1936531"/>
            <a:ext cx="6096000" cy="983731"/>
          </a:xfrm>
          <a:prstGeom prst="rect">
            <a:avLst/>
          </a:prstGeom>
          <a:ln>
            <a:solidFill>
              <a:schemeClr val="tx1"/>
            </a:solidFill>
          </a:ln>
        </p:spPr>
        <p:txBody>
          <a:bodyPr>
            <a:spAutoFit/>
          </a:bodyPr>
          <a:lstStyle/>
          <a:p>
            <a:pPr marL="81915" marR="529590" indent="-6350">
              <a:lnSpc>
                <a:spcPct val="108000"/>
              </a:lnSpc>
              <a:spcAft>
                <a:spcPts val="0"/>
              </a:spcAft>
            </a:pPr>
            <a:r>
              <a:rPr lang="en-US">
                <a:solidFill>
                  <a:srgbClr val="FF0000"/>
                </a:solidFill>
                <a:latin typeface="Courier New" panose="02070309020205020404" pitchFamily="49" charset="0"/>
                <a:ea typeface="Courier New" panose="02070309020205020404" pitchFamily="49" charset="0"/>
              </a:rPr>
              <a:t>DELETE</a:t>
            </a:r>
            <a:r>
              <a:rPr lang="en-US">
                <a:solidFill>
                  <a:srgbClr val="000000"/>
                </a:solidFill>
                <a:latin typeface="Courier New" panose="02070309020205020404" pitchFamily="49" charset="0"/>
                <a:ea typeface="Courier New" panose="02070309020205020404" pitchFamily="49" charset="0"/>
              </a:rPr>
              <a:t>  (không cần tên bảng)</a:t>
            </a:r>
          </a:p>
          <a:p>
            <a:pPr marL="81915" marR="529590" indent="-6350">
              <a:lnSpc>
                <a:spcPct val="108000"/>
              </a:lnSpc>
              <a:spcAft>
                <a:spcPts val="0"/>
              </a:spcAft>
            </a:pPr>
            <a:r>
              <a:rPr lang="en-US">
                <a:solidFill>
                  <a:srgbClr val="FF0000"/>
                </a:solidFill>
                <a:latin typeface="Courier New" panose="02070309020205020404" pitchFamily="49" charset="0"/>
                <a:ea typeface="Courier New" panose="02070309020205020404" pitchFamily="49" charset="0"/>
              </a:rPr>
              <a:t>FROM</a:t>
            </a:r>
            <a:r>
              <a:rPr lang="en-US">
                <a:solidFill>
                  <a:srgbClr val="000000"/>
                </a:solidFill>
                <a:latin typeface="Courier New" panose="02070309020205020404" pitchFamily="49" charset="0"/>
                <a:ea typeface="Courier New" panose="02070309020205020404" pitchFamily="49" charset="0"/>
              </a:rPr>
              <a:t> temp_office</a:t>
            </a:r>
            <a:endParaRPr lang="en-US" sz="1600">
              <a:solidFill>
                <a:srgbClr val="000000"/>
              </a:solidFill>
              <a:latin typeface="Calibri" panose="020F0502020204030204" pitchFamily="34" charset="0"/>
              <a:ea typeface="Calibri" panose="020F0502020204030204" pitchFamily="34" charset="0"/>
            </a:endParaRPr>
          </a:p>
          <a:p>
            <a:pPr marL="6350" marR="529590" indent="-6350">
              <a:lnSpc>
                <a:spcPct val="108000"/>
              </a:lnSpc>
              <a:spcAft>
                <a:spcPts val="2085"/>
              </a:spcAft>
            </a:pPr>
            <a:r>
              <a:rPr lang="en-US">
                <a:solidFill>
                  <a:srgbClr val="000000"/>
                </a:solidFill>
                <a:latin typeface="Times New Roman" panose="02020603050405020304" pitchFamily="18" charset="0"/>
                <a:ea typeface="Times New Roman" panose="02020603050405020304" pitchFamily="18" charset="0"/>
              </a:rPr>
              <a:t> </a:t>
            </a:r>
            <a:r>
              <a:rPr lang="en-US">
                <a:solidFill>
                  <a:srgbClr val="FF0000"/>
                </a:solidFill>
                <a:latin typeface="Courier New" panose="02070309020205020404" pitchFamily="49" charset="0"/>
                <a:ea typeface="Courier New" panose="02070309020205020404" pitchFamily="49" charset="0"/>
              </a:rPr>
              <a:t>WHERE</a:t>
            </a:r>
            <a:r>
              <a:rPr lang="en-US">
                <a:solidFill>
                  <a:srgbClr val="000000"/>
                </a:solidFill>
                <a:latin typeface="Courier New" panose="02070309020205020404" pitchFamily="49" charset="0"/>
                <a:ea typeface="Courier New" panose="02070309020205020404" pitchFamily="49" charset="0"/>
              </a:rPr>
              <a:t> officeCode = 10  </a:t>
            </a:r>
            <a:endParaRPr lang="en-US" sz="1600">
              <a:solidFill>
                <a:srgbClr val="000000"/>
              </a:solidFill>
              <a:effectLst/>
              <a:latin typeface="Calibri" panose="020F0502020204030204" pitchFamily="34" charset="0"/>
              <a:ea typeface="Calibri" panose="020F0502020204030204" pitchFamily="34" charset="0"/>
            </a:endParaRPr>
          </a:p>
        </p:txBody>
      </p:sp>
      <p:sp>
        <p:nvSpPr>
          <p:cNvPr id="5" name="Rectangle 4">
            <a:extLst>
              <a:ext uri="{FF2B5EF4-FFF2-40B4-BE49-F238E27FC236}">
                <a16:creationId xmlns:a16="http://schemas.microsoft.com/office/drawing/2014/main" id="{4AE3AFDF-E012-45C3-BF31-E4FA2FD5CCBE}"/>
              </a:ext>
            </a:extLst>
          </p:cNvPr>
          <p:cNvSpPr/>
          <p:nvPr/>
        </p:nvSpPr>
        <p:spPr>
          <a:xfrm>
            <a:off x="539691" y="4124852"/>
            <a:ext cx="11070672" cy="923330"/>
          </a:xfrm>
          <a:prstGeom prst="rect">
            <a:avLst/>
          </a:prstGeom>
          <a:ln>
            <a:solidFill>
              <a:schemeClr val="tx1"/>
            </a:solidFill>
          </a:ln>
        </p:spPr>
        <p:txBody>
          <a:bodyPr wrap="square">
            <a:spAutoFit/>
          </a:bodyPr>
          <a:lstStyle/>
          <a:p>
            <a:r>
              <a:rPr lang="en-US">
                <a:solidFill>
                  <a:srgbClr val="FF0000"/>
                </a:solidFill>
              </a:rPr>
              <a:t>DELETE</a:t>
            </a:r>
            <a:r>
              <a:rPr lang="en-US"/>
              <a:t> </a:t>
            </a:r>
          </a:p>
          <a:p>
            <a:r>
              <a:rPr lang="en-US">
                <a:solidFill>
                  <a:srgbClr val="FF0000"/>
                </a:solidFill>
              </a:rPr>
              <a:t>FROM</a:t>
            </a:r>
            <a:r>
              <a:rPr lang="en-US"/>
              <a:t> temp_employees, temp_office  </a:t>
            </a:r>
          </a:p>
          <a:p>
            <a:r>
              <a:rPr lang="en-US">
                <a:solidFill>
                  <a:srgbClr val="FF0000"/>
                </a:solidFill>
              </a:rPr>
              <a:t>WHERE</a:t>
            </a:r>
            <a:r>
              <a:rPr lang="en-US"/>
              <a:t> temp_employees.officeCode = temp_office.officeCode  </a:t>
            </a:r>
            <a:r>
              <a:rPr lang="en-US">
                <a:solidFill>
                  <a:srgbClr val="FF0000"/>
                </a:solidFill>
              </a:rPr>
              <a:t>AND</a:t>
            </a:r>
            <a:r>
              <a:rPr lang="en-US"/>
              <a:t> temp_office.officeCode = 1; </a:t>
            </a:r>
          </a:p>
        </p:txBody>
      </p:sp>
      <p:sp>
        <p:nvSpPr>
          <p:cNvPr id="6" name="TextBox 5">
            <a:extLst>
              <a:ext uri="{FF2B5EF4-FFF2-40B4-BE49-F238E27FC236}">
                <a16:creationId xmlns:a16="http://schemas.microsoft.com/office/drawing/2014/main" id="{C69284C0-71F8-4301-BBE7-1506E9F83E96}"/>
              </a:ext>
            </a:extLst>
          </p:cNvPr>
          <p:cNvSpPr txBox="1"/>
          <p:nvPr/>
        </p:nvSpPr>
        <p:spPr>
          <a:xfrm>
            <a:off x="3886200" y="495300"/>
            <a:ext cx="3587750" cy="369332"/>
          </a:xfrm>
          <a:prstGeom prst="rect">
            <a:avLst/>
          </a:prstGeom>
          <a:noFill/>
        </p:spPr>
        <p:txBody>
          <a:bodyPr wrap="square" rtlCol="0">
            <a:spAutoFit/>
          </a:bodyPr>
          <a:lstStyle/>
          <a:p>
            <a:r>
              <a:rPr lang="en-US">
                <a:solidFill>
                  <a:srgbClr val="FF0000"/>
                </a:solidFill>
              </a:rPr>
              <a:t>Delete</a:t>
            </a:r>
            <a:r>
              <a:rPr lang="en-US"/>
              <a:t> </a:t>
            </a:r>
            <a:r>
              <a:rPr lang="en-US">
                <a:solidFill>
                  <a:srgbClr val="FF0000"/>
                </a:solidFill>
              </a:rPr>
              <a:t>From</a:t>
            </a:r>
            <a:r>
              <a:rPr lang="en-US"/>
              <a:t> Tablename</a:t>
            </a:r>
          </a:p>
        </p:txBody>
      </p:sp>
      <p:sp>
        <p:nvSpPr>
          <p:cNvPr id="9" name="Rectangle 8">
            <a:extLst>
              <a:ext uri="{FF2B5EF4-FFF2-40B4-BE49-F238E27FC236}">
                <a16:creationId xmlns:a16="http://schemas.microsoft.com/office/drawing/2014/main" id="{486876B3-5C17-49B3-97AB-E2D8AB1D71DF}"/>
              </a:ext>
            </a:extLst>
          </p:cNvPr>
          <p:cNvSpPr/>
          <p:nvPr/>
        </p:nvSpPr>
        <p:spPr>
          <a:xfrm>
            <a:off x="4811077" y="5425731"/>
            <a:ext cx="580544" cy="369332"/>
          </a:xfrm>
          <a:prstGeom prst="rect">
            <a:avLst/>
          </a:prstGeom>
        </p:spPr>
        <p:txBody>
          <a:bodyPr wrap="none">
            <a:spAutoFit/>
          </a:bodyPr>
          <a:lstStyle/>
          <a:p>
            <a:r>
              <a:rPr lang="en-US"/>
              <a:t>'MA’</a:t>
            </a:r>
          </a:p>
        </p:txBody>
      </p:sp>
    </p:spTree>
    <p:extLst>
      <p:ext uri="{BB962C8B-B14F-4D97-AF65-F5344CB8AC3E}">
        <p14:creationId xmlns:p14="http://schemas.microsoft.com/office/powerpoint/2010/main" val="111097190"/>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3492</TotalTime>
  <Words>6489</Words>
  <Application>Microsoft Office PowerPoint</Application>
  <PresentationFormat>Widescreen</PresentationFormat>
  <Paragraphs>1070</Paragraphs>
  <Slides>92</Slides>
  <Notes>19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92</vt:i4>
      </vt:variant>
    </vt:vector>
  </HeadingPairs>
  <TitlesOfParts>
    <vt:vector size="101" baseType="lpstr">
      <vt:lpstr>Arial</vt:lpstr>
      <vt:lpstr>Calibri</vt:lpstr>
      <vt:lpstr>Courier New</vt:lpstr>
      <vt:lpstr>Symbol</vt:lpstr>
      <vt:lpstr>Times New Roman</vt:lpstr>
      <vt:lpstr>Trebuchet MS</vt:lpstr>
      <vt:lpstr>Wingdings 2</vt:lpstr>
      <vt:lpstr>Wingdings 3</vt:lpstr>
      <vt:lpstr>Facet</vt:lpstr>
      <vt:lpstr>Chương 5</vt:lpstr>
      <vt:lpstr>Nội dung chi tiết</vt:lpstr>
      <vt:lpstr>Giới thiệu</vt:lpstr>
      <vt:lpstr>Giới thiệu (tt)</vt:lpstr>
      <vt:lpstr>Nội dung chi tiết</vt:lpstr>
      <vt:lpstr>Định nghĩa dữ liệu</vt:lpstr>
      <vt:lpstr>Kiểu dữ liệu</vt:lpstr>
      <vt:lpstr>Kiểu dữ liệu (tt)</vt:lpstr>
      <vt:lpstr>Lệnh tạo bảng</vt:lpstr>
      <vt:lpstr>Ví dụ - Tạo bảng</vt:lpstr>
      <vt:lpstr>Lệnh tạo bảng (tt)</vt:lpstr>
      <vt:lpstr>Lệnh sửa bảng</vt:lpstr>
      <vt:lpstr>Lệnh sửa bảng (tt)</vt:lpstr>
      <vt:lpstr>PowerPoint Presentation</vt:lpstr>
      <vt:lpstr>Insert data</vt:lpstr>
      <vt:lpstr>Ví dụ - Thay đổi cấu trúc bảng</vt:lpstr>
      <vt:lpstr>Lệnh xóa bảng</vt:lpstr>
      <vt:lpstr>Nội dung chi tiết</vt:lpstr>
      <vt:lpstr>Truy vấn dữ liệu</vt:lpstr>
      <vt:lpstr>Truy vấn cơ bản</vt:lpstr>
      <vt:lpstr>Truy vấn cơ bản (tt)</vt:lpstr>
      <vt:lpstr>PowerPoint Presentation</vt:lpstr>
      <vt:lpstr>Ví dụ</vt:lpstr>
      <vt:lpstr>Các toán tử</vt:lpstr>
      <vt:lpstr>Toán tử:  IN</vt:lpstr>
      <vt:lpstr>PowerPoint Presentation</vt:lpstr>
      <vt:lpstr>BETWEEN</vt:lpstr>
      <vt:lpstr>LIKE</vt:lpstr>
      <vt:lpstr>PowerPoint Presentation</vt:lpstr>
      <vt:lpstr>PowerPoint Presentation</vt:lpstr>
      <vt:lpstr>Thuộc tính suy diễn – derived attribute</vt:lpstr>
      <vt:lpstr>Order by</vt:lpstr>
      <vt:lpstr>ORDER BY</vt:lpstr>
      <vt:lpstr>ORDER BY</vt:lpstr>
      <vt:lpstr>Union</vt:lpstr>
      <vt:lpstr>PowerPoint Presentation</vt:lpstr>
      <vt:lpstr>Create Table;</vt:lpstr>
      <vt:lpstr>PowerPoint Presentation</vt:lpstr>
      <vt:lpstr>PowerPoint Presentation</vt:lpstr>
      <vt:lpstr>Toán tử JOIN</vt:lpstr>
      <vt:lpstr>PowerPoint Presentation</vt:lpstr>
      <vt:lpstr>PowerPoint Presentation</vt:lpstr>
      <vt:lpstr>Các mệnh đề Group by - Having</vt:lpstr>
      <vt:lpstr>Các hàm kết hợp</vt:lpstr>
      <vt:lpstr>Count</vt:lpstr>
      <vt:lpstr>Hàm Max và Min</vt:lpstr>
      <vt:lpstr>Hàm SUM</vt:lpstr>
      <vt:lpstr>Hàm AVG  </vt:lpstr>
      <vt:lpstr>Mệnh đề Gom Nhóm: Group by</vt:lpstr>
      <vt:lpstr>PowerPoint Presentation</vt:lpstr>
      <vt:lpstr>Điều kiện trên nhóm - Having</vt:lpstr>
      <vt:lpstr>PowerPoint Presentation</vt:lpstr>
      <vt:lpstr>PowerPoint Presentation</vt:lpstr>
      <vt:lpstr>SubStr hoặc Substring</vt:lpstr>
      <vt:lpstr>Concat - ghép</vt:lpstr>
      <vt:lpstr>PowerPoint Presentation</vt:lpstr>
      <vt:lpstr>Replace – Thay thế ký tự</vt:lpstr>
      <vt:lpstr>PowerPoint Presentation</vt:lpstr>
      <vt:lpstr>Phép Nối - JOIN</vt:lpstr>
      <vt:lpstr>Toán tử JOIN</vt:lpstr>
      <vt:lpstr>PowerPoint Presentation</vt:lpstr>
      <vt:lpstr>1. PHÉP NỐI TRONG (INNER JOIN)</vt:lpstr>
      <vt:lpstr>Ví dụ:</vt:lpstr>
      <vt:lpstr>Ví dụ: Đưa ra tên các khách hàng và tổng giá trị các đơn hàng của các khách hàng đó.</vt:lpstr>
      <vt:lpstr>2. Phép nối trái Left join</vt:lpstr>
      <vt:lpstr>Ví dụ</vt:lpstr>
      <vt:lpstr>3. Phép nối phải – Right join</vt:lpstr>
      <vt:lpstr>Ví dụ:</vt:lpstr>
      <vt:lpstr>4. FULL JOIN</vt:lpstr>
      <vt:lpstr>PowerPoint Presentation</vt:lpstr>
      <vt:lpstr>5. PHÉP TỰ NỐI (Self Join) </vt:lpstr>
      <vt:lpstr>SubQuery – Truy vấn con </vt:lpstr>
      <vt:lpstr>SubQuery – Truy vấn con </vt:lpstr>
      <vt:lpstr>SubQuery – Truy vấn con </vt:lpstr>
      <vt:lpstr>SubQuery – Truy vấn con </vt:lpstr>
      <vt:lpstr>SubQuery – Truy vấn con </vt:lpstr>
      <vt:lpstr>SubQuery – Truy vấn con </vt:lpstr>
      <vt:lpstr>SubQuery – Truy vấn con </vt:lpstr>
      <vt:lpstr>PowerPoint Presentation</vt:lpstr>
      <vt:lpstr>SubQuery – Truy vấn con </vt:lpstr>
      <vt:lpstr>PowerPoint Presentation</vt:lpstr>
      <vt:lpstr>SubQuery – Truy vấn con </vt:lpstr>
      <vt:lpstr>Nhóm câu lệnh Update- Insert - Delete</vt:lpstr>
      <vt:lpstr>Insert</vt:lpstr>
      <vt:lpstr>Insert</vt:lpstr>
      <vt:lpstr>Insert</vt:lpstr>
      <vt:lpstr>PowerPoint Presentation</vt:lpstr>
      <vt:lpstr>PowerPoint Presentation</vt:lpstr>
      <vt:lpstr>Update</vt:lpstr>
      <vt:lpstr>PowerPoint Presentation</vt:lpstr>
      <vt:lpstr>Delete</vt:lpstr>
      <vt:lpstr>Delete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Trinh . Thanh</dc:creator>
  <cp:lastModifiedBy>Trinh Thanh</cp:lastModifiedBy>
  <cp:revision>402</cp:revision>
  <dcterms:created xsi:type="dcterms:W3CDTF">2021-09-04T18:33:11Z</dcterms:created>
  <dcterms:modified xsi:type="dcterms:W3CDTF">2024-01-16T10:58:32Z</dcterms:modified>
</cp:coreProperties>
</file>